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eedb916cde4939" /><Relationship Type="http://schemas.openxmlformats.org/officeDocument/2006/relationships/extended-properties" Target="/docProps/app.xml" Id="R7229b86795574e83" /><Relationship Type="http://schemas.openxmlformats.org/officeDocument/2006/relationships/officeDocument" Target="/ppt/presentation.xml" Id="Rb445de65f65f4063" /></Relationships>
</file>

<file path=ppt/presentation.xml><?xml version="1.0" encoding="utf-8"?>
<p:presentation xmlns:p="http://schemas.openxmlformats.org/presentationml/2006/main">
  <p:sldMasterIdLst>
    <p:sldMasterId xmlns:r="http://schemas.openxmlformats.org/officeDocument/2006/relationships" id="2147483648" r:id="R6e1d84fbd5c74e86"/>
  </p:sldMasterIdLst>
  <p:notesMasterIdLst>
    <p:notesMasterId xmlns:r="http://schemas.openxmlformats.org/officeDocument/2006/relationships" r:id="R99ea8a6360cd41e7"/>
  </p:notesMasterIdLst>
  <p:sldIdLst>
    <p:sldId xmlns:r="http://schemas.openxmlformats.org/officeDocument/2006/relationships" id="256" r:id="R4716601f45244e63"/>
    <p:sldId xmlns:r="http://schemas.openxmlformats.org/officeDocument/2006/relationships" id="257" r:id="R13439476608c4e77"/>
    <p:sldId xmlns:r="http://schemas.openxmlformats.org/officeDocument/2006/relationships" id="258" r:id="R511e8af5650d47b3"/>
    <p:sldId xmlns:r="http://schemas.openxmlformats.org/officeDocument/2006/relationships" id="259" r:id="Rb254b64fb45c4162"/>
    <p:sldId xmlns:r="http://schemas.openxmlformats.org/officeDocument/2006/relationships" id="260" r:id="Rf1262f021af94e40"/>
    <p:sldId xmlns:r="http://schemas.openxmlformats.org/officeDocument/2006/relationships" id="261" r:id="R70df23504df74e66"/>
    <p:sldId xmlns:r="http://schemas.openxmlformats.org/officeDocument/2006/relationships" id="262" r:id="R54124f1f7f8e4cf0"/>
    <p:sldId xmlns:r="http://schemas.openxmlformats.org/officeDocument/2006/relationships" id="263" r:id="R15ec27548779455c"/>
    <p:sldId xmlns:r="http://schemas.openxmlformats.org/officeDocument/2006/relationships" id="264" r:id="R0d7ee6df408f482c"/>
    <p:sldId xmlns:r="http://schemas.openxmlformats.org/officeDocument/2006/relationships" id="265" r:id="Rc1d29f47c81848de"/>
    <p:sldId xmlns:r="http://schemas.openxmlformats.org/officeDocument/2006/relationships" id="266" r:id="Re17198250e4844d9"/>
    <p:sldId xmlns:r="http://schemas.openxmlformats.org/officeDocument/2006/relationships" id="267" r:id="Rd611a2c326224489"/>
    <p:sldId xmlns:r="http://schemas.openxmlformats.org/officeDocument/2006/relationships" id="268" r:id="R01d90961b9cc4b12"/>
    <p:sldId xmlns:r="http://schemas.openxmlformats.org/officeDocument/2006/relationships" id="269" r:id="R04faba03082d437d"/>
    <p:sldId xmlns:r="http://schemas.openxmlformats.org/officeDocument/2006/relationships" id="270" r:id="R4eb6605e980e4d39"/>
    <p:sldId xmlns:r="http://schemas.openxmlformats.org/officeDocument/2006/relationships" id="271" r:id="R0a43cdebc8df4922"/>
    <p:sldId xmlns:r="http://schemas.openxmlformats.org/officeDocument/2006/relationships" id="272" r:id="R90559a1e00b84097"/>
  </p:sldIdLst>
  <p:sldSz cx="7477125" cy="53911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3b90f6bf9141f9" /><Relationship Type="http://schemas.openxmlformats.org/officeDocument/2006/relationships/slideMaster" Target="/ppt/slideMasters/slideMaster1.xml" Id="R6e1d84fbd5c74e86" /><Relationship Type="http://schemas.openxmlformats.org/officeDocument/2006/relationships/notesMaster" Target="/ppt/notesMasters/notesMaster1.xml" Id="R99ea8a6360cd41e7" /><Relationship Type="http://schemas.openxmlformats.org/officeDocument/2006/relationships/presProps" Target="/ppt/presProps.xml" Id="R1ad607fd80884662" /><Relationship Type="http://schemas.openxmlformats.org/officeDocument/2006/relationships/tableStyles" Target="/ppt/tableStyles.xml" Id="R1899c4eb56564a0b" /><Relationship Type="http://schemas.openxmlformats.org/officeDocument/2006/relationships/slide" Target="/ppt/slides/slide1.xml" Id="R4716601f45244e63" /><Relationship Type="http://schemas.openxmlformats.org/officeDocument/2006/relationships/slide" Target="/ppt/slides/slide2.xml" Id="R13439476608c4e77" /><Relationship Type="http://schemas.openxmlformats.org/officeDocument/2006/relationships/slide" Target="/ppt/slides/slide3.xml" Id="R511e8af5650d47b3" /><Relationship Type="http://schemas.openxmlformats.org/officeDocument/2006/relationships/slide" Target="/ppt/slides/slide4.xml" Id="Rb254b64fb45c4162" /><Relationship Type="http://schemas.openxmlformats.org/officeDocument/2006/relationships/slide" Target="/ppt/slides/slide5.xml" Id="Rf1262f021af94e40" /><Relationship Type="http://schemas.openxmlformats.org/officeDocument/2006/relationships/slide" Target="/ppt/slides/slide6.xml" Id="R70df23504df74e66" /><Relationship Type="http://schemas.openxmlformats.org/officeDocument/2006/relationships/slide" Target="/ppt/slides/slide7.xml" Id="R54124f1f7f8e4cf0" /><Relationship Type="http://schemas.openxmlformats.org/officeDocument/2006/relationships/slide" Target="/ppt/slides/slide8.xml" Id="R15ec27548779455c" /><Relationship Type="http://schemas.openxmlformats.org/officeDocument/2006/relationships/slide" Target="/ppt/slides/slide9.xml" Id="R0d7ee6df408f482c" /><Relationship Type="http://schemas.openxmlformats.org/officeDocument/2006/relationships/slide" Target="/ppt/slides/slide10.xml" Id="Rc1d29f47c81848de" /><Relationship Type="http://schemas.openxmlformats.org/officeDocument/2006/relationships/slide" Target="/ppt/slides/slide11.xml" Id="Re17198250e4844d9" /><Relationship Type="http://schemas.openxmlformats.org/officeDocument/2006/relationships/slide" Target="/ppt/slides/slide12.xml" Id="Rd611a2c326224489" /><Relationship Type="http://schemas.openxmlformats.org/officeDocument/2006/relationships/slide" Target="/ppt/slides/slide13.xml" Id="R01d90961b9cc4b12" /><Relationship Type="http://schemas.openxmlformats.org/officeDocument/2006/relationships/slide" Target="/ppt/slides/slide14.xml" Id="R04faba03082d437d" /><Relationship Type="http://schemas.openxmlformats.org/officeDocument/2006/relationships/slide" Target="/ppt/slides/slide15.xml" Id="R4eb6605e980e4d39" /><Relationship Type="http://schemas.openxmlformats.org/officeDocument/2006/relationships/slide" Target="/ppt/slides/slide16.xml" Id="R0a43cdebc8df4922" /><Relationship Type="http://schemas.openxmlformats.org/officeDocument/2006/relationships/slide" Target="/ppt/slides/slide17.xml" Id="R90559a1e00b840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7bdfc688fc48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10badd5d8d47f4" /><Relationship Type="http://schemas.openxmlformats.org/officeDocument/2006/relationships/notesMaster" Target="/ppt/notesMasters/notesMaster1.xml" Id="R4cde0c43f8d547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fde3920b474268" /><Relationship Type="http://schemas.openxmlformats.org/officeDocument/2006/relationships/notesMaster" Target="/ppt/notesMasters/notesMaster1.xml" Id="Rd56fe00b6f0d40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cbd6b7e1264e35" /><Relationship Type="http://schemas.openxmlformats.org/officeDocument/2006/relationships/notesMaster" Target="/ppt/notesMasters/notesMaster1.xml" Id="R471e3979035d42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2e658db5864639" /><Relationship Type="http://schemas.openxmlformats.org/officeDocument/2006/relationships/notesMaster" Target="/ppt/notesMasters/notesMaster1.xml" Id="R0ab5405dd3aa45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53115225534f0e" /><Relationship Type="http://schemas.openxmlformats.org/officeDocument/2006/relationships/notesMaster" Target="/ppt/notesMasters/notesMaster1.xml" Id="R37587b944cb846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c5b79c827142ba" /><Relationship Type="http://schemas.openxmlformats.org/officeDocument/2006/relationships/notesMaster" Target="/ppt/notesMasters/notesMaster1.xml" Id="R93f405c1f10a48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e814a019c640b6" /><Relationship Type="http://schemas.openxmlformats.org/officeDocument/2006/relationships/notesMaster" Target="/ppt/notesMasters/notesMaster1.xml" Id="R387d0ec98fed4f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b29d7bddaa466d" /><Relationship Type="http://schemas.openxmlformats.org/officeDocument/2006/relationships/notesMaster" Target="/ppt/notesMasters/notesMaster1.xml" Id="Re45fcf146fd844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f472d59bd4ade" /><Relationship Type="http://schemas.openxmlformats.org/officeDocument/2006/relationships/notesMaster" Target="/ppt/notesMasters/notesMaster1.xml" Id="R6000f408b49446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c6b261334c41b4" /><Relationship Type="http://schemas.openxmlformats.org/officeDocument/2006/relationships/notesMaster" Target="/ppt/notesMasters/notesMaster1.xml" Id="R35abdbb4933840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850fe67a3048f4" /><Relationship Type="http://schemas.openxmlformats.org/officeDocument/2006/relationships/notesMaster" Target="/ppt/notesMasters/notesMaster1.xml" Id="Rd1d0642dd4ac4b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15a11a1efa42e1" /><Relationship Type="http://schemas.openxmlformats.org/officeDocument/2006/relationships/notesMaster" Target="/ppt/notesMasters/notesMaster1.xml" Id="R0f4e97f51c9345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5c045a891b451d" /><Relationship Type="http://schemas.openxmlformats.org/officeDocument/2006/relationships/notesMaster" Target="/ppt/notesMasters/notesMaster1.xml" Id="Rc4a451bacf9e42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b27d99f4a44243" /><Relationship Type="http://schemas.openxmlformats.org/officeDocument/2006/relationships/notesMaster" Target="/ppt/notesMasters/notesMaster1.xml" Id="R7f7fd9f8611b44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5e200694d147c2" /><Relationship Type="http://schemas.openxmlformats.org/officeDocument/2006/relationships/notesMaster" Target="/ppt/notesMasters/notesMaster1.xml" Id="R7ce1d4982d8047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e03ab42bb34d75" /><Relationship Type="http://schemas.openxmlformats.org/officeDocument/2006/relationships/notesMaster" Target="/ppt/notesMasters/notesMaster1.xml" Id="R4e4d6e096a7d498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f87e5cd8ae4498" /><Relationship Type="http://schemas.openxmlformats.org/officeDocument/2006/relationships/notesMaster" Target="/ppt/notesMasters/notesMaster1.xml" Id="Rd041cf7efd3b47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synthetic proof of concept. It is built to demonstrate how EHR context and wearable data could be reviewed together.</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https://github.com/Aditya725wu/DigitalTwin/blob/main/docs/architecture.md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documents static EHR factors and a dynamic wearable stream. The generator seeds synthetic patient profiles and readings.</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https://github.com/Aditya725wu/DigitalTwin/blob/main/docs/api-reference.md</a:t>
            </a:r>
          </a:p>
          <a:p xmlns:a="http://schemas.openxmlformats.org/drawingml/2006/main">
            <a:r>
              <a:t>https://github.com/Aditya725wu/DigitalTwin/blob/main/backend/generate_cardiac_data.py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embeds both ChatGPT diagram image files provided by the user, without redrawing their contents. The images show the Twin decision and alert workflow. The POC uses synthetic data and flags deviations for attention; it does not diagnose or predict medical events.</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Swagger at /docs during a demo. These endpoints are documented in the current repository.</a:t>
            </a:r>
          </a:p>
          <a:p xmlns:a="http://schemas.openxmlformats.org/drawingml/2006/main">
            <a:r>
              <a:t/>
            </a:r>
          </a:p>
          <a:p xmlns:a="http://schemas.openxmlformats.org/drawingml/2006/main">
            <a:r>
              <a:t>Sources: </a:t>
            </a:r>
          </a:p>
          <a:p xmlns:a="http://schemas.openxmlformats.org/drawingml/2006/main">
            <a:r>
              <a:t>https://github.com/Aditya725wu/DigitalTwin/blob/main/docs/api-reference.md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uses a score assembled from threshold points and divides by 45. Risk classification also considers blood-pressure and rhythm flags. This should not be presented as a validated probability.</a:t>
            </a:r>
          </a:p>
          <a:p xmlns:a="http://schemas.openxmlformats.org/drawingml/2006/main">
            <a:r>
              <a:t/>
            </a:r>
          </a:p>
          <a:p xmlns:a="http://schemas.openxmlformats.org/drawingml/2006/main">
            <a:r>
              <a:t>Sources: </a:t>
            </a:r>
          </a:p>
          <a:p xmlns:a="http://schemas.openxmlformats.org/drawingml/2006/main">
            <a:r>
              <a:t>https://github.com/Aditya725wu/DigitalTwin/blob/main/backend/main.py</a:t>
            </a:r>
          </a:p>
          <a:p xmlns:a="http://schemas.openxmlformats.org/drawingml/2006/main">
            <a:r>
              <a:t>https://github.com/Aditya725wu/DigitalTwin/blob/main/backend/heart_disease_models.py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conflate the optional model-training script with the active API path. The risk labels in the trainer are constructed from the same simplified factors, so its metrics do not establish clinical performance.</a:t>
            </a:r>
          </a:p>
          <a:p xmlns:a="http://schemas.openxmlformats.org/drawingml/2006/main">
            <a:r>
              <a:t/>
            </a:r>
          </a:p>
          <a:p xmlns:a="http://schemas.openxmlformats.org/drawingml/2006/main">
            <a:r>
              <a:t>Sources: </a:t>
            </a:r>
          </a:p>
          <a:p xmlns:a="http://schemas.openxmlformats.org/drawingml/2006/main">
            <a:r>
              <a:t>https://github.com/Aditya725wu/DigitalTwin/blob/main/backend/main.py</a:t>
            </a:r>
          </a:p>
          <a:p xmlns:a="http://schemas.openxmlformats.org/drawingml/2006/main">
            <a:r>
              <a:t>https://github.com/Aditya725wu/DigitalTwin/blob/main/backend/heart_disease_models.py</a:t>
            </a:r>
          </a:p>
          <a:p xmlns:a="http://schemas.openxmlformats.org/drawingml/2006/main">
            <a:r>
              <a:t>https://github.com/Aditya725wu/DigitalTwin/blob/main/backend/generate_cardiac_data.py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backend stores recent readings in memory, capped at 1,000 per patient, and pushes alert or prediction updates over the socket.</a:t>
            </a:r>
          </a:p>
          <a:p xmlns:a="http://schemas.openxmlformats.org/drawingml/2006/main">
            <a:r>
              <a:t/>
            </a:r>
          </a:p>
          <a:p xmlns:a="http://schemas.openxmlformats.org/drawingml/2006/main">
            <a:r>
              <a:t>Sources: </a:t>
            </a:r>
          </a:p>
          <a:p xmlns:a="http://schemas.openxmlformats.org/drawingml/2006/main">
            <a:r>
              <a:t>https://github.com/Aditya725wu/DigitalTwin/blob/main/docs/api-reference.md</a:t>
            </a:r>
          </a:p>
          <a:p xmlns:a="http://schemas.openxmlformats.org/drawingml/2006/main">
            <a:r>
              <a:t>https://github.com/Aditya725wu/DigitalTwin/blob/main/backend/main.py</a:t>
            </a:r>
          </a:p>
          <a:p xmlns:a="http://schemas.openxmlformats.org/drawingml/2006/main">
            <a:r>
              <a:t>https://github.com/Aditya725wu/DigitalTwin/blob/main/docs/architecture.md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Thresholds are illustrative code behavior only. The action strings returned by the repository are hard-coded and need clinician safety review before any real-world use.</a:t>
            </a:r>
          </a:p>
          <a:p xmlns:a="http://schemas.openxmlformats.org/drawingml/2006/main">
            <a:r>
              <a:t/>
            </a:r>
          </a:p>
          <a:p xmlns:a="http://schemas.openxmlformats.org/drawingml/2006/main">
            <a:r>
              <a:t>Sources: </a:t>
            </a:r>
          </a:p>
          <a:p xmlns:a="http://schemas.openxmlformats.org/drawingml/2006/main">
            <a:r>
              <a:t>https://github.com/Aditya725wu/DigitalTwin/blob/main/backend/main.py</a:t>
            </a:r>
          </a:p>
          <a:p xmlns:a="http://schemas.openxmlformats.org/drawingml/2006/main">
            <a:r>
              <a:t>https://github.com/Aditya725wu/DigitalTwin/blob/main/docs/api-reference.md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schematic based on the React dashboard sections in the repo, not a captured screenshot. The plotted trend line is illustrative rather than patient data. The code refreshes dashboard data every 30 seconds and supports alert acknowledgement.</a:t>
            </a:r>
          </a:p>
          <a:p xmlns:a="http://schemas.openxmlformats.org/drawingml/2006/main">
            <a:r>
              <a:t/>
            </a:r>
          </a:p>
          <a:p xmlns:a="http://schemas.openxmlformats.org/drawingml/2006/main">
            <a:r>
              <a:t>Sources: </a:t>
            </a:r>
          </a:p>
          <a:p xmlns:a="http://schemas.openxmlformats.org/drawingml/2006/main">
            <a:r>
              <a:t>https://github.com/Aditya725wu/DigitalTwin/blob/main/web-dashboard/src/app/dashboard/page.tsx</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an editable schematic based on the Expo screen code. The example value is from a seeded synthetic patient and is not clinical evidence.</a:t>
            </a:r>
          </a:p>
          <a:p xmlns:a="http://schemas.openxmlformats.org/drawingml/2006/main">
            <a:r>
              <a:t/>
            </a:r>
          </a:p>
          <a:p xmlns:a="http://schemas.openxmlformats.org/drawingml/2006/main">
            <a:r>
              <a:t>Sources: </a:t>
            </a:r>
          </a:p>
          <a:p xmlns:a="http://schemas.openxmlformats.org/drawingml/2006/main">
            <a:r>
              <a:t>https://github.com/Aditya725wu/DigitalTwin/blob/main/mobile-app/App.js</a:t>
            </a:r>
          </a:p>
          <a:p xmlns:a="http://schemas.openxmlformats.org/drawingml/2006/main">
            <a:r>
              <a:t>https://github.com/Aditya725wu/DigitalTwin/blob/main/mobile-app/src/screens/HomeScreen.js</a:t>
            </a:r>
          </a:p>
          <a:p xmlns:a="http://schemas.openxmlformats.org/drawingml/2006/main">
            <a:r>
              <a:t>https://github.com/Aditya725wu/DigitalTwin/blob/main/mobile-app/src/screens/CardiacScreen.js</a:t>
            </a:r>
          </a:p>
          <a:p xmlns:a="http://schemas.openxmlformats.org/drawingml/2006/main">
            <a:r>
              <a:t>https://github.com/Aditya725wu/DigitalTwin/blob/main/mobile-app/src/screens/AlertsScreen.js</a:t>
            </a:r>
          </a:p>
          <a:p xmlns:a="http://schemas.openxmlformats.org/drawingml/2006/main">
            <a:r>
              <a:t>https://github.com/Aditya725wu/DigitalTwin/blob/main/mobile-app/src/screens/ProfileScreen.js</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repository demo sequence. Show that a new vital can be submitted through Swagger and then reviewed as an alert.</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https://github.com/Aditya725wu/DigitalTwin/blob/main/docs/hackathon-submission.md</a:t>
            </a:r>
          </a:p>
          <a:p xmlns:a="http://schemas.openxmlformats.org/drawingml/2006/main">
            <a:r>
              <a:t>https://github.com/Aditya725wu/DigitalTwin/blob/main/docs/api-reference.md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the editable Excalidraw source diagram digital_twin_flow.excalidraw created for the project. It complements the Napkin.ai diagram on slide 4.</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boundary: all data are synthetic, persistence is in memory, risk scoring is simplified, and the repository is not a medical device.</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https://github.com/Aditya725wu/DigitalTwin/blob/main/docs/hackathon-submission.md</a:t>
            </a:r>
          </a:p>
          <a:p xmlns:a="http://schemas.openxmlformats.org/drawingml/2006/main">
            <a:r>
              <a:t>https://github.com/Aditya725wu/DigitalTwin/blob/main/backend/main.py</a:t>
            </a:r>
          </a:p>
          <a:p xmlns:a="http://schemas.openxmlformats.org/drawingml/2006/main">
            <a:r>
              <a:t>https://github.com/Aditya725wu/DigitalTwin/blob/main/backend/heart_disease_models.py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team. Team leader: Manthan Sanap. Members: Jay Mapari, Aditya Kharade, and Aditya Patil.</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7b9fbb27104a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7b0f60fefe4d50" /><Relationship Type="http://schemas.openxmlformats.org/officeDocument/2006/relationships/slideLayout" Target="/ppt/slideLayouts/slideLayout1.xml" Id="Rec91fb156fda45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91fb156fda45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eb3f386bcf4f2a" /><Relationship Type="http://schemas.openxmlformats.org/officeDocument/2006/relationships/image" Target="/ppt/media/image.png" Id="Re4fb025eaa33496b" /><Relationship Type="http://schemas.openxmlformats.org/officeDocument/2006/relationships/notesSlide" Target="/ppt/notesSlides/notesSlide1.xml" Id="R52c61207a770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e66d2c5e3c44cb" /><Relationship Type="http://schemas.openxmlformats.org/officeDocument/2006/relationships/image" Target="/ppt/media/image2.png" Id="R1385c5cc229742ea" /><Relationship Type="http://schemas.openxmlformats.org/officeDocument/2006/relationships/notesSlide" Target="/ppt/notesSlides/notesSlide2.xml" Id="R55038294a08a4a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731089b4af4464" /><Relationship Type="http://schemas.openxmlformats.org/officeDocument/2006/relationships/image" Target="/ppt/media/image3.png" Id="R58801b5d4bb549be" /><Relationship Type="http://schemas.openxmlformats.org/officeDocument/2006/relationships/notesSlide" Target="/ppt/notesSlides/notesSlide3.xml" Id="R3597f22b48fe4b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25e3607e434ffd" /><Relationship Type="http://schemas.openxmlformats.org/officeDocument/2006/relationships/image" Target="/ppt/media/image4.png" Id="R195f2c0ee9ca4a8d" /><Relationship Type="http://schemas.openxmlformats.org/officeDocument/2006/relationships/image" Target="/ppt/media/image5.png" Id="R303dd8775fe649a3" /><Relationship Type="http://schemas.openxmlformats.org/officeDocument/2006/relationships/image" Target="/ppt/media/image6.png" Id="Rd549920cb71b4888" /><Relationship Type="http://schemas.openxmlformats.org/officeDocument/2006/relationships/notesSlide" Target="/ppt/notesSlides/notesSlide4.xml" Id="R49d129702e2144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203c89252c45fc" /><Relationship Type="http://schemas.openxmlformats.org/officeDocument/2006/relationships/image" Target="/ppt/media/image7.png" Id="R8d1f695d9a454443" /><Relationship Type="http://schemas.openxmlformats.org/officeDocument/2006/relationships/notesSlide" Target="/ppt/notesSlides/notesSlide5.xml" Id="Rfb860c250c7c40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9d8b6b0cb04a1f" /><Relationship Type="http://schemas.openxmlformats.org/officeDocument/2006/relationships/image" Target="/ppt/media/image8.png" Id="R2bdd57d2b9a94b55" /><Relationship Type="http://schemas.openxmlformats.org/officeDocument/2006/relationships/notesSlide" Target="/ppt/notesSlides/notesSlide6.xml" Id="Rde5eefc8f5794f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2ac25f9b674aa0" /><Relationship Type="http://schemas.openxmlformats.org/officeDocument/2006/relationships/image" Target="/ppt/media/image9.png" Id="R6fe5b4dcf7b3463c" /><Relationship Type="http://schemas.openxmlformats.org/officeDocument/2006/relationships/notesSlide" Target="/ppt/notesSlides/notesSlide7.xml" Id="R240d33c02b2e4f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6184b405c4e32" /><Relationship Type="http://schemas.openxmlformats.org/officeDocument/2006/relationships/image" Target="/ppt/media/image10.png" Id="Rd7ddb732d1924f45" /><Relationship Type="http://schemas.openxmlformats.org/officeDocument/2006/relationships/notesSlide" Target="/ppt/notesSlides/notesSlide8.xml" Id="Raa21c476ee8c45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c15c47c1ae453d" /><Relationship Type="http://schemas.openxmlformats.org/officeDocument/2006/relationships/image" Target="/ppt/media/image11.png" Id="Rf1dce6c2c25f4320" /><Relationship Type="http://schemas.openxmlformats.org/officeDocument/2006/relationships/notesSlide" Target="/ppt/notesSlides/notesSlide9.xml" Id="R36b839e6b0e546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3e9510a1f64a87" /><Relationship Type="http://schemas.openxmlformats.org/officeDocument/2006/relationships/image" Target="/ppt/media/image12.png" Id="R9259e2a4d0254a82" /><Relationship Type="http://schemas.openxmlformats.org/officeDocument/2006/relationships/notesSlide" Target="/ppt/notesSlides/notesSlide10.xml" Id="R4037b8b58e354a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e8cc8f7d334d10" /><Relationship Type="http://schemas.openxmlformats.org/officeDocument/2006/relationships/image" Target="/ppt/media/image13.png" Id="R7f495f05991942d5" /><Relationship Type="http://schemas.openxmlformats.org/officeDocument/2006/relationships/notesSlide" Target="/ppt/notesSlides/notesSlide11.xml" Id="R6a29ca9d5bd142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c5b8d2a7e547f9" /><Relationship Type="http://schemas.openxmlformats.org/officeDocument/2006/relationships/image" Target="/ppt/media/image14.png" Id="Rc43681e4b931459b" /><Relationship Type="http://schemas.openxmlformats.org/officeDocument/2006/relationships/image" Target="/ppt/media/image15.png" Id="R50b34b8f946a44d3" /><Relationship Type="http://schemas.openxmlformats.org/officeDocument/2006/relationships/notesSlide" Target="/ppt/notesSlides/notesSlide12.xml" Id="Rd1a3b384cd5e44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ffbc28b16848eb" /><Relationship Type="http://schemas.openxmlformats.org/officeDocument/2006/relationships/image" Target="/ppt/media/image16.png" Id="R68e8b3807c064109" /><Relationship Type="http://schemas.openxmlformats.org/officeDocument/2006/relationships/image" Target="/ppt/media/image17.png" Id="R20c7ab644a954905" /><Relationship Type="http://schemas.openxmlformats.org/officeDocument/2006/relationships/notesSlide" Target="/ppt/notesSlides/notesSlide13.xml" Id="Rb9d054c367354e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d577351096848c6" /><Relationship Type="http://schemas.openxmlformats.org/officeDocument/2006/relationships/image" Target="/ppt/media/image18.png" Id="Rb96be7793ec04a2b" /><Relationship Type="http://schemas.openxmlformats.org/officeDocument/2006/relationships/image" Target="/ppt/media/image19.png" Id="Rcf634a75744a4002" /><Relationship Type="http://schemas.openxmlformats.org/officeDocument/2006/relationships/notesSlide" Target="/ppt/notesSlides/notesSlide14.xml" Id="R8d34fba323aa43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3309936c3c043b0" /><Relationship Type="http://schemas.openxmlformats.org/officeDocument/2006/relationships/notesSlide" Target="/ppt/notesSlides/notesSlide15.xml" Id="Rad83b62413284e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741fc8bdb04d39" /><Relationship Type="http://schemas.openxmlformats.org/officeDocument/2006/relationships/image" Target="/ppt/media/image20.png" Id="Rce8689d966954578" /><Relationship Type="http://schemas.openxmlformats.org/officeDocument/2006/relationships/image" Target="/ppt/media/image21.png" Id="R8fbec626db8c47d2" /><Relationship Type="http://schemas.openxmlformats.org/officeDocument/2006/relationships/notesSlide" Target="/ppt/notesSlides/notesSlide16.xml" Id="Rc5ace182c7f64b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cf784b6bf724f4d" /><Relationship Type="http://schemas.openxmlformats.org/officeDocument/2006/relationships/image" Target="/ppt/media/image22.png" Id="Rcd28cf80467c45f8" /><Relationship Type="http://schemas.openxmlformats.org/officeDocument/2006/relationships/image" Target="/ppt/media/image23.png" Id="R1c6cb45a91db4066" /><Relationship Type="http://schemas.openxmlformats.org/officeDocument/2006/relationships/notesSlide" Target="/ppt/notesSlides/notesSlide17.xml" Id="R6ae8d29f98ca43b8" /></Relationships>
</file>

<file path=ppt/slides/slide1.xml><?xml version="1.0" encoding="utf-8"?>
<p:sld xmlns:p="http://schemas.openxmlformats.org/presentationml/2006/main">
  <p:cSld>
    <p:bg>
      <p:bgPr>
        <a:solidFill xmlns:a="http://schemas.openxmlformats.org/drawingml/2006/main">
          <a:srgbClr val="D9F0F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0A978CA2-418E-41CB-83CA-40D65A2CE4A1}"/>
              </a:ext>
            </a:extLst>
          </p:cNvPr>
          <p:cNvPicPr>
            <a:picLocks xmlns:a="http://schemas.openxmlformats.org/drawingml/2006/main" noChangeAspect="1"/>
          </p:cNvPicPr>
          <p:nvPr/>
        </p:nvPicPr>
        <p:blipFill>
          <a:blip xmlns:r="http://schemas.openxmlformats.org/officeDocument/2006/relationships" xmlns:a="http://schemas.openxmlformats.org/drawingml/2006/main" r:embed="Re4fb025eaa33496b"/>
          <a:srcRect xmlns:a="http://schemas.openxmlformats.org/drawingml/2006/main" l="0" t="0" r="0" b="0"/>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83CEEB-D345-487F-A956-BF42C021A877}"/>
              </a:ext>
            </a:extLst>
          </p:cNvPr>
          <p:cNvSpPr>
            <a:spLocks xmlns:a="http://schemas.openxmlformats.org/drawingml/2006/main" noGrp="1"/>
          </p:cNvSpPr>
          <p:nvPr/>
        </p:nvSpPr>
        <p:spPr>
          <a:xfrm xmlns:a="http://schemas.openxmlformats.org/drawingml/2006/main">
            <a:off x="685800" y="1228725"/>
            <a:ext cx="61055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5100">
                <a:solidFill>
                  <a:srgbClr val="07334B"/>
                </a:solidFill>
                <a:latin typeface="Georgia"/>
                <a:ea typeface="Georgia"/>
                <a:cs typeface="Georgia"/>
              </a:defRPr>
            </a:pPr>
            <a:r>
              <a:rPr sz="5100">
                <a:solidFill>
                  <a:srgbClr val="07334B"/>
                </a:solidFill>
                <a:latin typeface="Georgia"/>
                <a:ea typeface="Georgia"/>
                <a:cs typeface="Georgia"/>
              </a:rPr>
              <a:t>S A D H Y A</a:t>
            </a:r>
          </a:p>
        </p:txBody>
      </p:sp>
    </p:spTree>
    <p:extLst>
      <p:ext uri="{BB962C8B-B14F-4D97-AF65-F5344CB8AC3E}">
        <p14:creationId xmlns:p14="http://schemas.microsoft.com/office/powerpoint/2010/main" val="553949110"/>
      </p:ext>
    </p:extLst>
  </p:cSld>
</p:sld>
</file>

<file path=ppt/slides/slide2.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8ACA53F-0214-4553-87FE-BEDCC5D92FAC}"/>
              </a:ext>
            </a:extLst>
          </p:cNvPr>
          <p:cNvPicPr>
            <a:picLocks xmlns:a="http://schemas.openxmlformats.org/drawingml/2006/main" noChangeAspect="1"/>
          </p:cNvPicPr>
          <p:nvPr/>
        </p:nvPicPr>
        <p:blipFill>
          <a:blip xmlns:r="http://schemas.openxmlformats.org/officeDocument/2006/relationships" xmlns:a="http://schemas.openxmlformats.org/drawingml/2006/main" r:embed="R1385c5cc229742ea"/>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2A831F86-AD84-4EDE-80DA-B0F7A5B86F15}"/>
              </a:ext>
            </a:extLst>
          </p:cNvPr>
          <p:cNvSpPr>
            <a:spLocks xmlns:a="http://schemas.openxmlformats.org/drawingml/2006/main" noGrp="1"/>
          </p:cNvSpPr>
          <p:nvPr/>
        </p:nvSpPr>
        <p:spPr>
          <a:xfrm xmlns:a="http://schemas.openxmlformats.org/drawingml/2006/main">
            <a:off x="342900" y="1400175"/>
            <a:ext cx="2933700" cy="3276600"/>
          </a:xfrm>
          <a:prstGeom xmlns:a="http://schemas.openxmlformats.org/drawingml/2006/main" prst="roundRect">
            <a:avLst>
              <a:gd name="adj" fmla="val 4870"/>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D6D0D20-F79C-499A-9DAC-E756A86937BF}"/>
              </a:ext>
            </a:extLst>
          </p:cNvPr>
          <p:cNvSpPr>
            <a:spLocks xmlns:a="http://schemas.openxmlformats.org/drawingml/2006/main" noGrp="1"/>
          </p:cNvSpPr>
          <p:nvPr/>
        </p:nvSpPr>
        <p:spPr>
          <a:xfrm xmlns:a="http://schemas.openxmlformats.org/drawingml/2006/main">
            <a:off x="342900" y="1419225"/>
            <a:ext cx="47625" cy="32385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660F97B-5227-401F-BB32-1AD31CF5C860}"/>
              </a:ext>
            </a:extLst>
          </p:cNvPr>
          <p:cNvSpPr>
            <a:spLocks xmlns:a="http://schemas.openxmlformats.org/drawingml/2006/main" noGrp="1"/>
          </p:cNvSpPr>
          <p:nvPr/>
        </p:nvSpPr>
        <p:spPr>
          <a:xfrm xmlns:a="http://schemas.openxmlformats.org/drawingml/2006/main">
            <a:off x="3419475" y="1400175"/>
            <a:ext cx="3705225" cy="3276600"/>
          </a:xfrm>
          <a:prstGeom xmlns:a="http://schemas.openxmlformats.org/drawingml/2006/main" prst="roundRect">
            <a:avLst>
              <a:gd name="adj" fmla="val 4360"/>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B4CC1D95-C20F-4F6F-8D05-E801ECADDB29}"/>
              </a:ext>
            </a:extLst>
          </p:cNvPr>
          <p:cNvSpPr>
            <a:spLocks xmlns:a="http://schemas.openxmlformats.org/drawingml/2006/main" noGrp="1"/>
          </p:cNvSpPr>
          <p:nvPr/>
        </p:nvSpPr>
        <p:spPr>
          <a:xfrm xmlns:a="http://schemas.openxmlformats.org/drawingml/2006/main">
            <a:off x="3419475" y="1419225"/>
            <a:ext cx="57150" cy="3238500"/>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cxnSp>
        <p:nvCxnSpPr>
          <p:cNvPr id="13" name="">
            <a:extLst xmlns:a="http://schemas.openxmlformats.org/drawingml/2006/main">
              <a:ext uri="{FF2B5EF4-FFF2-40B4-BE49-F238E27FC236}">
                <a16:creationId xmlns:a16="http://schemas.microsoft.com/office/drawing/2014/main" id="{6BA56D28-65DA-4A40-9F3E-6D1C08051C2C}"/>
              </a:ext>
            </a:extLst>
          </p:cNvPr>
          <p:cNvCxnSpPr>
            <a:stCxn xmlns:a="http://schemas.openxmlformats.org/drawingml/2006/main" id="10" idx="3"/>
            <a:endCxn xmlns:a="http://schemas.openxmlformats.org/drawingml/2006/main" id="11" idx="1"/>
          </p:cNvCxnSpPr>
          <p:nvPr/>
        </p:nvCxnSpPr>
        <p:spPr>
          <a:xfrm xmlns:a="http://schemas.openxmlformats.org/drawingml/2006/main" flipV="1">
            <a:off x="4857750" y="2495550"/>
            <a:ext cx="428625" cy="533400"/>
          </a:xfrm>
          <a:prstGeom xmlns:a="http://schemas.openxmlformats.org/drawingml/2006/main" prst="straightConnector1">
            <a:avLst/>
          </a:prstGeom>
          <a:ln xmlns:a="http://schemas.openxmlformats.org/drawingml/2006/main" w="19050">
            <a:solidFill>
              <a:srgbClr val="248F8A"/>
            </a:solidFill>
            <a:prstDash val="solid"/>
          </a:ln>
        </p:spPr>
      </p:cxnSp>
      <p:cxnSp>
        <p:nvCxnSpPr>
          <p:cNvPr id="12" name="">
            <a:extLst xmlns:a="http://schemas.openxmlformats.org/drawingml/2006/main">
              <a:ext uri="{FF2B5EF4-FFF2-40B4-BE49-F238E27FC236}">
                <a16:creationId xmlns:a16="http://schemas.microsoft.com/office/drawing/2014/main" id="{13387C3A-A085-4E37-B34A-57B2AF6F90DD}"/>
              </a:ext>
            </a:extLst>
          </p:cNvPr>
          <p:cNvCxnSpPr>
            <a:stCxn xmlns:a="http://schemas.openxmlformats.org/drawingml/2006/main" id="9" idx="3"/>
            <a:endCxn xmlns:a="http://schemas.openxmlformats.org/drawingml/2006/main" id="11" idx="1"/>
          </p:cNvCxnSpPr>
          <p:nvPr/>
        </p:nvCxnSpPr>
        <p:spPr>
          <a:xfrm xmlns:a="http://schemas.openxmlformats.org/drawingml/2006/main">
            <a:off x="4857750" y="1914525"/>
            <a:ext cx="428625" cy="581025"/>
          </a:xfrm>
          <a:prstGeom xmlns:a="http://schemas.openxmlformats.org/drawingml/2006/main" prst="straightConnector1">
            <a:avLst/>
          </a:prstGeom>
          <a:ln xmlns:a="http://schemas.openxmlformats.org/drawingml/2006/main" w="19050">
            <a:solidFill>
              <a:srgbClr val="248F8A"/>
            </a:solidFill>
            <a:prstDash val="solid"/>
          </a:ln>
        </p:spPr>
      </p:cxnSp>
      <p:sp>
        <p:nvSpPr>
          <p:cNvPr id="15" name="">
            <a:extLst xmlns:a="http://schemas.openxmlformats.org/drawingml/2006/main">
              <a:ext uri="{FF2B5EF4-FFF2-40B4-BE49-F238E27FC236}">
                <a16:creationId xmlns:a16="http://schemas.microsoft.com/office/drawing/2014/main" id="{BE3A622A-B8D4-4BF1-96CE-F6AD5FAB4CAB}"/>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CardioTwin at a glance</a:t>
            </a:r>
          </a:p>
        </p:txBody>
      </p:sp>
      <p:sp>
        <p:nvSpPr>
          <p:cNvPr id="2" name="">
            <a:extLst xmlns:a="http://schemas.openxmlformats.org/drawingml/2006/main">
              <a:ext uri="{FF2B5EF4-FFF2-40B4-BE49-F238E27FC236}">
                <a16:creationId xmlns:a16="http://schemas.microsoft.com/office/drawing/2014/main" id="{DDEE5B96-2126-476D-8A71-5C69FE19EAC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EA2BC8D6-3414-40C2-BD92-C68FAEBA8B80}"/>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A synthetic-data prototype for clinician review of cardiac context and incoming telemetry.</a:t>
            </a:r>
          </a:p>
        </p:txBody>
      </p:sp>
      <p:sp>
        <p:nvSpPr>
          <p:cNvPr id="4" name="">
            <a:extLst xmlns:a="http://schemas.openxmlformats.org/drawingml/2006/main">
              <a:ext uri="{FF2B5EF4-FFF2-40B4-BE49-F238E27FC236}">
                <a16:creationId xmlns:a16="http://schemas.microsoft.com/office/drawing/2014/main" id="{F37DA405-2EE3-4824-A94C-0F32E02890F1}"/>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80AF8F9-8D37-4EEF-8BD0-DD8B748EBFB5}"/>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A0C56D11-A022-47E8-8F72-DBBEDD250AEA}"/>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DE3DD17-7472-4C55-8262-96457EE3857A}"/>
              </a:ext>
            </a:extLst>
          </p:cNvPr>
          <p:cNvSpPr>
            <a:spLocks xmlns:a="http://schemas.openxmlformats.org/drawingml/2006/main" noGrp="1"/>
          </p:cNvSpPr>
          <p:nvPr/>
        </p:nvSpPr>
        <p:spPr>
          <a:xfrm xmlns:a="http://schemas.openxmlformats.org/drawingml/2006/main">
            <a:off x="514350" y="1638300"/>
            <a:ext cx="24574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56"/>
          </a:bodyPr>
          <a:lstStyle xmlns:a="http://schemas.openxmlformats.org/drawingml/2006/main">
            <a:defPPr algn="l">
              <a:defRPr sz="2550" b="1" i="0">
                <a:solidFill>
                  <a:srgbClr val="123F50"/>
                </a:solidFill>
                <a:latin typeface="Calibri Light"/>
                <a:ea typeface="Calibri Light"/>
                <a:cs typeface="Calibri Light"/>
              </a:defRPr>
            </a:defPPr>
            <a:lvl1pPr algn="l">
              <a:buNone/>
              <a:defRPr sz="2550" b="1" i="0">
                <a:solidFill>
                  <a:srgbClr val="123F50"/>
                </a:solidFill>
                <a:latin typeface="Calibri Light"/>
                <a:ea typeface="Calibri Light"/>
                <a:cs typeface="Calibri Light"/>
              </a:defRPr>
            </a:lvl1pPr>
            <a:lvl2pPr algn="l">
              <a:buNone/>
              <a:defRPr sz="2550" b="1" i="0">
                <a:solidFill>
                  <a:srgbClr val="123F50"/>
                </a:solidFill>
                <a:latin typeface="Calibri Light"/>
                <a:ea typeface="Calibri Light"/>
                <a:cs typeface="Calibri Light"/>
              </a:defRPr>
            </a:lvl2pPr>
            <a:lvl3pPr algn="l">
              <a:buNone/>
              <a:defRPr sz="2550" b="1" i="0">
                <a:solidFill>
                  <a:srgbClr val="123F50"/>
                </a:solidFill>
                <a:latin typeface="Calibri Light"/>
                <a:ea typeface="Calibri Light"/>
                <a:cs typeface="Calibri Light"/>
              </a:defRPr>
            </a:lvl3pPr>
            <a:lvl4pPr algn="l">
              <a:buNone/>
              <a:defRPr sz="2550" b="1" i="0">
                <a:solidFill>
                  <a:srgbClr val="123F50"/>
                </a:solidFill>
                <a:latin typeface="Calibri Light"/>
                <a:ea typeface="Calibri Light"/>
                <a:cs typeface="Calibri Light"/>
              </a:defRPr>
            </a:lvl4pPr>
            <a:lvl5pPr algn="l">
              <a:buNone/>
              <a:defRPr sz="2550" b="1" i="0">
                <a:solidFill>
                  <a:srgbClr val="123F50"/>
                </a:solidFill>
                <a:latin typeface="Calibri Light"/>
                <a:ea typeface="Calibri Light"/>
                <a:cs typeface="Calibri Light"/>
              </a:defRPr>
            </a:lvl5pPr>
            <a:lvl6pPr algn="l">
              <a:buNone/>
              <a:defRPr sz="2550" b="1" i="0">
                <a:solidFill>
                  <a:srgbClr val="123F50"/>
                </a:solidFill>
                <a:latin typeface="Calibri Light"/>
                <a:ea typeface="Calibri Light"/>
                <a:cs typeface="Calibri Light"/>
              </a:defRPr>
            </a:lvl6pPr>
            <a:lvl7pPr algn="l">
              <a:buNone/>
              <a:defRPr sz="2550" b="1" i="0">
                <a:solidFill>
                  <a:srgbClr val="123F50"/>
                </a:solidFill>
                <a:latin typeface="Calibri Light"/>
                <a:ea typeface="Calibri Light"/>
                <a:cs typeface="Calibri Light"/>
              </a:defRPr>
            </a:lvl7pPr>
            <a:lvl8pPr algn="l">
              <a:buNone/>
              <a:defRPr sz="2550" b="1" i="0">
                <a:solidFill>
                  <a:srgbClr val="123F50"/>
                </a:solidFill>
                <a:latin typeface="Calibri Light"/>
                <a:ea typeface="Calibri Light"/>
                <a:cs typeface="Calibri Light"/>
              </a:defRPr>
            </a:lvl8pPr>
            <a:lvl9pPr algn="l">
              <a:buNone/>
              <a:defRPr sz="2550" b="1" i="0">
                <a:solidFill>
                  <a:srgbClr val="123F50"/>
                </a:solidFill>
                <a:latin typeface="Calibri Light"/>
                <a:ea typeface="Calibri Light"/>
                <a:cs typeface="Calibri Light"/>
              </a:defRPr>
            </a:lvl9pPr>
          </a:lstStyle>
          <a:p xmlns:a="http://schemas.openxmlformats.org/drawingml/2006/main">
            <a:pPr algn="l">
              <a:lnSpc>
                <a:spcPct val="103000"/>
              </a:lnSpc>
              <a:buNone/>
              <a:defRPr sz="2550" b="1" i="0">
                <a:solidFill>
                  <a:srgbClr val="123F50"/>
                </a:solidFill>
                <a:latin typeface="Calibri Light"/>
                <a:ea typeface="Calibri Light"/>
                <a:cs typeface="Calibri Light"/>
              </a:defRPr>
            </a:pPr>
            <a:r>
              <a:rPr sz="2550" b="1" i="0">
                <a:solidFill>
                  <a:srgbClr val="123F50"/>
                </a:solidFill>
                <a:latin typeface="Calibri Light"/>
                <a:ea typeface="Calibri Light"/>
                <a:cs typeface="Calibri Light"/>
              </a:rPr>
              <a:t>One patient view</a:t>
            </a:r>
          </a:p>
          <a:p xmlns:a="http://schemas.openxmlformats.org/drawingml/2006/main">
            <a:pPr algn="l">
              <a:lnSpc>
                <a:spcPct val="103000"/>
              </a:lnSpc>
              <a:buNone/>
              <a:defRPr sz="2550" b="1" i="0">
                <a:solidFill>
                  <a:srgbClr val="123F50"/>
                </a:solidFill>
                <a:latin typeface="Calibri Light"/>
                <a:ea typeface="Calibri Light"/>
                <a:cs typeface="Calibri Light"/>
              </a:defRPr>
            </a:pPr>
            <a:r>
              <a:rPr sz="2550" b="1" i="0">
                <a:solidFill>
                  <a:srgbClr val="123F50"/>
                </a:solidFill>
                <a:latin typeface="Calibri Light"/>
                <a:ea typeface="Calibri Light"/>
                <a:cs typeface="Calibri Light"/>
              </a:rPr>
              <a:t>from two data streams</a:t>
            </a:r>
          </a:p>
        </p:txBody>
      </p:sp>
      <p:sp>
        <p:nvSpPr>
          <p:cNvPr id="8" name="">
            <a:extLst xmlns:a="http://schemas.openxmlformats.org/drawingml/2006/main">
              <a:ext uri="{FF2B5EF4-FFF2-40B4-BE49-F238E27FC236}">
                <a16:creationId xmlns:a16="http://schemas.microsoft.com/office/drawing/2014/main" id="{93EA7D53-59CF-4B1D-AF09-53F8F4AC643F}"/>
              </a:ext>
            </a:extLst>
          </p:cNvPr>
          <p:cNvSpPr>
            <a:spLocks xmlns:a="http://schemas.openxmlformats.org/drawingml/2006/main" noGrp="1"/>
          </p:cNvSpPr>
          <p:nvPr/>
        </p:nvSpPr>
        <p:spPr>
          <a:xfrm xmlns:a="http://schemas.openxmlformats.org/drawingml/2006/main">
            <a:off x="514350" y="2952750"/>
            <a:ext cx="2628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975"/>
          </a:bodyPr>
          <a:lstStyle xmlns:a="http://schemas.openxmlformats.org/drawingml/2006/main">
            <a:defPPr algn="l">
              <a:defRPr sz="1350" b="0" i="0">
                <a:solidFill>
                  <a:srgbClr val="263C45"/>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16000"/>
              </a:lnSpc>
              <a:buNone/>
              <a:defRPr sz="1350" b="0" i="0">
                <a:solidFill>
                  <a:srgbClr val="263C45"/>
                </a:solidFill>
                <a:latin typeface="Calibri"/>
                <a:ea typeface="Calibri"/>
                <a:cs typeface="Calibri"/>
              </a:defRPr>
            </a:pPr>
            <a:r>
              <a:rPr sz="1350" b="0" i="0">
                <a:solidFill>
                  <a:srgbClr val="263C45"/>
                </a:solidFill>
                <a:latin typeface="Calibri"/>
                <a:ea typeface="Calibri"/>
                <a:cs typeface="Calibri"/>
              </a:rPr>
              <a:t>CardioTwin combines a synthetic EHR profile with simulated wearable readings, then presents rule-based cardiac indicators in a clinician dashboard and patient app.</a:t>
            </a:r>
          </a:p>
        </p:txBody>
      </p:sp>
      <p:sp>
        <p:nvSpPr>
          <p:cNvPr id="9" name="">
            <a:extLst xmlns:a="http://schemas.openxmlformats.org/drawingml/2006/main">
              <a:ext uri="{FF2B5EF4-FFF2-40B4-BE49-F238E27FC236}">
                <a16:creationId xmlns:a16="http://schemas.microsoft.com/office/drawing/2014/main" id="{3457BBDF-8D26-4E2F-9F57-96BD3AD85748}"/>
              </a:ext>
            </a:extLst>
          </p:cNvPr>
          <p:cNvSpPr>
            <a:spLocks xmlns:a="http://schemas.openxmlformats.org/drawingml/2006/main" noGrp="1"/>
          </p:cNvSpPr>
          <p:nvPr/>
        </p:nvSpPr>
        <p:spPr>
          <a:xfrm xmlns:a="http://schemas.openxmlformats.org/drawingml/2006/main">
            <a:off x="3476625" y="1571625"/>
            <a:ext cx="1381125" cy="685800"/>
          </a:xfrm>
          <a:prstGeom xmlns:a="http://schemas.openxmlformats.org/drawingml/2006/main" prst="roundRect">
            <a:avLst>
              <a:gd name="adj" fmla="val 11111"/>
            </a:avLst>
          </a:prstGeom>
          <a:solidFill xmlns:a="http://schemas.openxmlformats.org/drawingml/2006/main">
            <a:srgbClr val="E8F3F4"/>
          </a:solidFill>
          <a:ln xmlns:a="http://schemas.openxmlformats.org/drawingml/2006/main" w="11430">
            <a:solidFill>
              <a:srgbClr val="BBD7D8"/>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00" b="1">
                <a:solidFill>
                  <a:srgbClr val="263C45"/>
                </a:solidFill>
                <a:latin typeface="Calibri"/>
                <a:ea typeface="Calibri"/>
                <a:cs typeface="Calibri"/>
              </a:defRPr>
            </a:defPPr>
            <a:lvl1pPr algn="ctr">
              <a:buNone/>
              <a:defRPr sz="1200" b="1">
                <a:solidFill>
                  <a:srgbClr val="263C45"/>
                </a:solidFill>
                <a:latin typeface="Calibri"/>
                <a:ea typeface="Calibri"/>
                <a:cs typeface="Calibri"/>
              </a:defRPr>
            </a:lvl1pPr>
            <a:lvl2pPr algn="ctr">
              <a:buNone/>
              <a:defRPr sz="1200" b="1">
                <a:solidFill>
                  <a:srgbClr val="263C45"/>
                </a:solidFill>
                <a:latin typeface="Calibri"/>
                <a:ea typeface="Calibri"/>
                <a:cs typeface="Calibri"/>
              </a:defRPr>
            </a:lvl2pPr>
            <a:lvl3pPr algn="ctr">
              <a:buNone/>
              <a:defRPr sz="1200" b="1">
                <a:solidFill>
                  <a:srgbClr val="263C45"/>
                </a:solidFill>
                <a:latin typeface="Calibri"/>
                <a:ea typeface="Calibri"/>
                <a:cs typeface="Calibri"/>
              </a:defRPr>
            </a:lvl3pPr>
            <a:lvl4pPr algn="ctr">
              <a:buNone/>
              <a:defRPr sz="1200" b="1">
                <a:solidFill>
                  <a:srgbClr val="263C45"/>
                </a:solidFill>
                <a:latin typeface="Calibri"/>
                <a:ea typeface="Calibri"/>
                <a:cs typeface="Calibri"/>
              </a:defRPr>
            </a:lvl4pPr>
            <a:lvl5pPr algn="ctr">
              <a:buNone/>
              <a:defRPr sz="1200" b="1">
                <a:solidFill>
                  <a:srgbClr val="263C45"/>
                </a:solidFill>
                <a:latin typeface="Calibri"/>
                <a:ea typeface="Calibri"/>
                <a:cs typeface="Calibri"/>
              </a:defRPr>
            </a:lvl5pPr>
            <a:lvl6pPr algn="ctr">
              <a:buNone/>
              <a:defRPr sz="1200" b="1">
                <a:solidFill>
                  <a:srgbClr val="263C45"/>
                </a:solidFill>
                <a:latin typeface="Calibri"/>
                <a:ea typeface="Calibri"/>
                <a:cs typeface="Calibri"/>
              </a:defRPr>
            </a:lvl6pPr>
            <a:lvl7pPr algn="ctr">
              <a:buNone/>
              <a:defRPr sz="1200" b="1">
                <a:solidFill>
                  <a:srgbClr val="263C45"/>
                </a:solidFill>
                <a:latin typeface="Calibri"/>
                <a:ea typeface="Calibri"/>
                <a:cs typeface="Calibri"/>
              </a:defRPr>
            </a:lvl7pPr>
            <a:lvl8pPr algn="ctr">
              <a:buNone/>
              <a:defRPr sz="1200" b="1">
                <a:solidFill>
                  <a:srgbClr val="263C45"/>
                </a:solidFill>
                <a:latin typeface="Calibri"/>
                <a:ea typeface="Calibri"/>
                <a:cs typeface="Calibri"/>
              </a:defRPr>
            </a:lvl8pPr>
            <a:lvl9pPr algn="ctr">
              <a:buNone/>
              <a:defRPr sz="1200" b="1">
                <a:solidFill>
                  <a:srgbClr val="263C45"/>
                </a:solidFill>
                <a:latin typeface="Calibri"/>
                <a:ea typeface="Calibri"/>
                <a:cs typeface="Calibri"/>
              </a:defRPr>
            </a:lvl9pPr>
          </a:lstStyle>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Synthetic EHR</a:t>
            </a:r>
          </a:p>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patient context</a:t>
            </a:r>
          </a:p>
        </p:txBody>
      </p:sp>
      <p:sp>
        <p:nvSpPr>
          <p:cNvPr id="10" name="">
            <a:extLst xmlns:a="http://schemas.openxmlformats.org/drawingml/2006/main">
              <a:ext uri="{FF2B5EF4-FFF2-40B4-BE49-F238E27FC236}">
                <a16:creationId xmlns:a16="http://schemas.microsoft.com/office/drawing/2014/main" id="{04B51FEF-9C23-48A4-B126-39647369E459}"/>
              </a:ext>
            </a:extLst>
          </p:cNvPr>
          <p:cNvSpPr>
            <a:spLocks xmlns:a="http://schemas.openxmlformats.org/drawingml/2006/main" noGrp="1"/>
          </p:cNvSpPr>
          <p:nvPr/>
        </p:nvSpPr>
        <p:spPr>
          <a:xfrm xmlns:a="http://schemas.openxmlformats.org/drawingml/2006/main">
            <a:off x="3476625" y="2686050"/>
            <a:ext cx="1381125" cy="685800"/>
          </a:xfrm>
          <a:prstGeom xmlns:a="http://schemas.openxmlformats.org/drawingml/2006/main" prst="roundRect">
            <a:avLst>
              <a:gd name="adj" fmla="val 11111"/>
            </a:avLst>
          </a:prstGeom>
          <a:solidFill xmlns:a="http://schemas.openxmlformats.org/drawingml/2006/main">
            <a:srgbClr val="E6F4EF"/>
          </a:solidFill>
          <a:ln xmlns:a="http://schemas.openxmlformats.org/drawingml/2006/main" w="11430">
            <a:solidFill>
              <a:srgbClr val="BFDCD2"/>
            </a:solidFill>
            <a:prstDash val="solid"/>
          </a:ln>
        </p:spPr>
        <p:txBody>
          <a:bodyPr xmlns:a="http://schemas.openxmlformats.org/drawingml/2006/main" wrap="square" lIns="95250" tIns="76200" rIns="95250" bIns="76200" anchor="ctr">
            <a:normAutofit fontScale="98266"/>
          </a:bodyPr>
          <a:lstStyle xmlns:a="http://schemas.openxmlformats.org/drawingml/2006/main">
            <a:defPPr algn="ctr">
              <a:defRPr sz="1200" b="1">
                <a:solidFill>
                  <a:srgbClr val="263C45"/>
                </a:solidFill>
                <a:latin typeface="Calibri"/>
                <a:ea typeface="Calibri"/>
                <a:cs typeface="Calibri"/>
              </a:defRPr>
            </a:defPPr>
            <a:lvl1pPr algn="ctr">
              <a:buNone/>
              <a:defRPr sz="1200" b="1">
                <a:solidFill>
                  <a:srgbClr val="263C45"/>
                </a:solidFill>
                <a:latin typeface="Calibri"/>
                <a:ea typeface="Calibri"/>
                <a:cs typeface="Calibri"/>
              </a:defRPr>
            </a:lvl1pPr>
            <a:lvl2pPr algn="ctr">
              <a:buNone/>
              <a:defRPr sz="1200" b="1">
                <a:solidFill>
                  <a:srgbClr val="263C45"/>
                </a:solidFill>
                <a:latin typeface="Calibri"/>
                <a:ea typeface="Calibri"/>
                <a:cs typeface="Calibri"/>
              </a:defRPr>
            </a:lvl2pPr>
            <a:lvl3pPr algn="ctr">
              <a:buNone/>
              <a:defRPr sz="1200" b="1">
                <a:solidFill>
                  <a:srgbClr val="263C45"/>
                </a:solidFill>
                <a:latin typeface="Calibri"/>
                <a:ea typeface="Calibri"/>
                <a:cs typeface="Calibri"/>
              </a:defRPr>
            </a:lvl3pPr>
            <a:lvl4pPr algn="ctr">
              <a:buNone/>
              <a:defRPr sz="1200" b="1">
                <a:solidFill>
                  <a:srgbClr val="263C45"/>
                </a:solidFill>
                <a:latin typeface="Calibri"/>
                <a:ea typeface="Calibri"/>
                <a:cs typeface="Calibri"/>
              </a:defRPr>
            </a:lvl4pPr>
            <a:lvl5pPr algn="ctr">
              <a:buNone/>
              <a:defRPr sz="1200" b="1">
                <a:solidFill>
                  <a:srgbClr val="263C45"/>
                </a:solidFill>
                <a:latin typeface="Calibri"/>
                <a:ea typeface="Calibri"/>
                <a:cs typeface="Calibri"/>
              </a:defRPr>
            </a:lvl5pPr>
            <a:lvl6pPr algn="ctr">
              <a:buNone/>
              <a:defRPr sz="1200" b="1">
                <a:solidFill>
                  <a:srgbClr val="263C45"/>
                </a:solidFill>
                <a:latin typeface="Calibri"/>
                <a:ea typeface="Calibri"/>
                <a:cs typeface="Calibri"/>
              </a:defRPr>
            </a:lvl6pPr>
            <a:lvl7pPr algn="ctr">
              <a:buNone/>
              <a:defRPr sz="1200" b="1">
                <a:solidFill>
                  <a:srgbClr val="263C45"/>
                </a:solidFill>
                <a:latin typeface="Calibri"/>
                <a:ea typeface="Calibri"/>
                <a:cs typeface="Calibri"/>
              </a:defRPr>
            </a:lvl7pPr>
            <a:lvl8pPr algn="ctr">
              <a:buNone/>
              <a:defRPr sz="1200" b="1">
                <a:solidFill>
                  <a:srgbClr val="263C45"/>
                </a:solidFill>
                <a:latin typeface="Calibri"/>
                <a:ea typeface="Calibri"/>
                <a:cs typeface="Calibri"/>
              </a:defRPr>
            </a:lvl8pPr>
            <a:lvl9pPr algn="ctr">
              <a:buNone/>
              <a:defRPr sz="1200" b="1">
                <a:solidFill>
                  <a:srgbClr val="263C45"/>
                </a:solidFill>
                <a:latin typeface="Calibri"/>
                <a:ea typeface="Calibri"/>
                <a:cs typeface="Calibri"/>
              </a:defRPr>
            </a:lvl9pPr>
          </a:lstStyle>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Simulated</a:t>
            </a:r>
          </a:p>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wearable readings</a:t>
            </a:r>
          </a:p>
        </p:txBody>
      </p:sp>
      <p:sp>
        <p:nvSpPr>
          <p:cNvPr id="11" name="">
            <a:extLst xmlns:a="http://schemas.openxmlformats.org/drawingml/2006/main">
              <a:ext uri="{FF2B5EF4-FFF2-40B4-BE49-F238E27FC236}">
                <a16:creationId xmlns:a16="http://schemas.microsoft.com/office/drawing/2014/main" id="{BDF6D400-9E9F-4E20-84FB-F8F78CAA1B73}"/>
              </a:ext>
            </a:extLst>
          </p:cNvPr>
          <p:cNvSpPr>
            <a:spLocks xmlns:a="http://schemas.openxmlformats.org/drawingml/2006/main" noGrp="1"/>
          </p:cNvSpPr>
          <p:nvPr/>
        </p:nvSpPr>
        <p:spPr>
          <a:xfrm xmlns:a="http://schemas.openxmlformats.org/drawingml/2006/main">
            <a:off x="5286375" y="2076450"/>
            <a:ext cx="1562100" cy="838200"/>
          </a:xfrm>
          <a:prstGeom xmlns:a="http://schemas.openxmlformats.org/drawingml/2006/main" prst="roundRect">
            <a:avLst>
              <a:gd name="adj" fmla="val 9091"/>
            </a:avLst>
          </a:prstGeom>
          <a:solidFill xmlns:a="http://schemas.openxmlformats.org/drawingml/2006/main">
            <a:srgbClr val="123F50"/>
          </a:solidFill>
          <a:ln xmlns:a="http://schemas.openxmlformats.org/drawingml/2006/main" w="11430">
            <a:solidFill>
              <a:srgbClr val="123F50"/>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350" b="1">
                <a:solidFill>
                  <a:srgbClr val="FFFFFF"/>
                </a:solidFill>
                <a:latin typeface="Calibri"/>
                <a:ea typeface="Calibri"/>
                <a:cs typeface="Calibri"/>
              </a:defRPr>
            </a:defPPr>
            <a:lvl1pPr algn="ctr">
              <a:buNone/>
              <a:defRPr sz="1350" b="1">
                <a:solidFill>
                  <a:srgbClr val="FFFFFF"/>
                </a:solidFill>
                <a:latin typeface="Calibri"/>
                <a:ea typeface="Calibri"/>
                <a:cs typeface="Calibri"/>
              </a:defRPr>
            </a:lvl1pPr>
            <a:lvl2pPr algn="ctr">
              <a:buNone/>
              <a:defRPr sz="1350" b="1">
                <a:solidFill>
                  <a:srgbClr val="FFFFFF"/>
                </a:solidFill>
                <a:latin typeface="Calibri"/>
                <a:ea typeface="Calibri"/>
                <a:cs typeface="Calibri"/>
              </a:defRPr>
            </a:lvl2pPr>
            <a:lvl3pPr algn="ctr">
              <a:buNone/>
              <a:defRPr sz="1350" b="1">
                <a:solidFill>
                  <a:srgbClr val="FFFFFF"/>
                </a:solidFill>
                <a:latin typeface="Calibri"/>
                <a:ea typeface="Calibri"/>
                <a:cs typeface="Calibri"/>
              </a:defRPr>
            </a:lvl3pPr>
            <a:lvl4pPr algn="ctr">
              <a:buNone/>
              <a:defRPr sz="1350" b="1">
                <a:solidFill>
                  <a:srgbClr val="FFFFFF"/>
                </a:solidFill>
                <a:latin typeface="Calibri"/>
                <a:ea typeface="Calibri"/>
                <a:cs typeface="Calibri"/>
              </a:defRPr>
            </a:lvl4pPr>
            <a:lvl5pPr algn="ctr">
              <a:buNone/>
              <a:defRPr sz="1350" b="1">
                <a:solidFill>
                  <a:srgbClr val="FFFFFF"/>
                </a:solidFill>
                <a:latin typeface="Calibri"/>
                <a:ea typeface="Calibri"/>
                <a:cs typeface="Calibri"/>
              </a:defRPr>
            </a:lvl5pPr>
            <a:lvl6pPr algn="ctr">
              <a:buNone/>
              <a:defRPr sz="1350" b="1">
                <a:solidFill>
                  <a:srgbClr val="FFFFFF"/>
                </a:solidFill>
                <a:latin typeface="Calibri"/>
                <a:ea typeface="Calibri"/>
                <a:cs typeface="Calibri"/>
              </a:defRPr>
            </a:lvl6pPr>
            <a:lvl7pPr algn="ctr">
              <a:buNone/>
              <a:defRPr sz="1350" b="1">
                <a:solidFill>
                  <a:srgbClr val="FFFFFF"/>
                </a:solidFill>
                <a:latin typeface="Calibri"/>
                <a:ea typeface="Calibri"/>
                <a:cs typeface="Calibri"/>
              </a:defRPr>
            </a:lvl7pPr>
            <a:lvl8pPr algn="ctr">
              <a:buNone/>
              <a:defRPr sz="1350" b="1">
                <a:solidFill>
                  <a:srgbClr val="FFFFFF"/>
                </a:solidFill>
                <a:latin typeface="Calibri"/>
                <a:ea typeface="Calibri"/>
                <a:cs typeface="Calibri"/>
              </a:defRPr>
            </a:lvl8pPr>
            <a:lvl9pPr algn="ctr">
              <a:buNone/>
              <a:defRPr sz="1350" b="1">
                <a:solidFill>
                  <a:srgbClr val="FFFFFF"/>
                </a:solidFill>
                <a:latin typeface="Calibri"/>
                <a:ea typeface="Calibri"/>
                <a:cs typeface="Calibri"/>
              </a:defRPr>
            </a:lvl9pPr>
          </a:lstStyle>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CardioTwin</a:t>
            </a:r>
          </a:p>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Risk · rhythm · BP</a:t>
            </a:r>
          </a:p>
        </p:txBody>
      </p:sp>
      <p:sp>
        <p:nvSpPr>
          <p:cNvPr id="14" name="">
            <a:extLst xmlns:a="http://schemas.openxmlformats.org/drawingml/2006/main">
              <a:ext uri="{FF2B5EF4-FFF2-40B4-BE49-F238E27FC236}">
                <a16:creationId xmlns:a16="http://schemas.microsoft.com/office/drawing/2014/main" id="{D586E81E-83FB-490D-8E69-9EB803576CBB}"/>
              </a:ext>
            </a:extLst>
          </p:cNvPr>
          <p:cNvSpPr>
            <a:spLocks xmlns:a="http://schemas.openxmlformats.org/drawingml/2006/main" noGrp="1"/>
          </p:cNvSpPr>
          <p:nvPr/>
        </p:nvSpPr>
        <p:spPr>
          <a:xfrm xmlns:a="http://schemas.openxmlformats.org/drawingml/2006/main">
            <a:off x="4981575" y="3314700"/>
            <a:ext cx="2085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0D6F73"/>
                </a:solidFill>
                <a:latin typeface="Calibri"/>
                <a:ea typeface="Calibri"/>
                <a:cs typeface="Calibri"/>
              </a:defRPr>
            </a:defPPr>
            <a:lvl1pPr algn="ctr">
              <a:buNone/>
              <a:defRPr sz="1050" b="1" i="0">
                <a:solidFill>
                  <a:srgbClr val="0D6F73"/>
                </a:solidFill>
                <a:latin typeface="Calibri"/>
                <a:ea typeface="Calibri"/>
                <a:cs typeface="Calibri"/>
              </a:defRPr>
            </a:lvl1pPr>
            <a:lvl2pPr algn="ctr">
              <a:buNone/>
              <a:defRPr sz="1050" b="1" i="0">
                <a:solidFill>
                  <a:srgbClr val="0D6F73"/>
                </a:solidFill>
                <a:latin typeface="Calibri"/>
                <a:ea typeface="Calibri"/>
                <a:cs typeface="Calibri"/>
              </a:defRPr>
            </a:lvl2pPr>
            <a:lvl3pPr algn="ctr">
              <a:buNone/>
              <a:defRPr sz="1050" b="1" i="0">
                <a:solidFill>
                  <a:srgbClr val="0D6F73"/>
                </a:solidFill>
                <a:latin typeface="Calibri"/>
                <a:ea typeface="Calibri"/>
                <a:cs typeface="Calibri"/>
              </a:defRPr>
            </a:lvl3pPr>
            <a:lvl4pPr algn="ctr">
              <a:buNone/>
              <a:defRPr sz="1050" b="1" i="0">
                <a:solidFill>
                  <a:srgbClr val="0D6F73"/>
                </a:solidFill>
                <a:latin typeface="Calibri"/>
                <a:ea typeface="Calibri"/>
                <a:cs typeface="Calibri"/>
              </a:defRPr>
            </a:lvl4pPr>
            <a:lvl5pPr algn="ctr">
              <a:buNone/>
              <a:defRPr sz="1050" b="1" i="0">
                <a:solidFill>
                  <a:srgbClr val="0D6F73"/>
                </a:solidFill>
                <a:latin typeface="Calibri"/>
                <a:ea typeface="Calibri"/>
                <a:cs typeface="Calibri"/>
              </a:defRPr>
            </a:lvl5pPr>
            <a:lvl6pPr algn="ctr">
              <a:buNone/>
              <a:defRPr sz="1050" b="1" i="0">
                <a:solidFill>
                  <a:srgbClr val="0D6F73"/>
                </a:solidFill>
                <a:latin typeface="Calibri"/>
                <a:ea typeface="Calibri"/>
                <a:cs typeface="Calibri"/>
              </a:defRPr>
            </a:lvl6pPr>
            <a:lvl7pPr algn="ctr">
              <a:buNone/>
              <a:defRPr sz="1050" b="1" i="0">
                <a:solidFill>
                  <a:srgbClr val="0D6F73"/>
                </a:solidFill>
                <a:latin typeface="Calibri"/>
                <a:ea typeface="Calibri"/>
                <a:cs typeface="Calibri"/>
              </a:defRPr>
            </a:lvl7pPr>
            <a:lvl8pPr algn="ctr">
              <a:buNone/>
              <a:defRPr sz="1050" b="1" i="0">
                <a:solidFill>
                  <a:srgbClr val="0D6F73"/>
                </a:solidFill>
                <a:latin typeface="Calibri"/>
                <a:ea typeface="Calibri"/>
                <a:cs typeface="Calibri"/>
              </a:defRPr>
            </a:lvl8pPr>
            <a:lvl9pPr algn="ctr">
              <a:buNone/>
              <a:defRPr sz="1050" b="1" i="0">
                <a:solidFill>
                  <a:srgbClr val="0D6F73"/>
                </a:solidFill>
                <a:latin typeface="Calibri"/>
                <a:ea typeface="Calibri"/>
                <a:cs typeface="Calibri"/>
              </a:defRPr>
            </a:lvl9pPr>
          </a:lstStyle>
          <a:p xmlns:a="http://schemas.openxmlformats.org/drawingml/2006/main">
            <a:pPr algn="ctr">
              <a:lnSpc>
                <a:spcPct val="108000"/>
              </a:lnSpc>
              <a:buNone/>
              <a:defRPr sz="1050" b="1" i="0">
                <a:solidFill>
                  <a:srgbClr val="0D6F73"/>
                </a:solidFill>
                <a:latin typeface="Calibri"/>
                <a:ea typeface="Calibri"/>
                <a:cs typeface="Calibri"/>
              </a:defRPr>
            </a:pPr>
            <a:r>
              <a:rPr sz="1050" b="1" i="0">
                <a:solidFill>
                  <a:srgbClr val="0D6F73"/>
                </a:solidFill>
                <a:latin typeface="Calibri"/>
                <a:ea typeface="Calibri"/>
                <a:cs typeface="Calibri"/>
              </a:rPr>
              <a:t>Review support · not diagnosis</a:t>
            </a:r>
          </a:p>
        </p:txBody>
      </p:sp>
    </p:spTree>
    <p:extLst>
      <p:ext uri="{BB962C8B-B14F-4D97-AF65-F5344CB8AC3E}">
        <p14:creationId xmlns:p14="http://schemas.microsoft.com/office/powerpoint/2010/main" val="1201186012"/>
      </p:ext>
    </p:extLst>
  </p:cSld>
</p:sld>
</file>

<file path=ppt/slides/slide3.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8A19055-C587-4BD6-8912-E50CF11CF8D8}"/>
              </a:ext>
            </a:extLst>
          </p:cNvPr>
          <p:cNvPicPr>
            <a:picLocks xmlns:a="http://schemas.openxmlformats.org/drawingml/2006/main" noChangeAspect="1"/>
          </p:cNvPicPr>
          <p:nvPr/>
        </p:nvPicPr>
        <p:blipFill>
          <a:blip xmlns:r="http://schemas.openxmlformats.org/officeDocument/2006/relationships" xmlns:a="http://schemas.openxmlformats.org/drawingml/2006/main" r:embed="R58801b5d4bb549be"/>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424C39B-601E-4FC4-87D0-817F1637BF14}"/>
              </a:ext>
            </a:extLst>
          </p:cNvPr>
          <p:cNvSpPr>
            <a:spLocks xmlns:a="http://schemas.openxmlformats.org/drawingml/2006/main" noGrp="1"/>
          </p:cNvSpPr>
          <p:nvPr/>
        </p:nvSpPr>
        <p:spPr>
          <a:xfrm xmlns:a="http://schemas.openxmlformats.org/drawingml/2006/main">
            <a:off x="361950" y="1381125"/>
            <a:ext cx="3257550" cy="2647950"/>
          </a:xfrm>
          <a:prstGeom xmlns:a="http://schemas.openxmlformats.org/drawingml/2006/main" prst="roundRect">
            <a:avLst>
              <a:gd name="adj" fmla="val 5396"/>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04F0B4E5-E234-4F75-89BE-81254B96C107}"/>
              </a:ext>
            </a:extLst>
          </p:cNvPr>
          <p:cNvSpPr>
            <a:spLocks xmlns:a="http://schemas.openxmlformats.org/drawingml/2006/main" noGrp="1"/>
          </p:cNvSpPr>
          <p:nvPr/>
        </p:nvSpPr>
        <p:spPr>
          <a:xfrm xmlns:a="http://schemas.openxmlformats.org/drawingml/2006/main">
            <a:off x="361950" y="1400175"/>
            <a:ext cx="47625" cy="26098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E52936-E557-4960-A842-92F9D34DCA98}"/>
              </a:ext>
            </a:extLst>
          </p:cNvPr>
          <p:cNvSpPr>
            <a:spLocks xmlns:a="http://schemas.openxmlformats.org/drawingml/2006/main" noGrp="1"/>
          </p:cNvSpPr>
          <p:nvPr/>
        </p:nvSpPr>
        <p:spPr>
          <a:xfrm xmlns:a="http://schemas.openxmlformats.org/drawingml/2006/main">
            <a:off x="3790950" y="1381125"/>
            <a:ext cx="3333750" cy="2647950"/>
          </a:xfrm>
          <a:prstGeom xmlns:a="http://schemas.openxmlformats.org/drawingml/2006/main" prst="roundRect">
            <a:avLst>
              <a:gd name="adj" fmla="val 5396"/>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40F7C6B7-9B6F-43DB-B764-FC38DB4C8DF7}"/>
              </a:ext>
            </a:extLst>
          </p:cNvPr>
          <p:cNvSpPr>
            <a:spLocks xmlns:a="http://schemas.openxmlformats.org/drawingml/2006/main" noGrp="1"/>
          </p:cNvSpPr>
          <p:nvPr/>
        </p:nvSpPr>
        <p:spPr>
          <a:xfrm xmlns:a="http://schemas.openxmlformats.org/drawingml/2006/main">
            <a:off x="3790950" y="1400175"/>
            <a:ext cx="47625" cy="2609850"/>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91DBAEB-97F4-4A8E-BAD6-C6CA33F932BA}"/>
              </a:ext>
            </a:extLst>
          </p:cNvPr>
          <p:cNvSpPr>
            <a:spLocks xmlns:a="http://schemas.openxmlformats.org/drawingml/2006/main" noGrp="1"/>
          </p:cNvSpPr>
          <p:nvPr/>
        </p:nvSpPr>
        <p:spPr>
          <a:xfrm xmlns:a="http://schemas.openxmlformats.org/drawingml/2006/main">
            <a:off x="1152525" y="4124325"/>
            <a:ext cx="5162550" cy="571500"/>
          </a:xfrm>
          <a:prstGeom xmlns:a="http://schemas.openxmlformats.org/drawingml/2006/main" prst="roundRect">
            <a:avLst>
              <a:gd name="adj" fmla="val 25000"/>
            </a:avLst>
          </a:prstGeom>
          <a:solidFill xmlns:a="http://schemas.openxmlformats.org/drawingml/2006/main">
            <a:srgbClr val="E4F5F1"/>
          </a:solidFill>
          <a:ln xmlns:a="http://schemas.openxmlformats.org/drawingml/2006/main" w="9525">
            <a:solidFill>
              <a:srgbClr val="A6D7CF"/>
            </a:solidFill>
            <a:prstDash val="solid"/>
          </a:ln>
        </p:spPr>
      </p:sp>
      <p:sp>
        <p:nvSpPr>
          <p:cNvPr id="20" name="">
            <a:extLst xmlns:a="http://schemas.openxmlformats.org/drawingml/2006/main">
              <a:ext uri="{FF2B5EF4-FFF2-40B4-BE49-F238E27FC236}">
                <a16:creationId xmlns:a16="http://schemas.microsoft.com/office/drawing/2014/main" id="{9E0F5DBE-B993-4223-B9AC-45DECCBBE9FC}"/>
              </a:ext>
            </a:extLst>
          </p:cNvPr>
          <p:cNvSpPr>
            <a:spLocks xmlns:a="http://schemas.openxmlformats.org/drawingml/2006/main" noGrp="1"/>
          </p:cNvSpPr>
          <p:nvPr/>
        </p:nvSpPr>
        <p:spPr>
          <a:xfrm xmlns:a="http://schemas.openxmlformats.org/drawingml/2006/main">
            <a:off x="1152525" y="4124325"/>
            <a:ext cx="57150" cy="5715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196989F-73A9-47E9-9F68-D0AABE51449A}"/>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Two data streams define the patient context</a:t>
            </a:r>
          </a:p>
        </p:txBody>
      </p:sp>
      <p:sp>
        <p:nvSpPr>
          <p:cNvPr id="2" name="">
            <a:extLst xmlns:a="http://schemas.openxmlformats.org/drawingml/2006/main">
              <a:ext uri="{FF2B5EF4-FFF2-40B4-BE49-F238E27FC236}">
                <a16:creationId xmlns:a16="http://schemas.microsoft.com/office/drawing/2014/main" id="{AF8473A1-0DE1-453E-9EF7-DA1715A018BB}"/>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A6684B77-66F6-428E-BCF0-61DA957A0E31}"/>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Every seeded record and wearable reading in the repository is synthetic.</a:t>
            </a:r>
          </a:p>
        </p:txBody>
      </p:sp>
      <p:sp>
        <p:nvSpPr>
          <p:cNvPr id="4" name="">
            <a:extLst xmlns:a="http://schemas.openxmlformats.org/drawingml/2006/main">
              <a:ext uri="{FF2B5EF4-FFF2-40B4-BE49-F238E27FC236}">
                <a16:creationId xmlns:a16="http://schemas.microsoft.com/office/drawing/2014/main" id="{DA7FD22A-F8D2-4CFB-98C1-7CBFECA8DA31}"/>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C64FFD0E-B421-4E51-9722-CE10AAB0CBE9}"/>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20FBFF29-2E35-4151-B8E0-A61E03BF882E}"/>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03</a:t>
            </a:r>
          </a:p>
        </p:txBody>
      </p:sp>
      <p:sp>
        <p:nvSpPr>
          <p:cNvPr id="7" name="">
            <a:extLst xmlns:a="http://schemas.openxmlformats.org/drawingml/2006/main">
              <a:ext uri="{FF2B5EF4-FFF2-40B4-BE49-F238E27FC236}">
                <a16:creationId xmlns:a16="http://schemas.microsoft.com/office/drawing/2014/main" id="{B367D360-EF33-45F4-9C25-3F5BEDF9D365}"/>
              </a:ext>
            </a:extLst>
          </p:cNvPr>
          <p:cNvSpPr>
            <a:spLocks xmlns:a="http://schemas.openxmlformats.org/drawingml/2006/main" noGrp="1"/>
          </p:cNvSpPr>
          <p:nvPr/>
        </p:nvSpPr>
        <p:spPr>
          <a:xfrm xmlns:a="http://schemas.openxmlformats.org/drawingml/2006/main">
            <a:off x="552450" y="1466850"/>
            <a:ext cx="283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68F89"/>
                </a:solidFill>
                <a:latin typeface="Calibri"/>
                <a:ea typeface="Calibri"/>
                <a:cs typeface="Calibri"/>
              </a:defRPr>
            </a:defPPr>
            <a:lvl1pPr algn="l">
              <a:buNone/>
              <a:defRPr sz="1425" b="1" i="0">
                <a:solidFill>
                  <a:srgbClr val="0D6F73"/>
                </a:solidFill>
                <a:latin typeface="Calibri"/>
                <a:ea typeface="Calibri"/>
                <a:cs typeface="Calibri"/>
              </a:defRPr>
            </a:lvl1pPr>
            <a:lvl2pPr algn="l">
              <a:buNone/>
              <a:defRPr sz="1425" b="1" i="0">
                <a:solidFill>
                  <a:srgbClr val="0D6F73"/>
                </a:solidFill>
                <a:latin typeface="Calibri"/>
                <a:ea typeface="Calibri"/>
                <a:cs typeface="Calibri"/>
              </a:defRPr>
            </a:lvl2pPr>
            <a:lvl3pPr algn="l">
              <a:buNone/>
              <a:defRPr sz="1425" b="1" i="0">
                <a:solidFill>
                  <a:srgbClr val="0D6F73"/>
                </a:solidFill>
                <a:latin typeface="Calibri"/>
                <a:ea typeface="Calibri"/>
                <a:cs typeface="Calibri"/>
              </a:defRPr>
            </a:lvl3pPr>
            <a:lvl4pPr algn="l">
              <a:buNone/>
              <a:defRPr sz="1425" b="1" i="0">
                <a:solidFill>
                  <a:srgbClr val="0D6F73"/>
                </a:solidFill>
                <a:latin typeface="Calibri"/>
                <a:ea typeface="Calibri"/>
                <a:cs typeface="Calibri"/>
              </a:defRPr>
            </a:lvl4pPr>
            <a:lvl5pPr algn="l">
              <a:buNone/>
              <a:defRPr sz="1425" b="1" i="0">
                <a:solidFill>
                  <a:srgbClr val="0D6F73"/>
                </a:solidFill>
                <a:latin typeface="Calibri"/>
                <a:ea typeface="Calibri"/>
                <a:cs typeface="Calibri"/>
              </a:defRPr>
            </a:lvl5pPr>
            <a:lvl6pPr algn="l">
              <a:buNone/>
              <a:defRPr sz="1425" b="1" i="0">
                <a:solidFill>
                  <a:srgbClr val="0D6F73"/>
                </a:solidFill>
                <a:latin typeface="Calibri"/>
                <a:ea typeface="Calibri"/>
                <a:cs typeface="Calibri"/>
              </a:defRPr>
            </a:lvl6pPr>
            <a:lvl7pPr algn="l">
              <a:buNone/>
              <a:defRPr sz="1425" b="1" i="0">
                <a:solidFill>
                  <a:srgbClr val="0D6F73"/>
                </a:solidFill>
                <a:latin typeface="Calibri"/>
                <a:ea typeface="Calibri"/>
                <a:cs typeface="Calibri"/>
              </a:defRPr>
            </a:lvl7pPr>
            <a:lvl8pPr algn="l">
              <a:buNone/>
              <a:defRPr sz="1425" b="1" i="0">
                <a:solidFill>
                  <a:srgbClr val="0D6F73"/>
                </a:solidFill>
                <a:latin typeface="Calibri"/>
                <a:ea typeface="Calibri"/>
                <a:cs typeface="Calibri"/>
              </a:defRPr>
            </a:lvl8pPr>
            <a:lvl9pPr algn="l">
              <a:buNone/>
              <a:defRPr sz="1425" b="1" i="0">
                <a:solidFill>
                  <a:srgbClr val="0D6F73"/>
                </a:solidFill>
                <a:latin typeface="Calibri"/>
                <a:ea typeface="Calibri"/>
                <a:cs typeface="Calibri"/>
              </a:defRPr>
            </a:lvl9pPr>
          </a:lstStyle>
          <a:p xmlns:a="http://schemas.openxmlformats.org/drawingml/2006/main">
            <a:pPr algn="l">
              <a:lnSpc>
                <a:spcPct val="108000"/>
              </a:lnSpc>
              <a:buNone/>
              <a:defRPr sz="1425" b="1" i="0">
                <a:solidFill>
                  <a:srgbClr val="0D6F73"/>
                </a:solidFill>
                <a:latin typeface="Calibri"/>
                <a:ea typeface="Calibri"/>
                <a:cs typeface="Calibri"/>
              </a:defRPr>
            </a:pPr>
            <a:r>
              <a:rPr sz="1200" b="1" i="0">
                <a:solidFill>
                  <a:srgbClr val="168F89"/>
                </a:solidFill>
                <a:latin typeface="Calibri"/>
                <a:ea typeface="Calibri"/>
                <a:cs typeface="Calibri"/>
              </a:rPr>
              <a:t>01  ·  Historical context</a:t>
            </a:r>
          </a:p>
        </p:txBody>
      </p:sp>
      <p:sp>
        <p:nvSpPr>
          <p:cNvPr id="8" name="">
            <a:extLst xmlns:a="http://schemas.openxmlformats.org/drawingml/2006/main">
              <a:ext uri="{FF2B5EF4-FFF2-40B4-BE49-F238E27FC236}">
                <a16:creationId xmlns:a16="http://schemas.microsoft.com/office/drawing/2014/main" id="{4E2E187B-2B16-434D-A52F-EB531529F72A}"/>
              </a:ext>
            </a:extLst>
          </p:cNvPr>
          <p:cNvSpPr>
            <a:spLocks xmlns:a="http://schemas.openxmlformats.org/drawingml/2006/main" noGrp="1"/>
          </p:cNvSpPr>
          <p:nvPr/>
        </p:nvSpPr>
        <p:spPr>
          <a:xfrm xmlns:a="http://schemas.openxmlformats.org/drawingml/2006/main">
            <a:off x="552450" y="1895475"/>
            <a:ext cx="28003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33"/>
          </a:bodyPr>
          <a:lstStyle xmlns:a="http://schemas.openxmlformats.org/drawingml/2006/main">
            <a:defPPr algn="l">
              <a:defRPr sz="1275" b="0" i="0">
                <a:solidFill>
                  <a:srgbClr val="304F5B"/>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Demographics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Age · sex · BMI</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Risk factors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Smoking · diabetes · hypertension</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History &amp; labs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Family history · total / HDL / LDL cholesterol</a:t>
            </a:r>
          </a:p>
        </p:txBody>
      </p:sp>
      <p:sp>
        <p:nvSpPr>
          <p:cNvPr id="9" name="">
            <a:extLst xmlns:a="http://schemas.openxmlformats.org/drawingml/2006/main">
              <a:ext uri="{FF2B5EF4-FFF2-40B4-BE49-F238E27FC236}">
                <a16:creationId xmlns:a16="http://schemas.microsoft.com/office/drawing/2014/main" id="{7FB1006C-FAB6-480A-9C06-29BE5C44E49E}"/>
              </a:ext>
            </a:extLst>
          </p:cNvPr>
          <p:cNvSpPr>
            <a:spLocks xmlns:a="http://schemas.openxmlformats.org/drawingml/2006/main" noGrp="1"/>
          </p:cNvSpPr>
          <p:nvPr/>
        </p:nvSpPr>
        <p:spPr>
          <a:xfrm xmlns:a="http://schemas.openxmlformats.org/drawingml/2006/main" flipH="0" flipV="0">
            <a:off x="3724275" y="1457325"/>
            <a:ext cx="4763" cy="2457450"/>
          </a:xfrm>
          <a:prstGeom xmlns:a="http://schemas.openxmlformats.org/drawingml/2006/main" prst="line">
            <a:avLst/>
          </a:prstGeom>
          <a:noFill xmlns:a="http://schemas.openxmlformats.org/drawingml/2006/main"/>
          <a:ln xmlns:a="http://schemas.openxmlformats.org/drawingml/2006/main" w="11430">
            <a:solidFill>
              <a:srgbClr val="C7D8D8"/>
            </a:solidFill>
            <a:prstDash val="solid"/>
          </a:ln>
        </p:spPr>
      </p:sp>
      <p:sp>
        <p:nvSpPr>
          <p:cNvPr id="10" name="">
            <a:extLst xmlns:a="http://schemas.openxmlformats.org/drawingml/2006/main">
              <a:ext uri="{FF2B5EF4-FFF2-40B4-BE49-F238E27FC236}">
                <a16:creationId xmlns:a16="http://schemas.microsoft.com/office/drawing/2014/main" id="{E1C4C3B3-8A1B-4130-BA14-B81BA1BE4FA6}"/>
              </a:ext>
            </a:extLst>
          </p:cNvPr>
          <p:cNvSpPr>
            <a:spLocks xmlns:a="http://schemas.openxmlformats.org/drawingml/2006/main" noGrp="1"/>
          </p:cNvSpPr>
          <p:nvPr/>
        </p:nvSpPr>
        <p:spPr>
          <a:xfrm xmlns:a="http://schemas.openxmlformats.org/drawingml/2006/main">
            <a:off x="4057650" y="14668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98B7"/>
                </a:solidFill>
                <a:latin typeface="Calibri"/>
                <a:ea typeface="Calibri"/>
                <a:cs typeface="Calibri"/>
              </a:defRPr>
            </a:defPPr>
            <a:lvl1pPr algn="l">
              <a:buNone/>
              <a:defRPr sz="1425" b="1" i="0">
                <a:solidFill>
                  <a:srgbClr val="0D6F73"/>
                </a:solidFill>
                <a:latin typeface="Calibri"/>
                <a:ea typeface="Calibri"/>
                <a:cs typeface="Calibri"/>
              </a:defRPr>
            </a:lvl1pPr>
            <a:lvl2pPr algn="l">
              <a:buNone/>
              <a:defRPr sz="1425" b="1" i="0">
                <a:solidFill>
                  <a:srgbClr val="0D6F73"/>
                </a:solidFill>
                <a:latin typeface="Calibri"/>
                <a:ea typeface="Calibri"/>
                <a:cs typeface="Calibri"/>
              </a:defRPr>
            </a:lvl2pPr>
            <a:lvl3pPr algn="l">
              <a:buNone/>
              <a:defRPr sz="1425" b="1" i="0">
                <a:solidFill>
                  <a:srgbClr val="0D6F73"/>
                </a:solidFill>
                <a:latin typeface="Calibri"/>
                <a:ea typeface="Calibri"/>
                <a:cs typeface="Calibri"/>
              </a:defRPr>
            </a:lvl3pPr>
            <a:lvl4pPr algn="l">
              <a:buNone/>
              <a:defRPr sz="1425" b="1" i="0">
                <a:solidFill>
                  <a:srgbClr val="0D6F73"/>
                </a:solidFill>
                <a:latin typeface="Calibri"/>
                <a:ea typeface="Calibri"/>
                <a:cs typeface="Calibri"/>
              </a:defRPr>
            </a:lvl4pPr>
            <a:lvl5pPr algn="l">
              <a:buNone/>
              <a:defRPr sz="1425" b="1" i="0">
                <a:solidFill>
                  <a:srgbClr val="0D6F73"/>
                </a:solidFill>
                <a:latin typeface="Calibri"/>
                <a:ea typeface="Calibri"/>
                <a:cs typeface="Calibri"/>
              </a:defRPr>
            </a:lvl5pPr>
            <a:lvl6pPr algn="l">
              <a:buNone/>
              <a:defRPr sz="1425" b="1" i="0">
                <a:solidFill>
                  <a:srgbClr val="0D6F73"/>
                </a:solidFill>
                <a:latin typeface="Calibri"/>
                <a:ea typeface="Calibri"/>
                <a:cs typeface="Calibri"/>
              </a:defRPr>
            </a:lvl6pPr>
            <a:lvl7pPr algn="l">
              <a:buNone/>
              <a:defRPr sz="1425" b="1" i="0">
                <a:solidFill>
                  <a:srgbClr val="0D6F73"/>
                </a:solidFill>
                <a:latin typeface="Calibri"/>
                <a:ea typeface="Calibri"/>
                <a:cs typeface="Calibri"/>
              </a:defRPr>
            </a:lvl7pPr>
            <a:lvl8pPr algn="l">
              <a:buNone/>
              <a:defRPr sz="1425" b="1" i="0">
                <a:solidFill>
                  <a:srgbClr val="0D6F73"/>
                </a:solidFill>
                <a:latin typeface="Calibri"/>
                <a:ea typeface="Calibri"/>
                <a:cs typeface="Calibri"/>
              </a:defRPr>
            </a:lvl8pPr>
            <a:lvl9pPr algn="l">
              <a:buNone/>
              <a:defRPr sz="1425" b="1" i="0">
                <a:solidFill>
                  <a:srgbClr val="0D6F73"/>
                </a:solidFill>
                <a:latin typeface="Calibri"/>
                <a:ea typeface="Calibri"/>
                <a:cs typeface="Calibri"/>
              </a:defRPr>
            </a:lvl9pPr>
          </a:lstStyle>
          <a:p xmlns:a="http://schemas.openxmlformats.org/drawingml/2006/main">
            <a:pPr algn="l">
              <a:lnSpc>
                <a:spcPct val="108000"/>
              </a:lnSpc>
              <a:buNone/>
              <a:defRPr sz="1425" b="1" i="0">
                <a:solidFill>
                  <a:srgbClr val="0D6F73"/>
                </a:solidFill>
                <a:latin typeface="Calibri"/>
                <a:ea typeface="Calibri"/>
                <a:cs typeface="Calibri"/>
              </a:defRPr>
            </a:pPr>
            <a:r>
              <a:rPr sz="1200" b="1" i="0">
                <a:solidFill>
                  <a:srgbClr val="1598B7"/>
                </a:solidFill>
                <a:latin typeface="Calibri"/>
                <a:ea typeface="Calibri"/>
                <a:cs typeface="Calibri"/>
              </a:rPr>
              <a:t>02  ·  Incoming telemetry</a:t>
            </a:r>
          </a:p>
        </p:txBody>
      </p:sp>
      <p:sp>
        <p:nvSpPr>
          <p:cNvPr id="11" name="">
            <a:extLst xmlns:a="http://schemas.openxmlformats.org/drawingml/2006/main">
              <a:ext uri="{FF2B5EF4-FFF2-40B4-BE49-F238E27FC236}">
                <a16:creationId xmlns:a16="http://schemas.microsoft.com/office/drawing/2014/main" id="{D2254630-85F8-478F-88E3-8164342D0075}"/>
              </a:ext>
            </a:extLst>
          </p:cNvPr>
          <p:cNvSpPr>
            <a:spLocks xmlns:a="http://schemas.openxmlformats.org/drawingml/2006/main" noGrp="1"/>
          </p:cNvSpPr>
          <p:nvPr/>
        </p:nvSpPr>
        <p:spPr>
          <a:xfrm xmlns:a="http://schemas.openxmlformats.org/drawingml/2006/main">
            <a:off x="4057650" y="1895475"/>
            <a:ext cx="2952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33"/>
          </a:bodyPr>
          <a:lstStyle xmlns:a="http://schemas.openxmlformats.org/drawingml/2006/main">
            <a:defPPr algn="l">
              <a:defRPr sz="1275" b="0" i="0">
                <a:solidFill>
                  <a:srgbClr val="304F5B"/>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Vitals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Heart rate · systolic / diastolic BP</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Oxygen saturation</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Rhythm signal</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ECG rhythm label + quality</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Context fields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Timestamp · source</a:t>
            </a:r>
          </a:p>
        </p:txBody>
      </p:sp>
      <p:sp>
        <p:nvSpPr>
          <p:cNvPr id="12" name="">
            <a:extLst xmlns:a="http://schemas.openxmlformats.org/drawingml/2006/main">
              <a:ext uri="{FF2B5EF4-FFF2-40B4-BE49-F238E27FC236}">
                <a16:creationId xmlns:a16="http://schemas.microsoft.com/office/drawing/2014/main" id="{5AAC89B5-D491-49BD-A75D-8AF1A6D2A5E3}"/>
              </a:ext>
            </a:extLst>
          </p:cNvPr>
          <p:cNvSpPr>
            <a:spLocks xmlns:a="http://schemas.openxmlformats.org/drawingml/2006/main" noGrp="1"/>
          </p:cNvSpPr>
          <p:nvPr/>
        </p:nvSpPr>
        <p:spPr>
          <a:xfrm xmlns:a="http://schemas.openxmlformats.org/drawingml/2006/main">
            <a:off x="1285875" y="4171950"/>
            <a:ext cx="4895850" cy="457200"/>
          </a:xfrm>
          <a:prstGeom xmlns:a="http://schemas.openxmlformats.org/drawingml/2006/main" prst="roundRect">
            <a:avLst>
              <a:gd name="adj" fmla="val 16667"/>
            </a:avLst>
          </a:prstGeom>
          <a:solidFill xmlns:a="http://schemas.openxmlformats.org/drawingml/2006/main">
            <a:srgbClr val="DDF2EF"/>
          </a:solidFill>
          <a:ln xmlns:a="http://schemas.openxmlformats.org/drawingml/2006/main" w="11430">
            <a:solidFill>
              <a:srgbClr val="BEDDD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75" b="1">
                <a:solidFill>
                  <a:srgbClr val="087E83"/>
                </a:solidFill>
                <a:latin typeface="Calibri"/>
                <a:ea typeface="Calibri"/>
                <a:cs typeface="Calibri"/>
              </a:defRPr>
            </a:defPPr>
            <a:lvl1pPr algn="ctr">
              <a:buNone/>
              <a:defRPr sz="1350" b="1">
                <a:solidFill>
                  <a:srgbClr val="123F50"/>
                </a:solidFill>
                <a:latin typeface="Calibri"/>
                <a:ea typeface="Calibri"/>
                <a:cs typeface="Calibri"/>
              </a:defRPr>
            </a:lvl1pPr>
            <a:lvl2pPr algn="ctr">
              <a:buNone/>
              <a:defRPr sz="1350" b="1">
                <a:solidFill>
                  <a:srgbClr val="123F50"/>
                </a:solidFill>
                <a:latin typeface="Calibri"/>
                <a:ea typeface="Calibri"/>
                <a:cs typeface="Calibri"/>
              </a:defRPr>
            </a:lvl2pPr>
            <a:lvl3pPr algn="ctr">
              <a:buNone/>
              <a:defRPr sz="1350" b="1">
                <a:solidFill>
                  <a:srgbClr val="123F50"/>
                </a:solidFill>
                <a:latin typeface="Calibri"/>
                <a:ea typeface="Calibri"/>
                <a:cs typeface="Calibri"/>
              </a:defRPr>
            </a:lvl3pPr>
            <a:lvl4pPr algn="ctr">
              <a:buNone/>
              <a:defRPr sz="1350" b="1">
                <a:solidFill>
                  <a:srgbClr val="123F50"/>
                </a:solidFill>
                <a:latin typeface="Calibri"/>
                <a:ea typeface="Calibri"/>
                <a:cs typeface="Calibri"/>
              </a:defRPr>
            </a:lvl4pPr>
            <a:lvl5pPr algn="ctr">
              <a:buNone/>
              <a:defRPr sz="1350" b="1">
                <a:solidFill>
                  <a:srgbClr val="123F50"/>
                </a:solidFill>
                <a:latin typeface="Calibri"/>
                <a:ea typeface="Calibri"/>
                <a:cs typeface="Calibri"/>
              </a:defRPr>
            </a:lvl5pPr>
            <a:lvl6pPr algn="ctr">
              <a:buNone/>
              <a:defRPr sz="1350" b="1">
                <a:solidFill>
                  <a:srgbClr val="123F50"/>
                </a:solidFill>
                <a:latin typeface="Calibri"/>
                <a:ea typeface="Calibri"/>
                <a:cs typeface="Calibri"/>
              </a:defRPr>
            </a:lvl6pPr>
            <a:lvl7pPr algn="ctr">
              <a:buNone/>
              <a:defRPr sz="1350" b="1">
                <a:solidFill>
                  <a:srgbClr val="123F50"/>
                </a:solidFill>
                <a:latin typeface="Calibri"/>
                <a:ea typeface="Calibri"/>
                <a:cs typeface="Calibri"/>
              </a:defRPr>
            </a:lvl7pPr>
            <a:lvl8pPr algn="ctr">
              <a:buNone/>
              <a:defRPr sz="1350" b="1">
                <a:solidFill>
                  <a:srgbClr val="123F50"/>
                </a:solidFill>
                <a:latin typeface="Calibri"/>
                <a:ea typeface="Calibri"/>
                <a:cs typeface="Calibri"/>
              </a:defRPr>
            </a:lvl8pPr>
            <a:lvl9pPr algn="ctr">
              <a:buNone/>
              <a:defRPr sz="1350" b="1">
                <a:solidFill>
                  <a:srgbClr val="123F50"/>
                </a:solidFill>
                <a:latin typeface="Calibri"/>
                <a:ea typeface="Calibri"/>
                <a:cs typeface="Calibri"/>
              </a:defRPr>
            </a:lvl9pPr>
          </a:lstStyle>
          <a:p xmlns:a="http://schemas.openxmlformats.org/drawingml/2006/main">
            <a:pPr algn="ctr">
              <a:buNone/>
              <a:defRPr sz="1350" b="1">
                <a:solidFill>
                  <a:srgbClr val="123F50"/>
                </a:solidFill>
                <a:latin typeface="Calibri"/>
                <a:ea typeface="Calibri"/>
                <a:cs typeface="Calibri"/>
              </a:defRPr>
            </a:pPr>
            <a:r>
              <a:rPr sz="1275" b="1">
                <a:solidFill>
                  <a:srgbClr val="087E83"/>
                </a:solidFill>
                <a:latin typeface="Calibri"/>
                <a:ea typeface="Calibri"/>
                <a:cs typeface="Calibri"/>
              </a:rPr>
              <a:t>A shared patient timeline for the prediction and review flows</a:t>
            </a:r>
          </a:p>
        </p:txBody>
      </p:sp>
    </p:spTree>
    <p:extLst>
      <p:ext uri="{BB962C8B-B14F-4D97-AF65-F5344CB8AC3E}">
        <p14:creationId xmlns:p14="http://schemas.microsoft.com/office/powerpoint/2010/main" val="1991660910"/>
      </p:ext>
    </p:extLst>
  </p:cSld>
</p:sld>
</file>

<file path=ppt/slides/slide4.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34F85C1-4B55-4906-81B9-03522E4C604F}"/>
              </a:ext>
            </a:extLst>
          </p:cNvPr>
          <p:cNvPicPr>
            <a:picLocks xmlns:a="http://schemas.openxmlformats.org/drawingml/2006/main" noChangeAspect="1"/>
          </p:cNvPicPr>
          <p:nvPr/>
        </p:nvPicPr>
        <p:blipFill>
          <a:blip xmlns:r="http://schemas.openxmlformats.org/officeDocument/2006/relationships" xmlns:a="http://schemas.openxmlformats.org/drawingml/2006/main" r:embed="R195f2c0ee9ca4a8d"/>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285A4D1-D188-4F87-88FE-23F6F29B8CD4}"/>
              </a:ext>
            </a:extLst>
          </p:cNvPr>
          <p:cNvSpPr>
            <a:spLocks xmlns:a="http://schemas.openxmlformats.org/drawingml/2006/main" noGrp="1"/>
          </p:cNvSpPr>
          <p:nvPr/>
        </p:nvSpPr>
        <p:spPr>
          <a:xfrm xmlns:a="http://schemas.openxmlformats.org/drawingml/2006/main">
            <a:off x="190500" y="1390650"/>
            <a:ext cx="4695825" cy="2809875"/>
          </a:xfrm>
          <a:prstGeom xmlns:a="http://schemas.openxmlformats.org/drawingml/2006/main" prst="roundRect">
            <a:avLst>
              <a:gd name="adj" fmla="val 5085"/>
            </a:avLst>
          </a:prstGeom>
          <a:solidFill xmlns:a="http://schemas.openxmlformats.org/drawingml/2006/main">
            <a:srgbClr val="FFFFFF">
              <a:alpha val="93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5D05235-A407-42C4-A9DE-4D434675BF4C}"/>
              </a:ext>
            </a:extLst>
          </p:cNvPr>
          <p:cNvSpPr>
            <a:spLocks xmlns:a="http://schemas.openxmlformats.org/drawingml/2006/main" noGrp="1"/>
          </p:cNvSpPr>
          <p:nvPr/>
        </p:nvSpPr>
        <p:spPr>
          <a:xfrm xmlns:a="http://schemas.openxmlformats.org/drawingml/2006/main">
            <a:off x="4762500" y="1390650"/>
            <a:ext cx="2533650" cy="2809875"/>
          </a:xfrm>
          <a:prstGeom xmlns:a="http://schemas.openxmlformats.org/drawingml/2006/main" prst="roundRect">
            <a:avLst>
              <a:gd name="adj" fmla="val 5639"/>
            </a:avLst>
          </a:prstGeom>
          <a:solidFill xmlns:a="http://schemas.openxmlformats.org/drawingml/2006/main">
            <a:srgbClr val="FFFFFF">
              <a:alpha val="93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6074BBD-6171-4027-8EDC-ECDA43F5963C}"/>
              </a:ext>
            </a:extLst>
          </p:cNvPr>
          <p:cNvSpPr>
            <a:spLocks xmlns:a="http://schemas.openxmlformats.org/drawingml/2006/main" noGrp="1"/>
          </p:cNvSpPr>
          <p:nvPr/>
        </p:nvSpPr>
        <p:spPr>
          <a:xfrm xmlns:a="http://schemas.openxmlformats.org/drawingml/2006/main">
            <a:off x="190500" y="1390650"/>
            <a:ext cx="57150" cy="28098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3F6FAF-203C-48D6-8E7C-34AB05FD6F55}"/>
              </a:ext>
            </a:extLst>
          </p:cNvPr>
          <p:cNvSpPr>
            <a:spLocks xmlns:a="http://schemas.openxmlformats.org/drawingml/2006/main" noGrp="1"/>
          </p:cNvSpPr>
          <p:nvPr/>
        </p:nvSpPr>
        <p:spPr>
          <a:xfrm xmlns:a="http://schemas.openxmlformats.org/drawingml/2006/main">
            <a:off x="4762500" y="1390650"/>
            <a:ext cx="57150" cy="28098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E16243-E761-4D68-9617-218F3BB544A3}"/>
              </a:ext>
            </a:extLst>
          </p:cNvPr>
          <p:cNvSpPr>
            <a:spLocks xmlns:a="http://schemas.openxmlformats.org/drawingml/2006/main" noGrp="1"/>
          </p:cNvSpPr>
          <p:nvPr/>
        </p:nvSpPr>
        <p:spPr>
          <a:xfrm xmlns:a="http://schemas.openxmlformats.org/drawingml/2006/main">
            <a:off x="428625" y="1476375"/>
            <a:ext cx="400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168F89"/>
                </a:solidFill>
              </a:defRPr>
            </a:defPPr>
            <a:lvl1pPr algn="l">
              <a:buNone/>
              <a:defRPr sz="825" b="1">
                <a:solidFill>
                  <a:srgbClr val="168F89"/>
                </a:solidFill>
              </a:defRPr>
            </a:lvl1pPr>
            <a:lvl2pPr algn="l">
              <a:buNone/>
              <a:defRPr sz="825" b="1">
                <a:solidFill>
                  <a:srgbClr val="168F89"/>
                </a:solidFill>
              </a:defRPr>
            </a:lvl2pPr>
            <a:lvl3pPr algn="l">
              <a:buNone/>
              <a:defRPr sz="825" b="1">
                <a:solidFill>
                  <a:srgbClr val="168F89"/>
                </a:solidFill>
              </a:defRPr>
            </a:lvl3pPr>
            <a:lvl4pPr algn="l">
              <a:buNone/>
              <a:defRPr sz="825" b="1">
                <a:solidFill>
                  <a:srgbClr val="168F89"/>
                </a:solidFill>
              </a:defRPr>
            </a:lvl4pPr>
            <a:lvl5pPr algn="l">
              <a:buNone/>
              <a:defRPr sz="825" b="1">
                <a:solidFill>
                  <a:srgbClr val="168F89"/>
                </a:solidFill>
              </a:defRPr>
            </a:lvl5pPr>
            <a:lvl6pPr algn="l">
              <a:buNone/>
              <a:defRPr sz="825" b="1">
                <a:solidFill>
                  <a:srgbClr val="168F89"/>
                </a:solidFill>
              </a:defRPr>
            </a:lvl6pPr>
            <a:lvl7pPr algn="l">
              <a:buNone/>
              <a:defRPr sz="825" b="1">
                <a:solidFill>
                  <a:srgbClr val="168F89"/>
                </a:solidFill>
              </a:defRPr>
            </a:lvl7pPr>
            <a:lvl8pPr algn="l">
              <a:buNone/>
              <a:defRPr sz="825" b="1">
                <a:solidFill>
                  <a:srgbClr val="168F89"/>
                </a:solidFill>
              </a:defRPr>
            </a:lvl8pPr>
            <a:lvl9pPr algn="l">
              <a:buNone/>
              <a:defRPr sz="825" b="1">
                <a:solidFill>
                  <a:srgbClr val="168F89"/>
                </a:solidFill>
              </a:defRPr>
            </a:lvl9pPr>
          </a:lstStyle>
          <a:p xmlns:a="http://schemas.openxmlformats.org/drawingml/2006/main">
            <a:pPr algn="l">
              <a:buNone/>
              <a:defRPr sz="825" b="1">
                <a:solidFill>
                  <a:srgbClr val="168F89"/>
                </a:solidFill>
              </a:defRPr>
            </a:pPr>
            <a:r>
              <a:rPr sz="825" b="1">
                <a:solidFill>
                  <a:srgbClr val="168F89"/>
                </a:solidFill>
              </a:rPr>
              <a:t>ASSESS · EXPLAIN · SIMULATE</a:t>
            </a:r>
          </a:p>
        </p:txBody>
      </p:sp>
      <p:sp>
        <p:nvSpPr>
          <p:cNvPr id="17" name="">
            <a:extLst xmlns:a="http://schemas.openxmlformats.org/drawingml/2006/main">
              <a:ext uri="{FF2B5EF4-FFF2-40B4-BE49-F238E27FC236}">
                <a16:creationId xmlns:a16="http://schemas.microsoft.com/office/drawing/2014/main" id="{4195E7F3-EC36-454D-9B4C-D720D6A484B8}"/>
              </a:ext>
            </a:extLst>
          </p:cNvPr>
          <p:cNvSpPr>
            <a:spLocks xmlns:a="http://schemas.openxmlformats.org/drawingml/2006/main" noGrp="1"/>
          </p:cNvSpPr>
          <p:nvPr/>
        </p:nvSpPr>
        <p:spPr>
          <a:xfrm xmlns:a="http://schemas.openxmlformats.org/drawingml/2006/main">
            <a:off x="5010150" y="1476375"/>
            <a:ext cx="1905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1598B7"/>
                </a:solidFill>
              </a:defRPr>
            </a:defPPr>
            <a:lvl1pPr algn="l">
              <a:buNone/>
              <a:defRPr sz="825" b="1">
                <a:solidFill>
                  <a:srgbClr val="1598B7"/>
                </a:solidFill>
              </a:defRPr>
            </a:lvl1pPr>
            <a:lvl2pPr algn="l">
              <a:buNone/>
              <a:defRPr sz="825" b="1">
                <a:solidFill>
                  <a:srgbClr val="1598B7"/>
                </a:solidFill>
              </a:defRPr>
            </a:lvl2pPr>
            <a:lvl3pPr algn="l">
              <a:buNone/>
              <a:defRPr sz="825" b="1">
                <a:solidFill>
                  <a:srgbClr val="1598B7"/>
                </a:solidFill>
              </a:defRPr>
            </a:lvl3pPr>
            <a:lvl4pPr algn="l">
              <a:buNone/>
              <a:defRPr sz="825" b="1">
                <a:solidFill>
                  <a:srgbClr val="1598B7"/>
                </a:solidFill>
              </a:defRPr>
            </a:lvl4pPr>
            <a:lvl5pPr algn="l">
              <a:buNone/>
              <a:defRPr sz="825" b="1">
                <a:solidFill>
                  <a:srgbClr val="1598B7"/>
                </a:solidFill>
              </a:defRPr>
            </a:lvl5pPr>
            <a:lvl6pPr algn="l">
              <a:buNone/>
              <a:defRPr sz="825" b="1">
                <a:solidFill>
                  <a:srgbClr val="1598B7"/>
                </a:solidFill>
              </a:defRPr>
            </a:lvl6pPr>
            <a:lvl7pPr algn="l">
              <a:buNone/>
              <a:defRPr sz="825" b="1">
                <a:solidFill>
                  <a:srgbClr val="1598B7"/>
                </a:solidFill>
              </a:defRPr>
            </a:lvl7pPr>
            <a:lvl8pPr algn="l">
              <a:buNone/>
              <a:defRPr sz="825" b="1">
                <a:solidFill>
                  <a:srgbClr val="1598B7"/>
                </a:solidFill>
              </a:defRPr>
            </a:lvl8pPr>
            <a:lvl9pPr algn="l">
              <a:buNone/>
              <a:defRPr sz="825" b="1">
                <a:solidFill>
                  <a:srgbClr val="1598B7"/>
                </a:solidFill>
              </a:defRPr>
            </a:lvl9pPr>
          </a:lstStyle>
          <a:p xmlns:a="http://schemas.openxmlformats.org/drawingml/2006/main">
            <a:pPr algn="l">
              <a:buNone/>
              <a:defRPr sz="825" b="1">
                <a:solidFill>
                  <a:srgbClr val="1598B7"/>
                </a:solidFill>
              </a:defRPr>
            </a:pPr>
            <a:r>
              <a:rPr sz="825" b="1">
                <a:solidFill>
                  <a:srgbClr val="1598B7"/>
                </a:solidFill>
              </a:rPr>
              <a:t>FAMILY ALERT</a:t>
            </a:r>
          </a:p>
        </p:txBody>
      </p:sp>
      <p:sp>
        <p:nvSpPr>
          <p:cNvPr id="10" name="">
            <a:extLst xmlns:a="http://schemas.openxmlformats.org/drawingml/2006/main">
              <a:ext uri="{FF2B5EF4-FFF2-40B4-BE49-F238E27FC236}">
                <a16:creationId xmlns:a16="http://schemas.microsoft.com/office/drawing/2014/main" id="{9A61E008-4C35-4A3F-93D6-6F0C67373083}"/>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Twin monitoring workflow</a:t>
            </a:r>
          </a:p>
        </p:txBody>
      </p:sp>
      <p:sp>
        <p:nvSpPr>
          <p:cNvPr id="2" name="">
            <a:extLst xmlns:a="http://schemas.openxmlformats.org/drawingml/2006/main">
              <a:ext uri="{FF2B5EF4-FFF2-40B4-BE49-F238E27FC236}">
                <a16:creationId xmlns:a16="http://schemas.microsoft.com/office/drawing/2014/main" id="{D2694AA2-0DEC-4E6D-8491-AE774356265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5F2B540A-7009-4F61-9DA1-B8E7B4F71B35}"/>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Two views of baseline comparison, Twin assessment, scenario review, and family alerting.</a:t>
            </a:r>
          </a:p>
        </p:txBody>
      </p:sp>
      <p:sp>
        <p:nvSpPr>
          <p:cNvPr id="4" name="">
            <a:extLst xmlns:a="http://schemas.openxmlformats.org/drawingml/2006/main">
              <a:ext uri="{FF2B5EF4-FFF2-40B4-BE49-F238E27FC236}">
                <a16:creationId xmlns:a16="http://schemas.microsoft.com/office/drawing/2014/main" id="{37CE8B19-1B3D-416C-AAD1-11F2FC40CAC4}"/>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B402BC6D-F69D-492C-9095-C64F826D7A7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21EA2E4D-9F06-4B4A-B157-5E7E4A79466C}"/>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04</a:t>
            </a:r>
          </a:p>
        </p:txBody>
      </p:sp>
      <p:sp>
        <p:nvSpPr>
          <p:cNvPr id="9" name="">
            <a:extLst xmlns:a="http://schemas.openxmlformats.org/drawingml/2006/main">
              <a:ext uri="{FF2B5EF4-FFF2-40B4-BE49-F238E27FC236}">
                <a16:creationId xmlns:a16="http://schemas.microsoft.com/office/drawing/2014/main" id="{25480AAF-FB22-4141-BDF4-9F8BA4ED4CBE}"/>
              </a:ext>
            </a:extLst>
          </p:cNvPr>
          <p:cNvSpPr>
            <a:spLocks xmlns:a="http://schemas.openxmlformats.org/drawingml/2006/main" noGrp="1"/>
          </p:cNvSpPr>
          <p:nvPr/>
        </p:nvSpPr>
        <p:spPr>
          <a:xfrm xmlns:a="http://schemas.openxmlformats.org/drawingml/2006/main">
            <a:off x="666750" y="4391025"/>
            <a:ext cx="614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BB6258"/>
                </a:solidFill>
                <a:latin typeface="Calibri"/>
                <a:ea typeface="Calibri"/>
                <a:cs typeface="Calibri"/>
              </a:defRPr>
            </a:defPPr>
            <a:lvl1pPr algn="ctr">
              <a:buNone/>
              <a:defRPr sz="938" b="0" i="0">
                <a:solidFill>
                  <a:srgbClr val="B94B4B"/>
                </a:solidFill>
                <a:latin typeface="Calibri"/>
                <a:ea typeface="Calibri"/>
                <a:cs typeface="Calibri"/>
              </a:defRPr>
            </a:lvl1pPr>
            <a:lvl2pPr algn="ctr">
              <a:buNone/>
              <a:defRPr sz="938" b="0" i="0">
                <a:solidFill>
                  <a:srgbClr val="B94B4B"/>
                </a:solidFill>
                <a:latin typeface="Calibri"/>
                <a:ea typeface="Calibri"/>
                <a:cs typeface="Calibri"/>
              </a:defRPr>
            </a:lvl2pPr>
            <a:lvl3pPr algn="ctr">
              <a:buNone/>
              <a:defRPr sz="938" b="0" i="0">
                <a:solidFill>
                  <a:srgbClr val="B94B4B"/>
                </a:solidFill>
                <a:latin typeface="Calibri"/>
                <a:ea typeface="Calibri"/>
                <a:cs typeface="Calibri"/>
              </a:defRPr>
            </a:lvl3pPr>
            <a:lvl4pPr algn="ctr">
              <a:buNone/>
              <a:defRPr sz="938" b="0" i="0">
                <a:solidFill>
                  <a:srgbClr val="B94B4B"/>
                </a:solidFill>
                <a:latin typeface="Calibri"/>
                <a:ea typeface="Calibri"/>
                <a:cs typeface="Calibri"/>
              </a:defRPr>
            </a:lvl4pPr>
            <a:lvl5pPr algn="ctr">
              <a:buNone/>
              <a:defRPr sz="938" b="0" i="0">
                <a:solidFill>
                  <a:srgbClr val="B94B4B"/>
                </a:solidFill>
                <a:latin typeface="Calibri"/>
                <a:ea typeface="Calibri"/>
                <a:cs typeface="Calibri"/>
              </a:defRPr>
            </a:lvl5pPr>
            <a:lvl6pPr algn="ctr">
              <a:buNone/>
              <a:defRPr sz="938" b="0" i="0">
                <a:solidFill>
                  <a:srgbClr val="B94B4B"/>
                </a:solidFill>
                <a:latin typeface="Calibri"/>
                <a:ea typeface="Calibri"/>
                <a:cs typeface="Calibri"/>
              </a:defRPr>
            </a:lvl6pPr>
            <a:lvl7pPr algn="ctr">
              <a:buNone/>
              <a:defRPr sz="938" b="0" i="0">
                <a:solidFill>
                  <a:srgbClr val="B94B4B"/>
                </a:solidFill>
                <a:latin typeface="Calibri"/>
                <a:ea typeface="Calibri"/>
                <a:cs typeface="Calibri"/>
              </a:defRPr>
            </a:lvl7pPr>
            <a:lvl8pPr algn="ctr">
              <a:buNone/>
              <a:defRPr sz="938" b="0" i="0">
                <a:solidFill>
                  <a:srgbClr val="B94B4B"/>
                </a:solidFill>
                <a:latin typeface="Calibri"/>
                <a:ea typeface="Calibri"/>
                <a:cs typeface="Calibri"/>
              </a:defRPr>
            </a:lvl8pPr>
            <a:lvl9pPr algn="ctr">
              <a:buNone/>
              <a:defRPr sz="938" b="0" i="0">
                <a:solidFill>
                  <a:srgbClr val="B94B4B"/>
                </a:solidFill>
                <a:latin typeface="Calibri"/>
                <a:ea typeface="Calibri"/>
                <a:cs typeface="Calibri"/>
              </a:defRPr>
            </a:lvl9pPr>
          </a:lstStyle>
          <a:p xmlns:a="http://schemas.openxmlformats.org/drawingml/2006/main">
            <a:pPr algn="ctr">
              <a:lnSpc>
                <a:spcPct val="108000"/>
              </a:lnSpc>
              <a:buNone/>
              <a:defRPr sz="938" b="0" i="0">
                <a:solidFill>
                  <a:srgbClr val="B94B4B"/>
                </a:solidFill>
                <a:latin typeface="Calibri"/>
                <a:ea typeface="Calibri"/>
                <a:cs typeface="Calibri"/>
              </a:defRPr>
            </a:pPr>
            <a:r>
              <a:rPr sz="975" b="1" i="0">
                <a:solidFill>
                  <a:srgbClr val="BB6258"/>
                </a:solidFill>
                <a:latin typeface="Calibri"/>
                <a:ea typeface="Calibri"/>
                <a:cs typeface="Calibri"/>
              </a:rPr>
              <a:t>Synthetic prototype only. Patterns are for attention, not diagnosis or medical-event prediction.</a:t>
            </a:r>
          </a:p>
        </p:txBody>
      </p:sp>
      <p:pic>
        <p:nvPicPr>
          <p:cNvPr id="7" name="">
            <a:extLst xmlns:a="http://schemas.openxmlformats.org/drawingml/2006/main">
              <a:ext uri="{FF2B5EF4-FFF2-40B4-BE49-F238E27FC236}">
                <a16:creationId xmlns:a16="http://schemas.microsoft.com/office/drawing/2014/main" id="{B49523CA-FCDD-44BB-9C95-3614E3A72054}"/>
              </a:ext>
            </a:extLst>
          </p:cNvPr>
          <p:cNvPicPr>
            <a:picLocks xmlns:a="http://schemas.openxmlformats.org/drawingml/2006/main" noChangeAspect="1"/>
          </p:cNvPicPr>
          <p:nvPr/>
        </p:nvPicPr>
        <p:blipFill>
          <a:blip xmlns:r="http://schemas.openxmlformats.org/officeDocument/2006/relationships" xmlns:a="http://schemas.openxmlformats.org/drawingml/2006/main" r:embed="R303dd8775fe649a3"/>
          <a:stretch xmlns:a="http://schemas.openxmlformats.org/drawingml/2006/main"/>
        </p:blipFill>
        <p:spPr>
          <a:xfrm xmlns:a="http://schemas.openxmlformats.org/drawingml/2006/main">
            <a:off x="304800" y="1743075"/>
            <a:ext cx="4457700" cy="16954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3DC1589-BFFE-4C74-841B-F9A809AF1197}"/>
              </a:ext>
            </a:extLst>
          </p:cNvPr>
          <p:cNvPicPr>
            <a:picLocks xmlns:a="http://schemas.openxmlformats.org/drawingml/2006/main" noChangeAspect="1"/>
          </p:cNvPicPr>
          <p:nvPr/>
        </p:nvPicPr>
        <p:blipFill>
          <a:blip xmlns:r="http://schemas.openxmlformats.org/officeDocument/2006/relationships" xmlns:a="http://schemas.openxmlformats.org/drawingml/2006/main" r:embed="Rd549920cb71b4888"/>
          <a:stretch xmlns:a="http://schemas.openxmlformats.org/drawingml/2006/main"/>
        </p:blipFill>
        <p:spPr>
          <a:xfrm xmlns:a="http://schemas.openxmlformats.org/drawingml/2006/main">
            <a:off x="4895850" y="1714500"/>
            <a:ext cx="2266950" cy="2333625"/>
          </a:xfrm>
          <a:prstGeom xmlns:a="http://schemas.openxmlformats.org/drawingml/2006/main" prst="rect">
            <a:avLst/>
          </a:prstGeom>
        </p:spPr>
      </p:pic>
    </p:spTree>
    <p:extLst>
      <p:ext uri="{BB962C8B-B14F-4D97-AF65-F5344CB8AC3E}">
        <p14:creationId xmlns:p14="http://schemas.microsoft.com/office/powerpoint/2010/main" val="268182141"/>
      </p:ext>
    </p:extLst>
  </p:cSld>
</p:sld>
</file>

<file path=ppt/slides/slide5.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F3FD860-E9B1-43F9-A7FA-B51912C0B5FE}"/>
              </a:ext>
            </a:extLst>
          </p:cNvPr>
          <p:cNvPicPr>
            <a:picLocks xmlns:a="http://schemas.openxmlformats.org/drawingml/2006/main" noChangeAspect="1"/>
          </p:cNvPicPr>
          <p:nvPr/>
        </p:nvPicPr>
        <p:blipFill>
          <a:blip xmlns:r="http://schemas.openxmlformats.org/officeDocument/2006/relationships" xmlns:a="http://schemas.openxmlformats.org/drawingml/2006/main" r:embed="R8d1f695d9a454443"/>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2067258D-F40C-4622-9F44-892B8AED16F5}"/>
              </a:ext>
            </a:extLst>
          </p:cNvPr>
          <p:cNvSpPr>
            <a:spLocks xmlns:a="http://schemas.openxmlformats.org/drawingml/2006/main" noGrp="1"/>
          </p:cNvSpPr>
          <p:nvPr/>
        </p:nvSpPr>
        <p:spPr>
          <a:xfrm xmlns:a="http://schemas.openxmlformats.org/drawingml/2006/main">
            <a:off x="314325" y="13906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E1FF0DF4-6A58-4288-BC37-F04B6718E090}"/>
              </a:ext>
            </a:extLst>
          </p:cNvPr>
          <p:cNvSpPr>
            <a:spLocks xmlns:a="http://schemas.openxmlformats.org/drawingml/2006/main" noGrp="1"/>
          </p:cNvSpPr>
          <p:nvPr/>
        </p:nvSpPr>
        <p:spPr>
          <a:xfrm xmlns:a="http://schemas.openxmlformats.org/drawingml/2006/main">
            <a:off x="314325" y="1400175"/>
            <a:ext cx="47625" cy="4857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4E5C81-E5DF-4D23-821E-B54C7EE01321}"/>
              </a:ext>
            </a:extLst>
          </p:cNvPr>
          <p:cNvSpPr>
            <a:spLocks xmlns:a="http://schemas.openxmlformats.org/drawingml/2006/main" noGrp="1"/>
          </p:cNvSpPr>
          <p:nvPr/>
        </p:nvSpPr>
        <p:spPr>
          <a:xfrm xmlns:a="http://schemas.openxmlformats.org/drawingml/2006/main">
            <a:off x="457200" y="1485900"/>
            <a:ext cx="304800" cy="304800"/>
          </a:xfrm>
          <a:prstGeom xmlns:a="http://schemas.openxmlformats.org/drawingml/2006/main" prst="ellipse">
            <a:avLst/>
          </a:prstGeom>
          <a:solidFill xmlns:a="http://schemas.openxmlformats.org/drawingml/2006/main">
            <a:srgbClr val="168F89"/>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1</a:t>
            </a:r>
          </a:p>
        </p:txBody>
      </p:sp>
      <p:sp>
        <p:nvSpPr>
          <p:cNvPr id="31" name="">
            <a:extLst xmlns:a="http://schemas.openxmlformats.org/drawingml/2006/main">
              <a:ext uri="{FF2B5EF4-FFF2-40B4-BE49-F238E27FC236}">
                <a16:creationId xmlns:a16="http://schemas.microsoft.com/office/drawing/2014/main" id="{EA917F27-8F49-4931-8F01-EA6DDAD57782}"/>
              </a:ext>
            </a:extLst>
          </p:cNvPr>
          <p:cNvSpPr>
            <a:spLocks xmlns:a="http://schemas.openxmlformats.org/drawingml/2006/main" noGrp="1"/>
          </p:cNvSpPr>
          <p:nvPr/>
        </p:nvSpPr>
        <p:spPr>
          <a:xfrm xmlns:a="http://schemas.openxmlformats.org/drawingml/2006/main">
            <a:off x="314325" y="19621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BEAADDEF-DF43-4D9F-AC12-22EE38A6420B}"/>
              </a:ext>
            </a:extLst>
          </p:cNvPr>
          <p:cNvSpPr>
            <a:spLocks xmlns:a="http://schemas.openxmlformats.org/drawingml/2006/main" noGrp="1"/>
          </p:cNvSpPr>
          <p:nvPr/>
        </p:nvSpPr>
        <p:spPr>
          <a:xfrm xmlns:a="http://schemas.openxmlformats.org/drawingml/2006/main">
            <a:off x="314325" y="1971675"/>
            <a:ext cx="47625" cy="4857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606D65C-05ED-47A1-9D7F-0A281C7DF096}"/>
              </a:ext>
            </a:extLst>
          </p:cNvPr>
          <p:cNvSpPr>
            <a:spLocks xmlns:a="http://schemas.openxmlformats.org/drawingml/2006/main" noGrp="1"/>
          </p:cNvSpPr>
          <p:nvPr/>
        </p:nvSpPr>
        <p:spPr>
          <a:xfrm xmlns:a="http://schemas.openxmlformats.org/drawingml/2006/main">
            <a:off x="457200" y="2057400"/>
            <a:ext cx="304800" cy="304800"/>
          </a:xfrm>
          <a:prstGeom xmlns:a="http://schemas.openxmlformats.org/drawingml/2006/main" prst="ellipse">
            <a:avLst/>
          </a:prstGeom>
          <a:solidFill xmlns:a="http://schemas.openxmlformats.org/drawingml/2006/main">
            <a:srgbClr val="168F89"/>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2</a:t>
            </a:r>
          </a:p>
        </p:txBody>
      </p:sp>
      <p:sp>
        <p:nvSpPr>
          <p:cNvPr id="34" name="">
            <a:extLst xmlns:a="http://schemas.openxmlformats.org/drawingml/2006/main">
              <a:ext uri="{FF2B5EF4-FFF2-40B4-BE49-F238E27FC236}">
                <a16:creationId xmlns:a16="http://schemas.microsoft.com/office/drawing/2014/main" id="{DDF47594-DD97-4FA9-B97C-433970B6E207}"/>
              </a:ext>
            </a:extLst>
          </p:cNvPr>
          <p:cNvSpPr>
            <a:spLocks xmlns:a="http://schemas.openxmlformats.org/drawingml/2006/main" noGrp="1"/>
          </p:cNvSpPr>
          <p:nvPr/>
        </p:nvSpPr>
        <p:spPr>
          <a:xfrm xmlns:a="http://schemas.openxmlformats.org/drawingml/2006/main">
            <a:off x="314325" y="25336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51344C4C-B8F0-4F54-97A9-78938598FD31}"/>
              </a:ext>
            </a:extLst>
          </p:cNvPr>
          <p:cNvSpPr>
            <a:spLocks xmlns:a="http://schemas.openxmlformats.org/drawingml/2006/main" noGrp="1"/>
          </p:cNvSpPr>
          <p:nvPr/>
        </p:nvSpPr>
        <p:spPr>
          <a:xfrm xmlns:a="http://schemas.openxmlformats.org/drawingml/2006/main">
            <a:off x="314325" y="2543175"/>
            <a:ext cx="47625" cy="485775"/>
          </a:xfrm>
          <a:prstGeom xmlns:a="http://schemas.openxmlformats.org/drawingml/2006/main" prst="roundRect">
            <a:avLst>
              <a:gd name="adj" fmla="val 50000"/>
            </a:avLst>
          </a:prstGeom>
          <a:solidFill xmlns:a="http://schemas.openxmlformats.org/drawingml/2006/main">
            <a:srgbClr val="845FB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E8255C4-3AE5-4E39-A065-29FA13C65430}"/>
              </a:ext>
            </a:extLst>
          </p:cNvPr>
          <p:cNvSpPr>
            <a:spLocks xmlns:a="http://schemas.openxmlformats.org/drawingml/2006/main" noGrp="1"/>
          </p:cNvSpPr>
          <p:nvPr/>
        </p:nvSpPr>
        <p:spPr>
          <a:xfrm xmlns:a="http://schemas.openxmlformats.org/drawingml/2006/main">
            <a:off x="457200" y="2628900"/>
            <a:ext cx="304800" cy="304800"/>
          </a:xfrm>
          <a:prstGeom xmlns:a="http://schemas.openxmlformats.org/drawingml/2006/main" prst="ellipse">
            <a:avLst/>
          </a:prstGeom>
          <a:solidFill xmlns:a="http://schemas.openxmlformats.org/drawingml/2006/main">
            <a:srgbClr val="845FB5"/>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3</a:t>
            </a:r>
          </a:p>
        </p:txBody>
      </p:sp>
      <p:sp>
        <p:nvSpPr>
          <p:cNvPr id="37" name="">
            <a:extLst xmlns:a="http://schemas.openxmlformats.org/drawingml/2006/main">
              <a:ext uri="{FF2B5EF4-FFF2-40B4-BE49-F238E27FC236}">
                <a16:creationId xmlns:a16="http://schemas.microsoft.com/office/drawing/2014/main" id="{D6D9DF69-59F8-4462-A3AE-1FA6A9AFFAE5}"/>
              </a:ext>
            </a:extLst>
          </p:cNvPr>
          <p:cNvSpPr>
            <a:spLocks xmlns:a="http://schemas.openxmlformats.org/drawingml/2006/main" noGrp="1"/>
          </p:cNvSpPr>
          <p:nvPr/>
        </p:nvSpPr>
        <p:spPr>
          <a:xfrm xmlns:a="http://schemas.openxmlformats.org/drawingml/2006/main">
            <a:off x="314325" y="31051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97B814DD-3544-47EA-B2BE-3A2834FE15E2}"/>
              </a:ext>
            </a:extLst>
          </p:cNvPr>
          <p:cNvSpPr>
            <a:spLocks xmlns:a="http://schemas.openxmlformats.org/drawingml/2006/main" noGrp="1"/>
          </p:cNvSpPr>
          <p:nvPr/>
        </p:nvSpPr>
        <p:spPr>
          <a:xfrm xmlns:a="http://schemas.openxmlformats.org/drawingml/2006/main">
            <a:off x="314325" y="3114675"/>
            <a:ext cx="47625" cy="485775"/>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819144D-7F66-4D57-9315-24305FF05758}"/>
              </a:ext>
            </a:extLst>
          </p:cNvPr>
          <p:cNvSpPr>
            <a:spLocks xmlns:a="http://schemas.openxmlformats.org/drawingml/2006/main" noGrp="1"/>
          </p:cNvSpPr>
          <p:nvPr/>
        </p:nvSpPr>
        <p:spPr>
          <a:xfrm xmlns:a="http://schemas.openxmlformats.org/drawingml/2006/main">
            <a:off x="457200" y="3200400"/>
            <a:ext cx="304800" cy="304800"/>
          </a:xfrm>
          <a:prstGeom xmlns:a="http://schemas.openxmlformats.org/drawingml/2006/main" prst="ellipse">
            <a:avLst/>
          </a:prstGeom>
          <a:solidFill xmlns:a="http://schemas.openxmlformats.org/drawingml/2006/main">
            <a:srgbClr val="D86E52"/>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4</a:t>
            </a:r>
          </a:p>
        </p:txBody>
      </p:sp>
      <p:sp>
        <p:nvSpPr>
          <p:cNvPr id="40" name="">
            <a:extLst xmlns:a="http://schemas.openxmlformats.org/drawingml/2006/main">
              <a:ext uri="{FF2B5EF4-FFF2-40B4-BE49-F238E27FC236}">
                <a16:creationId xmlns:a16="http://schemas.microsoft.com/office/drawing/2014/main" id="{AC9243A9-97BA-4C15-975A-28776EBFA1BD}"/>
              </a:ext>
            </a:extLst>
          </p:cNvPr>
          <p:cNvSpPr>
            <a:spLocks xmlns:a="http://schemas.openxmlformats.org/drawingml/2006/main" noGrp="1"/>
          </p:cNvSpPr>
          <p:nvPr/>
        </p:nvSpPr>
        <p:spPr>
          <a:xfrm xmlns:a="http://schemas.openxmlformats.org/drawingml/2006/main">
            <a:off x="314325" y="36766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62DA4D32-9A22-4CAA-BF0B-D6DC9A22B263}"/>
              </a:ext>
            </a:extLst>
          </p:cNvPr>
          <p:cNvSpPr>
            <a:spLocks xmlns:a="http://schemas.openxmlformats.org/drawingml/2006/main" noGrp="1"/>
          </p:cNvSpPr>
          <p:nvPr/>
        </p:nvSpPr>
        <p:spPr>
          <a:xfrm xmlns:a="http://schemas.openxmlformats.org/drawingml/2006/main">
            <a:off x="314325" y="3686175"/>
            <a:ext cx="47625" cy="4857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CF51911-0CFF-4293-BBB5-BD9B6DF9D690}"/>
              </a:ext>
            </a:extLst>
          </p:cNvPr>
          <p:cNvSpPr>
            <a:spLocks xmlns:a="http://schemas.openxmlformats.org/drawingml/2006/main" noGrp="1"/>
          </p:cNvSpPr>
          <p:nvPr/>
        </p:nvSpPr>
        <p:spPr>
          <a:xfrm xmlns:a="http://schemas.openxmlformats.org/drawingml/2006/main">
            <a:off x="457200" y="3771900"/>
            <a:ext cx="304800" cy="304800"/>
          </a:xfrm>
          <a:prstGeom xmlns:a="http://schemas.openxmlformats.org/drawingml/2006/main" prst="ellipse">
            <a:avLst/>
          </a:prstGeom>
          <a:solidFill xmlns:a="http://schemas.openxmlformats.org/drawingml/2006/main">
            <a:srgbClr val="1598B7"/>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5</a:t>
            </a:r>
          </a:p>
        </p:txBody>
      </p:sp>
      <p:sp>
        <p:nvSpPr>
          <p:cNvPr id="26" name="">
            <a:extLst xmlns:a="http://schemas.openxmlformats.org/drawingml/2006/main">
              <a:ext uri="{FF2B5EF4-FFF2-40B4-BE49-F238E27FC236}">
                <a16:creationId xmlns:a16="http://schemas.microsoft.com/office/drawing/2014/main" id="{DBA6BE65-7DA4-46C6-83FA-8D76EABC69C6}"/>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Backend API surface</a:t>
            </a:r>
          </a:p>
        </p:txBody>
      </p:sp>
      <p:sp>
        <p:nvSpPr>
          <p:cNvPr id="2" name="">
            <a:extLst xmlns:a="http://schemas.openxmlformats.org/drawingml/2006/main">
              <a:ext uri="{FF2B5EF4-FFF2-40B4-BE49-F238E27FC236}">
                <a16:creationId xmlns:a16="http://schemas.microsoft.com/office/drawing/2014/main" id="{6B240581-577B-4AC7-B62E-50807C6A618A}"/>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0DD46858-2AFC-4E07-8E47-0F7180E19243}"/>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documented contract covers patients, wearable readings, predictions, alerts, analytics, and streaming.</a:t>
            </a:r>
          </a:p>
        </p:txBody>
      </p:sp>
      <p:sp>
        <p:nvSpPr>
          <p:cNvPr id="4" name="">
            <a:extLst xmlns:a="http://schemas.openxmlformats.org/drawingml/2006/main">
              <a:ext uri="{FF2B5EF4-FFF2-40B4-BE49-F238E27FC236}">
                <a16:creationId xmlns:a16="http://schemas.microsoft.com/office/drawing/2014/main" id="{9BA4A737-333B-481B-8631-F55C7F0BEAC1}"/>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BAA41CF8-E39E-413B-8EE1-57D645B46251}"/>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0A2F29D7-503E-4519-9E38-C85DF817418F}"/>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05</a:t>
            </a:r>
          </a:p>
        </p:txBody>
      </p:sp>
      <p:sp>
        <p:nvSpPr>
          <p:cNvPr id="7" name="">
            <a:extLst xmlns:a="http://schemas.openxmlformats.org/drawingml/2006/main">
              <a:ext uri="{FF2B5EF4-FFF2-40B4-BE49-F238E27FC236}">
                <a16:creationId xmlns:a16="http://schemas.microsoft.com/office/drawing/2014/main" id="{71C09794-7BF6-41CA-8D62-C333A9D5285A}"/>
              </a:ext>
            </a:extLst>
          </p:cNvPr>
          <p:cNvSpPr>
            <a:spLocks xmlns:a="http://schemas.openxmlformats.org/drawingml/2006/main" noGrp="1"/>
          </p:cNvSpPr>
          <p:nvPr/>
        </p:nvSpPr>
        <p:spPr>
          <a:xfrm xmlns:a="http://schemas.openxmlformats.org/drawingml/2006/main">
            <a:off x="828675" y="14382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168F89"/>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168F89"/>
                </a:solidFill>
                <a:latin typeface="Calibri"/>
                <a:ea typeface="Calibri"/>
                <a:cs typeface="Calibri"/>
              </a:rPr>
              <a:t>PATIENTS</a:t>
            </a:r>
          </a:p>
        </p:txBody>
      </p:sp>
      <p:sp>
        <p:nvSpPr>
          <p:cNvPr id="8" name="">
            <a:extLst xmlns:a="http://schemas.openxmlformats.org/drawingml/2006/main">
              <a:ext uri="{FF2B5EF4-FFF2-40B4-BE49-F238E27FC236}">
                <a16:creationId xmlns:a16="http://schemas.microsoft.com/office/drawing/2014/main" id="{A23BA636-B683-4280-A318-4B2F973BE3FA}"/>
              </a:ext>
            </a:extLst>
          </p:cNvPr>
          <p:cNvSpPr>
            <a:spLocks xmlns:a="http://schemas.openxmlformats.org/drawingml/2006/main" noGrp="1"/>
          </p:cNvSpPr>
          <p:nvPr/>
        </p:nvSpPr>
        <p:spPr>
          <a:xfrm xmlns:a="http://schemas.openxmlformats.org/drawingml/2006/main">
            <a:off x="1790700" y="14192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GET /api/patients</a:t>
            </a:r>
          </a:p>
        </p:txBody>
      </p:sp>
      <p:sp>
        <p:nvSpPr>
          <p:cNvPr id="9" name="">
            <a:extLst xmlns:a="http://schemas.openxmlformats.org/drawingml/2006/main">
              <a:ext uri="{FF2B5EF4-FFF2-40B4-BE49-F238E27FC236}">
                <a16:creationId xmlns:a16="http://schemas.microsoft.com/office/drawing/2014/main" id="{3A661F14-EE8D-45E1-803C-CD5D0A62E401}"/>
              </a:ext>
            </a:extLst>
          </p:cNvPr>
          <p:cNvSpPr>
            <a:spLocks xmlns:a="http://schemas.openxmlformats.org/drawingml/2006/main" noGrp="1"/>
          </p:cNvSpPr>
          <p:nvPr/>
        </p:nvSpPr>
        <p:spPr>
          <a:xfrm xmlns:a="http://schemas.openxmlformats.org/drawingml/2006/main">
            <a:off x="1790700" y="16478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List seeded profiles</a:t>
            </a:r>
          </a:p>
        </p:txBody>
      </p:sp>
      <p:sp>
        <p:nvSpPr>
          <p:cNvPr id="10" name="">
            <a:extLst xmlns:a="http://schemas.openxmlformats.org/drawingml/2006/main">
              <a:ext uri="{FF2B5EF4-FFF2-40B4-BE49-F238E27FC236}">
                <a16:creationId xmlns:a16="http://schemas.microsoft.com/office/drawing/2014/main" id="{B114F090-0764-4D6D-873C-8347A088FC56}"/>
              </a:ext>
            </a:extLst>
          </p:cNvPr>
          <p:cNvSpPr>
            <a:spLocks xmlns:a="http://schemas.openxmlformats.org/drawingml/2006/main" noGrp="1"/>
          </p:cNvSpPr>
          <p:nvPr/>
        </p:nvSpPr>
        <p:spPr>
          <a:xfrm xmlns:a="http://schemas.openxmlformats.org/drawingml/2006/main" flipH="0" flipV="0">
            <a:off x="533400" y="1924050"/>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1" name="">
            <a:extLst xmlns:a="http://schemas.openxmlformats.org/drawingml/2006/main">
              <a:ext uri="{FF2B5EF4-FFF2-40B4-BE49-F238E27FC236}">
                <a16:creationId xmlns:a16="http://schemas.microsoft.com/office/drawing/2014/main" id="{60D95D7E-D8B2-4A85-B3AB-4710F96A2524}"/>
              </a:ext>
            </a:extLst>
          </p:cNvPr>
          <p:cNvSpPr>
            <a:spLocks xmlns:a="http://schemas.openxmlformats.org/drawingml/2006/main" noGrp="1"/>
          </p:cNvSpPr>
          <p:nvPr/>
        </p:nvSpPr>
        <p:spPr>
          <a:xfrm xmlns:a="http://schemas.openxmlformats.org/drawingml/2006/main">
            <a:off x="828675" y="20097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168F89"/>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168F89"/>
                </a:solidFill>
                <a:latin typeface="Calibri"/>
                <a:ea typeface="Calibri"/>
                <a:cs typeface="Calibri"/>
              </a:rPr>
              <a:t>VITALS</a:t>
            </a:r>
          </a:p>
        </p:txBody>
      </p:sp>
      <p:sp>
        <p:nvSpPr>
          <p:cNvPr id="12" name="">
            <a:extLst xmlns:a="http://schemas.openxmlformats.org/drawingml/2006/main">
              <a:ext uri="{FF2B5EF4-FFF2-40B4-BE49-F238E27FC236}">
                <a16:creationId xmlns:a16="http://schemas.microsoft.com/office/drawing/2014/main" id="{5681D1E1-D665-4E37-844C-0D8723904268}"/>
              </a:ext>
            </a:extLst>
          </p:cNvPr>
          <p:cNvSpPr>
            <a:spLocks xmlns:a="http://schemas.openxmlformats.org/drawingml/2006/main" noGrp="1"/>
          </p:cNvSpPr>
          <p:nvPr/>
        </p:nvSpPr>
        <p:spPr>
          <a:xfrm xmlns:a="http://schemas.openxmlformats.org/drawingml/2006/main">
            <a:off x="1790700" y="19907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POST /api/patients/{id}/vitals</a:t>
            </a:r>
          </a:p>
        </p:txBody>
      </p:sp>
      <p:sp>
        <p:nvSpPr>
          <p:cNvPr id="13" name="">
            <a:extLst xmlns:a="http://schemas.openxmlformats.org/drawingml/2006/main">
              <a:ext uri="{FF2B5EF4-FFF2-40B4-BE49-F238E27FC236}">
                <a16:creationId xmlns:a16="http://schemas.microsoft.com/office/drawing/2014/main" id="{99C37728-554A-47CC-9E3A-636C037088A6}"/>
              </a:ext>
            </a:extLst>
          </p:cNvPr>
          <p:cNvSpPr>
            <a:spLocks xmlns:a="http://schemas.openxmlformats.org/drawingml/2006/main" noGrp="1"/>
          </p:cNvSpPr>
          <p:nvPr/>
        </p:nvSpPr>
        <p:spPr>
          <a:xfrm xmlns:a="http://schemas.openxmlformats.org/drawingml/2006/main">
            <a:off x="1790700" y="22193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Submit a wearable reading</a:t>
            </a:r>
          </a:p>
        </p:txBody>
      </p:sp>
      <p:sp>
        <p:nvSpPr>
          <p:cNvPr id="14" name="">
            <a:extLst xmlns:a="http://schemas.openxmlformats.org/drawingml/2006/main">
              <a:ext uri="{FF2B5EF4-FFF2-40B4-BE49-F238E27FC236}">
                <a16:creationId xmlns:a16="http://schemas.microsoft.com/office/drawing/2014/main" id="{B76A36ED-7AFA-438E-B26D-A52A829B1298}"/>
              </a:ext>
            </a:extLst>
          </p:cNvPr>
          <p:cNvSpPr>
            <a:spLocks xmlns:a="http://schemas.openxmlformats.org/drawingml/2006/main" noGrp="1"/>
          </p:cNvSpPr>
          <p:nvPr/>
        </p:nvSpPr>
        <p:spPr>
          <a:xfrm xmlns:a="http://schemas.openxmlformats.org/drawingml/2006/main" flipH="0" flipV="0">
            <a:off x="533400" y="2562225"/>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5" name="">
            <a:extLst xmlns:a="http://schemas.openxmlformats.org/drawingml/2006/main">
              <a:ext uri="{FF2B5EF4-FFF2-40B4-BE49-F238E27FC236}">
                <a16:creationId xmlns:a16="http://schemas.microsoft.com/office/drawing/2014/main" id="{C3F363A6-62FC-4BB3-ADA9-EFC6D93DE2E1}"/>
              </a:ext>
            </a:extLst>
          </p:cNvPr>
          <p:cNvSpPr>
            <a:spLocks xmlns:a="http://schemas.openxmlformats.org/drawingml/2006/main" noGrp="1"/>
          </p:cNvSpPr>
          <p:nvPr/>
        </p:nvSpPr>
        <p:spPr>
          <a:xfrm xmlns:a="http://schemas.openxmlformats.org/drawingml/2006/main">
            <a:off x="828675" y="25812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845FB5"/>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845FB5"/>
                </a:solidFill>
                <a:latin typeface="Calibri"/>
                <a:ea typeface="Calibri"/>
                <a:cs typeface="Calibri"/>
              </a:rPr>
              <a:t>PREDICTION</a:t>
            </a:r>
          </a:p>
        </p:txBody>
      </p:sp>
      <p:sp>
        <p:nvSpPr>
          <p:cNvPr id="16" name="">
            <a:extLst xmlns:a="http://schemas.openxmlformats.org/drawingml/2006/main">
              <a:ext uri="{FF2B5EF4-FFF2-40B4-BE49-F238E27FC236}">
                <a16:creationId xmlns:a16="http://schemas.microsoft.com/office/drawing/2014/main" id="{4614C8D0-5402-4978-9CD9-C5BEA3F0652A}"/>
              </a:ext>
            </a:extLst>
          </p:cNvPr>
          <p:cNvSpPr>
            <a:spLocks xmlns:a="http://schemas.openxmlformats.org/drawingml/2006/main" noGrp="1"/>
          </p:cNvSpPr>
          <p:nvPr/>
        </p:nvSpPr>
        <p:spPr>
          <a:xfrm xmlns:a="http://schemas.openxmlformats.org/drawingml/2006/main">
            <a:off x="1790700" y="25622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POST /api/patients/{id}/predict/cardiac</a:t>
            </a:r>
          </a:p>
        </p:txBody>
      </p:sp>
      <p:sp>
        <p:nvSpPr>
          <p:cNvPr id="17" name="">
            <a:extLst xmlns:a="http://schemas.openxmlformats.org/drawingml/2006/main">
              <a:ext uri="{FF2B5EF4-FFF2-40B4-BE49-F238E27FC236}">
                <a16:creationId xmlns:a16="http://schemas.microsoft.com/office/drawing/2014/main" id="{D539A611-E2EC-4EAE-AC1A-BAFBADF1C691}"/>
              </a:ext>
            </a:extLst>
          </p:cNvPr>
          <p:cNvSpPr>
            <a:spLocks xmlns:a="http://schemas.openxmlformats.org/drawingml/2006/main" noGrp="1"/>
          </p:cNvSpPr>
          <p:nvPr/>
        </p:nvSpPr>
        <p:spPr>
          <a:xfrm xmlns:a="http://schemas.openxmlformats.org/drawingml/2006/main">
            <a:off x="1790700" y="27908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Return score, rhythm, BP trend, actions</a:t>
            </a:r>
          </a:p>
        </p:txBody>
      </p:sp>
      <p:sp>
        <p:nvSpPr>
          <p:cNvPr id="18" name="">
            <a:extLst xmlns:a="http://schemas.openxmlformats.org/drawingml/2006/main">
              <a:ext uri="{FF2B5EF4-FFF2-40B4-BE49-F238E27FC236}">
                <a16:creationId xmlns:a16="http://schemas.microsoft.com/office/drawing/2014/main" id="{21B9C27D-1C83-4633-A175-9DE9D410E4F3}"/>
              </a:ext>
            </a:extLst>
          </p:cNvPr>
          <p:cNvSpPr>
            <a:spLocks xmlns:a="http://schemas.openxmlformats.org/drawingml/2006/main" noGrp="1"/>
          </p:cNvSpPr>
          <p:nvPr/>
        </p:nvSpPr>
        <p:spPr>
          <a:xfrm xmlns:a="http://schemas.openxmlformats.org/drawingml/2006/main" flipH="0" flipV="0">
            <a:off x="533400" y="3200400"/>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9" name="">
            <a:extLst xmlns:a="http://schemas.openxmlformats.org/drawingml/2006/main">
              <a:ext uri="{FF2B5EF4-FFF2-40B4-BE49-F238E27FC236}">
                <a16:creationId xmlns:a16="http://schemas.microsoft.com/office/drawing/2014/main" id="{6601B325-E239-4B3F-BB14-5200A726FBD7}"/>
              </a:ext>
            </a:extLst>
          </p:cNvPr>
          <p:cNvSpPr>
            <a:spLocks xmlns:a="http://schemas.openxmlformats.org/drawingml/2006/main" noGrp="1"/>
          </p:cNvSpPr>
          <p:nvPr/>
        </p:nvSpPr>
        <p:spPr>
          <a:xfrm xmlns:a="http://schemas.openxmlformats.org/drawingml/2006/main">
            <a:off x="828675" y="31527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D86E52"/>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D86E52"/>
                </a:solidFill>
                <a:latin typeface="Calibri"/>
                <a:ea typeface="Calibri"/>
                <a:cs typeface="Calibri"/>
              </a:rPr>
              <a:t>ALERTS</a:t>
            </a:r>
          </a:p>
        </p:txBody>
      </p:sp>
      <p:sp>
        <p:nvSpPr>
          <p:cNvPr id="20" name="">
            <a:extLst xmlns:a="http://schemas.openxmlformats.org/drawingml/2006/main">
              <a:ext uri="{FF2B5EF4-FFF2-40B4-BE49-F238E27FC236}">
                <a16:creationId xmlns:a16="http://schemas.microsoft.com/office/drawing/2014/main" id="{22970C82-8009-412D-A226-A2BF7ECF286C}"/>
              </a:ext>
            </a:extLst>
          </p:cNvPr>
          <p:cNvSpPr>
            <a:spLocks xmlns:a="http://schemas.openxmlformats.org/drawingml/2006/main" noGrp="1"/>
          </p:cNvSpPr>
          <p:nvPr/>
        </p:nvSpPr>
        <p:spPr>
          <a:xfrm xmlns:a="http://schemas.openxmlformats.org/drawingml/2006/main">
            <a:off x="1790700" y="31337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GET /api/alerts · POST /api/alerts/{id}/acknowledge</a:t>
            </a:r>
          </a:p>
        </p:txBody>
      </p:sp>
      <p:sp>
        <p:nvSpPr>
          <p:cNvPr id="21" name="">
            <a:extLst xmlns:a="http://schemas.openxmlformats.org/drawingml/2006/main">
              <a:ext uri="{FF2B5EF4-FFF2-40B4-BE49-F238E27FC236}">
                <a16:creationId xmlns:a16="http://schemas.microsoft.com/office/drawing/2014/main" id="{91F79857-479B-4DD1-A001-0044CDC1A00A}"/>
              </a:ext>
            </a:extLst>
          </p:cNvPr>
          <p:cNvSpPr>
            <a:spLocks xmlns:a="http://schemas.openxmlformats.org/drawingml/2006/main" noGrp="1"/>
          </p:cNvSpPr>
          <p:nvPr/>
        </p:nvSpPr>
        <p:spPr>
          <a:xfrm xmlns:a="http://schemas.openxmlformats.org/drawingml/2006/main">
            <a:off x="1790700" y="33623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Review and acknowledge alerts</a:t>
            </a:r>
          </a:p>
        </p:txBody>
      </p:sp>
      <p:sp>
        <p:nvSpPr>
          <p:cNvPr id="22" name="">
            <a:extLst xmlns:a="http://schemas.openxmlformats.org/drawingml/2006/main">
              <a:ext uri="{FF2B5EF4-FFF2-40B4-BE49-F238E27FC236}">
                <a16:creationId xmlns:a16="http://schemas.microsoft.com/office/drawing/2014/main" id="{6B6A2471-BE22-494A-8BFB-51B62FFA15D1}"/>
              </a:ext>
            </a:extLst>
          </p:cNvPr>
          <p:cNvSpPr>
            <a:spLocks xmlns:a="http://schemas.openxmlformats.org/drawingml/2006/main" noGrp="1"/>
          </p:cNvSpPr>
          <p:nvPr/>
        </p:nvSpPr>
        <p:spPr>
          <a:xfrm xmlns:a="http://schemas.openxmlformats.org/drawingml/2006/main" flipH="0" flipV="0">
            <a:off x="533400" y="3838575"/>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23" name="">
            <a:extLst xmlns:a="http://schemas.openxmlformats.org/drawingml/2006/main">
              <a:ext uri="{FF2B5EF4-FFF2-40B4-BE49-F238E27FC236}">
                <a16:creationId xmlns:a16="http://schemas.microsoft.com/office/drawing/2014/main" id="{A60144FB-C5FA-4B61-9EAA-BABA2A11D105}"/>
              </a:ext>
            </a:extLst>
          </p:cNvPr>
          <p:cNvSpPr>
            <a:spLocks xmlns:a="http://schemas.openxmlformats.org/drawingml/2006/main" noGrp="1"/>
          </p:cNvSpPr>
          <p:nvPr/>
        </p:nvSpPr>
        <p:spPr>
          <a:xfrm xmlns:a="http://schemas.openxmlformats.org/drawingml/2006/main">
            <a:off x="828675" y="37242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1598B7"/>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1598B7"/>
                </a:solidFill>
                <a:latin typeface="Calibri"/>
                <a:ea typeface="Calibri"/>
                <a:cs typeface="Calibri"/>
              </a:rPr>
              <a:t>STREAM</a:t>
            </a:r>
          </a:p>
        </p:txBody>
      </p:sp>
      <p:sp>
        <p:nvSpPr>
          <p:cNvPr id="24" name="">
            <a:extLst xmlns:a="http://schemas.openxmlformats.org/drawingml/2006/main">
              <a:ext uri="{FF2B5EF4-FFF2-40B4-BE49-F238E27FC236}">
                <a16:creationId xmlns:a16="http://schemas.microsoft.com/office/drawing/2014/main" id="{F6D74045-425E-41D9-8B2C-124918C3A72E}"/>
              </a:ext>
            </a:extLst>
          </p:cNvPr>
          <p:cNvSpPr>
            <a:spLocks xmlns:a="http://schemas.openxmlformats.org/drawingml/2006/main" noGrp="1"/>
          </p:cNvSpPr>
          <p:nvPr/>
        </p:nvSpPr>
        <p:spPr>
          <a:xfrm xmlns:a="http://schemas.openxmlformats.org/drawingml/2006/main">
            <a:off x="1790700" y="37052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WS /ws/patient/{id}</a:t>
            </a:r>
          </a:p>
        </p:txBody>
      </p:sp>
      <p:sp>
        <p:nvSpPr>
          <p:cNvPr id="25" name="">
            <a:extLst xmlns:a="http://schemas.openxmlformats.org/drawingml/2006/main">
              <a:ext uri="{FF2B5EF4-FFF2-40B4-BE49-F238E27FC236}">
                <a16:creationId xmlns:a16="http://schemas.microsoft.com/office/drawing/2014/main" id="{C38859AF-B8A6-47A3-9D3E-8F7BBAAC01A7}"/>
              </a:ext>
            </a:extLst>
          </p:cNvPr>
          <p:cNvSpPr>
            <a:spLocks xmlns:a="http://schemas.openxmlformats.org/drawingml/2006/main" noGrp="1"/>
          </p:cNvSpPr>
          <p:nvPr/>
        </p:nvSpPr>
        <p:spPr>
          <a:xfrm xmlns:a="http://schemas.openxmlformats.org/drawingml/2006/main">
            <a:off x="1790700" y="39338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Receive live telemetry and prediction updates</a:t>
            </a:r>
          </a:p>
        </p:txBody>
      </p:sp>
    </p:spTree>
    <p:extLst>
      <p:ext uri="{BB962C8B-B14F-4D97-AF65-F5344CB8AC3E}">
        <p14:creationId xmlns:p14="http://schemas.microsoft.com/office/powerpoint/2010/main" val="56411892"/>
      </p:ext>
    </p:extLst>
  </p:cSld>
</p:sld>
</file>

<file path=ppt/slides/slide6.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6979C192-081B-44DD-AD56-87F66B0D678B}"/>
              </a:ext>
            </a:extLst>
          </p:cNvPr>
          <p:cNvPicPr>
            <a:picLocks xmlns:a="http://schemas.openxmlformats.org/drawingml/2006/main" noChangeAspect="1"/>
          </p:cNvPicPr>
          <p:nvPr/>
        </p:nvPicPr>
        <p:blipFill>
          <a:blip xmlns:r="http://schemas.openxmlformats.org/officeDocument/2006/relationships" xmlns:a="http://schemas.openxmlformats.org/drawingml/2006/main" r:embed="R2bdd57d2b9a94b55"/>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AC2DFE0F-A540-43A5-9E6C-85E14C69B0E0}"/>
              </a:ext>
            </a:extLst>
          </p:cNvPr>
          <p:cNvSpPr>
            <a:spLocks xmlns:a="http://schemas.openxmlformats.org/drawingml/2006/main" noGrp="1"/>
          </p:cNvSpPr>
          <p:nvPr/>
        </p:nvSpPr>
        <p:spPr>
          <a:xfrm xmlns:a="http://schemas.openxmlformats.org/drawingml/2006/main">
            <a:off x="361950" y="1362075"/>
            <a:ext cx="2724150" cy="2476500"/>
          </a:xfrm>
          <a:prstGeom xmlns:a="http://schemas.openxmlformats.org/drawingml/2006/main" prst="roundRect">
            <a:avLst>
              <a:gd name="adj" fmla="val 5769"/>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FD9BA333-7E89-41B0-B94E-2E6C52DFBDF7}"/>
              </a:ext>
            </a:extLst>
          </p:cNvPr>
          <p:cNvSpPr>
            <a:spLocks xmlns:a="http://schemas.openxmlformats.org/drawingml/2006/main" noGrp="1"/>
          </p:cNvSpPr>
          <p:nvPr/>
        </p:nvSpPr>
        <p:spPr>
          <a:xfrm xmlns:a="http://schemas.openxmlformats.org/drawingml/2006/main">
            <a:off x="361950" y="1381125"/>
            <a:ext cx="47625" cy="24384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CCB1A8A-FB01-46B9-B0EA-5FA33E129D53}"/>
              </a:ext>
            </a:extLst>
          </p:cNvPr>
          <p:cNvSpPr>
            <a:spLocks xmlns:a="http://schemas.openxmlformats.org/drawingml/2006/main" noGrp="1"/>
          </p:cNvSpPr>
          <p:nvPr/>
        </p:nvSpPr>
        <p:spPr>
          <a:xfrm xmlns:a="http://schemas.openxmlformats.org/drawingml/2006/main">
            <a:off x="3238500" y="1362075"/>
            <a:ext cx="3876675" cy="1952625"/>
          </a:xfrm>
          <a:prstGeom xmlns:a="http://schemas.openxmlformats.org/drawingml/2006/main" prst="roundRect">
            <a:avLst>
              <a:gd name="adj" fmla="val 7317"/>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BFD24D54-77B6-4573-9B19-BBA589DE2648}"/>
              </a:ext>
            </a:extLst>
          </p:cNvPr>
          <p:cNvSpPr>
            <a:spLocks xmlns:a="http://schemas.openxmlformats.org/drawingml/2006/main" noGrp="1"/>
          </p:cNvSpPr>
          <p:nvPr/>
        </p:nvSpPr>
        <p:spPr>
          <a:xfrm xmlns:a="http://schemas.openxmlformats.org/drawingml/2006/main">
            <a:off x="3238500" y="1381125"/>
            <a:ext cx="47625" cy="191452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A16AAB1-59C2-4AAA-B7E7-B369D7C0077A}"/>
              </a:ext>
            </a:extLst>
          </p:cNvPr>
          <p:cNvSpPr>
            <a:spLocks xmlns:a="http://schemas.openxmlformats.org/drawingml/2006/main" noGrp="1"/>
          </p:cNvSpPr>
          <p:nvPr/>
        </p:nvSpPr>
        <p:spPr>
          <a:xfrm xmlns:a="http://schemas.openxmlformats.org/drawingml/2006/main">
            <a:off x="1219200" y="3933825"/>
            <a:ext cx="5895975" cy="600075"/>
          </a:xfrm>
          <a:prstGeom xmlns:a="http://schemas.openxmlformats.org/drawingml/2006/main" prst="roundRect">
            <a:avLst>
              <a:gd name="adj" fmla="val 23810"/>
            </a:avLst>
          </a:prstGeom>
          <a:solidFill xmlns:a="http://schemas.openxmlformats.org/drawingml/2006/main">
            <a:srgbClr val="FFF0ED"/>
          </a:solidFill>
          <a:ln xmlns:a="http://schemas.openxmlformats.org/drawingml/2006/main" w="9525">
            <a:solidFill>
              <a:srgbClr val="F1C6BC"/>
            </a:solidFill>
            <a:prstDash val="solid"/>
          </a:ln>
        </p:spPr>
      </p:sp>
      <p:sp>
        <p:nvSpPr>
          <p:cNvPr id="29" name="">
            <a:extLst xmlns:a="http://schemas.openxmlformats.org/drawingml/2006/main">
              <a:ext uri="{FF2B5EF4-FFF2-40B4-BE49-F238E27FC236}">
                <a16:creationId xmlns:a16="http://schemas.microsoft.com/office/drawing/2014/main" id="{BE6BC395-4169-4A8A-9786-A7BCE50EC8BA}"/>
              </a:ext>
            </a:extLst>
          </p:cNvPr>
          <p:cNvSpPr>
            <a:spLocks xmlns:a="http://schemas.openxmlformats.org/drawingml/2006/main" noGrp="1"/>
          </p:cNvSpPr>
          <p:nvPr/>
        </p:nvSpPr>
        <p:spPr>
          <a:xfrm xmlns:a="http://schemas.openxmlformats.org/drawingml/2006/main">
            <a:off x="1219200" y="3933825"/>
            <a:ext cx="57150" cy="600075"/>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cxnSp>
        <p:nvCxnSpPr>
          <p:cNvPr id="13" name="">
            <a:extLst xmlns:a="http://schemas.openxmlformats.org/drawingml/2006/main">
              <a:ext uri="{FF2B5EF4-FFF2-40B4-BE49-F238E27FC236}">
                <a16:creationId xmlns:a16="http://schemas.microsoft.com/office/drawing/2014/main" id="{2B75EB71-AE07-49C4-A81B-E5EC0FC9130C}"/>
              </a:ext>
            </a:extLst>
          </p:cNvPr>
          <p:cNvCxnSpPr>
            <a:stCxn xmlns:a="http://schemas.openxmlformats.org/drawingml/2006/main" id="10" idx="3"/>
            <a:endCxn xmlns:a="http://schemas.openxmlformats.org/drawingml/2006/main" id="11" idx="1"/>
          </p:cNvCxnSpPr>
          <p:nvPr/>
        </p:nvCxnSpPr>
        <p:spPr>
          <a:xfrm xmlns:a="http://schemas.openxmlformats.org/drawingml/2006/main">
            <a:off x="5810250" y="2019300"/>
            <a:ext cx="285750" cy="0"/>
          </a:xfrm>
          <a:prstGeom xmlns:a="http://schemas.openxmlformats.org/drawingml/2006/main" prst="straightConnector1">
            <a:avLst/>
          </a:prstGeom>
          <a:ln xmlns:a="http://schemas.openxmlformats.org/drawingml/2006/main" w="19050">
            <a:solidFill>
              <a:srgbClr val="248F8A"/>
            </a:solidFill>
            <a:prstDash val="solid"/>
          </a:ln>
        </p:spPr>
      </p:cxnSp>
      <p:cxnSp>
        <p:nvCxnSpPr>
          <p:cNvPr id="12" name="">
            <a:extLst xmlns:a="http://schemas.openxmlformats.org/drawingml/2006/main">
              <a:ext uri="{FF2B5EF4-FFF2-40B4-BE49-F238E27FC236}">
                <a16:creationId xmlns:a16="http://schemas.microsoft.com/office/drawing/2014/main" id="{5CC0B484-CF3F-4EA5-99CB-379E2184E656}"/>
              </a:ext>
            </a:extLst>
          </p:cNvPr>
          <p:cNvCxnSpPr>
            <a:stCxn xmlns:a="http://schemas.openxmlformats.org/drawingml/2006/main" id="9" idx="3"/>
            <a:endCxn xmlns:a="http://schemas.openxmlformats.org/drawingml/2006/main" id="10" idx="1"/>
          </p:cNvCxnSpPr>
          <p:nvPr/>
        </p:nvCxnSpPr>
        <p:spPr>
          <a:xfrm xmlns:a="http://schemas.openxmlformats.org/drawingml/2006/main">
            <a:off x="4524375" y="2019300"/>
            <a:ext cx="285750" cy="0"/>
          </a:xfrm>
          <a:prstGeom xmlns:a="http://schemas.openxmlformats.org/drawingml/2006/main" prst="straightConnector1">
            <a:avLst/>
          </a:prstGeom>
          <a:ln xmlns:a="http://schemas.openxmlformats.org/drawingml/2006/main" w="19050">
            <a:solidFill>
              <a:srgbClr val="248F8A"/>
            </a:solidFill>
            <a:prstDash val="solid"/>
          </a:ln>
        </p:spPr>
      </p:cxnSp>
      <p:sp>
        <p:nvSpPr>
          <p:cNvPr id="22" name="">
            <a:extLst xmlns:a="http://schemas.openxmlformats.org/drawingml/2006/main">
              <a:ext uri="{FF2B5EF4-FFF2-40B4-BE49-F238E27FC236}">
                <a16:creationId xmlns:a16="http://schemas.microsoft.com/office/drawing/2014/main" id="{7C78ACF3-C110-4079-AF10-45F7F1D77123}"/>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The live score is a simplified heuristic</a:t>
            </a:r>
          </a:p>
        </p:txBody>
      </p:sp>
      <p:sp>
        <p:nvSpPr>
          <p:cNvPr id="2" name="">
            <a:extLst xmlns:a="http://schemas.openxmlformats.org/drawingml/2006/main">
              <a:ext uri="{FF2B5EF4-FFF2-40B4-BE49-F238E27FC236}">
                <a16:creationId xmlns:a16="http://schemas.microsoft.com/office/drawing/2014/main" id="{67F5AA67-BFE5-40BA-A498-94F33BCBE83E}"/>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73BEDC34-7557-47E2-A34B-B3339AD6A8D3}"/>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API calls its output a probability; the implementation is not calibrated against real outcomes.</a:t>
            </a:r>
          </a:p>
        </p:txBody>
      </p:sp>
      <p:sp>
        <p:nvSpPr>
          <p:cNvPr id="4" name="">
            <a:extLst xmlns:a="http://schemas.openxmlformats.org/drawingml/2006/main">
              <a:ext uri="{FF2B5EF4-FFF2-40B4-BE49-F238E27FC236}">
                <a16:creationId xmlns:a16="http://schemas.microsoft.com/office/drawing/2014/main" id="{A019D029-A432-40DC-BF1B-C8EBD84C6FFB}"/>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4374B3B-BE03-4C23-8BBD-AB3E2FC1CB8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557B92F4-134D-43C5-9CE5-233E354719AD}"/>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06</a:t>
            </a:r>
          </a:p>
        </p:txBody>
      </p:sp>
      <p:sp>
        <p:nvSpPr>
          <p:cNvPr id="7" name="">
            <a:extLst xmlns:a="http://schemas.openxmlformats.org/drawingml/2006/main">
              <a:ext uri="{FF2B5EF4-FFF2-40B4-BE49-F238E27FC236}">
                <a16:creationId xmlns:a16="http://schemas.microsoft.com/office/drawing/2014/main" id="{276784A7-8BD5-4FAA-A3E4-187330ADC641}"/>
              </a:ext>
            </a:extLst>
          </p:cNvPr>
          <p:cNvSpPr>
            <a:spLocks xmlns:a="http://schemas.openxmlformats.org/drawingml/2006/main" noGrp="1"/>
          </p:cNvSpPr>
          <p:nvPr/>
        </p:nvSpPr>
        <p:spPr>
          <a:xfrm xmlns:a="http://schemas.openxmlformats.org/drawingml/2006/main">
            <a:off x="523875" y="14382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087E83"/>
                </a:solidFill>
                <a:latin typeface="Calibri"/>
                <a:ea typeface="Calibri"/>
                <a:cs typeface="Calibri"/>
              </a:defRPr>
            </a:defPPr>
            <a:lvl1pPr algn="l">
              <a:buNone/>
              <a:defRPr sz="1350" b="1" i="0">
                <a:solidFill>
                  <a:srgbClr val="0D6F73"/>
                </a:solidFill>
                <a:latin typeface="Calibri"/>
                <a:ea typeface="Calibri"/>
                <a:cs typeface="Calibri"/>
              </a:defRPr>
            </a:lvl1pPr>
            <a:lvl2pPr algn="l">
              <a:buNone/>
              <a:defRPr sz="1350" b="1" i="0">
                <a:solidFill>
                  <a:srgbClr val="0D6F73"/>
                </a:solidFill>
                <a:latin typeface="Calibri"/>
                <a:ea typeface="Calibri"/>
                <a:cs typeface="Calibri"/>
              </a:defRPr>
            </a:lvl2pPr>
            <a:lvl3pPr algn="l">
              <a:buNone/>
              <a:defRPr sz="1350" b="1" i="0">
                <a:solidFill>
                  <a:srgbClr val="0D6F73"/>
                </a:solidFill>
                <a:latin typeface="Calibri"/>
                <a:ea typeface="Calibri"/>
                <a:cs typeface="Calibri"/>
              </a:defRPr>
            </a:lvl3pPr>
            <a:lvl4pPr algn="l">
              <a:buNone/>
              <a:defRPr sz="1350" b="1" i="0">
                <a:solidFill>
                  <a:srgbClr val="0D6F73"/>
                </a:solidFill>
                <a:latin typeface="Calibri"/>
                <a:ea typeface="Calibri"/>
                <a:cs typeface="Calibri"/>
              </a:defRPr>
            </a:lvl4pPr>
            <a:lvl5pPr algn="l">
              <a:buNone/>
              <a:defRPr sz="1350" b="1" i="0">
                <a:solidFill>
                  <a:srgbClr val="0D6F73"/>
                </a:solidFill>
                <a:latin typeface="Calibri"/>
                <a:ea typeface="Calibri"/>
                <a:cs typeface="Calibri"/>
              </a:defRPr>
            </a:lvl5pPr>
            <a:lvl6pPr algn="l">
              <a:buNone/>
              <a:defRPr sz="1350" b="1" i="0">
                <a:solidFill>
                  <a:srgbClr val="0D6F73"/>
                </a:solidFill>
                <a:latin typeface="Calibri"/>
                <a:ea typeface="Calibri"/>
                <a:cs typeface="Calibri"/>
              </a:defRPr>
            </a:lvl6pPr>
            <a:lvl7pPr algn="l">
              <a:buNone/>
              <a:defRPr sz="1350" b="1" i="0">
                <a:solidFill>
                  <a:srgbClr val="0D6F73"/>
                </a:solidFill>
                <a:latin typeface="Calibri"/>
                <a:ea typeface="Calibri"/>
                <a:cs typeface="Calibri"/>
              </a:defRPr>
            </a:lvl7pPr>
            <a:lvl8pPr algn="l">
              <a:buNone/>
              <a:defRPr sz="1350" b="1" i="0">
                <a:solidFill>
                  <a:srgbClr val="0D6F73"/>
                </a:solidFill>
                <a:latin typeface="Calibri"/>
                <a:ea typeface="Calibri"/>
                <a:cs typeface="Calibri"/>
              </a:defRPr>
            </a:lvl8pPr>
            <a:lvl9pPr algn="l">
              <a:buNone/>
              <a:defRPr sz="1350" b="1" i="0">
                <a:solidFill>
                  <a:srgbClr val="0D6F73"/>
                </a:solidFill>
                <a:latin typeface="Calibri"/>
                <a:ea typeface="Calibri"/>
                <a:cs typeface="Calibri"/>
              </a:defRPr>
            </a:lvl9pPr>
          </a:lstStyle>
          <a:p xmlns:a="http://schemas.openxmlformats.org/drawingml/2006/main">
            <a:pPr algn="l">
              <a:lnSpc>
                <a:spcPct val="108000"/>
              </a:lnSpc>
              <a:buNone/>
              <a:defRPr sz="1350" b="1" i="0">
                <a:solidFill>
                  <a:srgbClr val="0D6F73"/>
                </a:solidFill>
                <a:latin typeface="Calibri"/>
                <a:ea typeface="Calibri"/>
                <a:cs typeface="Calibri"/>
              </a:defRPr>
            </a:pPr>
            <a:r>
              <a:rPr sz="1425" b="1" i="0">
                <a:solidFill>
                  <a:srgbClr val="087E83"/>
                </a:solidFill>
                <a:latin typeface="Calibri"/>
                <a:ea typeface="Calibri"/>
                <a:cs typeface="Calibri"/>
              </a:rPr>
              <a:t>Inputs used by the active API</a:t>
            </a:r>
          </a:p>
        </p:txBody>
      </p:sp>
      <p:sp>
        <p:nvSpPr>
          <p:cNvPr id="8" name="">
            <a:extLst xmlns:a="http://schemas.openxmlformats.org/drawingml/2006/main">
              <a:ext uri="{FF2B5EF4-FFF2-40B4-BE49-F238E27FC236}">
                <a16:creationId xmlns:a16="http://schemas.microsoft.com/office/drawing/2014/main" id="{50F3EA56-3973-4A1D-8AE4-DE7572040109}"/>
              </a:ext>
            </a:extLst>
          </p:cNvPr>
          <p:cNvSpPr>
            <a:spLocks xmlns:a="http://schemas.openxmlformats.org/drawingml/2006/main" noGrp="1"/>
          </p:cNvSpPr>
          <p:nvPr/>
        </p:nvSpPr>
        <p:spPr>
          <a:xfrm xmlns:a="http://schemas.openxmlformats.org/drawingml/2006/main">
            <a:off x="523875" y="1819275"/>
            <a:ext cx="2438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94E5A"/>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Age · sex · smoking · diabetes</a:t>
            </a:r>
          </a:p>
          <a:p xmlns:a="http://schemas.openxmlformats.org/drawingml/2006/main">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Systolic BP · total cholesterol</a:t>
            </a:r>
          </a:p>
          <a:p xmlns:a="http://schemas.openxmlformats.org/drawingml/2006/main">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HDL cholesterol</a:t>
            </a:r>
          </a:p>
        </p:txBody>
      </p:sp>
      <p:sp>
        <p:nvSpPr>
          <p:cNvPr id="9" name="">
            <a:extLst xmlns:a="http://schemas.openxmlformats.org/drawingml/2006/main">
              <a:ext uri="{FF2B5EF4-FFF2-40B4-BE49-F238E27FC236}">
                <a16:creationId xmlns:a16="http://schemas.microsoft.com/office/drawing/2014/main" id="{57B11B08-42A2-4BBF-AD7C-EDB45944992A}"/>
              </a:ext>
            </a:extLst>
          </p:cNvPr>
          <p:cNvSpPr>
            <a:spLocks xmlns:a="http://schemas.openxmlformats.org/drawingml/2006/main" noGrp="1"/>
          </p:cNvSpPr>
          <p:nvPr/>
        </p:nvSpPr>
        <p:spPr>
          <a:xfrm xmlns:a="http://schemas.openxmlformats.org/drawingml/2006/main">
            <a:off x="3371850" y="1590675"/>
            <a:ext cx="1152525" cy="857250"/>
          </a:xfrm>
          <a:prstGeom xmlns:a="http://schemas.openxmlformats.org/drawingml/2006/main" prst="roundRect">
            <a:avLst>
              <a:gd name="adj" fmla="val 8889"/>
            </a:avLst>
          </a:prstGeom>
          <a:solidFill xmlns:a="http://schemas.openxmlformats.org/drawingml/2006/main">
            <a:srgbClr val="E5F2F1"/>
          </a:solidFill>
          <a:ln xmlns:a="http://schemas.openxmlformats.org/drawingml/2006/main" w="11430">
            <a:solidFill>
              <a:srgbClr val="BDD8D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123F50"/>
                </a:solidFill>
                <a:latin typeface="Calibri"/>
                <a:ea typeface="Calibri"/>
                <a:cs typeface="Calibri"/>
              </a:defRPr>
            </a:defPPr>
            <a:lvl1pPr algn="ctr">
              <a:buNone/>
              <a:defRPr sz="1275" b="1">
                <a:solidFill>
                  <a:srgbClr val="123F50"/>
                </a:solidFill>
                <a:latin typeface="Calibri"/>
                <a:ea typeface="Calibri"/>
                <a:cs typeface="Calibri"/>
              </a:defRPr>
            </a:lvl1pPr>
            <a:lvl2pPr algn="ctr">
              <a:buNone/>
              <a:defRPr sz="1275" b="1">
                <a:solidFill>
                  <a:srgbClr val="123F50"/>
                </a:solidFill>
                <a:latin typeface="Calibri"/>
                <a:ea typeface="Calibri"/>
                <a:cs typeface="Calibri"/>
              </a:defRPr>
            </a:lvl2pPr>
            <a:lvl3pPr algn="ctr">
              <a:buNone/>
              <a:defRPr sz="1275" b="1">
                <a:solidFill>
                  <a:srgbClr val="123F50"/>
                </a:solidFill>
                <a:latin typeface="Calibri"/>
                <a:ea typeface="Calibri"/>
                <a:cs typeface="Calibri"/>
              </a:defRPr>
            </a:lvl3pPr>
            <a:lvl4pPr algn="ctr">
              <a:buNone/>
              <a:defRPr sz="1275" b="1">
                <a:solidFill>
                  <a:srgbClr val="123F50"/>
                </a:solidFill>
                <a:latin typeface="Calibri"/>
                <a:ea typeface="Calibri"/>
                <a:cs typeface="Calibri"/>
              </a:defRPr>
            </a:lvl4pPr>
            <a:lvl5pPr algn="ctr">
              <a:buNone/>
              <a:defRPr sz="1275" b="1">
                <a:solidFill>
                  <a:srgbClr val="123F50"/>
                </a:solidFill>
                <a:latin typeface="Calibri"/>
                <a:ea typeface="Calibri"/>
                <a:cs typeface="Calibri"/>
              </a:defRPr>
            </a:lvl5pPr>
            <a:lvl6pPr algn="ctr">
              <a:buNone/>
              <a:defRPr sz="1275" b="1">
                <a:solidFill>
                  <a:srgbClr val="123F50"/>
                </a:solidFill>
                <a:latin typeface="Calibri"/>
                <a:ea typeface="Calibri"/>
                <a:cs typeface="Calibri"/>
              </a:defRPr>
            </a:lvl6pPr>
            <a:lvl7pPr algn="ctr">
              <a:buNone/>
              <a:defRPr sz="1275" b="1">
                <a:solidFill>
                  <a:srgbClr val="123F50"/>
                </a:solidFill>
                <a:latin typeface="Calibri"/>
                <a:ea typeface="Calibri"/>
                <a:cs typeface="Calibri"/>
              </a:defRPr>
            </a:lvl7pPr>
            <a:lvl8pPr algn="ctr">
              <a:buNone/>
              <a:defRPr sz="1275" b="1">
                <a:solidFill>
                  <a:srgbClr val="123F50"/>
                </a:solidFill>
                <a:latin typeface="Calibri"/>
                <a:ea typeface="Calibri"/>
                <a:cs typeface="Calibri"/>
              </a:defRPr>
            </a:lvl8pPr>
            <a:lvl9pPr algn="ctr">
              <a:buNone/>
              <a:defRPr sz="1275" b="1">
                <a:solidFill>
                  <a:srgbClr val="123F50"/>
                </a:solidFill>
                <a:latin typeface="Calibri"/>
                <a:ea typeface="Calibri"/>
                <a:cs typeface="Calibri"/>
              </a:defRPr>
            </a:lvl9pPr>
          </a:lstStyle>
          <a:p xmlns:a="http://schemas.openxmlformats.org/drawingml/2006/main">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Banded</a:t>
            </a:r>
          </a:p>
          <a:p xmlns:a="http://schemas.openxmlformats.org/drawingml/2006/main">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point rules</a:t>
            </a:r>
          </a:p>
        </p:txBody>
      </p:sp>
      <p:sp>
        <p:nvSpPr>
          <p:cNvPr id="10" name="">
            <a:extLst xmlns:a="http://schemas.openxmlformats.org/drawingml/2006/main">
              <a:ext uri="{FF2B5EF4-FFF2-40B4-BE49-F238E27FC236}">
                <a16:creationId xmlns:a16="http://schemas.microsoft.com/office/drawing/2014/main" id="{EB7D51CE-8AFD-4DD3-848B-FC6FCECC5BF1}"/>
              </a:ext>
            </a:extLst>
          </p:cNvPr>
          <p:cNvSpPr>
            <a:spLocks xmlns:a="http://schemas.openxmlformats.org/drawingml/2006/main" noGrp="1"/>
          </p:cNvSpPr>
          <p:nvPr/>
        </p:nvSpPr>
        <p:spPr>
          <a:xfrm xmlns:a="http://schemas.openxmlformats.org/drawingml/2006/main">
            <a:off x="4810125" y="1590675"/>
            <a:ext cx="1000125" cy="857250"/>
          </a:xfrm>
          <a:prstGeom xmlns:a="http://schemas.openxmlformats.org/drawingml/2006/main" prst="roundRect">
            <a:avLst>
              <a:gd name="adj" fmla="val 8889"/>
            </a:avLst>
          </a:prstGeom>
          <a:solidFill xmlns:a="http://schemas.openxmlformats.org/drawingml/2006/main">
            <a:srgbClr val="E5F2F1"/>
          </a:solidFill>
          <a:ln xmlns:a="http://schemas.openxmlformats.org/drawingml/2006/main" w="11430">
            <a:solidFill>
              <a:srgbClr val="BDD8D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123F50"/>
                </a:solidFill>
                <a:latin typeface="Calibri"/>
                <a:ea typeface="Calibri"/>
                <a:cs typeface="Calibri"/>
              </a:defRPr>
            </a:defPPr>
            <a:lvl1pPr algn="ctr">
              <a:buNone/>
              <a:defRPr sz="1275" b="1">
                <a:solidFill>
                  <a:srgbClr val="123F50"/>
                </a:solidFill>
                <a:latin typeface="Calibri"/>
                <a:ea typeface="Calibri"/>
                <a:cs typeface="Calibri"/>
              </a:defRPr>
            </a:lvl1pPr>
            <a:lvl2pPr algn="ctr">
              <a:buNone/>
              <a:defRPr sz="1275" b="1">
                <a:solidFill>
                  <a:srgbClr val="123F50"/>
                </a:solidFill>
                <a:latin typeface="Calibri"/>
                <a:ea typeface="Calibri"/>
                <a:cs typeface="Calibri"/>
              </a:defRPr>
            </a:lvl2pPr>
            <a:lvl3pPr algn="ctr">
              <a:buNone/>
              <a:defRPr sz="1275" b="1">
                <a:solidFill>
                  <a:srgbClr val="123F50"/>
                </a:solidFill>
                <a:latin typeface="Calibri"/>
                <a:ea typeface="Calibri"/>
                <a:cs typeface="Calibri"/>
              </a:defRPr>
            </a:lvl3pPr>
            <a:lvl4pPr algn="ctr">
              <a:buNone/>
              <a:defRPr sz="1275" b="1">
                <a:solidFill>
                  <a:srgbClr val="123F50"/>
                </a:solidFill>
                <a:latin typeface="Calibri"/>
                <a:ea typeface="Calibri"/>
                <a:cs typeface="Calibri"/>
              </a:defRPr>
            </a:lvl4pPr>
            <a:lvl5pPr algn="ctr">
              <a:buNone/>
              <a:defRPr sz="1275" b="1">
                <a:solidFill>
                  <a:srgbClr val="123F50"/>
                </a:solidFill>
                <a:latin typeface="Calibri"/>
                <a:ea typeface="Calibri"/>
                <a:cs typeface="Calibri"/>
              </a:defRPr>
            </a:lvl5pPr>
            <a:lvl6pPr algn="ctr">
              <a:buNone/>
              <a:defRPr sz="1275" b="1">
                <a:solidFill>
                  <a:srgbClr val="123F50"/>
                </a:solidFill>
                <a:latin typeface="Calibri"/>
                <a:ea typeface="Calibri"/>
                <a:cs typeface="Calibri"/>
              </a:defRPr>
            </a:lvl6pPr>
            <a:lvl7pPr algn="ctr">
              <a:buNone/>
              <a:defRPr sz="1275" b="1">
                <a:solidFill>
                  <a:srgbClr val="123F50"/>
                </a:solidFill>
                <a:latin typeface="Calibri"/>
                <a:ea typeface="Calibri"/>
                <a:cs typeface="Calibri"/>
              </a:defRPr>
            </a:lvl7pPr>
            <a:lvl8pPr algn="ctr">
              <a:buNone/>
              <a:defRPr sz="1275" b="1">
                <a:solidFill>
                  <a:srgbClr val="123F50"/>
                </a:solidFill>
                <a:latin typeface="Calibri"/>
                <a:ea typeface="Calibri"/>
                <a:cs typeface="Calibri"/>
              </a:defRPr>
            </a:lvl8pPr>
            <a:lvl9pPr algn="ctr">
              <a:buNone/>
              <a:defRPr sz="1275" b="1">
                <a:solidFill>
                  <a:srgbClr val="123F50"/>
                </a:solidFill>
                <a:latin typeface="Calibri"/>
                <a:ea typeface="Calibri"/>
                <a:cs typeface="Calibri"/>
              </a:defRPr>
            </a:lvl9pPr>
          </a:lstStyle>
          <a:p xmlns:a="http://schemas.openxmlformats.org/drawingml/2006/main">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Score ÷ 45</a:t>
            </a:r>
          </a:p>
        </p:txBody>
      </p:sp>
      <p:sp>
        <p:nvSpPr>
          <p:cNvPr id="11" name="">
            <a:extLst xmlns:a="http://schemas.openxmlformats.org/drawingml/2006/main">
              <a:ext uri="{FF2B5EF4-FFF2-40B4-BE49-F238E27FC236}">
                <a16:creationId xmlns:a16="http://schemas.microsoft.com/office/drawing/2014/main" id="{3F2007B6-3BFE-49C1-B5FB-48A975E0182B}"/>
              </a:ext>
            </a:extLst>
          </p:cNvPr>
          <p:cNvSpPr>
            <a:spLocks xmlns:a="http://schemas.openxmlformats.org/drawingml/2006/main" noGrp="1"/>
          </p:cNvSpPr>
          <p:nvPr/>
        </p:nvSpPr>
        <p:spPr>
          <a:xfrm xmlns:a="http://schemas.openxmlformats.org/drawingml/2006/main">
            <a:off x="6096000" y="1590675"/>
            <a:ext cx="952500" cy="857250"/>
          </a:xfrm>
          <a:prstGeom xmlns:a="http://schemas.openxmlformats.org/drawingml/2006/main" prst="roundRect">
            <a:avLst>
              <a:gd name="adj" fmla="val 8889"/>
            </a:avLst>
          </a:prstGeom>
          <a:solidFill xmlns:a="http://schemas.openxmlformats.org/drawingml/2006/main">
            <a:srgbClr val="123F50"/>
          </a:solidFill>
          <a:ln xmlns:a="http://schemas.openxmlformats.org/drawingml/2006/main" w="11430">
            <a:solidFill>
              <a:srgbClr val="123F50"/>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FFFFFF"/>
                </a:solidFill>
                <a:latin typeface="Calibri"/>
                <a:ea typeface="Calibri"/>
                <a:cs typeface="Calibri"/>
              </a:defRPr>
            </a:defPPr>
            <a:lvl1pPr algn="ctr">
              <a:buNone/>
              <a:defRPr sz="1275" b="1">
                <a:solidFill>
                  <a:srgbClr val="FFFFFF"/>
                </a:solidFill>
                <a:latin typeface="Calibri"/>
                <a:ea typeface="Calibri"/>
                <a:cs typeface="Calibri"/>
              </a:defRPr>
            </a:lvl1pPr>
            <a:lvl2pPr algn="ctr">
              <a:buNone/>
              <a:defRPr sz="1275" b="1">
                <a:solidFill>
                  <a:srgbClr val="FFFFFF"/>
                </a:solidFill>
                <a:latin typeface="Calibri"/>
                <a:ea typeface="Calibri"/>
                <a:cs typeface="Calibri"/>
              </a:defRPr>
            </a:lvl2pPr>
            <a:lvl3pPr algn="ctr">
              <a:buNone/>
              <a:defRPr sz="1275" b="1">
                <a:solidFill>
                  <a:srgbClr val="FFFFFF"/>
                </a:solidFill>
                <a:latin typeface="Calibri"/>
                <a:ea typeface="Calibri"/>
                <a:cs typeface="Calibri"/>
              </a:defRPr>
            </a:lvl3pPr>
            <a:lvl4pPr algn="ctr">
              <a:buNone/>
              <a:defRPr sz="1275" b="1">
                <a:solidFill>
                  <a:srgbClr val="FFFFFF"/>
                </a:solidFill>
                <a:latin typeface="Calibri"/>
                <a:ea typeface="Calibri"/>
                <a:cs typeface="Calibri"/>
              </a:defRPr>
            </a:lvl4pPr>
            <a:lvl5pPr algn="ctr">
              <a:buNone/>
              <a:defRPr sz="1275" b="1">
                <a:solidFill>
                  <a:srgbClr val="FFFFFF"/>
                </a:solidFill>
                <a:latin typeface="Calibri"/>
                <a:ea typeface="Calibri"/>
                <a:cs typeface="Calibri"/>
              </a:defRPr>
            </a:lvl5pPr>
            <a:lvl6pPr algn="ctr">
              <a:buNone/>
              <a:defRPr sz="1275" b="1">
                <a:solidFill>
                  <a:srgbClr val="FFFFFF"/>
                </a:solidFill>
                <a:latin typeface="Calibri"/>
                <a:ea typeface="Calibri"/>
                <a:cs typeface="Calibri"/>
              </a:defRPr>
            </a:lvl6pPr>
            <a:lvl7pPr algn="ctr">
              <a:buNone/>
              <a:defRPr sz="1275" b="1">
                <a:solidFill>
                  <a:srgbClr val="FFFFFF"/>
                </a:solidFill>
                <a:latin typeface="Calibri"/>
                <a:ea typeface="Calibri"/>
                <a:cs typeface="Calibri"/>
              </a:defRPr>
            </a:lvl7pPr>
            <a:lvl8pPr algn="ctr">
              <a:buNone/>
              <a:defRPr sz="1275" b="1">
                <a:solidFill>
                  <a:srgbClr val="FFFFFF"/>
                </a:solidFill>
                <a:latin typeface="Calibri"/>
                <a:ea typeface="Calibri"/>
                <a:cs typeface="Calibri"/>
              </a:defRPr>
            </a:lvl8pPr>
            <a:lvl9pPr algn="ctr">
              <a:buNone/>
              <a:defRPr sz="1275" b="1">
                <a:solidFill>
                  <a:srgbClr val="FFFFFF"/>
                </a:solidFill>
                <a:latin typeface="Calibri"/>
                <a:ea typeface="Calibri"/>
                <a:cs typeface="Calibri"/>
              </a:defRPr>
            </a:lvl9pPr>
          </a:lstStyle>
          <a:p xmlns:a="http://schemas.openxmlformats.org/drawingml/2006/main">
            <a:pPr algn="ctr">
              <a:buNone/>
              <a:defRPr sz="1275" b="1">
                <a:solidFill>
                  <a:srgbClr val="FFFFFF"/>
                </a:solidFill>
                <a:latin typeface="Calibri"/>
                <a:ea typeface="Calibri"/>
                <a:cs typeface="Calibri"/>
              </a:defRPr>
            </a:pPr>
            <a:r>
              <a:rPr sz="1238" b="1">
                <a:solidFill>
                  <a:srgbClr val="FFFFFF"/>
                </a:solidFill>
                <a:latin typeface="Calibri"/>
                <a:ea typeface="Calibri"/>
                <a:cs typeface="Calibri"/>
              </a:rPr>
              <a:t>Risk band</a:t>
            </a:r>
          </a:p>
        </p:txBody>
      </p:sp>
      <p:sp>
        <p:nvSpPr>
          <p:cNvPr id="14" name="">
            <a:extLst xmlns:a="http://schemas.openxmlformats.org/drawingml/2006/main">
              <a:ext uri="{FF2B5EF4-FFF2-40B4-BE49-F238E27FC236}">
                <a16:creationId xmlns:a16="http://schemas.microsoft.com/office/drawing/2014/main" id="{3C239912-2BED-4FA0-8A34-2E22DB04D674}"/>
              </a:ext>
            </a:extLst>
          </p:cNvPr>
          <p:cNvSpPr>
            <a:spLocks xmlns:a="http://schemas.openxmlformats.org/drawingml/2006/main" noGrp="1"/>
          </p:cNvSpPr>
          <p:nvPr/>
        </p:nvSpPr>
        <p:spPr>
          <a:xfrm xmlns:a="http://schemas.openxmlformats.org/drawingml/2006/main">
            <a:off x="4438650" y="186690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51"/>
          </a:bodyPr>
          <a:lstStyle xmlns:a="http://schemas.openxmlformats.org/drawingml/2006/main">
            <a:defPPr algn="ctr">
              <a:defRPr sz="1800" b="1" i="0">
                <a:solidFill>
                  <a:srgbClr val="0D6F73"/>
                </a:solidFill>
                <a:latin typeface="Calibri"/>
                <a:ea typeface="Calibri"/>
                <a:cs typeface="Calibri"/>
              </a:defRPr>
            </a:defPPr>
            <a:lvl1pPr algn="ctr">
              <a:buNone/>
              <a:defRPr sz="1800" b="1" i="0">
                <a:solidFill>
                  <a:srgbClr val="0D6F73"/>
                </a:solidFill>
                <a:latin typeface="Calibri"/>
                <a:ea typeface="Calibri"/>
                <a:cs typeface="Calibri"/>
              </a:defRPr>
            </a:lvl1pPr>
            <a:lvl2pPr algn="ctr">
              <a:buNone/>
              <a:defRPr sz="1800" b="1" i="0">
                <a:solidFill>
                  <a:srgbClr val="0D6F73"/>
                </a:solidFill>
                <a:latin typeface="Calibri"/>
                <a:ea typeface="Calibri"/>
                <a:cs typeface="Calibri"/>
              </a:defRPr>
            </a:lvl2pPr>
            <a:lvl3pPr algn="ctr">
              <a:buNone/>
              <a:defRPr sz="1800" b="1" i="0">
                <a:solidFill>
                  <a:srgbClr val="0D6F73"/>
                </a:solidFill>
                <a:latin typeface="Calibri"/>
                <a:ea typeface="Calibri"/>
                <a:cs typeface="Calibri"/>
              </a:defRPr>
            </a:lvl3pPr>
            <a:lvl4pPr algn="ctr">
              <a:buNone/>
              <a:defRPr sz="1800" b="1" i="0">
                <a:solidFill>
                  <a:srgbClr val="0D6F73"/>
                </a:solidFill>
                <a:latin typeface="Calibri"/>
                <a:ea typeface="Calibri"/>
                <a:cs typeface="Calibri"/>
              </a:defRPr>
            </a:lvl4pPr>
            <a:lvl5pPr algn="ctr">
              <a:buNone/>
              <a:defRPr sz="1800" b="1" i="0">
                <a:solidFill>
                  <a:srgbClr val="0D6F73"/>
                </a:solidFill>
                <a:latin typeface="Calibri"/>
                <a:ea typeface="Calibri"/>
                <a:cs typeface="Calibri"/>
              </a:defRPr>
            </a:lvl5pPr>
            <a:lvl6pPr algn="ctr">
              <a:buNone/>
              <a:defRPr sz="1800" b="1" i="0">
                <a:solidFill>
                  <a:srgbClr val="0D6F73"/>
                </a:solidFill>
                <a:latin typeface="Calibri"/>
                <a:ea typeface="Calibri"/>
                <a:cs typeface="Calibri"/>
              </a:defRPr>
            </a:lvl6pPr>
            <a:lvl7pPr algn="ctr">
              <a:buNone/>
              <a:defRPr sz="1800" b="1" i="0">
                <a:solidFill>
                  <a:srgbClr val="0D6F73"/>
                </a:solidFill>
                <a:latin typeface="Calibri"/>
                <a:ea typeface="Calibri"/>
                <a:cs typeface="Calibri"/>
              </a:defRPr>
            </a:lvl7pPr>
            <a:lvl8pPr algn="ctr">
              <a:buNone/>
              <a:defRPr sz="1800" b="1" i="0">
                <a:solidFill>
                  <a:srgbClr val="0D6F73"/>
                </a:solidFill>
                <a:latin typeface="Calibri"/>
                <a:ea typeface="Calibri"/>
                <a:cs typeface="Calibri"/>
              </a:defRPr>
            </a:lvl8pPr>
            <a:lvl9pPr algn="ctr">
              <a:buNone/>
              <a:defRPr sz="1800" b="1" i="0">
                <a:solidFill>
                  <a:srgbClr val="0D6F73"/>
                </a:solidFill>
                <a:latin typeface="Calibri"/>
                <a:ea typeface="Calibri"/>
                <a:cs typeface="Calibri"/>
              </a:defRPr>
            </a:lvl9pPr>
          </a:lstStyle>
          <a:p xmlns:a="http://schemas.openxmlformats.org/drawingml/2006/main">
            <a:pPr algn="ctr">
              <a:lnSpc>
                <a:spcPct val="108000"/>
              </a:lnSpc>
              <a:buNone/>
              <a:defRPr sz="1800" b="1" i="0">
                <a:solidFill>
                  <a:srgbClr val="0D6F73"/>
                </a:solidFill>
                <a:latin typeface="Calibri"/>
                <a:ea typeface="Calibri"/>
                <a:cs typeface="Calibri"/>
              </a:defRPr>
            </a:pPr>
            <a:r>
              <a:rPr sz="1800" b="1" i="0">
                <a:solidFill>
                  <a:srgbClr val="0D6F73"/>
                </a:solidFill>
                <a:latin typeface="Calibri"/>
                <a:ea typeface="Calibri"/>
                <a:cs typeface="Calibri"/>
              </a:rPr>
              <a:t>→</a:t>
            </a:r>
          </a:p>
        </p:txBody>
      </p:sp>
      <p:sp>
        <p:nvSpPr>
          <p:cNvPr id="15" name="">
            <a:extLst xmlns:a="http://schemas.openxmlformats.org/drawingml/2006/main">
              <a:ext uri="{FF2B5EF4-FFF2-40B4-BE49-F238E27FC236}">
                <a16:creationId xmlns:a16="http://schemas.microsoft.com/office/drawing/2014/main" id="{AF8C1A64-9ECC-4F37-81DD-45FC862885DE}"/>
              </a:ext>
            </a:extLst>
          </p:cNvPr>
          <p:cNvSpPr>
            <a:spLocks xmlns:a="http://schemas.openxmlformats.org/drawingml/2006/main" noGrp="1"/>
          </p:cNvSpPr>
          <p:nvPr/>
        </p:nvSpPr>
        <p:spPr>
          <a:xfrm xmlns:a="http://schemas.openxmlformats.org/drawingml/2006/main">
            <a:off x="5762625" y="1866900"/>
            <a:ext cx="314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51"/>
          </a:bodyPr>
          <a:lstStyle xmlns:a="http://schemas.openxmlformats.org/drawingml/2006/main">
            <a:defPPr algn="ctr">
              <a:defRPr sz="1800" b="1" i="0">
                <a:solidFill>
                  <a:srgbClr val="0D6F73"/>
                </a:solidFill>
                <a:latin typeface="Calibri"/>
                <a:ea typeface="Calibri"/>
                <a:cs typeface="Calibri"/>
              </a:defRPr>
            </a:defPPr>
            <a:lvl1pPr algn="ctr">
              <a:buNone/>
              <a:defRPr sz="1800" b="1" i="0">
                <a:solidFill>
                  <a:srgbClr val="0D6F73"/>
                </a:solidFill>
                <a:latin typeface="Calibri"/>
                <a:ea typeface="Calibri"/>
                <a:cs typeface="Calibri"/>
              </a:defRPr>
            </a:lvl1pPr>
            <a:lvl2pPr algn="ctr">
              <a:buNone/>
              <a:defRPr sz="1800" b="1" i="0">
                <a:solidFill>
                  <a:srgbClr val="0D6F73"/>
                </a:solidFill>
                <a:latin typeface="Calibri"/>
                <a:ea typeface="Calibri"/>
                <a:cs typeface="Calibri"/>
              </a:defRPr>
            </a:lvl2pPr>
            <a:lvl3pPr algn="ctr">
              <a:buNone/>
              <a:defRPr sz="1800" b="1" i="0">
                <a:solidFill>
                  <a:srgbClr val="0D6F73"/>
                </a:solidFill>
                <a:latin typeface="Calibri"/>
                <a:ea typeface="Calibri"/>
                <a:cs typeface="Calibri"/>
              </a:defRPr>
            </a:lvl3pPr>
            <a:lvl4pPr algn="ctr">
              <a:buNone/>
              <a:defRPr sz="1800" b="1" i="0">
                <a:solidFill>
                  <a:srgbClr val="0D6F73"/>
                </a:solidFill>
                <a:latin typeface="Calibri"/>
                <a:ea typeface="Calibri"/>
                <a:cs typeface="Calibri"/>
              </a:defRPr>
            </a:lvl4pPr>
            <a:lvl5pPr algn="ctr">
              <a:buNone/>
              <a:defRPr sz="1800" b="1" i="0">
                <a:solidFill>
                  <a:srgbClr val="0D6F73"/>
                </a:solidFill>
                <a:latin typeface="Calibri"/>
                <a:ea typeface="Calibri"/>
                <a:cs typeface="Calibri"/>
              </a:defRPr>
            </a:lvl5pPr>
            <a:lvl6pPr algn="ctr">
              <a:buNone/>
              <a:defRPr sz="1800" b="1" i="0">
                <a:solidFill>
                  <a:srgbClr val="0D6F73"/>
                </a:solidFill>
                <a:latin typeface="Calibri"/>
                <a:ea typeface="Calibri"/>
                <a:cs typeface="Calibri"/>
              </a:defRPr>
            </a:lvl6pPr>
            <a:lvl7pPr algn="ctr">
              <a:buNone/>
              <a:defRPr sz="1800" b="1" i="0">
                <a:solidFill>
                  <a:srgbClr val="0D6F73"/>
                </a:solidFill>
                <a:latin typeface="Calibri"/>
                <a:ea typeface="Calibri"/>
                <a:cs typeface="Calibri"/>
              </a:defRPr>
            </a:lvl7pPr>
            <a:lvl8pPr algn="ctr">
              <a:buNone/>
              <a:defRPr sz="1800" b="1" i="0">
                <a:solidFill>
                  <a:srgbClr val="0D6F73"/>
                </a:solidFill>
                <a:latin typeface="Calibri"/>
                <a:ea typeface="Calibri"/>
                <a:cs typeface="Calibri"/>
              </a:defRPr>
            </a:lvl8pPr>
            <a:lvl9pPr algn="ctr">
              <a:buNone/>
              <a:defRPr sz="1800" b="1" i="0">
                <a:solidFill>
                  <a:srgbClr val="0D6F73"/>
                </a:solidFill>
                <a:latin typeface="Calibri"/>
                <a:ea typeface="Calibri"/>
                <a:cs typeface="Calibri"/>
              </a:defRPr>
            </a:lvl9pPr>
          </a:lstStyle>
          <a:p xmlns:a="http://schemas.openxmlformats.org/drawingml/2006/main">
            <a:pPr algn="ctr">
              <a:lnSpc>
                <a:spcPct val="108000"/>
              </a:lnSpc>
              <a:buNone/>
              <a:defRPr sz="1800" b="1" i="0">
                <a:solidFill>
                  <a:srgbClr val="0D6F73"/>
                </a:solidFill>
                <a:latin typeface="Calibri"/>
                <a:ea typeface="Calibri"/>
                <a:cs typeface="Calibri"/>
              </a:defRPr>
            </a:pPr>
            <a:r>
              <a:rPr sz="1800" b="1" i="0">
                <a:solidFill>
                  <a:srgbClr val="0D6F73"/>
                </a:solidFill>
                <a:latin typeface="Calibri"/>
                <a:ea typeface="Calibri"/>
                <a:cs typeface="Calibri"/>
              </a:rPr>
              <a:t>→</a:t>
            </a:r>
          </a:p>
        </p:txBody>
      </p:sp>
      <p:sp>
        <p:nvSpPr>
          <p:cNvPr id="16" name="">
            <a:extLst xmlns:a="http://schemas.openxmlformats.org/drawingml/2006/main">
              <a:ext uri="{FF2B5EF4-FFF2-40B4-BE49-F238E27FC236}">
                <a16:creationId xmlns:a16="http://schemas.microsoft.com/office/drawing/2014/main" id="{B51ADEFF-B30A-4382-89A9-BC26758BB0BC}"/>
              </a:ext>
            </a:extLst>
          </p:cNvPr>
          <p:cNvSpPr>
            <a:spLocks xmlns:a="http://schemas.openxmlformats.org/drawingml/2006/main" noGrp="1"/>
          </p:cNvSpPr>
          <p:nvPr/>
        </p:nvSpPr>
        <p:spPr>
          <a:xfrm xmlns:a="http://schemas.openxmlformats.org/drawingml/2006/main">
            <a:off x="3371850" y="2638425"/>
            <a:ext cx="36766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i="0">
                <a:solidFill>
                  <a:srgbClr val="263C45"/>
                </a:solidFill>
                <a:latin typeface="Calibri"/>
                <a:ea typeface="Calibri"/>
                <a:cs typeface="Calibri"/>
              </a:defRPr>
            </a:defPPr>
            <a:lvl1pPr algn="ctr">
              <a:buNone/>
              <a:defRPr sz="1125" b="0" i="0">
                <a:solidFill>
                  <a:srgbClr val="263C45"/>
                </a:solidFill>
                <a:latin typeface="Calibri"/>
                <a:ea typeface="Calibri"/>
                <a:cs typeface="Calibri"/>
              </a:defRPr>
            </a:lvl1pPr>
            <a:lvl2pPr algn="ctr">
              <a:buNone/>
              <a:defRPr sz="1125" b="0" i="0">
                <a:solidFill>
                  <a:srgbClr val="263C45"/>
                </a:solidFill>
                <a:latin typeface="Calibri"/>
                <a:ea typeface="Calibri"/>
                <a:cs typeface="Calibri"/>
              </a:defRPr>
            </a:lvl2pPr>
            <a:lvl3pPr algn="ctr">
              <a:buNone/>
              <a:defRPr sz="1125" b="0" i="0">
                <a:solidFill>
                  <a:srgbClr val="263C45"/>
                </a:solidFill>
                <a:latin typeface="Calibri"/>
                <a:ea typeface="Calibri"/>
                <a:cs typeface="Calibri"/>
              </a:defRPr>
            </a:lvl3pPr>
            <a:lvl4pPr algn="ctr">
              <a:buNone/>
              <a:defRPr sz="1125" b="0" i="0">
                <a:solidFill>
                  <a:srgbClr val="263C45"/>
                </a:solidFill>
                <a:latin typeface="Calibri"/>
                <a:ea typeface="Calibri"/>
                <a:cs typeface="Calibri"/>
              </a:defRPr>
            </a:lvl4pPr>
            <a:lvl5pPr algn="ctr">
              <a:buNone/>
              <a:defRPr sz="1125" b="0" i="0">
                <a:solidFill>
                  <a:srgbClr val="263C45"/>
                </a:solidFill>
                <a:latin typeface="Calibri"/>
                <a:ea typeface="Calibri"/>
                <a:cs typeface="Calibri"/>
              </a:defRPr>
            </a:lvl5pPr>
            <a:lvl6pPr algn="ctr">
              <a:buNone/>
              <a:defRPr sz="1125" b="0" i="0">
                <a:solidFill>
                  <a:srgbClr val="263C45"/>
                </a:solidFill>
                <a:latin typeface="Calibri"/>
                <a:ea typeface="Calibri"/>
                <a:cs typeface="Calibri"/>
              </a:defRPr>
            </a:lvl6pPr>
            <a:lvl7pPr algn="ctr">
              <a:buNone/>
              <a:defRPr sz="1125" b="0" i="0">
                <a:solidFill>
                  <a:srgbClr val="263C45"/>
                </a:solidFill>
                <a:latin typeface="Calibri"/>
                <a:ea typeface="Calibri"/>
                <a:cs typeface="Calibri"/>
              </a:defRPr>
            </a:lvl7pPr>
            <a:lvl8pPr algn="ctr">
              <a:buNone/>
              <a:defRPr sz="1125" b="0" i="0">
                <a:solidFill>
                  <a:srgbClr val="263C45"/>
                </a:solidFill>
                <a:latin typeface="Calibri"/>
                <a:ea typeface="Calibri"/>
                <a:cs typeface="Calibri"/>
              </a:defRPr>
            </a:lvl8pPr>
            <a:lvl9pPr algn="ctr">
              <a:buNone/>
              <a:defRPr sz="1125" b="0" i="0">
                <a:solidFill>
                  <a:srgbClr val="263C45"/>
                </a:solidFill>
                <a:latin typeface="Calibri"/>
                <a:ea typeface="Calibri"/>
                <a:cs typeface="Calibri"/>
              </a:defRPr>
            </a:lvl9pPr>
          </a:lstStyle>
          <a:p xmlns:a="http://schemas.openxmlformats.org/drawingml/2006/main">
            <a:pPr algn="ctr">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Overall risk also considers rhythm severity and a rule-based blood-pressure trend.</a:t>
            </a:r>
          </a:p>
        </p:txBody>
      </p:sp>
      <p:sp>
        <p:nvSpPr>
          <p:cNvPr id="17" name="">
            <a:extLst xmlns:a="http://schemas.openxmlformats.org/drawingml/2006/main">
              <a:ext uri="{FF2B5EF4-FFF2-40B4-BE49-F238E27FC236}">
                <a16:creationId xmlns:a16="http://schemas.microsoft.com/office/drawing/2014/main" id="{9646A9A8-CF52-40BC-A3D2-B2CBD2BFF7F2}"/>
              </a:ext>
            </a:extLst>
          </p:cNvPr>
          <p:cNvSpPr>
            <a:spLocks xmlns:a="http://schemas.openxmlformats.org/drawingml/2006/main" noGrp="1"/>
          </p:cNvSpPr>
          <p:nvPr/>
        </p:nvSpPr>
        <p:spPr>
          <a:xfrm xmlns:a="http://schemas.openxmlformats.org/drawingml/2006/main">
            <a:off x="3381375" y="3400425"/>
            <a:ext cx="857250" cy="333375"/>
          </a:xfrm>
          <a:prstGeom xmlns:a="http://schemas.openxmlformats.org/drawingml/2006/main" prst="roundRect">
            <a:avLst>
              <a:gd name="adj" fmla="val 17143"/>
            </a:avLst>
          </a:prstGeom>
          <a:solidFill xmlns:a="http://schemas.openxmlformats.org/drawingml/2006/main">
            <a:srgbClr val="4D8A68"/>
          </a:solidFill>
          <a:ln xmlns:a="http://schemas.openxmlformats.org/drawingml/2006/main" w="11430">
            <a:solidFill>
              <a:srgbClr val="4D8A68"/>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LOW</a:t>
            </a:r>
          </a:p>
        </p:txBody>
      </p:sp>
      <p:sp>
        <p:nvSpPr>
          <p:cNvPr id="18" name="">
            <a:extLst xmlns:a="http://schemas.openxmlformats.org/drawingml/2006/main">
              <a:ext uri="{FF2B5EF4-FFF2-40B4-BE49-F238E27FC236}">
                <a16:creationId xmlns:a16="http://schemas.microsoft.com/office/drawing/2014/main" id="{4FC36598-BB2F-4CAC-9E55-665312CF554D}"/>
              </a:ext>
            </a:extLst>
          </p:cNvPr>
          <p:cNvSpPr>
            <a:spLocks xmlns:a="http://schemas.openxmlformats.org/drawingml/2006/main" noGrp="1"/>
          </p:cNvSpPr>
          <p:nvPr/>
        </p:nvSpPr>
        <p:spPr>
          <a:xfrm xmlns:a="http://schemas.openxmlformats.org/drawingml/2006/main">
            <a:off x="4314825" y="3400425"/>
            <a:ext cx="857250" cy="333375"/>
          </a:xfrm>
          <a:prstGeom xmlns:a="http://schemas.openxmlformats.org/drawingml/2006/main" prst="roundRect">
            <a:avLst>
              <a:gd name="adj" fmla="val 17143"/>
            </a:avLst>
          </a:prstGeom>
          <a:solidFill xmlns:a="http://schemas.openxmlformats.org/drawingml/2006/main">
            <a:srgbClr val="D99A37"/>
          </a:solidFill>
          <a:ln xmlns:a="http://schemas.openxmlformats.org/drawingml/2006/main" w="11430">
            <a:solidFill>
              <a:srgbClr val="D99A37"/>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MODERATE</a:t>
            </a:r>
          </a:p>
        </p:txBody>
      </p:sp>
      <p:sp>
        <p:nvSpPr>
          <p:cNvPr id="19" name="">
            <a:extLst xmlns:a="http://schemas.openxmlformats.org/drawingml/2006/main">
              <a:ext uri="{FF2B5EF4-FFF2-40B4-BE49-F238E27FC236}">
                <a16:creationId xmlns:a16="http://schemas.microsoft.com/office/drawing/2014/main" id="{B79BCAA0-EA1E-4EC0-97AA-EE327D0C5C4C}"/>
              </a:ext>
            </a:extLst>
          </p:cNvPr>
          <p:cNvSpPr>
            <a:spLocks xmlns:a="http://schemas.openxmlformats.org/drawingml/2006/main" noGrp="1"/>
          </p:cNvSpPr>
          <p:nvPr/>
        </p:nvSpPr>
        <p:spPr>
          <a:xfrm xmlns:a="http://schemas.openxmlformats.org/drawingml/2006/main">
            <a:off x="5248275" y="3400425"/>
            <a:ext cx="857250" cy="333375"/>
          </a:xfrm>
          <a:prstGeom xmlns:a="http://schemas.openxmlformats.org/drawingml/2006/main" prst="roundRect">
            <a:avLst>
              <a:gd name="adj" fmla="val 17143"/>
            </a:avLst>
          </a:prstGeom>
          <a:solidFill xmlns:a="http://schemas.openxmlformats.org/drawingml/2006/main">
            <a:srgbClr val="D86F42"/>
          </a:solidFill>
          <a:ln xmlns:a="http://schemas.openxmlformats.org/drawingml/2006/main" w="11430">
            <a:solidFill>
              <a:srgbClr val="D86F42"/>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HIGH</a:t>
            </a:r>
          </a:p>
        </p:txBody>
      </p:sp>
      <p:sp>
        <p:nvSpPr>
          <p:cNvPr id="20" name="">
            <a:extLst xmlns:a="http://schemas.openxmlformats.org/drawingml/2006/main">
              <a:ext uri="{FF2B5EF4-FFF2-40B4-BE49-F238E27FC236}">
                <a16:creationId xmlns:a16="http://schemas.microsoft.com/office/drawing/2014/main" id="{C59B1DAC-FC48-48DF-B779-8ABA61EC1D39}"/>
              </a:ext>
            </a:extLst>
          </p:cNvPr>
          <p:cNvSpPr>
            <a:spLocks xmlns:a="http://schemas.openxmlformats.org/drawingml/2006/main" noGrp="1"/>
          </p:cNvSpPr>
          <p:nvPr/>
        </p:nvSpPr>
        <p:spPr>
          <a:xfrm xmlns:a="http://schemas.openxmlformats.org/drawingml/2006/main">
            <a:off x="6181725" y="3400425"/>
            <a:ext cx="857250" cy="333375"/>
          </a:xfrm>
          <a:prstGeom xmlns:a="http://schemas.openxmlformats.org/drawingml/2006/main" prst="roundRect">
            <a:avLst>
              <a:gd name="adj" fmla="val 17143"/>
            </a:avLst>
          </a:prstGeom>
          <a:solidFill xmlns:a="http://schemas.openxmlformats.org/drawingml/2006/main">
            <a:srgbClr val="B94B4B"/>
          </a:solidFill>
          <a:ln xmlns:a="http://schemas.openxmlformats.org/drawingml/2006/main" w="11430">
            <a:solidFill>
              <a:srgbClr val="B94B4B"/>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CRITICAL</a:t>
            </a:r>
          </a:p>
        </p:txBody>
      </p:sp>
      <p:sp>
        <p:nvSpPr>
          <p:cNvPr id="21" name="">
            <a:extLst xmlns:a="http://schemas.openxmlformats.org/drawingml/2006/main">
              <a:ext uri="{FF2B5EF4-FFF2-40B4-BE49-F238E27FC236}">
                <a16:creationId xmlns:a16="http://schemas.microsoft.com/office/drawing/2014/main" id="{5D07034D-B205-4236-A0FF-A820B9859699}"/>
              </a:ext>
            </a:extLst>
          </p:cNvPr>
          <p:cNvSpPr>
            <a:spLocks xmlns:a="http://schemas.openxmlformats.org/drawingml/2006/main" noGrp="1"/>
          </p:cNvSpPr>
          <p:nvPr/>
        </p:nvSpPr>
        <p:spPr>
          <a:xfrm xmlns:a="http://schemas.openxmlformats.org/drawingml/2006/main">
            <a:off x="971550" y="4105275"/>
            <a:ext cx="5553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i="0">
                <a:solidFill>
                  <a:srgbClr val="B8404A"/>
                </a:solidFill>
                <a:latin typeface="Calibri"/>
                <a:ea typeface="Calibri"/>
                <a:cs typeface="Calibri"/>
              </a:defRPr>
            </a:defPPr>
            <a:lvl1pPr algn="ctr">
              <a:buNone/>
              <a:defRPr sz="1425" b="1" i="0">
                <a:solidFill>
                  <a:srgbClr val="B94B4B"/>
                </a:solidFill>
                <a:latin typeface="Calibri"/>
                <a:ea typeface="Calibri"/>
                <a:cs typeface="Calibri"/>
              </a:defRPr>
            </a:lvl1pPr>
            <a:lvl2pPr algn="ctr">
              <a:buNone/>
              <a:defRPr sz="1425" b="1" i="0">
                <a:solidFill>
                  <a:srgbClr val="B94B4B"/>
                </a:solidFill>
                <a:latin typeface="Calibri"/>
                <a:ea typeface="Calibri"/>
                <a:cs typeface="Calibri"/>
              </a:defRPr>
            </a:lvl2pPr>
            <a:lvl3pPr algn="ctr">
              <a:buNone/>
              <a:defRPr sz="1425" b="1" i="0">
                <a:solidFill>
                  <a:srgbClr val="B94B4B"/>
                </a:solidFill>
                <a:latin typeface="Calibri"/>
                <a:ea typeface="Calibri"/>
                <a:cs typeface="Calibri"/>
              </a:defRPr>
            </a:lvl3pPr>
            <a:lvl4pPr algn="ctr">
              <a:buNone/>
              <a:defRPr sz="1425" b="1" i="0">
                <a:solidFill>
                  <a:srgbClr val="B94B4B"/>
                </a:solidFill>
                <a:latin typeface="Calibri"/>
                <a:ea typeface="Calibri"/>
                <a:cs typeface="Calibri"/>
              </a:defRPr>
            </a:lvl4pPr>
            <a:lvl5pPr algn="ctr">
              <a:buNone/>
              <a:defRPr sz="1425" b="1" i="0">
                <a:solidFill>
                  <a:srgbClr val="B94B4B"/>
                </a:solidFill>
                <a:latin typeface="Calibri"/>
                <a:ea typeface="Calibri"/>
                <a:cs typeface="Calibri"/>
              </a:defRPr>
            </a:lvl5pPr>
            <a:lvl6pPr algn="ctr">
              <a:buNone/>
              <a:defRPr sz="1425" b="1" i="0">
                <a:solidFill>
                  <a:srgbClr val="B94B4B"/>
                </a:solidFill>
                <a:latin typeface="Calibri"/>
                <a:ea typeface="Calibri"/>
                <a:cs typeface="Calibri"/>
              </a:defRPr>
            </a:lvl6pPr>
            <a:lvl7pPr algn="ctr">
              <a:buNone/>
              <a:defRPr sz="1425" b="1" i="0">
                <a:solidFill>
                  <a:srgbClr val="B94B4B"/>
                </a:solidFill>
                <a:latin typeface="Calibri"/>
                <a:ea typeface="Calibri"/>
                <a:cs typeface="Calibri"/>
              </a:defRPr>
            </a:lvl7pPr>
            <a:lvl8pPr algn="ctr">
              <a:buNone/>
              <a:defRPr sz="1425" b="1" i="0">
                <a:solidFill>
                  <a:srgbClr val="B94B4B"/>
                </a:solidFill>
                <a:latin typeface="Calibri"/>
                <a:ea typeface="Calibri"/>
                <a:cs typeface="Calibri"/>
              </a:defRPr>
            </a:lvl8pPr>
            <a:lvl9pPr algn="ctr">
              <a:buNone/>
              <a:defRPr sz="1425" b="1" i="0">
                <a:solidFill>
                  <a:srgbClr val="B94B4B"/>
                </a:solidFill>
                <a:latin typeface="Calibri"/>
                <a:ea typeface="Calibri"/>
                <a:cs typeface="Calibri"/>
              </a:defRPr>
            </a:lvl9pPr>
          </a:lstStyle>
          <a:p xmlns:a="http://schemas.openxmlformats.org/drawingml/2006/main">
            <a:pPr algn="ctr">
              <a:lnSpc>
                <a:spcPct val="108000"/>
              </a:lnSpc>
              <a:buNone/>
              <a:defRPr sz="1425" b="1" i="0">
                <a:solidFill>
                  <a:srgbClr val="B94B4B"/>
                </a:solidFill>
                <a:latin typeface="Calibri"/>
                <a:ea typeface="Calibri"/>
                <a:cs typeface="Calibri"/>
              </a:defRPr>
            </a:pPr>
            <a:r>
              <a:rPr sz="1350" b="1" i="0">
                <a:solidFill>
                  <a:srgbClr val="B8404A"/>
                </a:solidFill>
                <a:latin typeface="Calibri"/>
                <a:ea typeface="Calibri"/>
                <a:cs typeface="Calibri"/>
              </a:rPr>
              <a:t>A rule score is not a clinically validated event probability.</a:t>
            </a:r>
          </a:p>
        </p:txBody>
      </p:sp>
    </p:spTree>
    <p:extLst>
      <p:ext uri="{BB962C8B-B14F-4D97-AF65-F5344CB8AC3E}">
        <p14:creationId xmlns:p14="http://schemas.microsoft.com/office/powerpoint/2010/main" val="673106505"/>
      </p:ext>
    </p:extLst>
  </p:cSld>
</p:sld>
</file>

<file path=ppt/slides/slide7.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8FF98B8-AD26-4517-BB4A-2BA2C57AD20E}"/>
              </a:ext>
            </a:extLst>
          </p:cNvPr>
          <p:cNvPicPr>
            <a:picLocks xmlns:a="http://schemas.openxmlformats.org/drawingml/2006/main" noChangeAspect="1"/>
          </p:cNvPicPr>
          <p:nvPr/>
        </p:nvPicPr>
        <p:blipFill>
          <a:blip xmlns:r="http://schemas.openxmlformats.org/officeDocument/2006/relationships" xmlns:a="http://schemas.openxmlformats.org/drawingml/2006/main" r:embed="R6fe5b4dcf7b3463c"/>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D897124-6B8E-4CC0-9A21-C0CABC2B4540}"/>
              </a:ext>
            </a:extLst>
          </p:cNvPr>
          <p:cNvSpPr>
            <a:spLocks xmlns:a="http://schemas.openxmlformats.org/drawingml/2006/main" noGrp="1"/>
          </p:cNvSpPr>
          <p:nvPr/>
        </p:nvSpPr>
        <p:spPr>
          <a:xfrm xmlns:a="http://schemas.openxmlformats.org/drawingml/2006/main">
            <a:off x="361950" y="1381125"/>
            <a:ext cx="3257550" cy="2333625"/>
          </a:xfrm>
          <a:prstGeom xmlns:a="http://schemas.openxmlformats.org/drawingml/2006/main" prst="roundRect">
            <a:avLst>
              <a:gd name="adj" fmla="val 6122"/>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5FC2AE5-46AD-40F7-9561-154E5DDBC3D0}"/>
              </a:ext>
            </a:extLst>
          </p:cNvPr>
          <p:cNvSpPr>
            <a:spLocks xmlns:a="http://schemas.openxmlformats.org/drawingml/2006/main" noGrp="1"/>
          </p:cNvSpPr>
          <p:nvPr/>
        </p:nvSpPr>
        <p:spPr>
          <a:xfrm xmlns:a="http://schemas.openxmlformats.org/drawingml/2006/main">
            <a:off x="361950" y="1400175"/>
            <a:ext cx="47625" cy="229552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4FF9CC-2C82-49BC-B11F-8DB33D13B109}"/>
              </a:ext>
            </a:extLst>
          </p:cNvPr>
          <p:cNvSpPr>
            <a:spLocks xmlns:a="http://schemas.openxmlformats.org/drawingml/2006/main" noGrp="1"/>
          </p:cNvSpPr>
          <p:nvPr/>
        </p:nvSpPr>
        <p:spPr>
          <a:xfrm xmlns:a="http://schemas.openxmlformats.org/drawingml/2006/main">
            <a:off x="3829050" y="1381125"/>
            <a:ext cx="3286125" cy="2333625"/>
          </a:xfrm>
          <a:prstGeom xmlns:a="http://schemas.openxmlformats.org/drawingml/2006/main" prst="roundRect">
            <a:avLst>
              <a:gd name="adj" fmla="val 6122"/>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95269C15-7DB7-4453-90A4-92652A8735AA}"/>
              </a:ext>
            </a:extLst>
          </p:cNvPr>
          <p:cNvSpPr>
            <a:spLocks xmlns:a="http://schemas.openxmlformats.org/drawingml/2006/main" noGrp="1"/>
          </p:cNvSpPr>
          <p:nvPr/>
        </p:nvSpPr>
        <p:spPr>
          <a:xfrm xmlns:a="http://schemas.openxmlformats.org/drawingml/2006/main">
            <a:off x="3829050" y="1400175"/>
            <a:ext cx="47625" cy="2295525"/>
          </a:xfrm>
          <a:prstGeom xmlns:a="http://schemas.openxmlformats.org/drawingml/2006/main" prst="roundRect">
            <a:avLst>
              <a:gd name="adj" fmla="val 50000"/>
            </a:avLst>
          </a:prstGeom>
          <a:solidFill xmlns:a="http://schemas.openxmlformats.org/drawingml/2006/main">
            <a:srgbClr val="C78A2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8FEE5E5-5F47-4F35-B5B4-AAD5A4FACC92}"/>
              </a:ext>
            </a:extLst>
          </p:cNvPr>
          <p:cNvSpPr>
            <a:spLocks xmlns:a="http://schemas.openxmlformats.org/drawingml/2006/main" noGrp="1"/>
          </p:cNvSpPr>
          <p:nvPr/>
        </p:nvSpPr>
        <p:spPr>
          <a:xfrm xmlns:a="http://schemas.openxmlformats.org/drawingml/2006/main">
            <a:off x="714375" y="3943350"/>
            <a:ext cx="6076950" cy="647700"/>
          </a:xfrm>
          <a:prstGeom xmlns:a="http://schemas.openxmlformats.org/drawingml/2006/main" prst="roundRect">
            <a:avLst>
              <a:gd name="adj" fmla="val 22059"/>
            </a:avLst>
          </a:prstGeom>
          <a:solidFill xmlns:a="http://schemas.openxmlformats.org/drawingml/2006/main">
            <a:srgbClr val="FFF0ED"/>
          </a:solidFill>
          <a:ln xmlns:a="http://schemas.openxmlformats.org/drawingml/2006/main" w="9525">
            <a:solidFill>
              <a:srgbClr val="F1C6BC"/>
            </a:solidFill>
            <a:prstDash val="solid"/>
          </a:ln>
        </p:spPr>
      </p:sp>
      <p:sp>
        <p:nvSpPr>
          <p:cNvPr id="20" name="">
            <a:extLst xmlns:a="http://schemas.openxmlformats.org/drawingml/2006/main">
              <a:ext uri="{FF2B5EF4-FFF2-40B4-BE49-F238E27FC236}">
                <a16:creationId xmlns:a16="http://schemas.microsoft.com/office/drawing/2014/main" id="{9B0F97BC-04AE-417E-9FAC-FA4F5FD7931A}"/>
              </a:ext>
            </a:extLst>
          </p:cNvPr>
          <p:cNvSpPr>
            <a:spLocks xmlns:a="http://schemas.openxmlformats.org/drawingml/2006/main" noGrp="1"/>
          </p:cNvSpPr>
          <p:nvPr/>
        </p:nvSpPr>
        <p:spPr>
          <a:xfrm xmlns:a="http://schemas.openxmlformats.org/drawingml/2006/main">
            <a:off x="714375" y="3943350"/>
            <a:ext cx="57150" cy="647700"/>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462F96-89C9-4FFE-80FF-872190535A0B}"/>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The ML trainer is separate from the live API</a:t>
            </a:r>
          </a:p>
        </p:txBody>
      </p:sp>
      <p:sp>
        <p:nvSpPr>
          <p:cNvPr id="2" name="">
            <a:extLst xmlns:a="http://schemas.openxmlformats.org/drawingml/2006/main">
              <a:ext uri="{FF2B5EF4-FFF2-40B4-BE49-F238E27FC236}">
                <a16:creationId xmlns:a16="http://schemas.microsoft.com/office/drawing/2014/main" id="{B01DB060-2379-4732-BDDD-D608DE908BF8}"/>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BED530C4-DFCF-43E7-95BC-3515581919F0}"/>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This distinction matters when describing model capability and validation.</a:t>
            </a:r>
          </a:p>
        </p:txBody>
      </p:sp>
      <p:sp>
        <p:nvSpPr>
          <p:cNvPr id="4" name="">
            <a:extLst xmlns:a="http://schemas.openxmlformats.org/drawingml/2006/main">
              <a:ext uri="{FF2B5EF4-FFF2-40B4-BE49-F238E27FC236}">
                <a16:creationId xmlns:a16="http://schemas.microsoft.com/office/drawing/2014/main" id="{1536D76E-CEE6-48CD-9179-B7FA718DD884}"/>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412C3F19-176A-4082-88C2-29648149350D}"/>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F8F81D1E-F208-4DEE-A5AB-0482B4E15F5B}"/>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07</a:t>
            </a:r>
          </a:p>
        </p:txBody>
      </p:sp>
      <p:sp>
        <p:nvSpPr>
          <p:cNvPr id="7" name="">
            <a:extLst xmlns:a="http://schemas.openxmlformats.org/drawingml/2006/main">
              <a:ext uri="{FF2B5EF4-FFF2-40B4-BE49-F238E27FC236}">
                <a16:creationId xmlns:a16="http://schemas.microsoft.com/office/drawing/2014/main" id="{486FBCC4-D365-4CCF-BD0B-C4A37E89EB4F}"/>
              </a:ext>
            </a:extLst>
          </p:cNvPr>
          <p:cNvSpPr>
            <a:spLocks xmlns:a="http://schemas.openxmlformats.org/drawingml/2006/main" noGrp="1"/>
          </p:cNvSpPr>
          <p:nvPr/>
        </p:nvSpPr>
        <p:spPr>
          <a:xfrm xmlns:a="http://schemas.openxmlformats.org/drawingml/2006/main">
            <a:off x="533400"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087E83"/>
                </a:solidFill>
                <a:latin typeface="Calibri"/>
                <a:ea typeface="Calibri"/>
                <a:cs typeface="Calibri"/>
              </a:defRPr>
            </a:defPPr>
            <a:lvl1pPr algn="l">
              <a:buNone/>
              <a:defRPr sz="1050" b="1" i="0">
                <a:solidFill>
                  <a:srgbClr val="0D6F73"/>
                </a:solidFill>
                <a:latin typeface="Calibri"/>
                <a:ea typeface="Calibri"/>
                <a:cs typeface="Calibri"/>
              </a:defRPr>
            </a:lvl1pPr>
            <a:lvl2pPr algn="l">
              <a:buNone/>
              <a:defRPr sz="1050" b="1" i="0">
                <a:solidFill>
                  <a:srgbClr val="0D6F73"/>
                </a:solidFill>
                <a:latin typeface="Calibri"/>
                <a:ea typeface="Calibri"/>
                <a:cs typeface="Calibri"/>
              </a:defRPr>
            </a:lvl2pPr>
            <a:lvl3pPr algn="l">
              <a:buNone/>
              <a:defRPr sz="1050" b="1" i="0">
                <a:solidFill>
                  <a:srgbClr val="0D6F73"/>
                </a:solidFill>
                <a:latin typeface="Calibri"/>
                <a:ea typeface="Calibri"/>
                <a:cs typeface="Calibri"/>
              </a:defRPr>
            </a:lvl3pPr>
            <a:lvl4pPr algn="l">
              <a:buNone/>
              <a:defRPr sz="1050" b="1" i="0">
                <a:solidFill>
                  <a:srgbClr val="0D6F73"/>
                </a:solidFill>
                <a:latin typeface="Calibri"/>
                <a:ea typeface="Calibri"/>
                <a:cs typeface="Calibri"/>
              </a:defRPr>
            </a:lvl4pPr>
            <a:lvl5pPr algn="l">
              <a:buNone/>
              <a:defRPr sz="1050" b="1" i="0">
                <a:solidFill>
                  <a:srgbClr val="0D6F73"/>
                </a:solidFill>
                <a:latin typeface="Calibri"/>
                <a:ea typeface="Calibri"/>
                <a:cs typeface="Calibri"/>
              </a:defRPr>
            </a:lvl5pPr>
            <a:lvl6pPr algn="l">
              <a:buNone/>
              <a:defRPr sz="1050" b="1" i="0">
                <a:solidFill>
                  <a:srgbClr val="0D6F73"/>
                </a:solidFill>
                <a:latin typeface="Calibri"/>
                <a:ea typeface="Calibri"/>
                <a:cs typeface="Calibri"/>
              </a:defRPr>
            </a:lvl6pPr>
            <a:lvl7pPr algn="l">
              <a:buNone/>
              <a:defRPr sz="1050" b="1" i="0">
                <a:solidFill>
                  <a:srgbClr val="0D6F73"/>
                </a:solidFill>
                <a:latin typeface="Calibri"/>
                <a:ea typeface="Calibri"/>
                <a:cs typeface="Calibri"/>
              </a:defRPr>
            </a:lvl7pPr>
            <a:lvl8pPr algn="l">
              <a:buNone/>
              <a:defRPr sz="1050" b="1" i="0">
                <a:solidFill>
                  <a:srgbClr val="0D6F73"/>
                </a:solidFill>
                <a:latin typeface="Calibri"/>
                <a:ea typeface="Calibri"/>
                <a:cs typeface="Calibri"/>
              </a:defRPr>
            </a:lvl8pPr>
            <a:lvl9pPr algn="l">
              <a:buNone/>
              <a:defRPr sz="1050" b="1" i="0">
                <a:solidFill>
                  <a:srgbClr val="0D6F73"/>
                </a:solidFill>
                <a:latin typeface="Calibri"/>
                <a:ea typeface="Calibri"/>
                <a:cs typeface="Calibri"/>
              </a:defRPr>
            </a:lvl9pPr>
          </a:lstStyle>
          <a:p xmlns:a="http://schemas.openxmlformats.org/drawingml/2006/main">
            <a:pPr algn="l">
              <a:lnSpc>
                <a:spcPct val="108000"/>
              </a:lnSpc>
              <a:buNone/>
              <a:defRPr sz="1050" b="1" i="0">
                <a:solidFill>
                  <a:srgbClr val="0D6F73"/>
                </a:solidFill>
                <a:latin typeface="Calibri"/>
                <a:ea typeface="Calibri"/>
                <a:cs typeface="Calibri"/>
              </a:defRPr>
            </a:pPr>
            <a:r>
              <a:rPr sz="1125" b="1" i="0">
                <a:solidFill>
                  <a:srgbClr val="087E83"/>
                </a:solidFill>
                <a:latin typeface="Calibri"/>
                <a:ea typeface="Calibri"/>
                <a:cs typeface="Calibri"/>
              </a:rPr>
              <a:t>LIVE API PATH</a:t>
            </a:r>
          </a:p>
        </p:txBody>
      </p:sp>
      <p:sp>
        <p:nvSpPr>
          <p:cNvPr id="8" name="">
            <a:extLst xmlns:a="http://schemas.openxmlformats.org/drawingml/2006/main">
              <a:ext uri="{FF2B5EF4-FFF2-40B4-BE49-F238E27FC236}">
                <a16:creationId xmlns:a16="http://schemas.microsoft.com/office/drawing/2014/main" id="{A7FF200C-5646-46FF-BC5E-D32F0AB36316}"/>
              </a:ext>
            </a:extLst>
          </p:cNvPr>
          <p:cNvSpPr>
            <a:spLocks xmlns:a="http://schemas.openxmlformats.org/drawingml/2006/main" noGrp="1"/>
          </p:cNvSpPr>
          <p:nvPr/>
        </p:nvSpPr>
        <p:spPr>
          <a:xfrm xmlns:a="http://schemas.openxmlformats.org/drawingml/2006/main">
            <a:off x="533400" y="1828800"/>
            <a:ext cx="28384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34D59"/>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Banded risk points</a:t>
            </a:r>
          </a:p>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Heart-rate / ECG labels</a:t>
            </a:r>
          </a:p>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Blood-pressure trend thresholds</a:t>
            </a:r>
          </a:p>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Immediate vital-sign alert rules</a:t>
            </a:r>
          </a:p>
        </p:txBody>
      </p:sp>
      <p:sp>
        <p:nvSpPr>
          <p:cNvPr id="9" name="">
            <a:extLst xmlns:a="http://schemas.openxmlformats.org/drawingml/2006/main">
              <a:ext uri="{FF2B5EF4-FFF2-40B4-BE49-F238E27FC236}">
                <a16:creationId xmlns:a16="http://schemas.microsoft.com/office/drawing/2014/main" id="{56E23DA9-E368-4995-8256-A45C4947BD83}"/>
              </a:ext>
            </a:extLst>
          </p:cNvPr>
          <p:cNvSpPr>
            <a:spLocks xmlns:a="http://schemas.openxmlformats.org/drawingml/2006/main" noGrp="1"/>
          </p:cNvSpPr>
          <p:nvPr/>
        </p:nvSpPr>
        <p:spPr>
          <a:xfrm xmlns:a="http://schemas.openxmlformats.org/drawingml/2006/main" flipH="0" flipV="0">
            <a:off x="3733800" y="1447800"/>
            <a:ext cx="4763" cy="2466975"/>
          </a:xfrm>
          <a:prstGeom xmlns:a="http://schemas.openxmlformats.org/drawingml/2006/main" prst="line">
            <a:avLst/>
          </a:prstGeom>
          <a:noFill xmlns:a="http://schemas.openxmlformats.org/drawingml/2006/main"/>
          <a:ln xmlns:a="http://schemas.openxmlformats.org/drawingml/2006/main" w="11430">
            <a:solidFill>
              <a:srgbClr val="C7D8D8"/>
            </a:solidFill>
            <a:prstDash val="solid"/>
          </a:ln>
        </p:spPr>
      </p:sp>
      <p:sp>
        <p:nvSpPr>
          <p:cNvPr id="10" name="">
            <a:extLst xmlns:a="http://schemas.openxmlformats.org/drawingml/2006/main">
              <a:ext uri="{FF2B5EF4-FFF2-40B4-BE49-F238E27FC236}">
                <a16:creationId xmlns:a16="http://schemas.microsoft.com/office/drawing/2014/main" id="{F7D8D3C3-401A-4219-AF72-CC5C545B2FA7}"/>
              </a:ext>
            </a:extLst>
          </p:cNvPr>
          <p:cNvSpPr>
            <a:spLocks xmlns:a="http://schemas.openxmlformats.org/drawingml/2006/main" noGrp="1"/>
          </p:cNvSpPr>
          <p:nvPr/>
        </p:nvSpPr>
        <p:spPr>
          <a:xfrm xmlns:a="http://schemas.openxmlformats.org/drawingml/2006/main">
            <a:off x="4057650" y="14382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BD7B25"/>
                </a:solidFill>
                <a:latin typeface="Calibri"/>
                <a:ea typeface="Calibri"/>
                <a:cs typeface="Calibri"/>
              </a:defRPr>
            </a:defPPr>
            <a:lvl1pPr algn="l">
              <a:buNone/>
              <a:defRPr sz="1050" b="1" i="0">
                <a:solidFill>
                  <a:srgbClr val="0D6F73"/>
                </a:solidFill>
                <a:latin typeface="Calibri"/>
                <a:ea typeface="Calibri"/>
                <a:cs typeface="Calibri"/>
              </a:defRPr>
            </a:lvl1pPr>
            <a:lvl2pPr algn="l">
              <a:buNone/>
              <a:defRPr sz="1050" b="1" i="0">
                <a:solidFill>
                  <a:srgbClr val="0D6F73"/>
                </a:solidFill>
                <a:latin typeface="Calibri"/>
                <a:ea typeface="Calibri"/>
                <a:cs typeface="Calibri"/>
              </a:defRPr>
            </a:lvl2pPr>
            <a:lvl3pPr algn="l">
              <a:buNone/>
              <a:defRPr sz="1050" b="1" i="0">
                <a:solidFill>
                  <a:srgbClr val="0D6F73"/>
                </a:solidFill>
                <a:latin typeface="Calibri"/>
                <a:ea typeface="Calibri"/>
                <a:cs typeface="Calibri"/>
              </a:defRPr>
            </a:lvl3pPr>
            <a:lvl4pPr algn="l">
              <a:buNone/>
              <a:defRPr sz="1050" b="1" i="0">
                <a:solidFill>
                  <a:srgbClr val="0D6F73"/>
                </a:solidFill>
                <a:latin typeface="Calibri"/>
                <a:ea typeface="Calibri"/>
                <a:cs typeface="Calibri"/>
              </a:defRPr>
            </a:lvl4pPr>
            <a:lvl5pPr algn="l">
              <a:buNone/>
              <a:defRPr sz="1050" b="1" i="0">
                <a:solidFill>
                  <a:srgbClr val="0D6F73"/>
                </a:solidFill>
                <a:latin typeface="Calibri"/>
                <a:ea typeface="Calibri"/>
                <a:cs typeface="Calibri"/>
              </a:defRPr>
            </a:lvl5pPr>
            <a:lvl6pPr algn="l">
              <a:buNone/>
              <a:defRPr sz="1050" b="1" i="0">
                <a:solidFill>
                  <a:srgbClr val="0D6F73"/>
                </a:solidFill>
                <a:latin typeface="Calibri"/>
                <a:ea typeface="Calibri"/>
                <a:cs typeface="Calibri"/>
              </a:defRPr>
            </a:lvl6pPr>
            <a:lvl7pPr algn="l">
              <a:buNone/>
              <a:defRPr sz="1050" b="1" i="0">
                <a:solidFill>
                  <a:srgbClr val="0D6F73"/>
                </a:solidFill>
                <a:latin typeface="Calibri"/>
                <a:ea typeface="Calibri"/>
                <a:cs typeface="Calibri"/>
              </a:defRPr>
            </a:lvl7pPr>
            <a:lvl8pPr algn="l">
              <a:buNone/>
              <a:defRPr sz="1050" b="1" i="0">
                <a:solidFill>
                  <a:srgbClr val="0D6F73"/>
                </a:solidFill>
                <a:latin typeface="Calibri"/>
                <a:ea typeface="Calibri"/>
                <a:cs typeface="Calibri"/>
              </a:defRPr>
            </a:lvl8pPr>
            <a:lvl9pPr algn="l">
              <a:buNone/>
              <a:defRPr sz="1050" b="1" i="0">
                <a:solidFill>
                  <a:srgbClr val="0D6F73"/>
                </a:solidFill>
                <a:latin typeface="Calibri"/>
                <a:ea typeface="Calibri"/>
                <a:cs typeface="Calibri"/>
              </a:defRPr>
            </a:lvl9pPr>
          </a:lstStyle>
          <a:p xmlns:a="http://schemas.openxmlformats.org/drawingml/2006/main">
            <a:pPr algn="l">
              <a:lnSpc>
                <a:spcPct val="108000"/>
              </a:lnSpc>
              <a:buNone/>
              <a:defRPr sz="1050" b="1" i="0">
                <a:solidFill>
                  <a:srgbClr val="0D6F73"/>
                </a:solidFill>
                <a:latin typeface="Calibri"/>
                <a:ea typeface="Calibri"/>
                <a:cs typeface="Calibri"/>
              </a:defRPr>
            </a:pPr>
            <a:r>
              <a:rPr sz="1125" b="1" i="0">
                <a:solidFill>
                  <a:srgbClr val="BD7B25"/>
                </a:solidFill>
                <a:latin typeface="Calibri"/>
                <a:ea typeface="Calibri"/>
                <a:cs typeface="Calibri"/>
              </a:rPr>
              <a:t>OPTIONAL TRAINING UTILITIES</a:t>
            </a:r>
          </a:p>
        </p:txBody>
      </p:sp>
      <p:sp>
        <p:nvSpPr>
          <p:cNvPr id="11" name="">
            <a:extLst xmlns:a="http://schemas.openxmlformats.org/drawingml/2006/main">
              <a:ext uri="{FF2B5EF4-FFF2-40B4-BE49-F238E27FC236}">
                <a16:creationId xmlns:a16="http://schemas.microsoft.com/office/drawing/2014/main" id="{20699F9F-EB45-4FEE-A779-CE980584E744}"/>
              </a:ext>
            </a:extLst>
          </p:cNvPr>
          <p:cNvSpPr>
            <a:spLocks xmlns:a="http://schemas.openxmlformats.org/drawingml/2006/main" noGrp="1"/>
          </p:cNvSpPr>
          <p:nvPr/>
        </p:nvSpPr>
        <p:spPr>
          <a:xfrm xmlns:a="http://schemas.openxmlformats.org/drawingml/2006/main">
            <a:off x="4057650" y="1828800"/>
            <a:ext cx="2924175"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425E67"/>
                </a:solidFill>
                <a:latin typeface="Calibri"/>
                <a:ea typeface="Calibri"/>
                <a:cs typeface="Calibri"/>
              </a:defRPr>
            </a:defPPr>
            <a:lvl1pPr algn="l">
              <a:buNone/>
              <a:defRPr sz="1275" b="0" i="0">
                <a:solidFill>
                  <a:srgbClr val="263C45"/>
                </a:solidFill>
                <a:latin typeface="Calibri"/>
                <a:ea typeface="Calibri"/>
                <a:cs typeface="Calibri"/>
              </a:defRPr>
            </a:lvl1pPr>
            <a:lvl2pPr algn="l">
              <a:buNone/>
              <a:defRPr sz="1275" b="0" i="0">
                <a:solidFill>
                  <a:srgbClr val="263C45"/>
                </a:solidFill>
                <a:latin typeface="Calibri"/>
                <a:ea typeface="Calibri"/>
                <a:cs typeface="Calibri"/>
              </a:defRPr>
            </a:lvl2pPr>
            <a:lvl3pPr algn="l">
              <a:buNone/>
              <a:defRPr sz="1275" b="0" i="0">
                <a:solidFill>
                  <a:srgbClr val="263C45"/>
                </a:solidFill>
                <a:latin typeface="Calibri"/>
                <a:ea typeface="Calibri"/>
                <a:cs typeface="Calibri"/>
              </a:defRPr>
            </a:lvl3pPr>
            <a:lvl4pPr algn="l">
              <a:buNone/>
              <a:defRPr sz="1275" b="0" i="0">
                <a:solidFill>
                  <a:srgbClr val="263C45"/>
                </a:solidFill>
                <a:latin typeface="Calibri"/>
                <a:ea typeface="Calibri"/>
                <a:cs typeface="Calibri"/>
              </a:defRPr>
            </a:lvl4pPr>
            <a:lvl5pPr algn="l">
              <a:buNone/>
              <a:defRPr sz="1275" b="0" i="0">
                <a:solidFill>
                  <a:srgbClr val="263C45"/>
                </a:solidFill>
                <a:latin typeface="Calibri"/>
                <a:ea typeface="Calibri"/>
                <a:cs typeface="Calibri"/>
              </a:defRPr>
            </a:lvl5pPr>
            <a:lvl6pPr algn="l">
              <a:buNone/>
              <a:defRPr sz="1275" b="0" i="0">
                <a:solidFill>
                  <a:srgbClr val="263C45"/>
                </a:solidFill>
                <a:latin typeface="Calibri"/>
                <a:ea typeface="Calibri"/>
                <a:cs typeface="Calibri"/>
              </a:defRPr>
            </a:lvl6pPr>
            <a:lvl7pPr algn="l">
              <a:buNone/>
              <a:defRPr sz="1275" b="0" i="0">
                <a:solidFill>
                  <a:srgbClr val="263C45"/>
                </a:solidFill>
                <a:latin typeface="Calibri"/>
                <a:ea typeface="Calibri"/>
                <a:cs typeface="Calibri"/>
              </a:defRPr>
            </a:lvl7pPr>
            <a:lvl8pPr algn="l">
              <a:buNone/>
              <a:defRPr sz="1275" b="0" i="0">
                <a:solidFill>
                  <a:srgbClr val="263C45"/>
                </a:solidFill>
                <a:latin typeface="Calibri"/>
                <a:ea typeface="Calibri"/>
                <a:cs typeface="Calibri"/>
              </a:defRPr>
            </a:lvl8pPr>
            <a:lvl9pPr algn="l">
              <a:buNone/>
              <a:defRPr sz="1275" b="0" i="0">
                <a:solidFill>
                  <a:srgbClr val="263C45"/>
                </a:solidFill>
                <a:latin typeface="Calibri"/>
                <a:ea typeface="Calibri"/>
                <a:cs typeface="Calibri"/>
              </a:defRPr>
            </a:lvl9pPr>
          </a:lstStyle>
          <a:p xmlns:a="http://schemas.openxmlformats.org/drawingml/2006/main">
            <a:pPr algn="l">
              <a:lnSpc>
                <a:spcPct val="116000"/>
              </a:lnSpc>
              <a:buNone/>
              <a:defRPr sz="1275" b="0" i="0">
                <a:solidFill>
                  <a:srgbClr val="263C45"/>
                </a:solidFill>
                <a:latin typeface="Calibri"/>
                <a:ea typeface="Calibri"/>
                <a:cs typeface="Calibri"/>
              </a:defRPr>
            </a:pPr>
            <a:r>
              <a:rPr sz="1238" b="0" i="0">
                <a:solidFill>
                  <a:srgbClr val="425E67"/>
                </a:solidFill>
                <a:latin typeface="Calibri"/>
                <a:ea typeface="Calibri"/>
                <a:cs typeface="Calibri"/>
              </a:rPr>
              <a:t>Gradient Boosting is trained by a separate utility on generated patient labels. The labels are derived from simplified score / condition rules; the service does not load this model in its active prediction path.</a:t>
            </a:r>
          </a:p>
        </p:txBody>
      </p:sp>
      <p:sp>
        <p:nvSpPr>
          <p:cNvPr id="12" name="">
            <a:extLst xmlns:a="http://schemas.openxmlformats.org/drawingml/2006/main">
              <a:ext uri="{FF2B5EF4-FFF2-40B4-BE49-F238E27FC236}">
                <a16:creationId xmlns:a16="http://schemas.microsoft.com/office/drawing/2014/main" id="{BE9E6CEA-8D44-4082-B1B1-2E5B2F1B2D96}"/>
              </a:ext>
            </a:extLst>
          </p:cNvPr>
          <p:cNvSpPr>
            <a:spLocks xmlns:a="http://schemas.openxmlformats.org/drawingml/2006/main" noGrp="1"/>
          </p:cNvSpPr>
          <p:nvPr/>
        </p:nvSpPr>
        <p:spPr>
          <a:xfrm xmlns:a="http://schemas.openxmlformats.org/drawingml/2006/main">
            <a:off x="762000" y="4057650"/>
            <a:ext cx="5953125" cy="523875"/>
          </a:xfrm>
          <a:prstGeom xmlns:a="http://schemas.openxmlformats.org/drawingml/2006/main" prst="roundRect">
            <a:avLst>
              <a:gd name="adj" fmla="val 14545"/>
            </a:avLst>
          </a:prstGeom>
          <a:solidFill xmlns:a="http://schemas.openxmlformats.org/drawingml/2006/main">
            <a:srgbClr val="F7EDE2"/>
          </a:solidFill>
          <a:ln xmlns:a="http://schemas.openxmlformats.org/drawingml/2006/main" w="11430">
            <a:solidFill>
              <a:srgbClr val="E7C9A8"/>
            </a:solidFill>
            <a:prstDash val="solid"/>
          </a:ln>
        </p:spPr>
        <p:txBody>
          <a:bodyPr xmlns:a="http://schemas.openxmlformats.org/drawingml/2006/main" wrap="square" lIns="95250" tIns="76200" rIns="95250" bIns="76200" anchor="ctr">
            <a:normAutofit fontScale="95844"/>
          </a:bodyPr>
          <a:lstStyle xmlns:a="http://schemas.openxmlformats.org/drawingml/2006/main">
            <a:defPPr algn="ctr">
              <a:defRPr sz="1275" b="1">
                <a:solidFill>
                  <a:srgbClr val="B8404A"/>
                </a:solidFill>
                <a:latin typeface="Calibri"/>
                <a:ea typeface="Calibri"/>
                <a:cs typeface="Calibri"/>
              </a:defRPr>
            </a:defPPr>
            <a:lvl1pPr algn="ctr">
              <a:buNone/>
              <a:defRPr sz="1275" b="1">
                <a:solidFill>
                  <a:srgbClr val="70491E"/>
                </a:solidFill>
                <a:latin typeface="Calibri"/>
                <a:ea typeface="Calibri"/>
                <a:cs typeface="Calibri"/>
              </a:defRPr>
            </a:lvl1pPr>
            <a:lvl2pPr algn="ctr">
              <a:buNone/>
              <a:defRPr sz="1275" b="1">
                <a:solidFill>
                  <a:srgbClr val="70491E"/>
                </a:solidFill>
                <a:latin typeface="Calibri"/>
                <a:ea typeface="Calibri"/>
                <a:cs typeface="Calibri"/>
              </a:defRPr>
            </a:lvl2pPr>
            <a:lvl3pPr algn="ctr">
              <a:buNone/>
              <a:defRPr sz="1275" b="1">
                <a:solidFill>
                  <a:srgbClr val="70491E"/>
                </a:solidFill>
                <a:latin typeface="Calibri"/>
                <a:ea typeface="Calibri"/>
                <a:cs typeface="Calibri"/>
              </a:defRPr>
            </a:lvl3pPr>
            <a:lvl4pPr algn="ctr">
              <a:buNone/>
              <a:defRPr sz="1275" b="1">
                <a:solidFill>
                  <a:srgbClr val="70491E"/>
                </a:solidFill>
                <a:latin typeface="Calibri"/>
                <a:ea typeface="Calibri"/>
                <a:cs typeface="Calibri"/>
              </a:defRPr>
            </a:lvl4pPr>
            <a:lvl5pPr algn="ctr">
              <a:buNone/>
              <a:defRPr sz="1275" b="1">
                <a:solidFill>
                  <a:srgbClr val="70491E"/>
                </a:solidFill>
                <a:latin typeface="Calibri"/>
                <a:ea typeface="Calibri"/>
                <a:cs typeface="Calibri"/>
              </a:defRPr>
            </a:lvl5pPr>
            <a:lvl6pPr algn="ctr">
              <a:buNone/>
              <a:defRPr sz="1275" b="1">
                <a:solidFill>
                  <a:srgbClr val="70491E"/>
                </a:solidFill>
                <a:latin typeface="Calibri"/>
                <a:ea typeface="Calibri"/>
                <a:cs typeface="Calibri"/>
              </a:defRPr>
            </a:lvl6pPr>
            <a:lvl7pPr algn="ctr">
              <a:buNone/>
              <a:defRPr sz="1275" b="1">
                <a:solidFill>
                  <a:srgbClr val="70491E"/>
                </a:solidFill>
                <a:latin typeface="Calibri"/>
                <a:ea typeface="Calibri"/>
                <a:cs typeface="Calibri"/>
              </a:defRPr>
            </a:lvl7pPr>
            <a:lvl8pPr algn="ctr">
              <a:buNone/>
              <a:defRPr sz="1275" b="1">
                <a:solidFill>
                  <a:srgbClr val="70491E"/>
                </a:solidFill>
                <a:latin typeface="Calibri"/>
                <a:ea typeface="Calibri"/>
                <a:cs typeface="Calibri"/>
              </a:defRPr>
            </a:lvl8pPr>
            <a:lvl9pPr algn="ctr">
              <a:buNone/>
              <a:defRPr sz="1275" b="1">
                <a:solidFill>
                  <a:srgbClr val="70491E"/>
                </a:solidFill>
                <a:latin typeface="Calibri"/>
                <a:ea typeface="Calibri"/>
                <a:cs typeface="Calibri"/>
              </a:defRPr>
            </a:lvl9pPr>
          </a:lstStyle>
          <a:p xmlns:a="http://schemas.openxmlformats.org/drawingml/2006/main">
            <a:pPr algn="ctr">
              <a:buNone/>
              <a:defRPr sz="1275" b="1">
                <a:solidFill>
                  <a:srgbClr val="70491E"/>
                </a:solidFill>
                <a:latin typeface="Calibri"/>
                <a:ea typeface="Calibri"/>
                <a:cs typeface="Calibri"/>
              </a:defRPr>
            </a:pPr>
            <a:r>
              <a:rPr sz="1275" b="1">
                <a:solidFill>
                  <a:srgbClr val="B8404A"/>
                </a:solidFill>
                <a:latin typeface="Calibri"/>
                <a:ea typeface="Calibri"/>
                <a:cs typeface="Calibri"/>
              </a:rPr>
              <a:t>Synthetic labels + no independent clinical validation = demo logic, not medical prediction</a:t>
            </a:r>
          </a:p>
        </p:txBody>
      </p:sp>
    </p:spTree>
    <p:extLst>
      <p:ext uri="{BB962C8B-B14F-4D97-AF65-F5344CB8AC3E}">
        <p14:creationId xmlns:p14="http://schemas.microsoft.com/office/powerpoint/2010/main" val="670384153"/>
      </p:ext>
    </p:extLst>
  </p:cSld>
</p:sld>
</file>

<file path=ppt/slides/slide8.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5840141-FC9E-4D5B-AB2B-076AA8F157E0}"/>
              </a:ext>
            </a:extLst>
          </p:cNvPr>
          <p:cNvPicPr>
            <a:picLocks xmlns:a="http://schemas.openxmlformats.org/drawingml/2006/main" noChangeAspect="1"/>
          </p:cNvPicPr>
          <p:nvPr/>
        </p:nvPicPr>
        <p:blipFill>
          <a:blip xmlns:r="http://schemas.openxmlformats.org/officeDocument/2006/relationships" xmlns:a="http://schemas.openxmlformats.org/drawingml/2006/main" r:embed="Rd7ddb732d1924f45"/>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B8BFD69-D5AA-4E36-9AFF-4352DC55D1F4}"/>
              </a:ext>
            </a:extLst>
          </p:cNvPr>
          <p:cNvSpPr>
            <a:spLocks xmlns:a="http://schemas.openxmlformats.org/drawingml/2006/main" noGrp="1"/>
          </p:cNvSpPr>
          <p:nvPr/>
        </p:nvSpPr>
        <p:spPr>
          <a:xfrm xmlns:a="http://schemas.openxmlformats.org/drawingml/2006/main">
            <a:off x="561975" y="1495425"/>
            <a:ext cx="342900" cy="342900"/>
          </a:xfrm>
          <a:prstGeom xmlns:a="http://schemas.openxmlformats.org/drawingml/2006/main" prst="ellipse">
            <a:avLst/>
          </a:prstGeom>
          <a:solidFill xmlns:a="http://schemas.openxmlformats.org/drawingml/2006/main">
            <a:srgbClr val="168F89"/>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1</a:t>
            </a:r>
          </a:p>
        </p:txBody>
      </p:sp>
      <p:sp>
        <p:nvSpPr>
          <p:cNvPr id="19" name="">
            <a:extLst xmlns:a="http://schemas.openxmlformats.org/drawingml/2006/main">
              <a:ext uri="{FF2B5EF4-FFF2-40B4-BE49-F238E27FC236}">
                <a16:creationId xmlns:a16="http://schemas.microsoft.com/office/drawing/2014/main" id="{7D5CFCBD-2C13-41B9-8EDC-44074D3A7512}"/>
              </a:ext>
            </a:extLst>
          </p:cNvPr>
          <p:cNvSpPr>
            <a:spLocks xmlns:a="http://schemas.openxmlformats.org/drawingml/2006/main" noGrp="1"/>
          </p:cNvSpPr>
          <p:nvPr/>
        </p:nvSpPr>
        <p:spPr>
          <a:xfrm xmlns:a="http://schemas.openxmlformats.org/drawingml/2006/main">
            <a:off x="1866900" y="2009775"/>
            <a:ext cx="314325" cy="171450"/>
          </a:xfrm>
          <a:prstGeom xmlns:a="http://schemas.openxmlformats.org/drawingml/2006/main" prst="rightArrow">
            <a:avLst/>
          </a:prstGeom>
          <a:solidFill xmlns:a="http://schemas.openxmlformats.org/drawingml/2006/main">
            <a:srgbClr val="168F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89C95BA-9324-4D2D-A2EC-5B8C0364D9A4}"/>
              </a:ext>
            </a:extLst>
          </p:cNvPr>
          <p:cNvSpPr>
            <a:spLocks xmlns:a="http://schemas.openxmlformats.org/drawingml/2006/main" noGrp="1"/>
          </p:cNvSpPr>
          <p:nvPr/>
        </p:nvSpPr>
        <p:spPr>
          <a:xfrm xmlns:a="http://schemas.openxmlformats.org/drawingml/2006/main">
            <a:off x="2286000" y="1495425"/>
            <a:ext cx="342900" cy="342900"/>
          </a:xfrm>
          <a:prstGeom xmlns:a="http://schemas.openxmlformats.org/drawingml/2006/main" prst="ellipse">
            <a:avLst/>
          </a:prstGeom>
          <a:solidFill xmlns:a="http://schemas.openxmlformats.org/drawingml/2006/main">
            <a:srgbClr val="1598B7"/>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2</a:t>
            </a:r>
          </a:p>
        </p:txBody>
      </p:sp>
      <p:sp>
        <p:nvSpPr>
          <p:cNvPr id="21" name="">
            <a:extLst xmlns:a="http://schemas.openxmlformats.org/drawingml/2006/main">
              <a:ext uri="{FF2B5EF4-FFF2-40B4-BE49-F238E27FC236}">
                <a16:creationId xmlns:a16="http://schemas.microsoft.com/office/drawing/2014/main" id="{2BE87281-9829-4DF0-846D-50C0E0720B56}"/>
              </a:ext>
            </a:extLst>
          </p:cNvPr>
          <p:cNvSpPr>
            <a:spLocks xmlns:a="http://schemas.openxmlformats.org/drawingml/2006/main" noGrp="1"/>
          </p:cNvSpPr>
          <p:nvPr/>
        </p:nvSpPr>
        <p:spPr>
          <a:xfrm xmlns:a="http://schemas.openxmlformats.org/drawingml/2006/main">
            <a:off x="3590925" y="2009775"/>
            <a:ext cx="314325" cy="171450"/>
          </a:xfrm>
          <a:prstGeom xmlns:a="http://schemas.openxmlformats.org/drawingml/2006/main" prst="rightArrow">
            <a:avLst/>
          </a:prstGeom>
          <a:solidFill xmlns:a="http://schemas.openxmlformats.org/drawingml/2006/main">
            <a:srgbClr val="1598B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0E9481-57C0-4C44-B3B2-B5214F432CCD}"/>
              </a:ext>
            </a:extLst>
          </p:cNvPr>
          <p:cNvSpPr>
            <a:spLocks xmlns:a="http://schemas.openxmlformats.org/drawingml/2006/main" noGrp="1"/>
          </p:cNvSpPr>
          <p:nvPr/>
        </p:nvSpPr>
        <p:spPr>
          <a:xfrm xmlns:a="http://schemas.openxmlformats.org/drawingml/2006/main">
            <a:off x="4076700" y="1495425"/>
            <a:ext cx="342900" cy="342900"/>
          </a:xfrm>
          <a:prstGeom xmlns:a="http://schemas.openxmlformats.org/drawingml/2006/main" prst="ellipse">
            <a:avLst/>
          </a:prstGeom>
          <a:solidFill xmlns:a="http://schemas.openxmlformats.org/drawingml/2006/main">
            <a:srgbClr val="845FB5"/>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3</a:t>
            </a:r>
          </a:p>
        </p:txBody>
      </p:sp>
      <p:sp>
        <p:nvSpPr>
          <p:cNvPr id="23" name="">
            <a:extLst xmlns:a="http://schemas.openxmlformats.org/drawingml/2006/main">
              <a:ext uri="{FF2B5EF4-FFF2-40B4-BE49-F238E27FC236}">
                <a16:creationId xmlns:a16="http://schemas.microsoft.com/office/drawing/2014/main" id="{9A651B18-3B62-4BCB-8677-2342EC767DE0}"/>
              </a:ext>
            </a:extLst>
          </p:cNvPr>
          <p:cNvSpPr>
            <a:spLocks xmlns:a="http://schemas.openxmlformats.org/drawingml/2006/main" noGrp="1"/>
          </p:cNvSpPr>
          <p:nvPr/>
        </p:nvSpPr>
        <p:spPr>
          <a:xfrm xmlns:a="http://schemas.openxmlformats.org/drawingml/2006/main">
            <a:off x="5381625" y="2009775"/>
            <a:ext cx="314325" cy="171450"/>
          </a:xfrm>
          <a:prstGeom xmlns:a="http://schemas.openxmlformats.org/drawingml/2006/main" prst="rightArrow">
            <a:avLst/>
          </a:prstGeom>
          <a:solidFill xmlns:a="http://schemas.openxmlformats.org/drawingml/2006/main">
            <a:srgbClr val="845F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546C1CB-8388-4D44-B996-2B9FC5DE8CB8}"/>
              </a:ext>
            </a:extLst>
          </p:cNvPr>
          <p:cNvSpPr>
            <a:spLocks xmlns:a="http://schemas.openxmlformats.org/drawingml/2006/main" noGrp="1"/>
          </p:cNvSpPr>
          <p:nvPr/>
        </p:nvSpPr>
        <p:spPr>
          <a:xfrm xmlns:a="http://schemas.openxmlformats.org/drawingml/2006/main">
            <a:off x="5895975" y="1495425"/>
            <a:ext cx="342900" cy="342900"/>
          </a:xfrm>
          <a:prstGeom xmlns:a="http://schemas.openxmlformats.org/drawingml/2006/main" prst="ellipse">
            <a:avLst/>
          </a:prstGeom>
          <a:solidFill xmlns:a="http://schemas.openxmlformats.org/drawingml/2006/main">
            <a:srgbClr val="D86E52"/>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4</a:t>
            </a:r>
          </a:p>
        </p:txBody>
      </p:sp>
      <p:sp>
        <p:nvSpPr>
          <p:cNvPr id="25" name="">
            <a:extLst xmlns:a="http://schemas.openxmlformats.org/drawingml/2006/main">
              <a:ext uri="{FF2B5EF4-FFF2-40B4-BE49-F238E27FC236}">
                <a16:creationId xmlns:a16="http://schemas.microsoft.com/office/drawing/2014/main" id="{494DB2BC-7B60-4474-A7BD-7F653F4C4321}"/>
              </a:ext>
            </a:extLst>
          </p:cNvPr>
          <p:cNvSpPr>
            <a:spLocks xmlns:a="http://schemas.openxmlformats.org/drawingml/2006/main" noGrp="1"/>
          </p:cNvSpPr>
          <p:nvPr/>
        </p:nvSpPr>
        <p:spPr>
          <a:xfrm xmlns:a="http://schemas.openxmlformats.org/drawingml/2006/main">
            <a:off x="428625" y="3114675"/>
            <a:ext cx="6619875" cy="1438275"/>
          </a:xfrm>
          <a:prstGeom xmlns:a="http://schemas.openxmlformats.org/drawingml/2006/main" prst="roundRect">
            <a:avLst>
              <a:gd name="adj" fmla="val 9934"/>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37591A33-2173-44B0-9B3C-8BD9FE580555}"/>
              </a:ext>
            </a:extLst>
          </p:cNvPr>
          <p:cNvSpPr>
            <a:spLocks xmlns:a="http://schemas.openxmlformats.org/drawingml/2006/main" noGrp="1"/>
          </p:cNvSpPr>
          <p:nvPr/>
        </p:nvSpPr>
        <p:spPr>
          <a:xfrm xmlns:a="http://schemas.openxmlformats.org/drawingml/2006/main">
            <a:off x="428625" y="3133725"/>
            <a:ext cx="47625" cy="14001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cxnSp>
        <p:nvCxnSpPr>
          <p:cNvPr id="13" name="">
            <a:extLst xmlns:a="http://schemas.openxmlformats.org/drawingml/2006/main">
              <a:ext uri="{FF2B5EF4-FFF2-40B4-BE49-F238E27FC236}">
                <a16:creationId xmlns:a16="http://schemas.microsoft.com/office/drawing/2014/main" id="{53DDB10F-A6A6-4518-A392-08895D7055F4}"/>
              </a:ext>
            </a:extLst>
          </p:cNvPr>
          <p:cNvCxnSpPr>
            <a:stCxn xmlns:a="http://schemas.openxmlformats.org/drawingml/2006/main" id="9" idx="3"/>
            <a:endCxn xmlns:a="http://schemas.openxmlformats.org/drawingml/2006/main" id="10" idx="1"/>
          </p:cNvCxnSpPr>
          <p:nvPr/>
        </p:nvCxnSpPr>
        <p:spPr>
          <a:xfrm xmlns:a="http://schemas.openxmlformats.org/drawingml/2006/main">
            <a:off x="5448300" y="2290763"/>
            <a:ext cx="371475" cy="0"/>
          </a:xfrm>
          <a:prstGeom xmlns:a="http://schemas.openxmlformats.org/drawingml/2006/main" prst="straightConnector1">
            <a:avLst/>
          </a:prstGeom>
          <a:ln xmlns:a="http://schemas.openxmlformats.org/drawingml/2006/main" w="19050">
            <a:solidFill>
              <a:srgbClr val="248F8A"/>
            </a:solidFill>
            <a:prstDash val="solid"/>
          </a:ln>
        </p:spPr>
      </p:cxnSp>
      <p:cxnSp>
        <p:nvCxnSpPr>
          <p:cNvPr id="12" name="">
            <a:extLst xmlns:a="http://schemas.openxmlformats.org/drawingml/2006/main">
              <a:ext uri="{FF2B5EF4-FFF2-40B4-BE49-F238E27FC236}">
                <a16:creationId xmlns:a16="http://schemas.microsoft.com/office/drawing/2014/main" id="{056EC90C-7BF1-4E3C-8384-428C2F898892}"/>
              </a:ext>
            </a:extLst>
          </p:cNvPr>
          <p:cNvCxnSpPr>
            <a:stCxn xmlns:a="http://schemas.openxmlformats.org/drawingml/2006/main" id="8" idx="3"/>
            <a:endCxn xmlns:a="http://schemas.openxmlformats.org/drawingml/2006/main" id="9" idx="1"/>
          </p:cNvCxnSpPr>
          <p:nvPr/>
        </p:nvCxnSpPr>
        <p:spPr>
          <a:xfrm xmlns:a="http://schemas.openxmlformats.org/drawingml/2006/main">
            <a:off x="3657600" y="2290763"/>
            <a:ext cx="342900" cy="0"/>
          </a:xfrm>
          <a:prstGeom xmlns:a="http://schemas.openxmlformats.org/drawingml/2006/main" prst="straightConnector1">
            <a:avLst/>
          </a:prstGeom>
          <a:ln xmlns:a="http://schemas.openxmlformats.org/drawingml/2006/main" w="19050">
            <a:solidFill>
              <a:srgbClr val="248F8A"/>
            </a:solidFill>
            <a:prstDash val="solid"/>
          </a:ln>
        </p:spPr>
      </p:cxnSp>
      <p:cxnSp>
        <p:nvCxnSpPr>
          <p:cNvPr id="11" name="">
            <a:extLst xmlns:a="http://schemas.openxmlformats.org/drawingml/2006/main">
              <a:ext uri="{FF2B5EF4-FFF2-40B4-BE49-F238E27FC236}">
                <a16:creationId xmlns:a16="http://schemas.microsoft.com/office/drawing/2014/main" id="{4D32B612-44CA-4845-B948-4A3EBCF90662}"/>
              </a:ext>
            </a:extLst>
          </p:cNvPr>
          <p:cNvCxnSpPr>
            <a:stCxn xmlns:a="http://schemas.openxmlformats.org/drawingml/2006/main" id="7" idx="3"/>
            <a:endCxn xmlns:a="http://schemas.openxmlformats.org/drawingml/2006/main" id="8" idx="1"/>
          </p:cNvCxnSpPr>
          <p:nvPr/>
        </p:nvCxnSpPr>
        <p:spPr>
          <a:xfrm xmlns:a="http://schemas.openxmlformats.org/drawingml/2006/main">
            <a:off x="1857375" y="2290763"/>
            <a:ext cx="352425" cy="0"/>
          </a:xfrm>
          <a:prstGeom xmlns:a="http://schemas.openxmlformats.org/drawingml/2006/main" prst="straightConnector1">
            <a:avLst/>
          </a:prstGeom>
          <a:ln xmlns:a="http://schemas.openxmlformats.org/drawingml/2006/main" w="19050">
            <a:solidFill>
              <a:srgbClr val="248F8A"/>
            </a:solidFill>
            <a:prstDash val="solid"/>
          </a:ln>
        </p:spPr>
      </p:cxnSp>
      <p:sp>
        <p:nvSpPr>
          <p:cNvPr id="16" name="">
            <a:extLst xmlns:a="http://schemas.openxmlformats.org/drawingml/2006/main">
              <a:ext uri="{FF2B5EF4-FFF2-40B4-BE49-F238E27FC236}">
                <a16:creationId xmlns:a16="http://schemas.microsoft.com/office/drawing/2014/main" id="{62258555-8D28-4F91-B12F-2F4A06478C3C}"/>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05"/>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Streaming moves readings through one review loop</a:t>
            </a:r>
          </a:p>
        </p:txBody>
      </p:sp>
      <p:sp>
        <p:nvSpPr>
          <p:cNvPr id="2" name="">
            <a:extLst xmlns:a="http://schemas.openxmlformats.org/drawingml/2006/main">
              <a:ext uri="{FF2B5EF4-FFF2-40B4-BE49-F238E27FC236}">
                <a16:creationId xmlns:a16="http://schemas.microsoft.com/office/drawing/2014/main" id="{BDBFF12F-11A1-4B8B-B1E5-5ED05743E591}"/>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271ED0B7-322E-4596-B913-359D7050CFE1}"/>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REST and WebSocket paths both support demo telemetry ingestion.</a:t>
            </a:r>
          </a:p>
        </p:txBody>
      </p:sp>
      <p:sp>
        <p:nvSpPr>
          <p:cNvPr id="4" name="">
            <a:extLst xmlns:a="http://schemas.openxmlformats.org/drawingml/2006/main">
              <a:ext uri="{FF2B5EF4-FFF2-40B4-BE49-F238E27FC236}">
                <a16:creationId xmlns:a16="http://schemas.microsoft.com/office/drawing/2014/main" id="{34784D3E-1F70-4CF6-929E-7278BF704E32}"/>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09504DC5-EACB-4E81-BA59-5B350EB50F45}"/>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9C4D19EC-CC8D-45DC-8FA6-0C332BBEB562}"/>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08</a:t>
            </a:r>
          </a:p>
        </p:txBody>
      </p:sp>
      <p:sp>
        <p:nvSpPr>
          <p:cNvPr id="7" name="">
            <a:extLst xmlns:a="http://schemas.openxmlformats.org/drawingml/2006/main">
              <a:ext uri="{FF2B5EF4-FFF2-40B4-BE49-F238E27FC236}">
                <a16:creationId xmlns:a16="http://schemas.microsoft.com/office/drawing/2014/main" id="{39DB790F-B1B6-4322-9EDC-B29B982F508F}"/>
              </a:ext>
            </a:extLst>
          </p:cNvPr>
          <p:cNvSpPr>
            <a:spLocks xmlns:a="http://schemas.openxmlformats.org/drawingml/2006/main" noGrp="1"/>
          </p:cNvSpPr>
          <p:nvPr/>
        </p:nvSpPr>
        <p:spPr>
          <a:xfrm xmlns:a="http://schemas.openxmlformats.org/drawingml/2006/main">
            <a:off x="476250" y="1895475"/>
            <a:ext cx="1381125" cy="790575"/>
          </a:xfrm>
          <a:prstGeom xmlns:a="http://schemas.openxmlformats.org/drawingml/2006/main" prst="roundRect">
            <a:avLst>
              <a:gd name="adj" fmla="val 9639"/>
            </a:avLst>
          </a:prstGeom>
          <a:solidFill xmlns:a="http://schemas.openxmlformats.org/drawingml/2006/main">
            <a:srgbClr val="E7F1F5"/>
          </a:solidFill>
          <a:ln xmlns:a="http://schemas.openxmlformats.org/drawingml/2006/main" w="11430">
            <a:solidFill>
              <a:srgbClr val="C0D5DD"/>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168F89"/>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168F89"/>
                </a:solidFill>
                <a:latin typeface="Calibri"/>
                <a:ea typeface="Calibri"/>
                <a:cs typeface="Calibri"/>
              </a:rPr>
              <a:t>1  ·  Send</a:t>
            </a:r>
          </a:p>
          <a:p xmlns:a="http://schemas.openxmlformats.org/drawingml/2006/main">
            <a:pPr algn="ctr">
              <a:buNone/>
              <a:defRPr sz="1125" b="1">
                <a:solidFill>
                  <a:srgbClr val="263C45"/>
                </a:solidFill>
                <a:latin typeface="Calibri"/>
                <a:ea typeface="Calibri"/>
                <a:cs typeface="Calibri"/>
              </a:defRPr>
            </a:pPr>
            <a:r>
              <a:rPr sz="1238" b="1">
                <a:solidFill>
                  <a:srgbClr val="168F89"/>
                </a:solidFill>
                <a:latin typeface="Calibri"/>
                <a:ea typeface="Calibri"/>
                <a:cs typeface="Calibri"/>
              </a:rPr>
              <a:t>POST vital or WS event</a:t>
            </a:r>
          </a:p>
        </p:txBody>
      </p:sp>
      <p:sp>
        <p:nvSpPr>
          <p:cNvPr id="8" name="">
            <a:extLst xmlns:a="http://schemas.openxmlformats.org/drawingml/2006/main">
              <a:ext uri="{FF2B5EF4-FFF2-40B4-BE49-F238E27FC236}">
                <a16:creationId xmlns:a16="http://schemas.microsoft.com/office/drawing/2014/main" id="{029AFC15-E330-4829-8BBB-E9C54F5CFB06}"/>
              </a:ext>
            </a:extLst>
          </p:cNvPr>
          <p:cNvSpPr>
            <a:spLocks xmlns:a="http://schemas.openxmlformats.org/drawingml/2006/main" noGrp="1"/>
          </p:cNvSpPr>
          <p:nvPr/>
        </p:nvSpPr>
        <p:spPr>
          <a:xfrm xmlns:a="http://schemas.openxmlformats.org/drawingml/2006/main">
            <a:off x="2209800" y="1895475"/>
            <a:ext cx="1447800" cy="790575"/>
          </a:xfrm>
          <a:prstGeom xmlns:a="http://schemas.openxmlformats.org/drawingml/2006/main" prst="roundRect">
            <a:avLst>
              <a:gd name="adj" fmla="val 9639"/>
            </a:avLst>
          </a:prstGeom>
          <a:solidFill xmlns:a="http://schemas.openxmlformats.org/drawingml/2006/main">
            <a:srgbClr val="E6F3EF"/>
          </a:solidFill>
          <a:ln xmlns:a="http://schemas.openxmlformats.org/drawingml/2006/main" w="11430">
            <a:solidFill>
              <a:srgbClr val="C2DCD2"/>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2997AE"/>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2997AE"/>
                </a:solidFill>
                <a:latin typeface="Calibri"/>
                <a:ea typeface="Calibri"/>
                <a:cs typeface="Calibri"/>
              </a:rPr>
              <a:t>2  ·  Store</a:t>
            </a:r>
          </a:p>
          <a:p xmlns:a="http://schemas.openxmlformats.org/drawingml/2006/main">
            <a:pPr algn="ctr">
              <a:buNone/>
              <a:defRPr sz="1125" b="1">
                <a:solidFill>
                  <a:srgbClr val="263C45"/>
                </a:solidFill>
                <a:latin typeface="Calibri"/>
                <a:ea typeface="Calibri"/>
                <a:cs typeface="Calibri"/>
              </a:defRPr>
            </a:pPr>
            <a:r>
              <a:rPr sz="1238" b="1">
                <a:solidFill>
                  <a:srgbClr val="2997AE"/>
                </a:solidFill>
                <a:latin typeface="Calibri"/>
                <a:ea typeface="Calibri"/>
                <a:cs typeface="Calibri"/>
              </a:rPr>
              <a:t>Append to patient history</a:t>
            </a:r>
          </a:p>
        </p:txBody>
      </p:sp>
      <p:sp>
        <p:nvSpPr>
          <p:cNvPr id="9" name="">
            <a:extLst xmlns:a="http://schemas.openxmlformats.org/drawingml/2006/main">
              <a:ext uri="{FF2B5EF4-FFF2-40B4-BE49-F238E27FC236}">
                <a16:creationId xmlns:a16="http://schemas.microsoft.com/office/drawing/2014/main" id="{D9FC28AF-B333-406E-9CFD-DF30D6FBF505}"/>
              </a:ext>
            </a:extLst>
          </p:cNvPr>
          <p:cNvSpPr>
            <a:spLocks xmlns:a="http://schemas.openxmlformats.org/drawingml/2006/main" noGrp="1"/>
          </p:cNvSpPr>
          <p:nvPr/>
        </p:nvSpPr>
        <p:spPr>
          <a:xfrm xmlns:a="http://schemas.openxmlformats.org/drawingml/2006/main">
            <a:off x="4000500" y="1895475"/>
            <a:ext cx="1447800" cy="790575"/>
          </a:xfrm>
          <a:prstGeom xmlns:a="http://schemas.openxmlformats.org/drawingml/2006/main" prst="roundRect">
            <a:avLst>
              <a:gd name="adj" fmla="val 9639"/>
            </a:avLst>
          </a:prstGeom>
          <a:solidFill xmlns:a="http://schemas.openxmlformats.org/drawingml/2006/main">
            <a:srgbClr val="E5F2F1"/>
          </a:solidFill>
          <a:ln xmlns:a="http://schemas.openxmlformats.org/drawingml/2006/main" w="11430">
            <a:solidFill>
              <a:srgbClr val="BDD8D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7A59B5"/>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7A59B5"/>
                </a:solidFill>
                <a:latin typeface="Calibri"/>
                <a:ea typeface="Calibri"/>
                <a:cs typeface="Calibri"/>
              </a:rPr>
              <a:t>3  ·  Evaluate</a:t>
            </a:r>
          </a:p>
          <a:p xmlns:a="http://schemas.openxmlformats.org/drawingml/2006/main">
            <a:pPr algn="ctr">
              <a:buNone/>
              <a:defRPr sz="1125" b="1">
                <a:solidFill>
                  <a:srgbClr val="263C45"/>
                </a:solidFill>
                <a:latin typeface="Calibri"/>
                <a:ea typeface="Calibri"/>
                <a:cs typeface="Calibri"/>
              </a:defRPr>
            </a:pPr>
            <a:r>
              <a:rPr sz="1238" b="1">
                <a:solidFill>
                  <a:srgbClr val="7A59B5"/>
                </a:solidFill>
                <a:latin typeface="Calibri"/>
                <a:ea typeface="Calibri"/>
                <a:cs typeface="Calibri"/>
              </a:rPr>
              <a:t>Risk + threshold checks</a:t>
            </a:r>
          </a:p>
        </p:txBody>
      </p:sp>
      <p:sp>
        <p:nvSpPr>
          <p:cNvPr id="10" name="">
            <a:extLst xmlns:a="http://schemas.openxmlformats.org/drawingml/2006/main">
              <a:ext uri="{FF2B5EF4-FFF2-40B4-BE49-F238E27FC236}">
                <a16:creationId xmlns:a16="http://schemas.microsoft.com/office/drawing/2014/main" id="{6C8BFC44-DB79-4ADA-8A5F-770A5148337D}"/>
              </a:ext>
            </a:extLst>
          </p:cNvPr>
          <p:cNvSpPr>
            <a:spLocks xmlns:a="http://schemas.openxmlformats.org/drawingml/2006/main" noGrp="1"/>
          </p:cNvSpPr>
          <p:nvPr/>
        </p:nvSpPr>
        <p:spPr>
          <a:xfrm xmlns:a="http://schemas.openxmlformats.org/drawingml/2006/main">
            <a:off x="5819775" y="1895475"/>
            <a:ext cx="1200150" cy="790575"/>
          </a:xfrm>
          <a:prstGeom xmlns:a="http://schemas.openxmlformats.org/drawingml/2006/main" prst="roundRect">
            <a:avLst>
              <a:gd name="adj" fmla="val 9639"/>
            </a:avLst>
          </a:prstGeom>
          <a:solidFill xmlns:a="http://schemas.openxmlformats.org/drawingml/2006/main">
            <a:srgbClr val="F7EDE2"/>
          </a:solidFill>
          <a:ln xmlns:a="http://schemas.openxmlformats.org/drawingml/2006/main" w="11430">
            <a:solidFill>
              <a:srgbClr val="EAD1B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D57943"/>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D57943"/>
                </a:solidFill>
                <a:latin typeface="Calibri"/>
                <a:ea typeface="Calibri"/>
                <a:cs typeface="Calibri"/>
              </a:rPr>
              <a:t>4  ·  Update</a:t>
            </a:r>
          </a:p>
          <a:p xmlns:a="http://schemas.openxmlformats.org/drawingml/2006/main">
            <a:pPr algn="ctr">
              <a:buNone/>
              <a:defRPr sz="1125" b="1">
                <a:solidFill>
                  <a:srgbClr val="263C45"/>
                </a:solidFill>
                <a:latin typeface="Calibri"/>
                <a:ea typeface="Calibri"/>
                <a:cs typeface="Calibri"/>
              </a:defRPr>
            </a:pPr>
            <a:r>
              <a:rPr sz="1238" b="1">
                <a:solidFill>
                  <a:srgbClr val="D57943"/>
                </a:solidFill>
                <a:latin typeface="Calibri"/>
                <a:ea typeface="Calibri"/>
                <a:cs typeface="Calibri"/>
              </a:rPr>
              <a:t>Alert + client view</a:t>
            </a:r>
          </a:p>
        </p:txBody>
      </p:sp>
      <p:sp>
        <p:nvSpPr>
          <p:cNvPr id="14" name="">
            <a:extLst xmlns:a="http://schemas.openxmlformats.org/drawingml/2006/main">
              <a:ext uri="{FF2B5EF4-FFF2-40B4-BE49-F238E27FC236}">
                <a16:creationId xmlns:a16="http://schemas.microsoft.com/office/drawing/2014/main" id="{70EF341D-B6D9-443F-BF63-E1DBEF82AB6A}"/>
              </a:ext>
            </a:extLst>
          </p:cNvPr>
          <p:cNvSpPr>
            <a:spLocks xmlns:a="http://schemas.openxmlformats.org/drawingml/2006/main" noGrp="1"/>
          </p:cNvSpPr>
          <p:nvPr/>
        </p:nvSpPr>
        <p:spPr>
          <a:xfrm xmlns:a="http://schemas.openxmlformats.org/drawingml/2006/main">
            <a:off x="571500" y="32289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087E83"/>
                </a:solidFill>
                <a:latin typeface="Calibri"/>
                <a:ea typeface="Calibri"/>
                <a:cs typeface="Calibri"/>
              </a:defRPr>
            </a:defPPr>
            <a:lvl1pPr algn="l">
              <a:buNone/>
              <a:defRPr sz="1350" b="1" i="0">
                <a:solidFill>
                  <a:srgbClr val="0D6F73"/>
                </a:solidFill>
                <a:latin typeface="Calibri"/>
                <a:ea typeface="Calibri"/>
                <a:cs typeface="Calibri"/>
              </a:defRPr>
            </a:lvl1pPr>
            <a:lvl2pPr algn="l">
              <a:buNone/>
              <a:defRPr sz="1350" b="1" i="0">
                <a:solidFill>
                  <a:srgbClr val="0D6F73"/>
                </a:solidFill>
                <a:latin typeface="Calibri"/>
                <a:ea typeface="Calibri"/>
                <a:cs typeface="Calibri"/>
              </a:defRPr>
            </a:lvl2pPr>
            <a:lvl3pPr algn="l">
              <a:buNone/>
              <a:defRPr sz="1350" b="1" i="0">
                <a:solidFill>
                  <a:srgbClr val="0D6F73"/>
                </a:solidFill>
                <a:latin typeface="Calibri"/>
                <a:ea typeface="Calibri"/>
                <a:cs typeface="Calibri"/>
              </a:defRPr>
            </a:lvl3pPr>
            <a:lvl4pPr algn="l">
              <a:buNone/>
              <a:defRPr sz="1350" b="1" i="0">
                <a:solidFill>
                  <a:srgbClr val="0D6F73"/>
                </a:solidFill>
                <a:latin typeface="Calibri"/>
                <a:ea typeface="Calibri"/>
                <a:cs typeface="Calibri"/>
              </a:defRPr>
            </a:lvl4pPr>
            <a:lvl5pPr algn="l">
              <a:buNone/>
              <a:defRPr sz="1350" b="1" i="0">
                <a:solidFill>
                  <a:srgbClr val="0D6F73"/>
                </a:solidFill>
                <a:latin typeface="Calibri"/>
                <a:ea typeface="Calibri"/>
                <a:cs typeface="Calibri"/>
              </a:defRPr>
            </a:lvl5pPr>
            <a:lvl6pPr algn="l">
              <a:buNone/>
              <a:defRPr sz="1350" b="1" i="0">
                <a:solidFill>
                  <a:srgbClr val="0D6F73"/>
                </a:solidFill>
                <a:latin typeface="Calibri"/>
                <a:ea typeface="Calibri"/>
                <a:cs typeface="Calibri"/>
              </a:defRPr>
            </a:lvl6pPr>
            <a:lvl7pPr algn="l">
              <a:buNone/>
              <a:defRPr sz="1350" b="1" i="0">
                <a:solidFill>
                  <a:srgbClr val="0D6F73"/>
                </a:solidFill>
                <a:latin typeface="Calibri"/>
                <a:ea typeface="Calibri"/>
                <a:cs typeface="Calibri"/>
              </a:defRPr>
            </a:lvl7pPr>
            <a:lvl8pPr algn="l">
              <a:buNone/>
              <a:defRPr sz="1350" b="1" i="0">
                <a:solidFill>
                  <a:srgbClr val="0D6F73"/>
                </a:solidFill>
                <a:latin typeface="Calibri"/>
                <a:ea typeface="Calibri"/>
                <a:cs typeface="Calibri"/>
              </a:defRPr>
            </a:lvl8pPr>
            <a:lvl9pPr algn="l">
              <a:buNone/>
              <a:defRPr sz="1350" b="1" i="0">
                <a:solidFill>
                  <a:srgbClr val="0D6F73"/>
                </a:solidFill>
                <a:latin typeface="Calibri"/>
                <a:ea typeface="Calibri"/>
                <a:cs typeface="Calibri"/>
              </a:defRPr>
            </a:lvl9pPr>
          </a:lstStyle>
          <a:p xmlns:a="http://schemas.openxmlformats.org/drawingml/2006/main">
            <a:pPr algn="l">
              <a:lnSpc>
                <a:spcPct val="108000"/>
              </a:lnSpc>
              <a:buNone/>
              <a:defRPr sz="1350" b="1" i="0">
                <a:solidFill>
                  <a:srgbClr val="0D6F73"/>
                </a:solidFill>
                <a:latin typeface="Calibri"/>
                <a:ea typeface="Calibri"/>
                <a:cs typeface="Calibri"/>
              </a:defRPr>
            </a:pPr>
            <a:r>
              <a:rPr sz="1425" b="1" i="0">
                <a:solidFill>
                  <a:srgbClr val="087E83"/>
                </a:solidFill>
                <a:latin typeface="Calibri"/>
                <a:ea typeface="Calibri"/>
                <a:cs typeface="Calibri"/>
              </a:rPr>
              <a:t>WebSocket event types</a:t>
            </a:r>
          </a:p>
        </p:txBody>
      </p:sp>
      <p:sp>
        <p:nvSpPr>
          <p:cNvPr id="15" name="">
            <a:extLst xmlns:a="http://schemas.openxmlformats.org/drawingml/2006/main">
              <a:ext uri="{FF2B5EF4-FFF2-40B4-BE49-F238E27FC236}">
                <a16:creationId xmlns:a16="http://schemas.microsoft.com/office/drawing/2014/main" id="{1A08787D-FCF5-427A-A20B-97B1DE4D7291}"/>
              </a:ext>
            </a:extLst>
          </p:cNvPr>
          <p:cNvSpPr>
            <a:spLocks xmlns:a="http://schemas.openxmlformats.org/drawingml/2006/main" noGrp="1"/>
          </p:cNvSpPr>
          <p:nvPr/>
        </p:nvSpPr>
        <p:spPr>
          <a:xfrm xmlns:a="http://schemas.openxmlformats.org/drawingml/2006/main">
            <a:off x="571500" y="3581400"/>
            <a:ext cx="6143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E4E59"/>
                </a:solidFill>
                <a:latin typeface="Calibri"/>
                <a:ea typeface="Calibri"/>
                <a:cs typeface="Calibri"/>
              </a:defRPr>
            </a:defPPr>
            <a:lvl1pPr algn="l">
              <a:buNone/>
              <a:defRPr sz="1275" b="0" i="0">
                <a:solidFill>
                  <a:srgbClr val="263C45"/>
                </a:solidFill>
                <a:latin typeface="Calibri"/>
                <a:ea typeface="Calibri"/>
                <a:cs typeface="Calibri"/>
              </a:defRPr>
            </a:lvl1pPr>
            <a:lvl2pPr algn="l">
              <a:buNone/>
              <a:defRPr sz="1275" b="0" i="0">
                <a:solidFill>
                  <a:srgbClr val="263C45"/>
                </a:solidFill>
                <a:latin typeface="Calibri"/>
                <a:ea typeface="Calibri"/>
                <a:cs typeface="Calibri"/>
              </a:defRPr>
            </a:lvl2pPr>
            <a:lvl3pPr algn="l">
              <a:buNone/>
              <a:defRPr sz="1275" b="0" i="0">
                <a:solidFill>
                  <a:srgbClr val="263C45"/>
                </a:solidFill>
                <a:latin typeface="Calibri"/>
                <a:ea typeface="Calibri"/>
                <a:cs typeface="Calibri"/>
              </a:defRPr>
            </a:lvl3pPr>
            <a:lvl4pPr algn="l">
              <a:buNone/>
              <a:defRPr sz="1275" b="0" i="0">
                <a:solidFill>
                  <a:srgbClr val="263C45"/>
                </a:solidFill>
                <a:latin typeface="Calibri"/>
                <a:ea typeface="Calibri"/>
                <a:cs typeface="Calibri"/>
              </a:defRPr>
            </a:lvl4pPr>
            <a:lvl5pPr algn="l">
              <a:buNone/>
              <a:defRPr sz="1275" b="0" i="0">
                <a:solidFill>
                  <a:srgbClr val="263C45"/>
                </a:solidFill>
                <a:latin typeface="Calibri"/>
                <a:ea typeface="Calibri"/>
                <a:cs typeface="Calibri"/>
              </a:defRPr>
            </a:lvl5pPr>
            <a:lvl6pPr algn="l">
              <a:buNone/>
              <a:defRPr sz="1275" b="0" i="0">
                <a:solidFill>
                  <a:srgbClr val="263C45"/>
                </a:solidFill>
                <a:latin typeface="Calibri"/>
                <a:ea typeface="Calibri"/>
                <a:cs typeface="Calibri"/>
              </a:defRPr>
            </a:lvl6pPr>
            <a:lvl7pPr algn="l">
              <a:buNone/>
              <a:defRPr sz="1275" b="0" i="0">
                <a:solidFill>
                  <a:srgbClr val="263C45"/>
                </a:solidFill>
                <a:latin typeface="Calibri"/>
                <a:ea typeface="Calibri"/>
                <a:cs typeface="Calibri"/>
              </a:defRPr>
            </a:lvl7pPr>
            <a:lvl8pPr algn="l">
              <a:buNone/>
              <a:defRPr sz="1275" b="0" i="0">
                <a:solidFill>
                  <a:srgbClr val="263C45"/>
                </a:solidFill>
                <a:latin typeface="Calibri"/>
                <a:ea typeface="Calibri"/>
                <a:cs typeface="Calibri"/>
              </a:defRPr>
            </a:lvl8pPr>
            <a:lvl9pPr algn="l">
              <a:buNone/>
              <a:defRPr sz="1275" b="0" i="0">
                <a:solidFill>
                  <a:srgbClr val="263C45"/>
                </a:solidFill>
                <a:latin typeface="Calibri"/>
                <a:ea typeface="Calibri"/>
                <a:cs typeface="Calibri"/>
              </a:defRPr>
            </a:lvl9pPr>
          </a:lstStyle>
          <a:p xmlns:a="http://schemas.openxmlformats.org/drawingml/2006/main">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subscribe  →  register interest</a:t>
            </a:r>
          </a:p>
          <a:p xmlns:a="http://schemas.openxmlformats.org/drawingml/2006/main">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vitals  →  ingest a reading</a:t>
            </a:r>
          </a:p>
          <a:p xmlns:a="http://schemas.openxmlformats.org/drawingml/2006/main">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alert / prediction_update  →  push results</a:t>
            </a:r>
          </a:p>
        </p:txBody>
      </p:sp>
    </p:spTree>
    <p:extLst>
      <p:ext uri="{BB962C8B-B14F-4D97-AF65-F5344CB8AC3E}">
        <p14:creationId xmlns:p14="http://schemas.microsoft.com/office/powerpoint/2010/main" val="318136122"/>
      </p:ext>
    </p:extLst>
  </p:cSld>
</p:sld>
</file>

<file path=ppt/slides/slide9.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8" name="">
            <a:extLst xmlns:a="http://schemas.openxmlformats.org/drawingml/2006/main">
              <a:ext uri="{FF2B5EF4-FFF2-40B4-BE49-F238E27FC236}">
                <a16:creationId xmlns:a16="http://schemas.microsoft.com/office/drawing/2014/main" id="{C4C37908-337A-481E-9B3D-AAEC52BF7D21}"/>
              </a:ext>
            </a:extLst>
          </p:cNvPr>
          <p:cNvPicPr>
            <a:picLocks xmlns:a="http://schemas.openxmlformats.org/drawingml/2006/main" noChangeAspect="1"/>
          </p:cNvPicPr>
          <p:nvPr/>
        </p:nvPicPr>
        <p:blipFill>
          <a:blip xmlns:r="http://schemas.openxmlformats.org/officeDocument/2006/relationships" xmlns:a="http://schemas.openxmlformats.org/drawingml/2006/main" r:embed="Rf1dce6c2c25f4320"/>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2E87AA2-3D91-4FA1-892D-0351FDE2DA48}"/>
              </a:ext>
            </a:extLst>
          </p:cNvPr>
          <p:cNvSpPr>
            <a:spLocks xmlns:a="http://schemas.openxmlformats.org/drawingml/2006/main" noGrp="1"/>
          </p:cNvSpPr>
          <p:nvPr/>
        </p:nvSpPr>
        <p:spPr>
          <a:xfrm xmlns:a="http://schemas.openxmlformats.org/drawingml/2006/main">
            <a:off x="390525" y="17811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0" name="">
            <a:extLst xmlns:a="http://schemas.openxmlformats.org/drawingml/2006/main">
              <a:ext uri="{FF2B5EF4-FFF2-40B4-BE49-F238E27FC236}">
                <a16:creationId xmlns:a16="http://schemas.microsoft.com/office/drawing/2014/main" id="{954CF19D-6131-466E-BB50-274C3C5F977E}"/>
              </a:ext>
            </a:extLst>
          </p:cNvPr>
          <p:cNvSpPr>
            <a:spLocks xmlns:a="http://schemas.openxmlformats.org/drawingml/2006/main" noGrp="1"/>
          </p:cNvSpPr>
          <p:nvPr/>
        </p:nvSpPr>
        <p:spPr>
          <a:xfrm xmlns:a="http://schemas.openxmlformats.org/drawingml/2006/main">
            <a:off x="390525" y="1790700"/>
            <a:ext cx="47625" cy="485775"/>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36C5774-97F0-4C47-9E72-FBE6E8FFCDDB}"/>
              </a:ext>
            </a:extLst>
          </p:cNvPr>
          <p:cNvSpPr>
            <a:spLocks xmlns:a="http://schemas.openxmlformats.org/drawingml/2006/main" noGrp="1"/>
          </p:cNvSpPr>
          <p:nvPr/>
        </p:nvSpPr>
        <p:spPr>
          <a:xfrm xmlns:a="http://schemas.openxmlformats.org/drawingml/2006/main">
            <a:off x="390525" y="23526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2" name="">
            <a:extLst xmlns:a="http://schemas.openxmlformats.org/drawingml/2006/main">
              <a:ext uri="{FF2B5EF4-FFF2-40B4-BE49-F238E27FC236}">
                <a16:creationId xmlns:a16="http://schemas.microsoft.com/office/drawing/2014/main" id="{1B2956C5-EF96-4510-A2E2-6011BD129462}"/>
              </a:ext>
            </a:extLst>
          </p:cNvPr>
          <p:cNvSpPr>
            <a:spLocks xmlns:a="http://schemas.openxmlformats.org/drawingml/2006/main" noGrp="1"/>
          </p:cNvSpPr>
          <p:nvPr/>
        </p:nvSpPr>
        <p:spPr>
          <a:xfrm xmlns:a="http://schemas.openxmlformats.org/drawingml/2006/main">
            <a:off x="390525" y="2362200"/>
            <a:ext cx="47625" cy="485775"/>
          </a:xfrm>
          <a:prstGeom xmlns:a="http://schemas.openxmlformats.org/drawingml/2006/main" prst="roundRect">
            <a:avLst>
              <a:gd name="adj" fmla="val 50000"/>
            </a:avLst>
          </a:prstGeom>
          <a:solidFill xmlns:a="http://schemas.openxmlformats.org/drawingml/2006/main">
            <a:srgbClr val="C78A2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E3B8CFB-D195-4B0D-B145-A9F48879E1A0}"/>
              </a:ext>
            </a:extLst>
          </p:cNvPr>
          <p:cNvSpPr>
            <a:spLocks xmlns:a="http://schemas.openxmlformats.org/drawingml/2006/main" noGrp="1"/>
          </p:cNvSpPr>
          <p:nvPr/>
        </p:nvSpPr>
        <p:spPr>
          <a:xfrm xmlns:a="http://schemas.openxmlformats.org/drawingml/2006/main">
            <a:off x="390525" y="29241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4" name="">
            <a:extLst xmlns:a="http://schemas.openxmlformats.org/drawingml/2006/main">
              <a:ext uri="{FF2B5EF4-FFF2-40B4-BE49-F238E27FC236}">
                <a16:creationId xmlns:a16="http://schemas.microsoft.com/office/drawing/2014/main" id="{9C093B29-4D1C-4EE7-8385-3544E7617B3E}"/>
              </a:ext>
            </a:extLst>
          </p:cNvPr>
          <p:cNvSpPr>
            <a:spLocks xmlns:a="http://schemas.openxmlformats.org/drawingml/2006/main" noGrp="1"/>
          </p:cNvSpPr>
          <p:nvPr/>
        </p:nvSpPr>
        <p:spPr>
          <a:xfrm xmlns:a="http://schemas.openxmlformats.org/drawingml/2006/main">
            <a:off x="390525" y="2933700"/>
            <a:ext cx="47625" cy="4857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713C875-CE65-4D48-9658-A46BB1DFFE31}"/>
              </a:ext>
            </a:extLst>
          </p:cNvPr>
          <p:cNvSpPr>
            <a:spLocks xmlns:a="http://schemas.openxmlformats.org/drawingml/2006/main" noGrp="1"/>
          </p:cNvSpPr>
          <p:nvPr/>
        </p:nvSpPr>
        <p:spPr>
          <a:xfrm xmlns:a="http://schemas.openxmlformats.org/drawingml/2006/main">
            <a:off x="390525" y="34956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6" name="">
            <a:extLst xmlns:a="http://schemas.openxmlformats.org/drawingml/2006/main">
              <a:ext uri="{FF2B5EF4-FFF2-40B4-BE49-F238E27FC236}">
                <a16:creationId xmlns:a16="http://schemas.microsoft.com/office/drawing/2014/main" id="{64A5D663-9571-42C7-AC57-D9BDAA78C562}"/>
              </a:ext>
            </a:extLst>
          </p:cNvPr>
          <p:cNvSpPr>
            <a:spLocks xmlns:a="http://schemas.openxmlformats.org/drawingml/2006/main" noGrp="1"/>
          </p:cNvSpPr>
          <p:nvPr/>
        </p:nvSpPr>
        <p:spPr>
          <a:xfrm xmlns:a="http://schemas.openxmlformats.org/drawingml/2006/main">
            <a:off x="390525" y="3505200"/>
            <a:ext cx="47625" cy="485775"/>
          </a:xfrm>
          <a:prstGeom xmlns:a="http://schemas.openxmlformats.org/drawingml/2006/main" prst="roundRect">
            <a:avLst>
              <a:gd name="adj" fmla="val 50000"/>
            </a:avLst>
          </a:prstGeom>
          <a:solidFill xmlns:a="http://schemas.openxmlformats.org/drawingml/2006/main">
            <a:srgbClr val="845FB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CA0AFB2-99DC-4D39-8CE3-0168D19BFE21}"/>
              </a:ext>
            </a:extLst>
          </p:cNvPr>
          <p:cNvSpPr>
            <a:spLocks xmlns:a="http://schemas.openxmlformats.org/drawingml/2006/main" noGrp="1"/>
          </p:cNvSpPr>
          <p:nvPr/>
        </p:nvSpPr>
        <p:spPr>
          <a:xfrm xmlns:a="http://schemas.openxmlformats.org/drawingml/2006/main">
            <a:off x="704850" y="4181475"/>
            <a:ext cx="6076950" cy="533400"/>
          </a:xfrm>
          <a:prstGeom xmlns:a="http://schemas.openxmlformats.org/drawingml/2006/main" prst="roundRect">
            <a:avLst>
              <a:gd name="adj" fmla="val 26786"/>
            </a:avLst>
          </a:prstGeom>
          <a:solidFill xmlns:a="http://schemas.openxmlformats.org/drawingml/2006/main">
            <a:srgbClr val="F1F8F7"/>
          </a:solidFill>
          <a:ln xmlns:a="http://schemas.openxmlformats.org/drawingml/2006/main" w="9525">
            <a:solidFill>
              <a:srgbClr val="D4E6E2"/>
            </a:solidFill>
            <a:prstDash val="solid"/>
          </a:ln>
        </p:spPr>
      </p:sp>
      <p:sp>
        <p:nvSpPr>
          <p:cNvPr id="38" name="">
            <a:extLst xmlns:a="http://schemas.openxmlformats.org/drawingml/2006/main">
              <a:ext uri="{FF2B5EF4-FFF2-40B4-BE49-F238E27FC236}">
                <a16:creationId xmlns:a16="http://schemas.microsoft.com/office/drawing/2014/main" id="{04CB5ACF-FFBC-4028-81F4-6F47FF1E78C0}"/>
              </a:ext>
            </a:extLst>
          </p:cNvPr>
          <p:cNvSpPr>
            <a:spLocks xmlns:a="http://schemas.openxmlformats.org/drawingml/2006/main" noGrp="1"/>
          </p:cNvSpPr>
          <p:nvPr/>
        </p:nvSpPr>
        <p:spPr>
          <a:xfrm xmlns:a="http://schemas.openxmlformats.org/drawingml/2006/main">
            <a:off x="704850" y="4181475"/>
            <a:ext cx="47625" cy="5334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B2483AC-5DA5-45DC-B7BC-1EAD27C59F2F}"/>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Alerts flag threshold events for review</a:t>
            </a:r>
          </a:p>
        </p:txBody>
      </p:sp>
      <p:sp>
        <p:nvSpPr>
          <p:cNvPr id="2" name="">
            <a:extLst xmlns:a="http://schemas.openxmlformats.org/drawingml/2006/main">
              <a:ext uri="{FF2B5EF4-FFF2-40B4-BE49-F238E27FC236}">
                <a16:creationId xmlns:a16="http://schemas.microsoft.com/office/drawing/2014/main" id="{1192610B-7E65-4432-B99F-EFBD269BC3C4}"/>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0A057B0B-0E18-4E24-AE22-6BA312C79348}"/>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Thresholds are code rules, not a calibrated multi-signal clinical alarm system.</a:t>
            </a:r>
          </a:p>
        </p:txBody>
      </p:sp>
      <p:sp>
        <p:nvSpPr>
          <p:cNvPr id="4" name="">
            <a:extLst xmlns:a="http://schemas.openxmlformats.org/drawingml/2006/main">
              <a:ext uri="{FF2B5EF4-FFF2-40B4-BE49-F238E27FC236}">
                <a16:creationId xmlns:a16="http://schemas.microsoft.com/office/drawing/2014/main" id="{145DD0C4-FA7C-403C-A306-D42624DF7B50}"/>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9514E920-AF11-419E-80AF-460446FA6BAE}"/>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4C10495F-1C66-4201-A2A4-E46DE3E535D2}"/>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09</a:t>
            </a:r>
          </a:p>
        </p:txBody>
      </p:sp>
      <p:sp>
        <p:nvSpPr>
          <p:cNvPr id="7" name="">
            <a:extLst xmlns:a="http://schemas.openxmlformats.org/drawingml/2006/main">
              <a:ext uri="{FF2B5EF4-FFF2-40B4-BE49-F238E27FC236}">
                <a16:creationId xmlns:a16="http://schemas.microsoft.com/office/drawing/2014/main" id="{F35A6453-14DD-45B0-82F4-819A4ED58170}"/>
              </a:ext>
            </a:extLst>
          </p:cNvPr>
          <p:cNvSpPr>
            <a:spLocks xmlns:a="http://schemas.openxmlformats.org/drawingml/2006/main" noGrp="1"/>
          </p:cNvSpPr>
          <p:nvPr/>
        </p:nvSpPr>
        <p:spPr>
          <a:xfrm xmlns:a="http://schemas.openxmlformats.org/drawingml/2006/main">
            <a:off x="552450" y="14573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xmlns:a="http://schemas.openxmlformats.org/drawingml/2006/main">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SIGNAL CHECK</a:t>
            </a:r>
          </a:p>
        </p:txBody>
      </p:sp>
      <p:sp>
        <p:nvSpPr>
          <p:cNvPr id="8" name="">
            <a:extLst xmlns:a="http://schemas.openxmlformats.org/drawingml/2006/main">
              <a:ext uri="{FF2B5EF4-FFF2-40B4-BE49-F238E27FC236}">
                <a16:creationId xmlns:a16="http://schemas.microsoft.com/office/drawing/2014/main" id="{75C9EDD9-CC0F-4348-8289-1149FD9016B3}"/>
              </a:ext>
            </a:extLst>
          </p:cNvPr>
          <p:cNvSpPr>
            <a:spLocks xmlns:a="http://schemas.openxmlformats.org/drawingml/2006/main" noGrp="1"/>
          </p:cNvSpPr>
          <p:nvPr/>
        </p:nvSpPr>
        <p:spPr>
          <a:xfrm xmlns:a="http://schemas.openxmlformats.org/drawingml/2006/main">
            <a:off x="2381250" y="14573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xmlns:a="http://schemas.openxmlformats.org/drawingml/2006/main">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EXAMPLE RULE IN CODE</a:t>
            </a:r>
          </a:p>
        </p:txBody>
      </p:sp>
      <p:sp>
        <p:nvSpPr>
          <p:cNvPr id="9" name="">
            <a:extLst xmlns:a="http://schemas.openxmlformats.org/drawingml/2006/main">
              <a:ext uri="{FF2B5EF4-FFF2-40B4-BE49-F238E27FC236}">
                <a16:creationId xmlns:a16="http://schemas.microsoft.com/office/drawing/2014/main" id="{A03E4ADC-B62A-4B0D-BCC3-BEC914E1982A}"/>
              </a:ext>
            </a:extLst>
          </p:cNvPr>
          <p:cNvSpPr>
            <a:spLocks xmlns:a="http://schemas.openxmlformats.org/drawingml/2006/main" noGrp="1"/>
          </p:cNvSpPr>
          <p:nvPr/>
        </p:nvSpPr>
        <p:spPr>
          <a:xfrm xmlns:a="http://schemas.openxmlformats.org/drawingml/2006/main">
            <a:off x="5676900" y="1457325"/>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xmlns:a="http://schemas.openxmlformats.org/drawingml/2006/main">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FOLLOW-UP IN APP</a:t>
            </a:r>
          </a:p>
        </p:txBody>
      </p:sp>
      <p:sp>
        <p:nvSpPr>
          <p:cNvPr id="10" name="">
            <a:extLst xmlns:a="http://schemas.openxmlformats.org/drawingml/2006/main">
              <a:ext uri="{FF2B5EF4-FFF2-40B4-BE49-F238E27FC236}">
                <a16:creationId xmlns:a16="http://schemas.microsoft.com/office/drawing/2014/main" id="{00868F52-60AD-4721-B202-793E789A496E}"/>
              </a:ext>
            </a:extLst>
          </p:cNvPr>
          <p:cNvSpPr>
            <a:spLocks xmlns:a="http://schemas.openxmlformats.org/drawingml/2006/main" noGrp="1"/>
          </p:cNvSpPr>
          <p:nvPr/>
        </p:nvSpPr>
        <p:spPr>
          <a:xfrm xmlns:a="http://schemas.openxmlformats.org/drawingml/2006/main">
            <a:off x="552450" y="18478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D76A55"/>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D76A55"/>
                </a:solidFill>
                <a:latin typeface="Calibri"/>
                <a:ea typeface="Calibri"/>
                <a:cs typeface="Calibri"/>
              </a:rPr>
              <a:t>Heart rate</a:t>
            </a:r>
          </a:p>
        </p:txBody>
      </p:sp>
      <p:sp>
        <p:nvSpPr>
          <p:cNvPr id="11" name="">
            <a:extLst xmlns:a="http://schemas.openxmlformats.org/drawingml/2006/main">
              <a:ext uri="{FF2B5EF4-FFF2-40B4-BE49-F238E27FC236}">
                <a16:creationId xmlns:a16="http://schemas.microsoft.com/office/drawing/2014/main" id="{04CED08C-597A-4D77-8552-83B8B339DFB8}"/>
              </a:ext>
            </a:extLst>
          </p:cNvPr>
          <p:cNvSpPr>
            <a:spLocks xmlns:a="http://schemas.openxmlformats.org/drawingml/2006/main" noGrp="1"/>
          </p:cNvSpPr>
          <p:nvPr/>
        </p:nvSpPr>
        <p:spPr>
          <a:xfrm xmlns:a="http://schemas.openxmlformats.org/drawingml/2006/main">
            <a:off x="2381250" y="18478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xmlns:a="http://schemas.openxmlformats.org/drawingml/2006/main">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&gt;120 or &lt;50 bpm → HIGH; &gt;100 → MEDIUM</a:t>
            </a:r>
          </a:p>
        </p:txBody>
      </p:sp>
      <p:sp>
        <p:nvSpPr>
          <p:cNvPr id="12" name="">
            <a:extLst xmlns:a="http://schemas.openxmlformats.org/drawingml/2006/main">
              <a:ext uri="{FF2B5EF4-FFF2-40B4-BE49-F238E27FC236}">
                <a16:creationId xmlns:a16="http://schemas.microsoft.com/office/drawing/2014/main" id="{67E33EB2-12BB-43A9-A955-98753ECB5180}"/>
              </a:ext>
            </a:extLst>
          </p:cNvPr>
          <p:cNvSpPr>
            <a:spLocks xmlns:a="http://schemas.openxmlformats.org/drawingml/2006/main" noGrp="1"/>
          </p:cNvSpPr>
          <p:nvPr/>
        </p:nvSpPr>
        <p:spPr>
          <a:xfrm xmlns:a="http://schemas.openxmlformats.org/drawingml/2006/main">
            <a:off x="5676900" y="18478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13" name="">
            <a:extLst xmlns:a="http://schemas.openxmlformats.org/drawingml/2006/main">
              <a:ext uri="{FF2B5EF4-FFF2-40B4-BE49-F238E27FC236}">
                <a16:creationId xmlns:a16="http://schemas.microsoft.com/office/drawing/2014/main" id="{8F1C1970-DDC9-4310-ABB9-443AE6FFFCD9}"/>
              </a:ext>
            </a:extLst>
          </p:cNvPr>
          <p:cNvSpPr>
            <a:spLocks xmlns:a="http://schemas.openxmlformats.org/drawingml/2006/main" noGrp="1"/>
          </p:cNvSpPr>
          <p:nvPr/>
        </p:nvSpPr>
        <p:spPr>
          <a:xfrm xmlns:a="http://schemas.openxmlformats.org/drawingml/2006/main" flipH="0" flipV="0">
            <a:off x="552450" y="23526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4" name="">
            <a:extLst xmlns:a="http://schemas.openxmlformats.org/drawingml/2006/main">
              <a:ext uri="{FF2B5EF4-FFF2-40B4-BE49-F238E27FC236}">
                <a16:creationId xmlns:a16="http://schemas.microsoft.com/office/drawing/2014/main" id="{61AC4CAA-66C0-41C3-8088-E021664E0016}"/>
              </a:ext>
            </a:extLst>
          </p:cNvPr>
          <p:cNvSpPr>
            <a:spLocks xmlns:a="http://schemas.openxmlformats.org/drawingml/2006/main" noGrp="1"/>
          </p:cNvSpPr>
          <p:nvPr/>
        </p:nvSpPr>
        <p:spPr>
          <a:xfrm xmlns:a="http://schemas.openxmlformats.org/drawingml/2006/main">
            <a:off x="552450" y="24193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C88625"/>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C88625"/>
                </a:solidFill>
                <a:latin typeface="Calibri"/>
                <a:ea typeface="Calibri"/>
                <a:cs typeface="Calibri"/>
              </a:rPr>
              <a:t>Blood pressure</a:t>
            </a:r>
          </a:p>
        </p:txBody>
      </p:sp>
      <p:sp>
        <p:nvSpPr>
          <p:cNvPr id="15" name="">
            <a:extLst xmlns:a="http://schemas.openxmlformats.org/drawingml/2006/main">
              <a:ext uri="{FF2B5EF4-FFF2-40B4-BE49-F238E27FC236}">
                <a16:creationId xmlns:a16="http://schemas.microsoft.com/office/drawing/2014/main" id="{F0B0EC37-E183-47DD-AE0B-A2601EE88F08}"/>
              </a:ext>
            </a:extLst>
          </p:cNvPr>
          <p:cNvSpPr>
            <a:spLocks xmlns:a="http://schemas.openxmlformats.org/drawingml/2006/main" noGrp="1"/>
          </p:cNvSpPr>
          <p:nvPr/>
        </p:nvSpPr>
        <p:spPr>
          <a:xfrm xmlns:a="http://schemas.openxmlformats.org/drawingml/2006/main">
            <a:off x="2381250" y="24193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13" b="0" i="0">
                <a:solidFill>
                  <a:srgbClr val="304F5B"/>
                </a:solidFill>
                <a:latin typeface="Calibri"/>
                <a:ea typeface="Calibri"/>
                <a:cs typeface="Calibri"/>
              </a:defRPr>
            </a:defPPr>
            <a:lvl1pPr algn="l">
              <a:buNone/>
              <a:defRPr sz="1013" b="0" i="0">
                <a:solidFill>
                  <a:srgbClr val="263C45"/>
                </a:solidFill>
                <a:latin typeface="Calibri"/>
                <a:ea typeface="Calibri"/>
                <a:cs typeface="Calibri"/>
              </a:defRPr>
            </a:lvl1pPr>
            <a:lvl2pPr algn="l">
              <a:buNone/>
              <a:defRPr sz="1013" b="0" i="0">
                <a:solidFill>
                  <a:srgbClr val="263C45"/>
                </a:solidFill>
                <a:latin typeface="Calibri"/>
                <a:ea typeface="Calibri"/>
                <a:cs typeface="Calibri"/>
              </a:defRPr>
            </a:lvl2pPr>
            <a:lvl3pPr algn="l">
              <a:buNone/>
              <a:defRPr sz="1013" b="0" i="0">
                <a:solidFill>
                  <a:srgbClr val="263C45"/>
                </a:solidFill>
                <a:latin typeface="Calibri"/>
                <a:ea typeface="Calibri"/>
                <a:cs typeface="Calibri"/>
              </a:defRPr>
            </a:lvl3pPr>
            <a:lvl4pPr algn="l">
              <a:buNone/>
              <a:defRPr sz="1013" b="0" i="0">
                <a:solidFill>
                  <a:srgbClr val="263C45"/>
                </a:solidFill>
                <a:latin typeface="Calibri"/>
                <a:ea typeface="Calibri"/>
                <a:cs typeface="Calibri"/>
              </a:defRPr>
            </a:lvl4pPr>
            <a:lvl5pPr algn="l">
              <a:buNone/>
              <a:defRPr sz="1013" b="0" i="0">
                <a:solidFill>
                  <a:srgbClr val="263C45"/>
                </a:solidFill>
                <a:latin typeface="Calibri"/>
                <a:ea typeface="Calibri"/>
                <a:cs typeface="Calibri"/>
              </a:defRPr>
            </a:lvl5pPr>
            <a:lvl6pPr algn="l">
              <a:buNone/>
              <a:defRPr sz="1013" b="0" i="0">
                <a:solidFill>
                  <a:srgbClr val="263C45"/>
                </a:solidFill>
                <a:latin typeface="Calibri"/>
                <a:ea typeface="Calibri"/>
                <a:cs typeface="Calibri"/>
              </a:defRPr>
            </a:lvl6pPr>
            <a:lvl7pPr algn="l">
              <a:buNone/>
              <a:defRPr sz="1013" b="0" i="0">
                <a:solidFill>
                  <a:srgbClr val="263C45"/>
                </a:solidFill>
                <a:latin typeface="Calibri"/>
                <a:ea typeface="Calibri"/>
                <a:cs typeface="Calibri"/>
              </a:defRPr>
            </a:lvl7pPr>
            <a:lvl8pPr algn="l">
              <a:buNone/>
              <a:defRPr sz="1013" b="0" i="0">
                <a:solidFill>
                  <a:srgbClr val="263C45"/>
                </a:solidFill>
                <a:latin typeface="Calibri"/>
                <a:ea typeface="Calibri"/>
                <a:cs typeface="Calibri"/>
              </a:defRPr>
            </a:lvl8pPr>
            <a:lvl9pPr algn="l">
              <a:buNone/>
              <a:defRPr sz="1013" b="0" i="0">
                <a:solidFill>
                  <a:srgbClr val="263C45"/>
                </a:solidFill>
                <a:latin typeface="Calibri"/>
                <a:ea typeface="Calibri"/>
                <a:cs typeface="Calibri"/>
              </a:defRPr>
            </a:lvl9pPr>
          </a:lstStyle>
          <a:p xmlns:a="http://schemas.openxmlformats.org/drawingml/2006/main">
            <a:pPr algn="l">
              <a:lnSpc>
                <a:spcPct val="108000"/>
              </a:lnSpc>
              <a:buNone/>
              <a:defRPr sz="1013" b="0" i="0">
                <a:solidFill>
                  <a:srgbClr val="263C45"/>
                </a:solidFill>
                <a:latin typeface="Calibri"/>
                <a:ea typeface="Calibri"/>
                <a:cs typeface="Calibri"/>
              </a:defRPr>
            </a:pPr>
            <a:r>
              <a:rPr sz="1013" b="0" i="0">
                <a:solidFill>
                  <a:srgbClr val="304F5B"/>
                </a:solidFill>
                <a:latin typeface="Calibri"/>
                <a:ea typeface="Calibri"/>
                <a:cs typeface="Calibri"/>
              </a:rPr>
              <a:t>SBP ≥180 or DBP ≥120 → CRITICAL; SBP ≥160 or DBP ≥100 → HIGH; SBP ≥140 or DBP ≥90 → MEDIUM</a:t>
            </a:r>
          </a:p>
        </p:txBody>
      </p:sp>
      <p:sp>
        <p:nvSpPr>
          <p:cNvPr id="16" name="">
            <a:extLst xmlns:a="http://schemas.openxmlformats.org/drawingml/2006/main">
              <a:ext uri="{FF2B5EF4-FFF2-40B4-BE49-F238E27FC236}">
                <a16:creationId xmlns:a16="http://schemas.microsoft.com/office/drawing/2014/main" id="{81C848CA-D81C-4DA5-8B5D-A5E0248F0B35}"/>
              </a:ext>
            </a:extLst>
          </p:cNvPr>
          <p:cNvSpPr>
            <a:spLocks xmlns:a="http://schemas.openxmlformats.org/drawingml/2006/main" noGrp="1"/>
          </p:cNvSpPr>
          <p:nvPr/>
        </p:nvSpPr>
        <p:spPr>
          <a:xfrm xmlns:a="http://schemas.openxmlformats.org/drawingml/2006/main">
            <a:off x="5676900" y="24193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17" name="">
            <a:extLst xmlns:a="http://schemas.openxmlformats.org/drawingml/2006/main">
              <a:ext uri="{FF2B5EF4-FFF2-40B4-BE49-F238E27FC236}">
                <a16:creationId xmlns:a16="http://schemas.microsoft.com/office/drawing/2014/main" id="{EB77416B-731A-4C34-94D2-D55E1C84F98E}"/>
              </a:ext>
            </a:extLst>
          </p:cNvPr>
          <p:cNvSpPr>
            <a:spLocks xmlns:a="http://schemas.openxmlformats.org/drawingml/2006/main" noGrp="1"/>
          </p:cNvSpPr>
          <p:nvPr/>
        </p:nvSpPr>
        <p:spPr>
          <a:xfrm xmlns:a="http://schemas.openxmlformats.org/drawingml/2006/main" flipH="0" flipV="0">
            <a:off x="552450" y="29241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8" name="">
            <a:extLst xmlns:a="http://schemas.openxmlformats.org/drawingml/2006/main">
              <a:ext uri="{FF2B5EF4-FFF2-40B4-BE49-F238E27FC236}">
                <a16:creationId xmlns:a16="http://schemas.microsoft.com/office/drawing/2014/main" id="{7D06D34C-72B2-48C0-B84B-93E3CF5170F1}"/>
              </a:ext>
            </a:extLst>
          </p:cNvPr>
          <p:cNvSpPr>
            <a:spLocks xmlns:a="http://schemas.openxmlformats.org/drawingml/2006/main" noGrp="1"/>
          </p:cNvSpPr>
          <p:nvPr/>
        </p:nvSpPr>
        <p:spPr>
          <a:xfrm xmlns:a="http://schemas.openxmlformats.org/drawingml/2006/main">
            <a:off x="552450" y="29908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258FB1"/>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258FB1"/>
                </a:solidFill>
                <a:latin typeface="Calibri"/>
                <a:ea typeface="Calibri"/>
                <a:cs typeface="Calibri"/>
              </a:rPr>
              <a:t>Oxygen</a:t>
            </a:r>
          </a:p>
        </p:txBody>
      </p:sp>
      <p:sp>
        <p:nvSpPr>
          <p:cNvPr id="19" name="">
            <a:extLst xmlns:a="http://schemas.openxmlformats.org/drawingml/2006/main">
              <a:ext uri="{FF2B5EF4-FFF2-40B4-BE49-F238E27FC236}">
                <a16:creationId xmlns:a16="http://schemas.microsoft.com/office/drawing/2014/main" id="{7CD31BB3-5185-4A99-A352-44F1EEFA0D9F}"/>
              </a:ext>
            </a:extLst>
          </p:cNvPr>
          <p:cNvSpPr>
            <a:spLocks xmlns:a="http://schemas.openxmlformats.org/drawingml/2006/main" noGrp="1"/>
          </p:cNvSpPr>
          <p:nvPr/>
        </p:nvSpPr>
        <p:spPr>
          <a:xfrm xmlns:a="http://schemas.openxmlformats.org/drawingml/2006/main">
            <a:off x="2381250" y="29908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xmlns:a="http://schemas.openxmlformats.org/drawingml/2006/main">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SpO₂ &lt;90% → HIGH</a:t>
            </a:r>
          </a:p>
        </p:txBody>
      </p:sp>
      <p:sp>
        <p:nvSpPr>
          <p:cNvPr id="20" name="">
            <a:extLst xmlns:a="http://schemas.openxmlformats.org/drawingml/2006/main">
              <a:ext uri="{FF2B5EF4-FFF2-40B4-BE49-F238E27FC236}">
                <a16:creationId xmlns:a16="http://schemas.microsoft.com/office/drawing/2014/main" id="{B72F1D39-22EF-4A35-8477-62751C21E0FC}"/>
              </a:ext>
            </a:extLst>
          </p:cNvPr>
          <p:cNvSpPr>
            <a:spLocks xmlns:a="http://schemas.openxmlformats.org/drawingml/2006/main" noGrp="1"/>
          </p:cNvSpPr>
          <p:nvPr/>
        </p:nvSpPr>
        <p:spPr>
          <a:xfrm xmlns:a="http://schemas.openxmlformats.org/drawingml/2006/main">
            <a:off x="5676900" y="29908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21" name="">
            <a:extLst xmlns:a="http://schemas.openxmlformats.org/drawingml/2006/main">
              <a:ext uri="{FF2B5EF4-FFF2-40B4-BE49-F238E27FC236}">
                <a16:creationId xmlns:a16="http://schemas.microsoft.com/office/drawing/2014/main" id="{408B9436-D31E-4744-A0ED-A25C90FB3437}"/>
              </a:ext>
            </a:extLst>
          </p:cNvPr>
          <p:cNvSpPr>
            <a:spLocks xmlns:a="http://schemas.openxmlformats.org/drawingml/2006/main" noGrp="1"/>
          </p:cNvSpPr>
          <p:nvPr/>
        </p:nvSpPr>
        <p:spPr>
          <a:xfrm xmlns:a="http://schemas.openxmlformats.org/drawingml/2006/main" flipH="0" flipV="0">
            <a:off x="552450" y="34956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22" name="">
            <a:extLst xmlns:a="http://schemas.openxmlformats.org/drawingml/2006/main">
              <a:ext uri="{FF2B5EF4-FFF2-40B4-BE49-F238E27FC236}">
                <a16:creationId xmlns:a16="http://schemas.microsoft.com/office/drawing/2014/main" id="{396914B5-F2DD-457A-8834-AA2313575EBB}"/>
              </a:ext>
            </a:extLst>
          </p:cNvPr>
          <p:cNvSpPr>
            <a:spLocks xmlns:a="http://schemas.openxmlformats.org/drawingml/2006/main" noGrp="1"/>
          </p:cNvSpPr>
          <p:nvPr/>
        </p:nvSpPr>
        <p:spPr>
          <a:xfrm xmlns:a="http://schemas.openxmlformats.org/drawingml/2006/main">
            <a:off x="552450" y="35623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825FB4"/>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825FB4"/>
                </a:solidFill>
                <a:latin typeface="Calibri"/>
                <a:ea typeface="Calibri"/>
                <a:cs typeface="Calibri"/>
              </a:rPr>
              <a:t>ECG label</a:t>
            </a:r>
          </a:p>
        </p:txBody>
      </p:sp>
      <p:sp>
        <p:nvSpPr>
          <p:cNvPr id="23" name="">
            <a:extLst xmlns:a="http://schemas.openxmlformats.org/drawingml/2006/main">
              <a:ext uri="{FF2B5EF4-FFF2-40B4-BE49-F238E27FC236}">
                <a16:creationId xmlns:a16="http://schemas.microsoft.com/office/drawing/2014/main" id="{CAC3E99B-9B90-475E-A869-F779805EF9D1}"/>
              </a:ext>
            </a:extLst>
          </p:cNvPr>
          <p:cNvSpPr>
            <a:spLocks xmlns:a="http://schemas.openxmlformats.org/drawingml/2006/main" noGrp="1"/>
          </p:cNvSpPr>
          <p:nvPr/>
        </p:nvSpPr>
        <p:spPr>
          <a:xfrm xmlns:a="http://schemas.openxmlformats.org/drawingml/2006/main">
            <a:off x="2381250" y="35623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xmlns:a="http://schemas.openxmlformats.org/drawingml/2006/main">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AFib / PVC / ST elevation / T-wave inversion → HIGH</a:t>
            </a:r>
          </a:p>
        </p:txBody>
      </p:sp>
      <p:sp>
        <p:nvSpPr>
          <p:cNvPr id="24" name="">
            <a:extLst xmlns:a="http://schemas.openxmlformats.org/drawingml/2006/main">
              <a:ext uri="{FF2B5EF4-FFF2-40B4-BE49-F238E27FC236}">
                <a16:creationId xmlns:a16="http://schemas.microsoft.com/office/drawing/2014/main" id="{3B87E684-7123-4434-96B2-B1A6E7382415}"/>
              </a:ext>
            </a:extLst>
          </p:cNvPr>
          <p:cNvSpPr>
            <a:spLocks xmlns:a="http://schemas.openxmlformats.org/drawingml/2006/main" noGrp="1"/>
          </p:cNvSpPr>
          <p:nvPr/>
        </p:nvSpPr>
        <p:spPr>
          <a:xfrm xmlns:a="http://schemas.openxmlformats.org/drawingml/2006/main">
            <a:off x="5676900" y="35623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25" name="">
            <a:extLst xmlns:a="http://schemas.openxmlformats.org/drawingml/2006/main">
              <a:ext uri="{FF2B5EF4-FFF2-40B4-BE49-F238E27FC236}">
                <a16:creationId xmlns:a16="http://schemas.microsoft.com/office/drawing/2014/main" id="{A4D27ED1-ECAD-4778-8811-27C2F12326D7}"/>
              </a:ext>
            </a:extLst>
          </p:cNvPr>
          <p:cNvSpPr>
            <a:spLocks xmlns:a="http://schemas.openxmlformats.org/drawingml/2006/main" noGrp="1"/>
          </p:cNvSpPr>
          <p:nvPr/>
        </p:nvSpPr>
        <p:spPr>
          <a:xfrm xmlns:a="http://schemas.openxmlformats.org/drawingml/2006/main" flipH="0" flipV="0">
            <a:off x="552450" y="40671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26" name="">
            <a:extLst xmlns:a="http://schemas.openxmlformats.org/drawingml/2006/main">
              <a:ext uri="{FF2B5EF4-FFF2-40B4-BE49-F238E27FC236}">
                <a16:creationId xmlns:a16="http://schemas.microsoft.com/office/drawing/2014/main" id="{5A7C1ACE-EBA0-4722-A236-5A2E1F00BBF7}"/>
              </a:ext>
            </a:extLst>
          </p:cNvPr>
          <p:cNvSpPr>
            <a:spLocks xmlns:a="http://schemas.openxmlformats.org/drawingml/2006/main" noGrp="1"/>
          </p:cNvSpPr>
          <p:nvPr/>
        </p:nvSpPr>
        <p:spPr>
          <a:xfrm xmlns:a="http://schemas.openxmlformats.org/drawingml/2006/main">
            <a:off x="742950" y="4238625"/>
            <a:ext cx="6010275" cy="466725"/>
          </a:xfrm>
          <a:prstGeom xmlns:a="http://schemas.openxmlformats.org/drawingml/2006/main" prst="roundRect">
            <a:avLst>
              <a:gd name="adj" fmla="val 16327"/>
            </a:avLst>
          </a:prstGeom>
          <a:solidFill xmlns:a="http://schemas.openxmlformats.org/drawingml/2006/main">
            <a:srgbClr val="DDF2EF"/>
          </a:solidFill>
          <a:ln xmlns:a="http://schemas.openxmlformats.org/drawingml/2006/main" w="11430">
            <a:solidFill>
              <a:srgbClr val="BEDDD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088" b="1">
                <a:solidFill>
                  <a:srgbClr val="8B5C54"/>
                </a:solidFill>
                <a:latin typeface="Calibri"/>
                <a:ea typeface="Calibri"/>
                <a:cs typeface="Calibri"/>
              </a:defRPr>
            </a:defPPr>
            <a:lvl1pPr algn="ctr">
              <a:buNone/>
              <a:defRPr sz="1125" b="1">
                <a:solidFill>
                  <a:srgbClr val="123F50"/>
                </a:solidFill>
                <a:latin typeface="Calibri"/>
                <a:ea typeface="Calibri"/>
                <a:cs typeface="Calibri"/>
              </a:defRPr>
            </a:lvl1pPr>
            <a:lvl2pPr algn="ctr">
              <a:buNone/>
              <a:defRPr sz="1125" b="1">
                <a:solidFill>
                  <a:srgbClr val="123F50"/>
                </a:solidFill>
                <a:latin typeface="Calibri"/>
                <a:ea typeface="Calibri"/>
                <a:cs typeface="Calibri"/>
              </a:defRPr>
            </a:lvl2pPr>
            <a:lvl3pPr algn="ctr">
              <a:buNone/>
              <a:defRPr sz="1125" b="1">
                <a:solidFill>
                  <a:srgbClr val="123F50"/>
                </a:solidFill>
                <a:latin typeface="Calibri"/>
                <a:ea typeface="Calibri"/>
                <a:cs typeface="Calibri"/>
              </a:defRPr>
            </a:lvl3pPr>
            <a:lvl4pPr algn="ctr">
              <a:buNone/>
              <a:defRPr sz="1125" b="1">
                <a:solidFill>
                  <a:srgbClr val="123F50"/>
                </a:solidFill>
                <a:latin typeface="Calibri"/>
                <a:ea typeface="Calibri"/>
                <a:cs typeface="Calibri"/>
              </a:defRPr>
            </a:lvl4pPr>
            <a:lvl5pPr algn="ctr">
              <a:buNone/>
              <a:defRPr sz="1125" b="1">
                <a:solidFill>
                  <a:srgbClr val="123F50"/>
                </a:solidFill>
                <a:latin typeface="Calibri"/>
                <a:ea typeface="Calibri"/>
                <a:cs typeface="Calibri"/>
              </a:defRPr>
            </a:lvl5pPr>
            <a:lvl6pPr algn="ctr">
              <a:buNone/>
              <a:defRPr sz="1125" b="1">
                <a:solidFill>
                  <a:srgbClr val="123F50"/>
                </a:solidFill>
                <a:latin typeface="Calibri"/>
                <a:ea typeface="Calibri"/>
                <a:cs typeface="Calibri"/>
              </a:defRPr>
            </a:lvl6pPr>
            <a:lvl7pPr algn="ctr">
              <a:buNone/>
              <a:defRPr sz="1125" b="1">
                <a:solidFill>
                  <a:srgbClr val="123F50"/>
                </a:solidFill>
                <a:latin typeface="Calibri"/>
                <a:ea typeface="Calibri"/>
                <a:cs typeface="Calibri"/>
              </a:defRPr>
            </a:lvl7pPr>
            <a:lvl8pPr algn="ctr">
              <a:buNone/>
              <a:defRPr sz="1125" b="1">
                <a:solidFill>
                  <a:srgbClr val="123F50"/>
                </a:solidFill>
                <a:latin typeface="Calibri"/>
                <a:ea typeface="Calibri"/>
                <a:cs typeface="Calibri"/>
              </a:defRPr>
            </a:lvl8pPr>
            <a:lvl9pPr algn="ctr">
              <a:buNone/>
              <a:defRPr sz="1125" b="1">
                <a:solidFill>
                  <a:srgbClr val="123F50"/>
                </a:solidFill>
                <a:latin typeface="Calibri"/>
                <a:ea typeface="Calibri"/>
                <a:cs typeface="Calibri"/>
              </a:defRPr>
            </a:lvl9pPr>
          </a:lstStyle>
          <a:p xmlns:a="http://schemas.openxmlformats.org/drawingml/2006/main">
            <a:pPr algn="ctr">
              <a:buNone/>
              <a:defRPr sz="1125" b="1">
                <a:solidFill>
                  <a:srgbClr val="123F50"/>
                </a:solidFill>
                <a:latin typeface="Calibri"/>
                <a:ea typeface="Calibri"/>
                <a:cs typeface="Calibri"/>
              </a:defRPr>
            </a:pPr>
            <a:r>
              <a:rPr sz="1088" b="1">
                <a:solidFill>
                  <a:srgbClr val="8B5C54"/>
                </a:solidFill>
                <a:latin typeface="Calibri"/>
                <a:ea typeface="Calibri"/>
                <a:cs typeface="Calibri"/>
              </a:rPr>
              <a:t>Clinician acknowledgement is supported; alert history is in-memory and resets with the API process.</a:t>
            </a:r>
          </a:p>
        </p:txBody>
      </p:sp>
    </p:spTree>
    <p:extLst>
      <p:ext uri="{BB962C8B-B14F-4D97-AF65-F5344CB8AC3E}">
        <p14:creationId xmlns:p14="http://schemas.microsoft.com/office/powerpoint/2010/main" val="340585538"/>
      </p:ext>
    </p:extLst>
  </p:cSld>
</p:sld>
</file>

<file path=ppt/slides/slide10.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40" name="">
            <a:extLst xmlns:a="http://schemas.openxmlformats.org/drawingml/2006/main">
              <a:ext uri="{FF2B5EF4-FFF2-40B4-BE49-F238E27FC236}">
                <a16:creationId xmlns:a16="http://schemas.microsoft.com/office/drawing/2014/main" id="{D0D3108B-52A0-420A-9195-467BC574F959}"/>
              </a:ext>
            </a:extLst>
          </p:cNvPr>
          <p:cNvPicPr>
            <a:picLocks xmlns:a="http://schemas.openxmlformats.org/drawingml/2006/main" noChangeAspect="1"/>
          </p:cNvPicPr>
          <p:nvPr/>
        </p:nvPicPr>
        <p:blipFill>
          <a:blip xmlns:r="http://schemas.openxmlformats.org/officeDocument/2006/relationships" xmlns:a="http://schemas.openxmlformats.org/drawingml/2006/main" r:embed="R9259e2a4d0254a82"/>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83706106-21EA-427E-96C9-7F8B9FB6D44C}"/>
              </a:ext>
            </a:extLst>
          </p:cNvPr>
          <p:cNvSpPr>
            <a:spLocks xmlns:a="http://schemas.openxmlformats.org/drawingml/2006/main" noGrp="1"/>
          </p:cNvSpPr>
          <p:nvPr/>
        </p:nvSpPr>
        <p:spPr>
          <a:xfrm xmlns:a="http://schemas.openxmlformats.org/drawingml/2006/main">
            <a:off x="371475" y="1381125"/>
            <a:ext cx="6734175" cy="3448050"/>
          </a:xfrm>
          <a:prstGeom xmlns:a="http://schemas.openxmlformats.org/drawingml/2006/main" prst="roundRect">
            <a:avLst>
              <a:gd name="adj" fmla="val 4144"/>
            </a:avLst>
          </a:prstGeom>
          <a:solidFill xmlns:a="http://schemas.openxmlformats.org/drawingml/2006/main">
            <a:srgbClr val="FFFFFF">
              <a:alpha val="95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
            <a:extLst xmlns:a="http://schemas.openxmlformats.org/drawingml/2006/main">
              <a:ext uri="{FF2B5EF4-FFF2-40B4-BE49-F238E27FC236}">
                <a16:creationId xmlns:a16="http://schemas.microsoft.com/office/drawing/2014/main" id="{9A729F0C-E97F-4A13-9B94-D655FA196573}"/>
              </a:ext>
            </a:extLst>
          </p:cNvPr>
          <p:cNvSpPr>
            <a:spLocks xmlns:a="http://schemas.openxmlformats.org/drawingml/2006/main" noGrp="1"/>
          </p:cNvSpPr>
          <p:nvPr/>
        </p:nvSpPr>
        <p:spPr>
          <a:xfrm xmlns:a="http://schemas.openxmlformats.org/drawingml/2006/main">
            <a:off x="371475" y="1381125"/>
            <a:ext cx="47625" cy="34480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3A0D5A2-403B-4127-8107-70CDC4E4033F}"/>
              </a:ext>
            </a:extLst>
          </p:cNvPr>
          <p:cNvSpPr>
            <a:spLocks xmlns:a="http://schemas.openxmlformats.org/drawingml/2006/main" noGrp="1"/>
          </p:cNvSpPr>
          <p:nvPr/>
        </p:nvSpPr>
        <p:spPr>
          <a:xfrm xmlns:a="http://schemas.openxmlformats.org/drawingml/2006/main">
            <a:off x="600075" y="1457325"/>
            <a:ext cx="6191250" cy="323850"/>
          </a:xfrm>
          <a:prstGeom xmlns:a="http://schemas.openxmlformats.org/drawingml/2006/main" prst="roundRect">
            <a:avLst>
              <a:gd name="adj" fmla="val 44118"/>
            </a:avLst>
          </a:prstGeom>
          <a:solidFill xmlns:a="http://schemas.openxmlformats.org/drawingml/2006/main">
            <a:srgbClr val="E7F5F2"/>
          </a:solidFill>
          <a:ln xmlns:a="http://schemas.openxmlformats.org/drawingml/2006/main" w="9525">
            <a:solidFill>
              <a:srgbClr val="BBDCD7"/>
            </a:solidFill>
            <a:prstDash val="solid"/>
          </a:ln>
        </p:spPr>
      </p:sp>
      <p:sp>
        <p:nvSpPr>
          <p:cNvPr id="39" name="">
            <a:extLst xmlns:a="http://schemas.openxmlformats.org/drawingml/2006/main">
              <a:ext uri="{FF2B5EF4-FFF2-40B4-BE49-F238E27FC236}">
                <a16:creationId xmlns:a16="http://schemas.microsoft.com/office/drawing/2014/main" id="{E6BE5151-3498-48B5-8A8B-E4A9089AD63C}"/>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Clinician dashboard</a:t>
            </a:r>
          </a:p>
        </p:txBody>
      </p:sp>
      <p:sp>
        <p:nvSpPr>
          <p:cNvPr id="2" name="">
            <a:extLst xmlns:a="http://schemas.openxmlformats.org/drawingml/2006/main">
              <a:ext uri="{FF2B5EF4-FFF2-40B4-BE49-F238E27FC236}">
                <a16:creationId xmlns:a16="http://schemas.microsoft.com/office/drawing/2014/main" id="{947B7D65-0ABE-46DF-A63D-5C5B323075B5}"/>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AA4D7442-B556-4A0A-918F-CBD388A4221B}"/>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Next.js / React overview for roster, telemetry, prediction watchlist, and alerts.</a:t>
            </a:r>
          </a:p>
        </p:txBody>
      </p:sp>
      <p:sp>
        <p:nvSpPr>
          <p:cNvPr id="4" name="">
            <a:extLst xmlns:a="http://schemas.openxmlformats.org/drawingml/2006/main">
              <a:ext uri="{FF2B5EF4-FFF2-40B4-BE49-F238E27FC236}">
                <a16:creationId xmlns:a16="http://schemas.microsoft.com/office/drawing/2014/main" id="{D944566C-AFE6-470F-8BE0-98E700828605}"/>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EDBBB32-D616-4EDA-BC58-38D7515818E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1554CA14-2DF4-42D8-AA00-13B5CCAA31F4}"/>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10</a:t>
            </a:r>
          </a:p>
        </p:txBody>
      </p:sp>
      <p:sp>
        <p:nvSpPr>
          <p:cNvPr id="7" name="">
            <a:extLst xmlns:a="http://schemas.openxmlformats.org/drawingml/2006/main">
              <a:ext uri="{FF2B5EF4-FFF2-40B4-BE49-F238E27FC236}">
                <a16:creationId xmlns:a16="http://schemas.microsoft.com/office/drawing/2014/main" id="{525E4BAC-D56D-449E-9102-19AFC980FE15}"/>
              </a:ext>
            </a:extLst>
          </p:cNvPr>
          <p:cNvSpPr>
            <a:spLocks xmlns:a="http://schemas.openxmlformats.org/drawingml/2006/main" noGrp="1"/>
          </p:cNvSpPr>
          <p:nvPr/>
        </p:nvSpPr>
        <p:spPr>
          <a:xfrm xmlns:a="http://schemas.openxmlformats.org/drawingml/2006/main">
            <a:off x="533400" y="1438275"/>
            <a:ext cx="641985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11430">
            <a:solidFill>
              <a:srgbClr val="D5E0E3"/>
            </a:solidFill>
            <a:prstDash val="solid"/>
          </a:ln>
        </p:spPr>
      </p:sp>
      <p:sp>
        <p:nvSpPr>
          <p:cNvPr id="8" name="">
            <a:extLst xmlns:a="http://schemas.openxmlformats.org/drawingml/2006/main">
              <a:ext uri="{FF2B5EF4-FFF2-40B4-BE49-F238E27FC236}">
                <a16:creationId xmlns:a16="http://schemas.microsoft.com/office/drawing/2014/main" id="{58AB8A40-5860-4AE2-9374-3289C347EA7A}"/>
              </a:ext>
            </a:extLst>
          </p:cNvPr>
          <p:cNvSpPr>
            <a:spLocks xmlns:a="http://schemas.openxmlformats.org/drawingml/2006/main" noGrp="1"/>
          </p:cNvSpPr>
          <p:nvPr/>
        </p:nvSpPr>
        <p:spPr>
          <a:xfrm xmlns:a="http://schemas.openxmlformats.org/drawingml/2006/main">
            <a:off x="695325" y="1562100"/>
            <a:ext cx="3524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428DB2"/>
                </a:solidFill>
                <a:latin typeface="Calibri"/>
                <a:ea typeface="Calibri"/>
                <a:cs typeface="Calibri"/>
              </a:defRPr>
            </a:defPPr>
            <a:lvl1pPr algn="l">
              <a:buNone/>
              <a:defRPr sz="825" b="1" i="0">
                <a:solidFill>
                  <a:srgbClr val="428DB2"/>
                </a:solidFill>
                <a:latin typeface="Calibri"/>
                <a:ea typeface="Calibri"/>
                <a:cs typeface="Calibri"/>
              </a:defRPr>
            </a:lvl1pPr>
            <a:lvl2pPr algn="l">
              <a:buNone/>
              <a:defRPr sz="825" b="1" i="0">
                <a:solidFill>
                  <a:srgbClr val="428DB2"/>
                </a:solidFill>
                <a:latin typeface="Calibri"/>
                <a:ea typeface="Calibri"/>
                <a:cs typeface="Calibri"/>
              </a:defRPr>
            </a:lvl2pPr>
            <a:lvl3pPr algn="l">
              <a:buNone/>
              <a:defRPr sz="825" b="1" i="0">
                <a:solidFill>
                  <a:srgbClr val="428DB2"/>
                </a:solidFill>
                <a:latin typeface="Calibri"/>
                <a:ea typeface="Calibri"/>
                <a:cs typeface="Calibri"/>
              </a:defRPr>
            </a:lvl3pPr>
            <a:lvl4pPr algn="l">
              <a:buNone/>
              <a:defRPr sz="825" b="1" i="0">
                <a:solidFill>
                  <a:srgbClr val="428DB2"/>
                </a:solidFill>
                <a:latin typeface="Calibri"/>
                <a:ea typeface="Calibri"/>
                <a:cs typeface="Calibri"/>
              </a:defRPr>
            </a:lvl4pPr>
            <a:lvl5pPr algn="l">
              <a:buNone/>
              <a:defRPr sz="825" b="1" i="0">
                <a:solidFill>
                  <a:srgbClr val="428DB2"/>
                </a:solidFill>
                <a:latin typeface="Calibri"/>
                <a:ea typeface="Calibri"/>
                <a:cs typeface="Calibri"/>
              </a:defRPr>
            </a:lvl5pPr>
            <a:lvl6pPr algn="l">
              <a:buNone/>
              <a:defRPr sz="825" b="1" i="0">
                <a:solidFill>
                  <a:srgbClr val="428DB2"/>
                </a:solidFill>
                <a:latin typeface="Calibri"/>
                <a:ea typeface="Calibri"/>
                <a:cs typeface="Calibri"/>
              </a:defRPr>
            </a:lvl6pPr>
            <a:lvl7pPr algn="l">
              <a:buNone/>
              <a:defRPr sz="825" b="1" i="0">
                <a:solidFill>
                  <a:srgbClr val="428DB2"/>
                </a:solidFill>
                <a:latin typeface="Calibri"/>
                <a:ea typeface="Calibri"/>
                <a:cs typeface="Calibri"/>
              </a:defRPr>
            </a:lvl7pPr>
            <a:lvl8pPr algn="l">
              <a:buNone/>
              <a:defRPr sz="825" b="1" i="0">
                <a:solidFill>
                  <a:srgbClr val="428DB2"/>
                </a:solidFill>
                <a:latin typeface="Calibri"/>
                <a:ea typeface="Calibri"/>
                <a:cs typeface="Calibri"/>
              </a:defRPr>
            </a:lvl8pPr>
            <a:lvl9pPr algn="l">
              <a:buNone/>
              <a:defRPr sz="825" b="1" i="0">
                <a:solidFill>
                  <a:srgbClr val="428DB2"/>
                </a:solidFill>
                <a:latin typeface="Calibri"/>
                <a:ea typeface="Calibri"/>
                <a:cs typeface="Calibri"/>
              </a:defRPr>
            </a:lvl9pPr>
          </a:lstStyle>
          <a:p xmlns:a="http://schemas.openxmlformats.org/drawingml/2006/main">
            <a:pPr algn="l">
              <a:lnSpc>
                <a:spcPct val="108000"/>
              </a:lnSpc>
              <a:buNone/>
              <a:defRPr sz="825" b="1" i="0">
                <a:solidFill>
                  <a:srgbClr val="428DB2"/>
                </a:solidFill>
                <a:latin typeface="Calibri"/>
                <a:ea typeface="Calibri"/>
                <a:cs typeface="Calibri"/>
              </a:defRPr>
            </a:pPr>
            <a:r>
              <a:rPr sz="825" b="1" i="0">
                <a:solidFill>
                  <a:srgbClr val="428DB2"/>
                </a:solidFill>
                <a:latin typeface="Calibri"/>
                <a:ea typeface="Calibri"/>
                <a:cs typeface="Calibri"/>
              </a:rPr>
              <a:t>CARDIOTWIN  /  CLINICAL COMMAND CENTER</a:t>
            </a:r>
          </a:p>
        </p:txBody>
      </p:sp>
      <p:sp>
        <p:nvSpPr>
          <p:cNvPr id="9" name="">
            <a:extLst xmlns:a="http://schemas.openxmlformats.org/drawingml/2006/main">
              <a:ext uri="{FF2B5EF4-FFF2-40B4-BE49-F238E27FC236}">
                <a16:creationId xmlns:a16="http://schemas.microsoft.com/office/drawing/2014/main" id="{C9F7AD17-FE9C-4A7B-A08B-5990A6339CC9}"/>
              </a:ext>
            </a:extLst>
          </p:cNvPr>
          <p:cNvSpPr>
            <a:spLocks xmlns:a="http://schemas.openxmlformats.org/drawingml/2006/main" noGrp="1"/>
          </p:cNvSpPr>
          <p:nvPr/>
        </p:nvSpPr>
        <p:spPr>
          <a:xfrm xmlns:a="http://schemas.openxmlformats.org/drawingml/2006/main">
            <a:off x="695325" y="175260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87E83"/>
                </a:solidFill>
                <a:latin typeface="Calibri Light"/>
                <a:ea typeface="Calibri Light"/>
                <a:cs typeface="Calibri Light"/>
              </a:defRPr>
            </a:defPPr>
            <a:lvl1pPr algn="l">
              <a:buNone/>
              <a:defRPr sz="1725" b="1" i="0">
                <a:solidFill>
                  <a:srgbClr val="102A36"/>
                </a:solidFill>
                <a:latin typeface="Calibri Light"/>
                <a:ea typeface="Calibri Light"/>
                <a:cs typeface="Calibri Light"/>
              </a:defRPr>
            </a:lvl1pPr>
            <a:lvl2pPr algn="l">
              <a:buNone/>
              <a:defRPr sz="1725" b="1" i="0">
                <a:solidFill>
                  <a:srgbClr val="102A36"/>
                </a:solidFill>
                <a:latin typeface="Calibri Light"/>
                <a:ea typeface="Calibri Light"/>
                <a:cs typeface="Calibri Light"/>
              </a:defRPr>
            </a:lvl2pPr>
            <a:lvl3pPr algn="l">
              <a:buNone/>
              <a:defRPr sz="1725" b="1" i="0">
                <a:solidFill>
                  <a:srgbClr val="102A36"/>
                </a:solidFill>
                <a:latin typeface="Calibri Light"/>
                <a:ea typeface="Calibri Light"/>
                <a:cs typeface="Calibri Light"/>
              </a:defRPr>
            </a:lvl3pPr>
            <a:lvl4pPr algn="l">
              <a:buNone/>
              <a:defRPr sz="1725" b="1" i="0">
                <a:solidFill>
                  <a:srgbClr val="102A36"/>
                </a:solidFill>
                <a:latin typeface="Calibri Light"/>
                <a:ea typeface="Calibri Light"/>
                <a:cs typeface="Calibri Light"/>
              </a:defRPr>
            </a:lvl4pPr>
            <a:lvl5pPr algn="l">
              <a:buNone/>
              <a:defRPr sz="1725" b="1" i="0">
                <a:solidFill>
                  <a:srgbClr val="102A36"/>
                </a:solidFill>
                <a:latin typeface="Calibri Light"/>
                <a:ea typeface="Calibri Light"/>
                <a:cs typeface="Calibri Light"/>
              </a:defRPr>
            </a:lvl5pPr>
            <a:lvl6pPr algn="l">
              <a:buNone/>
              <a:defRPr sz="1725" b="1" i="0">
                <a:solidFill>
                  <a:srgbClr val="102A36"/>
                </a:solidFill>
                <a:latin typeface="Calibri Light"/>
                <a:ea typeface="Calibri Light"/>
                <a:cs typeface="Calibri Light"/>
              </a:defRPr>
            </a:lvl6pPr>
            <a:lvl7pPr algn="l">
              <a:buNone/>
              <a:defRPr sz="1725" b="1" i="0">
                <a:solidFill>
                  <a:srgbClr val="102A36"/>
                </a:solidFill>
                <a:latin typeface="Calibri Light"/>
                <a:ea typeface="Calibri Light"/>
                <a:cs typeface="Calibri Light"/>
              </a:defRPr>
            </a:lvl7pPr>
            <a:lvl8pPr algn="l">
              <a:buNone/>
              <a:defRPr sz="1725" b="1" i="0">
                <a:solidFill>
                  <a:srgbClr val="102A36"/>
                </a:solidFill>
                <a:latin typeface="Calibri Light"/>
                <a:ea typeface="Calibri Light"/>
                <a:cs typeface="Calibri Light"/>
              </a:defRPr>
            </a:lvl8pPr>
            <a:lvl9pPr algn="l">
              <a:buNone/>
              <a:defRPr sz="1725" b="1" i="0">
                <a:solidFill>
                  <a:srgbClr val="102A36"/>
                </a:solidFill>
                <a:latin typeface="Calibri Light"/>
                <a:ea typeface="Calibri Light"/>
                <a:cs typeface="Calibri Light"/>
              </a:defRPr>
            </a:lvl9pPr>
          </a:lstStyle>
          <a:p xmlns:a="http://schemas.openxmlformats.org/drawingml/2006/main">
            <a:pPr algn="l">
              <a:lnSpc>
                <a:spcPct val="108000"/>
              </a:lnSpc>
              <a:buNone/>
              <a:defRPr sz="1725" b="1" i="0">
                <a:solidFill>
                  <a:srgbClr val="102A36"/>
                </a:solidFill>
                <a:latin typeface="Calibri Light"/>
                <a:ea typeface="Calibri Light"/>
                <a:cs typeface="Calibri Light"/>
              </a:defRPr>
            </a:pPr>
            <a:r>
              <a:rPr sz="1725" b="1" i="0">
                <a:solidFill>
                  <a:srgbClr val="087E83"/>
                </a:solidFill>
                <a:latin typeface="Calibri Light"/>
                <a:ea typeface="Calibri Light"/>
                <a:cs typeface="Calibri Light"/>
              </a:rPr>
              <a:t>Cardiac overview</a:t>
            </a:r>
          </a:p>
        </p:txBody>
      </p:sp>
      <p:sp>
        <p:nvSpPr>
          <p:cNvPr id="10" name="">
            <a:extLst xmlns:a="http://schemas.openxmlformats.org/drawingml/2006/main">
              <a:ext uri="{FF2B5EF4-FFF2-40B4-BE49-F238E27FC236}">
                <a16:creationId xmlns:a16="http://schemas.microsoft.com/office/drawing/2014/main" id="{C34E9BBA-3A95-4138-86BC-9D221AA0AD2C}"/>
              </a:ext>
            </a:extLst>
          </p:cNvPr>
          <p:cNvSpPr>
            <a:spLocks xmlns:a="http://schemas.openxmlformats.org/drawingml/2006/main" noGrp="1"/>
          </p:cNvSpPr>
          <p:nvPr/>
        </p:nvSpPr>
        <p:spPr>
          <a:xfrm xmlns:a="http://schemas.openxmlformats.org/drawingml/2006/main">
            <a:off x="695325" y="2171700"/>
            <a:ext cx="1409700" cy="571500"/>
          </a:xfrm>
          <a:prstGeom xmlns:a="http://schemas.openxmlformats.org/drawingml/2006/main" prst="roundRect">
            <a:avLst>
              <a:gd name="adj" fmla="val 13333"/>
            </a:avLst>
          </a:prstGeom>
          <a:solidFill xmlns:a="http://schemas.openxmlformats.org/drawingml/2006/main">
            <a:srgbClr val="F4F8FA"/>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Patients monitored</a:t>
            </a:r>
          </a:p>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4</a:t>
            </a:r>
          </a:p>
        </p:txBody>
      </p:sp>
      <p:sp>
        <p:nvSpPr>
          <p:cNvPr id="11" name="">
            <a:extLst xmlns:a="http://schemas.openxmlformats.org/drawingml/2006/main">
              <a:ext uri="{FF2B5EF4-FFF2-40B4-BE49-F238E27FC236}">
                <a16:creationId xmlns:a16="http://schemas.microsoft.com/office/drawing/2014/main" id="{5EDEA522-966C-4F90-8C39-1A88AECE9EAD}"/>
              </a:ext>
            </a:extLst>
          </p:cNvPr>
          <p:cNvSpPr>
            <a:spLocks xmlns:a="http://schemas.openxmlformats.org/drawingml/2006/main" noGrp="1"/>
          </p:cNvSpPr>
          <p:nvPr/>
        </p:nvSpPr>
        <p:spPr>
          <a:xfrm xmlns:a="http://schemas.openxmlformats.org/drawingml/2006/main">
            <a:off x="2219325" y="2171700"/>
            <a:ext cx="1409700" cy="571500"/>
          </a:xfrm>
          <a:prstGeom xmlns:a="http://schemas.openxmlformats.org/drawingml/2006/main" prst="roundRect">
            <a:avLst>
              <a:gd name="adj" fmla="val 13333"/>
            </a:avLst>
          </a:prstGeom>
          <a:solidFill xmlns:a="http://schemas.openxmlformats.org/drawingml/2006/main">
            <a:srgbClr val="FBEEEE"/>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C85655"/>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C85655"/>
                </a:solidFill>
                <a:latin typeface="Calibri"/>
                <a:ea typeface="Calibri"/>
                <a:cs typeface="Calibri"/>
              </a:rPr>
              <a:t>Active alerts</a:t>
            </a:r>
          </a:p>
          <a:p xmlns:a="http://schemas.openxmlformats.org/drawingml/2006/main">
            <a:pPr algn="l">
              <a:buNone/>
              <a:defRPr sz="975" b="1">
                <a:solidFill>
                  <a:srgbClr val="263C45"/>
                </a:solidFill>
                <a:latin typeface="Calibri"/>
                <a:ea typeface="Calibri"/>
                <a:cs typeface="Calibri"/>
              </a:defRPr>
            </a:pPr>
            <a:r>
              <a:rPr sz="1088" b="1">
                <a:solidFill>
                  <a:srgbClr val="C85655"/>
                </a:solidFill>
                <a:latin typeface="Calibri"/>
                <a:ea typeface="Calibri"/>
                <a:cs typeface="Calibri"/>
              </a:rPr>
              <a:t>2</a:t>
            </a:r>
          </a:p>
        </p:txBody>
      </p:sp>
      <p:sp>
        <p:nvSpPr>
          <p:cNvPr id="12" name="">
            <a:extLst xmlns:a="http://schemas.openxmlformats.org/drawingml/2006/main">
              <a:ext uri="{FF2B5EF4-FFF2-40B4-BE49-F238E27FC236}">
                <a16:creationId xmlns:a16="http://schemas.microsoft.com/office/drawing/2014/main" id="{AEB25C90-6AEF-4F2B-9181-54D619AC3E97}"/>
              </a:ext>
            </a:extLst>
          </p:cNvPr>
          <p:cNvSpPr>
            <a:spLocks xmlns:a="http://schemas.openxmlformats.org/drawingml/2006/main" noGrp="1"/>
          </p:cNvSpPr>
          <p:nvPr/>
        </p:nvSpPr>
        <p:spPr>
          <a:xfrm xmlns:a="http://schemas.openxmlformats.org/drawingml/2006/main">
            <a:off x="3743325" y="2171700"/>
            <a:ext cx="1409700" cy="571500"/>
          </a:xfrm>
          <a:prstGeom xmlns:a="http://schemas.openxmlformats.org/drawingml/2006/main" prst="roundRect">
            <a:avLst>
              <a:gd name="adj" fmla="val 13333"/>
            </a:avLst>
          </a:prstGeom>
          <a:solidFill xmlns:a="http://schemas.openxmlformats.org/drawingml/2006/main">
            <a:srgbClr val="F4F8FA"/>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High-risk patients</a:t>
            </a:r>
          </a:p>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2</a:t>
            </a:r>
          </a:p>
        </p:txBody>
      </p:sp>
      <p:sp>
        <p:nvSpPr>
          <p:cNvPr id="13" name="">
            <a:extLst xmlns:a="http://schemas.openxmlformats.org/drawingml/2006/main">
              <a:ext uri="{FF2B5EF4-FFF2-40B4-BE49-F238E27FC236}">
                <a16:creationId xmlns:a16="http://schemas.microsoft.com/office/drawing/2014/main" id="{1285462E-EDC6-4D86-91C7-87473D1E73A3}"/>
              </a:ext>
            </a:extLst>
          </p:cNvPr>
          <p:cNvSpPr>
            <a:spLocks xmlns:a="http://schemas.openxmlformats.org/drawingml/2006/main" noGrp="1"/>
          </p:cNvSpPr>
          <p:nvPr/>
        </p:nvSpPr>
        <p:spPr>
          <a:xfrm xmlns:a="http://schemas.openxmlformats.org/drawingml/2006/main">
            <a:off x="5267325" y="2171700"/>
            <a:ext cx="1409700" cy="571500"/>
          </a:xfrm>
          <a:prstGeom xmlns:a="http://schemas.openxmlformats.org/drawingml/2006/main" prst="roundRect">
            <a:avLst>
              <a:gd name="adj" fmla="val 13333"/>
            </a:avLst>
          </a:prstGeom>
          <a:solidFill xmlns:a="http://schemas.openxmlformats.org/drawingml/2006/main">
            <a:srgbClr val="F4F8FA"/>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Average heart rate</a:t>
            </a:r>
          </a:p>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100 bpm</a:t>
            </a:r>
          </a:p>
        </p:txBody>
      </p:sp>
      <p:sp>
        <p:nvSpPr>
          <p:cNvPr id="14" name="">
            <a:extLst xmlns:a="http://schemas.openxmlformats.org/drawingml/2006/main">
              <a:ext uri="{FF2B5EF4-FFF2-40B4-BE49-F238E27FC236}">
                <a16:creationId xmlns:a16="http://schemas.microsoft.com/office/drawing/2014/main" id="{B3D96779-CBA2-4CB9-8672-C0C65A12F345}"/>
              </a:ext>
            </a:extLst>
          </p:cNvPr>
          <p:cNvSpPr>
            <a:spLocks xmlns:a="http://schemas.openxmlformats.org/drawingml/2006/main" noGrp="1"/>
          </p:cNvSpPr>
          <p:nvPr/>
        </p:nvSpPr>
        <p:spPr>
          <a:xfrm xmlns:a="http://schemas.openxmlformats.org/drawingml/2006/main">
            <a:off x="695325" y="2933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HEART RATE + BP TREND</a:t>
            </a:r>
          </a:p>
        </p:txBody>
      </p:sp>
      <p:sp>
        <p:nvSpPr>
          <p:cNvPr id="15" name="">
            <a:extLst xmlns:a="http://schemas.openxmlformats.org/drawingml/2006/main">
              <a:ext uri="{FF2B5EF4-FFF2-40B4-BE49-F238E27FC236}">
                <a16:creationId xmlns:a16="http://schemas.microsoft.com/office/drawing/2014/main" id="{57ECF101-258E-4CC3-8B28-3738A5753D7F}"/>
              </a:ext>
            </a:extLst>
          </p:cNvPr>
          <p:cNvSpPr>
            <a:spLocks xmlns:a="http://schemas.openxmlformats.org/drawingml/2006/main" noGrp="1"/>
          </p:cNvSpPr>
          <p:nvPr/>
        </p:nvSpPr>
        <p:spPr>
          <a:xfrm xmlns:a="http://schemas.openxmlformats.org/drawingml/2006/main" flipH="0" flipV="0">
            <a:off x="723900" y="4191000"/>
            <a:ext cx="3048000" cy="4763"/>
          </a:xfrm>
          <a:prstGeom xmlns:a="http://schemas.openxmlformats.org/drawingml/2006/main" prst="line">
            <a:avLst/>
          </a:prstGeom>
          <a:noFill xmlns:a="http://schemas.openxmlformats.org/drawingml/2006/main"/>
          <a:ln xmlns:a="http://schemas.openxmlformats.org/drawingml/2006/main" w="9525">
            <a:solidFill>
              <a:srgbClr val="B9C9CD"/>
            </a:solidFill>
            <a:prstDash val="solid"/>
          </a:ln>
        </p:spPr>
      </p:sp>
      <p:sp>
        <p:nvSpPr>
          <p:cNvPr id="16" name="">
            <a:extLst xmlns:a="http://schemas.openxmlformats.org/drawingml/2006/main">
              <a:ext uri="{FF2B5EF4-FFF2-40B4-BE49-F238E27FC236}">
                <a16:creationId xmlns:a16="http://schemas.microsoft.com/office/drawing/2014/main" id="{9948BC68-07B5-4DAC-B8F6-2F94F363AB85}"/>
              </a:ext>
            </a:extLst>
          </p:cNvPr>
          <p:cNvSpPr>
            <a:spLocks xmlns:a="http://schemas.openxmlformats.org/drawingml/2006/main" noGrp="1"/>
          </p:cNvSpPr>
          <p:nvPr/>
        </p:nvSpPr>
        <p:spPr>
          <a:xfrm xmlns:a="http://schemas.openxmlformats.org/drawingml/2006/main" flipH="0" flipV="0">
            <a:off x="723900" y="3209925"/>
            <a:ext cx="4763" cy="981075"/>
          </a:xfrm>
          <a:prstGeom xmlns:a="http://schemas.openxmlformats.org/drawingml/2006/main" prst="line">
            <a:avLst/>
          </a:prstGeom>
          <a:noFill xmlns:a="http://schemas.openxmlformats.org/drawingml/2006/main"/>
          <a:ln xmlns:a="http://schemas.openxmlformats.org/drawingml/2006/main" w="9525">
            <a:solidFill>
              <a:srgbClr val="B9C9CD"/>
            </a:solidFill>
            <a:prstDash val="solid"/>
          </a:ln>
        </p:spPr>
      </p:sp>
      <p:sp>
        <p:nvSpPr>
          <p:cNvPr id="17" name="">
            <a:extLst xmlns:a="http://schemas.openxmlformats.org/drawingml/2006/main">
              <a:ext uri="{FF2B5EF4-FFF2-40B4-BE49-F238E27FC236}">
                <a16:creationId xmlns:a16="http://schemas.microsoft.com/office/drawing/2014/main" id="{A8A19243-2833-434A-90FD-5964BA0D0FE6}"/>
              </a:ext>
            </a:extLst>
          </p:cNvPr>
          <p:cNvSpPr>
            <a:spLocks xmlns:a="http://schemas.openxmlformats.org/drawingml/2006/main" noGrp="1"/>
          </p:cNvSpPr>
          <p:nvPr/>
        </p:nvSpPr>
        <p:spPr>
          <a:xfrm xmlns:a="http://schemas.openxmlformats.org/drawingml/2006/main" flipH="0" flipV="1">
            <a:off x="876300" y="3762375"/>
            <a:ext cx="447675" cy="133350"/>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18" name="">
            <a:extLst xmlns:a="http://schemas.openxmlformats.org/drawingml/2006/main">
              <a:ext uri="{FF2B5EF4-FFF2-40B4-BE49-F238E27FC236}">
                <a16:creationId xmlns:a16="http://schemas.microsoft.com/office/drawing/2014/main" id="{9F9D6E00-4C16-4580-85C5-64C07D774098}"/>
              </a:ext>
            </a:extLst>
          </p:cNvPr>
          <p:cNvSpPr>
            <a:spLocks xmlns:a="http://schemas.openxmlformats.org/drawingml/2006/main" noGrp="1"/>
          </p:cNvSpPr>
          <p:nvPr/>
        </p:nvSpPr>
        <p:spPr>
          <a:xfrm xmlns:a="http://schemas.openxmlformats.org/drawingml/2006/main" flipH="0" flipV="0">
            <a:off x="1323975" y="3762375"/>
            <a:ext cx="438150" cy="85725"/>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19" name="">
            <a:extLst xmlns:a="http://schemas.openxmlformats.org/drawingml/2006/main">
              <a:ext uri="{FF2B5EF4-FFF2-40B4-BE49-F238E27FC236}">
                <a16:creationId xmlns:a16="http://schemas.microsoft.com/office/drawing/2014/main" id="{4C803A7C-BE9E-404E-9DEC-420F301A0903}"/>
              </a:ext>
            </a:extLst>
          </p:cNvPr>
          <p:cNvSpPr>
            <a:spLocks xmlns:a="http://schemas.openxmlformats.org/drawingml/2006/main" noGrp="1"/>
          </p:cNvSpPr>
          <p:nvPr/>
        </p:nvSpPr>
        <p:spPr>
          <a:xfrm xmlns:a="http://schemas.openxmlformats.org/drawingml/2006/main" flipH="0" flipV="1">
            <a:off x="1762125" y="3524250"/>
            <a:ext cx="428625" cy="323850"/>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0" name="">
            <a:extLst xmlns:a="http://schemas.openxmlformats.org/drawingml/2006/main">
              <a:ext uri="{FF2B5EF4-FFF2-40B4-BE49-F238E27FC236}">
                <a16:creationId xmlns:a16="http://schemas.microsoft.com/office/drawing/2014/main" id="{67C7B350-315C-4D7A-A583-47F57FC1C870}"/>
              </a:ext>
            </a:extLst>
          </p:cNvPr>
          <p:cNvSpPr>
            <a:spLocks xmlns:a="http://schemas.openxmlformats.org/drawingml/2006/main" noGrp="1"/>
          </p:cNvSpPr>
          <p:nvPr/>
        </p:nvSpPr>
        <p:spPr>
          <a:xfrm xmlns:a="http://schemas.openxmlformats.org/drawingml/2006/main" flipH="0" flipV="0">
            <a:off x="2190750" y="3524250"/>
            <a:ext cx="447675" cy="85725"/>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1" name="">
            <a:extLst xmlns:a="http://schemas.openxmlformats.org/drawingml/2006/main">
              <a:ext uri="{FF2B5EF4-FFF2-40B4-BE49-F238E27FC236}">
                <a16:creationId xmlns:a16="http://schemas.microsoft.com/office/drawing/2014/main" id="{C902156F-52DA-4938-82FE-5D31C5B0C0E6}"/>
              </a:ext>
            </a:extLst>
          </p:cNvPr>
          <p:cNvSpPr>
            <a:spLocks xmlns:a="http://schemas.openxmlformats.org/drawingml/2006/main" noGrp="1"/>
          </p:cNvSpPr>
          <p:nvPr/>
        </p:nvSpPr>
        <p:spPr>
          <a:xfrm xmlns:a="http://schemas.openxmlformats.org/drawingml/2006/main" flipH="0" flipV="1">
            <a:off x="2638425" y="3305175"/>
            <a:ext cx="466725" cy="304800"/>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2" name="">
            <a:extLst xmlns:a="http://schemas.openxmlformats.org/drawingml/2006/main">
              <a:ext uri="{FF2B5EF4-FFF2-40B4-BE49-F238E27FC236}">
                <a16:creationId xmlns:a16="http://schemas.microsoft.com/office/drawing/2014/main" id="{00359E7D-5F8B-43D8-B37E-F92B153BF2E6}"/>
              </a:ext>
            </a:extLst>
          </p:cNvPr>
          <p:cNvSpPr>
            <a:spLocks xmlns:a="http://schemas.openxmlformats.org/drawingml/2006/main" noGrp="1"/>
          </p:cNvSpPr>
          <p:nvPr/>
        </p:nvSpPr>
        <p:spPr>
          <a:xfrm xmlns:a="http://schemas.openxmlformats.org/drawingml/2006/main" flipH="0" flipV="0">
            <a:off x="3105150" y="3305175"/>
            <a:ext cx="476250" cy="104775"/>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3" name="">
            <a:extLst xmlns:a="http://schemas.openxmlformats.org/drawingml/2006/main">
              <a:ext uri="{FF2B5EF4-FFF2-40B4-BE49-F238E27FC236}">
                <a16:creationId xmlns:a16="http://schemas.microsoft.com/office/drawing/2014/main" id="{5E75CCCF-828E-4D2C-A10A-09C03AAEB2D5}"/>
              </a:ext>
            </a:extLst>
          </p:cNvPr>
          <p:cNvSpPr>
            <a:spLocks xmlns:a="http://schemas.openxmlformats.org/drawingml/2006/main" noGrp="1"/>
          </p:cNvSpPr>
          <p:nvPr/>
        </p:nvSpPr>
        <p:spPr>
          <a:xfrm xmlns:a="http://schemas.openxmlformats.org/drawingml/2006/main">
            <a:off x="4114800" y="293370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PATIENT RISK MIX</a:t>
            </a:r>
          </a:p>
        </p:txBody>
      </p:sp>
      <p:sp>
        <p:nvSpPr>
          <p:cNvPr id="24" name="">
            <a:extLst xmlns:a="http://schemas.openxmlformats.org/drawingml/2006/main">
              <a:ext uri="{FF2B5EF4-FFF2-40B4-BE49-F238E27FC236}">
                <a16:creationId xmlns:a16="http://schemas.microsoft.com/office/drawing/2014/main" id="{5BA1EE5F-F026-4C6B-B6B5-F4E7AC866CFD}"/>
              </a:ext>
            </a:extLst>
          </p:cNvPr>
          <p:cNvSpPr>
            <a:spLocks xmlns:a="http://schemas.openxmlformats.org/drawingml/2006/main" noGrp="1"/>
          </p:cNvSpPr>
          <p:nvPr/>
        </p:nvSpPr>
        <p:spPr>
          <a:xfrm xmlns:a="http://schemas.openxmlformats.org/drawingml/2006/main">
            <a:off x="4133850" y="3314700"/>
            <a:ext cx="95250" cy="95250"/>
          </a:xfrm>
          <a:prstGeom xmlns:a="http://schemas.openxmlformats.org/drawingml/2006/main" prst="ellipse">
            <a:avLst/>
          </a:prstGeom>
          <a:solidFill xmlns:a="http://schemas.openxmlformats.org/drawingml/2006/main">
            <a:srgbClr val="4D8A68"/>
          </a:solidFill>
          <a:ln xmlns:a="http://schemas.openxmlformats.org/drawingml/2006/main" w="11430">
            <a:solidFill>
              <a:srgbClr val="4D8A68"/>
            </a:solidFill>
            <a:prstDash val="solid"/>
          </a:ln>
        </p:spPr>
      </p:sp>
      <p:sp>
        <p:nvSpPr>
          <p:cNvPr id="25" name="">
            <a:extLst xmlns:a="http://schemas.openxmlformats.org/drawingml/2006/main">
              <a:ext uri="{FF2B5EF4-FFF2-40B4-BE49-F238E27FC236}">
                <a16:creationId xmlns:a16="http://schemas.microsoft.com/office/drawing/2014/main" id="{D3D8D5BA-085F-4B2A-93B5-8138229F3EDF}"/>
              </a:ext>
            </a:extLst>
          </p:cNvPr>
          <p:cNvSpPr>
            <a:spLocks xmlns:a="http://schemas.openxmlformats.org/drawingml/2006/main" noGrp="1"/>
          </p:cNvSpPr>
          <p:nvPr/>
        </p:nvSpPr>
        <p:spPr>
          <a:xfrm xmlns:a="http://schemas.openxmlformats.org/drawingml/2006/main">
            <a:off x="4324350" y="32575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LOW</a:t>
            </a:r>
          </a:p>
        </p:txBody>
      </p:sp>
      <p:sp>
        <p:nvSpPr>
          <p:cNvPr id="26" name="">
            <a:extLst xmlns:a="http://schemas.openxmlformats.org/drawingml/2006/main">
              <a:ext uri="{FF2B5EF4-FFF2-40B4-BE49-F238E27FC236}">
                <a16:creationId xmlns:a16="http://schemas.microsoft.com/office/drawing/2014/main" id="{BBA83C1B-47B6-4C31-B1B5-E4ADC1878BD3}"/>
              </a:ext>
            </a:extLst>
          </p:cNvPr>
          <p:cNvSpPr>
            <a:spLocks xmlns:a="http://schemas.openxmlformats.org/drawingml/2006/main" noGrp="1"/>
          </p:cNvSpPr>
          <p:nvPr/>
        </p:nvSpPr>
        <p:spPr>
          <a:xfrm xmlns:a="http://schemas.openxmlformats.org/drawingml/2006/main">
            <a:off x="6210300" y="32575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27" name="">
            <a:extLst xmlns:a="http://schemas.openxmlformats.org/drawingml/2006/main">
              <a:ext uri="{FF2B5EF4-FFF2-40B4-BE49-F238E27FC236}">
                <a16:creationId xmlns:a16="http://schemas.microsoft.com/office/drawing/2014/main" id="{F6370251-AD25-41AB-A391-479FEB5871AF}"/>
              </a:ext>
            </a:extLst>
          </p:cNvPr>
          <p:cNvSpPr>
            <a:spLocks xmlns:a="http://schemas.openxmlformats.org/drawingml/2006/main" noGrp="1"/>
          </p:cNvSpPr>
          <p:nvPr/>
        </p:nvSpPr>
        <p:spPr>
          <a:xfrm xmlns:a="http://schemas.openxmlformats.org/drawingml/2006/main">
            <a:off x="4133850" y="3581400"/>
            <a:ext cx="95250" cy="95250"/>
          </a:xfrm>
          <a:prstGeom xmlns:a="http://schemas.openxmlformats.org/drawingml/2006/main" prst="ellipse">
            <a:avLst/>
          </a:prstGeom>
          <a:solidFill xmlns:a="http://schemas.openxmlformats.org/drawingml/2006/main">
            <a:srgbClr val="D99A37"/>
          </a:solidFill>
          <a:ln xmlns:a="http://schemas.openxmlformats.org/drawingml/2006/main" w="11430">
            <a:solidFill>
              <a:srgbClr val="D99A37"/>
            </a:solidFill>
            <a:prstDash val="solid"/>
          </a:ln>
        </p:spPr>
      </p:sp>
      <p:sp>
        <p:nvSpPr>
          <p:cNvPr id="28" name="">
            <a:extLst xmlns:a="http://schemas.openxmlformats.org/drawingml/2006/main">
              <a:ext uri="{FF2B5EF4-FFF2-40B4-BE49-F238E27FC236}">
                <a16:creationId xmlns:a16="http://schemas.microsoft.com/office/drawing/2014/main" id="{67F1CFA8-FFA0-4012-89F0-D2FE2307D6D0}"/>
              </a:ext>
            </a:extLst>
          </p:cNvPr>
          <p:cNvSpPr>
            <a:spLocks xmlns:a="http://schemas.openxmlformats.org/drawingml/2006/main" noGrp="1"/>
          </p:cNvSpPr>
          <p:nvPr/>
        </p:nvSpPr>
        <p:spPr>
          <a:xfrm xmlns:a="http://schemas.openxmlformats.org/drawingml/2006/main">
            <a:off x="4324350" y="35242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MEDIUM</a:t>
            </a:r>
          </a:p>
        </p:txBody>
      </p:sp>
      <p:sp>
        <p:nvSpPr>
          <p:cNvPr id="29" name="">
            <a:extLst xmlns:a="http://schemas.openxmlformats.org/drawingml/2006/main">
              <a:ext uri="{FF2B5EF4-FFF2-40B4-BE49-F238E27FC236}">
                <a16:creationId xmlns:a16="http://schemas.microsoft.com/office/drawing/2014/main" id="{E603B5ED-9675-4B38-A60D-AF97E9604C02}"/>
              </a:ext>
            </a:extLst>
          </p:cNvPr>
          <p:cNvSpPr>
            <a:spLocks xmlns:a="http://schemas.openxmlformats.org/drawingml/2006/main" noGrp="1"/>
          </p:cNvSpPr>
          <p:nvPr/>
        </p:nvSpPr>
        <p:spPr>
          <a:xfrm xmlns:a="http://schemas.openxmlformats.org/drawingml/2006/main">
            <a:off x="6210300" y="35242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30" name="">
            <a:extLst xmlns:a="http://schemas.openxmlformats.org/drawingml/2006/main">
              <a:ext uri="{FF2B5EF4-FFF2-40B4-BE49-F238E27FC236}">
                <a16:creationId xmlns:a16="http://schemas.microsoft.com/office/drawing/2014/main" id="{D09103CA-C97A-4FF1-BB5A-0BC746687348}"/>
              </a:ext>
            </a:extLst>
          </p:cNvPr>
          <p:cNvSpPr>
            <a:spLocks xmlns:a="http://schemas.openxmlformats.org/drawingml/2006/main" noGrp="1"/>
          </p:cNvSpPr>
          <p:nvPr/>
        </p:nvSpPr>
        <p:spPr>
          <a:xfrm xmlns:a="http://schemas.openxmlformats.org/drawingml/2006/main">
            <a:off x="4133850" y="3848100"/>
            <a:ext cx="95250" cy="95250"/>
          </a:xfrm>
          <a:prstGeom xmlns:a="http://schemas.openxmlformats.org/drawingml/2006/main" prst="ellipse">
            <a:avLst/>
          </a:prstGeom>
          <a:solidFill xmlns:a="http://schemas.openxmlformats.org/drawingml/2006/main">
            <a:srgbClr val="D86F42"/>
          </a:solidFill>
          <a:ln xmlns:a="http://schemas.openxmlformats.org/drawingml/2006/main" w="11430">
            <a:solidFill>
              <a:srgbClr val="D86F42"/>
            </a:solidFill>
            <a:prstDash val="solid"/>
          </a:ln>
        </p:spPr>
      </p:sp>
      <p:sp>
        <p:nvSpPr>
          <p:cNvPr id="31" name="">
            <a:extLst xmlns:a="http://schemas.openxmlformats.org/drawingml/2006/main">
              <a:ext uri="{FF2B5EF4-FFF2-40B4-BE49-F238E27FC236}">
                <a16:creationId xmlns:a16="http://schemas.microsoft.com/office/drawing/2014/main" id="{1A01FD5E-2C97-475D-AEF6-A974F2FB8060}"/>
              </a:ext>
            </a:extLst>
          </p:cNvPr>
          <p:cNvSpPr>
            <a:spLocks xmlns:a="http://schemas.openxmlformats.org/drawingml/2006/main" noGrp="1"/>
          </p:cNvSpPr>
          <p:nvPr/>
        </p:nvSpPr>
        <p:spPr>
          <a:xfrm xmlns:a="http://schemas.openxmlformats.org/drawingml/2006/main">
            <a:off x="4324350" y="37909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HIGH</a:t>
            </a:r>
          </a:p>
        </p:txBody>
      </p:sp>
      <p:sp>
        <p:nvSpPr>
          <p:cNvPr id="32" name="">
            <a:extLst xmlns:a="http://schemas.openxmlformats.org/drawingml/2006/main">
              <a:ext uri="{FF2B5EF4-FFF2-40B4-BE49-F238E27FC236}">
                <a16:creationId xmlns:a16="http://schemas.microsoft.com/office/drawing/2014/main" id="{2743E95B-B709-48ED-B984-6BD8D945CBDA}"/>
              </a:ext>
            </a:extLst>
          </p:cNvPr>
          <p:cNvSpPr>
            <a:spLocks xmlns:a="http://schemas.openxmlformats.org/drawingml/2006/main" noGrp="1"/>
          </p:cNvSpPr>
          <p:nvPr/>
        </p:nvSpPr>
        <p:spPr>
          <a:xfrm xmlns:a="http://schemas.openxmlformats.org/drawingml/2006/main">
            <a:off x="6210300" y="37909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33" name="">
            <a:extLst xmlns:a="http://schemas.openxmlformats.org/drawingml/2006/main">
              <a:ext uri="{FF2B5EF4-FFF2-40B4-BE49-F238E27FC236}">
                <a16:creationId xmlns:a16="http://schemas.microsoft.com/office/drawing/2014/main" id="{B749A2D6-0F9B-4335-A165-BFEC3AAC5CBA}"/>
              </a:ext>
            </a:extLst>
          </p:cNvPr>
          <p:cNvSpPr>
            <a:spLocks xmlns:a="http://schemas.openxmlformats.org/drawingml/2006/main" noGrp="1"/>
          </p:cNvSpPr>
          <p:nvPr/>
        </p:nvSpPr>
        <p:spPr>
          <a:xfrm xmlns:a="http://schemas.openxmlformats.org/drawingml/2006/main">
            <a:off x="4133850" y="4114800"/>
            <a:ext cx="95250" cy="95250"/>
          </a:xfrm>
          <a:prstGeom xmlns:a="http://schemas.openxmlformats.org/drawingml/2006/main" prst="ellipse">
            <a:avLst/>
          </a:prstGeom>
          <a:solidFill xmlns:a="http://schemas.openxmlformats.org/drawingml/2006/main">
            <a:srgbClr val="B94B4B"/>
          </a:solidFill>
          <a:ln xmlns:a="http://schemas.openxmlformats.org/drawingml/2006/main" w="11430">
            <a:solidFill>
              <a:srgbClr val="B94B4B"/>
            </a:solidFill>
            <a:prstDash val="solid"/>
          </a:ln>
        </p:spPr>
      </p:sp>
      <p:sp>
        <p:nvSpPr>
          <p:cNvPr id="34" name="">
            <a:extLst xmlns:a="http://schemas.openxmlformats.org/drawingml/2006/main">
              <a:ext uri="{FF2B5EF4-FFF2-40B4-BE49-F238E27FC236}">
                <a16:creationId xmlns:a16="http://schemas.microsoft.com/office/drawing/2014/main" id="{CD93E556-B1AC-4314-A46E-669C4AEB6AC1}"/>
              </a:ext>
            </a:extLst>
          </p:cNvPr>
          <p:cNvSpPr>
            <a:spLocks xmlns:a="http://schemas.openxmlformats.org/drawingml/2006/main" noGrp="1"/>
          </p:cNvSpPr>
          <p:nvPr/>
        </p:nvSpPr>
        <p:spPr>
          <a:xfrm xmlns:a="http://schemas.openxmlformats.org/drawingml/2006/main">
            <a:off x="4324350" y="40576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CRITICAL</a:t>
            </a:r>
          </a:p>
        </p:txBody>
      </p:sp>
      <p:sp>
        <p:nvSpPr>
          <p:cNvPr id="35" name="">
            <a:extLst xmlns:a="http://schemas.openxmlformats.org/drawingml/2006/main">
              <a:ext uri="{FF2B5EF4-FFF2-40B4-BE49-F238E27FC236}">
                <a16:creationId xmlns:a16="http://schemas.microsoft.com/office/drawing/2014/main" id="{81AE4F3D-7D95-4322-94B6-A4D97880B1C3}"/>
              </a:ext>
            </a:extLst>
          </p:cNvPr>
          <p:cNvSpPr>
            <a:spLocks xmlns:a="http://schemas.openxmlformats.org/drawingml/2006/main" noGrp="1"/>
          </p:cNvSpPr>
          <p:nvPr/>
        </p:nvSpPr>
        <p:spPr>
          <a:xfrm xmlns:a="http://schemas.openxmlformats.org/drawingml/2006/main">
            <a:off x="6210300" y="40576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36" name="">
            <a:extLst xmlns:a="http://schemas.openxmlformats.org/drawingml/2006/main">
              <a:ext uri="{FF2B5EF4-FFF2-40B4-BE49-F238E27FC236}">
                <a16:creationId xmlns:a16="http://schemas.microsoft.com/office/drawing/2014/main" id="{DA424A4E-1256-4C82-A948-4B53B024175D}"/>
              </a:ext>
            </a:extLst>
          </p:cNvPr>
          <p:cNvSpPr>
            <a:spLocks xmlns:a="http://schemas.openxmlformats.org/drawingml/2006/main" noGrp="1"/>
          </p:cNvSpPr>
          <p:nvPr/>
        </p:nvSpPr>
        <p:spPr>
          <a:xfrm xmlns:a="http://schemas.openxmlformats.org/drawingml/2006/main">
            <a:off x="695325" y="43148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PREDICTION WATCHLIST</a:t>
            </a:r>
          </a:p>
        </p:txBody>
      </p:sp>
      <p:sp>
        <p:nvSpPr>
          <p:cNvPr id="37" name="">
            <a:extLst xmlns:a="http://schemas.openxmlformats.org/drawingml/2006/main">
              <a:ext uri="{FF2B5EF4-FFF2-40B4-BE49-F238E27FC236}">
                <a16:creationId xmlns:a16="http://schemas.microsoft.com/office/drawing/2014/main" id="{B7DE0CE2-FB91-4824-9728-7CD96226C90F}"/>
              </a:ext>
            </a:extLst>
          </p:cNvPr>
          <p:cNvSpPr>
            <a:spLocks xmlns:a="http://schemas.openxmlformats.org/drawingml/2006/main" noGrp="1"/>
          </p:cNvSpPr>
          <p:nvPr/>
        </p:nvSpPr>
        <p:spPr>
          <a:xfrm xmlns:a="http://schemas.openxmlformats.org/drawingml/2006/main">
            <a:off x="4124325" y="43148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RECENT ALERTS  ·  ACKNOWLEDGE</a:t>
            </a:r>
          </a:p>
        </p:txBody>
      </p:sp>
      <p:sp>
        <p:nvSpPr>
          <p:cNvPr id="38" name="">
            <a:extLst xmlns:a="http://schemas.openxmlformats.org/drawingml/2006/main">
              <a:ext uri="{FF2B5EF4-FFF2-40B4-BE49-F238E27FC236}">
                <a16:creationId xmlns:a16="http://schemas.microsoft.com/office/drawing/2014/main" id="{3347A7CB-5B10-4DF0-AC4B-15F53CEA9F7A}"/>
              </a:ext>
            </a:extLst>
          </p:cNvPr>
          <p:cNvSpPr>
            <a:spLocks xmlns:a="http://schemas.openxmlformats.org/drawingml/2006/main" noGrp="1"/>
          </p:cNvSpPr>
          <p:nvPr/>
        </p:nvSpPr>
        <p:spPr>
          <a:xfrm xmlns:a="http://schemas.openxmlformats.org/drawingml/2006/main">
            <a:off x="1790700" y="4800600"/>
            <a:ext cx="4238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63" b="0" i="0">
                <a:solidFill>
                  <a:srgbClr val="647781"/>
                </a:solidFill>
                <a:latin typeface="Calibri"/>
                <a:ea typeface="Calibri"/>
                <a:cs typeface="Calibri"/>
              </a:defRPr>
            </a:defPPr>
            <a:lvl1pPr algn="ctr">
              <a:buNone/>
              <a:defRPr sz="863" b="0" i="0">
                <a:solidFill>
                  <a:srgbClr val="647781"/>
                </a:solidFill>
                <a:latin typeface="Calibri"/>
                <a:ea typeface="Calibri"/>
                <a:cs typeface="Calibri"/>
              </a:defRPr>
            </a:lvl1pPr>
            <a:lvl2pPr algn="ctr">
              <a:buNone/>
              <a:defRPr sz="863" b="0" i="0">
                <a:solidFill>
                  <a:srgbClr val="647781"/>
                </a:solidFill>
                <a:latin typeface="Calibri"/>
                <a:ea typeface="Calibri"/>
                <a:cs typeface="Calibri"/>
              </a:defRPr>
            </a:lvl2pPr>
            <a:lvl3pPr algn="ctr">
              <a:buNone/>
              <a:defRPr sz="863" b="0" i="0">
                <a:solidFill>
                  <a:srgbClr val="647781"/>
                </a:solidFill>
                <a:latin typeface="Calibri"/>
                <a:ea typeface="Calibri"/>
                <a:cs typeface="Calibri"/>
              </a:defRPr>
            </a:lvl3pPr>
            <a:lvl4pPr algn="ctr">
              <a:buNone/>
              <a:defRPr sz="863" b="0" i="0">
                <a:solidFill>
                  <a:srgbClr val="647781"/>
                </a:solidFill>
                <a:latin typeface="Calibri"/>
                <a:ea typeface="Calibri"/>
                <a:cs typeface="Calibri"/>
              </a:defRPr>
            </a:lvl4pPr>
            <a:lvl5pPr algn="ctr">
              <a:buNone/>
              <a:defRPr sz="863" b="0" i="0">
                <a:solidFill>
                  <a:srgbClr val="647781"/>
                </a:solidFill>
                <a:latin typeface="Calibri"/>
                <a:ea typeface="Calibri"/>
                <a:cs typeface="Calibri"/>
              </a:defRPr>
            </a:lvl5pPr>
            <a:lvl6pPr algn="ctr">
              <a:buNone/>
              <a:defRPr sz="863" b="0" i="0">
                <a:solidFill>
                  <a:srgbClr val="647781"/>
                </a:solidFill>
                <a:latin typeface="Calibri"/>
                <a:ea typeface="Calibri"/>
                <a:cs typeface="Calibri"/>
              </a:defRPr>
            </a:lvl6pPr>
            <a:lvl7pPr algn="ctr">
              <a:buNone/>
              <a:defRPr sz="863" b="0" i="0">
                <a:solidFill>
                  <a:srgbClr val="647781"/>
                </a:solidFill>
                <a:latin typeface="Calibri"/>
                <a:ea typeface="Calibri"/>
                <a:cs typeface="Calibri"/>
              </a:defRPr>
            </a:lvl7pPr>
            <a:lvl8pPr algn="ctr">
              <a:buNone/>
              <a:defRPr sz="863" b="0" i="0">
                <a:solidFill>
                  <a:srgbClr val="647781"/>
                </a:solidFill>
                <a:latin typeface="Calibri"/>
                <a:ea typeface="Calibri"/>
                <a:cs typeface="Calibri"/>
              </a:defRPr>
            </a:lvl8pPr>
            <a:lvl9pPr algn="ctr">
              <a:buNone/>
              <a:defRPr sz="863" b="0" i="0">
                <a:solidFill>
                  <a:srgbClr val="647781"/>
                </a:solidFill>
                <a:latin typeface="Calibri"/>
                <a:ea typeface="Calibri"/>
                <a:cs typeface="Calibri"/>
              </a:defRPr>
            </a:lvl9pPr>
          </a:lstStyle>
          <a:p xmlns:a="http://schemas.openxmlformats.org/drawingml/2006/main">
            <a:pPr algn="ctr">
              <a:lnSpc>
                <a:spcPct val="108000"/>
              </a:lnSpc>
              <a:buNone/>
              <a:defRPr sz="863" b="0" i="0">
                <a:solidFill>
                  <a:srgbClr val="647781"/>
                </a:solidFill>
                <a:latin typeface="Calibri"/>
                <a:ea typeface="Calibri"/>
                <a:cs typeface="Calibri"/>
              </a:defRPr>
            </a:pPr>
            <a:r>
              <a:rPr sz="863" b="0" i="0">
                <a:solidFill>
                  <a:srgbClr val="647781"/>
                </a:solidFill>
                <a:latin typeface="Calibri"/>
                <a:ea typeface="Calibri"/>
                <a:cs typeface="Calibri"/>
              </a:rPr>
              <a:t>Illustrative interface and trend line · seeded records are synthetic</a:t>
            </a:r>
          </a:p>
        </p:txBody>
      </p:sp>
    </p:spTree>
    <p:extLst>
      <p:ext uri="{BB962C8B-B14F-4D97-AF65-F5344CB8AC3E}">
        <p14:creationId xmlns:p14="http://schemas.microsoft.com/office/powerpoint/2010/main" val="1987903200"/>
      </p:ext>
    </p:extLst>
  </p:cSld>
</p:sld>
</file>

<file path=ppt/slides/slide11.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4115D892-DD2A-499B-967D-5A79074FB11F}"/>
              </a:ext>
            </a:extLst>
          </p:cNvPr>
          <p:cNvPicPr>
            <a:picLocks xmlns:a="http://schemas.openxmlformats.org/drawingml/2006/main" noChangeAspect="1"/>
          </p:cNvPicPr>
          <p:nvPr/>
        </p:nvPicPr>
        <p:blipFill>
          <a:blip xmlns:r="http://schemas.openxmlformats.org/officeDocument/2006/relationships" xmlns:a="http://schemas.openxmlformats.org/drawingml/2006/main" r:embed="R7f495f05991942d5"/>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6746CFDC-1A2A-433F-B3AB-337FA18BD7E1}"/>
              </a:ext>
            </a:extLst>
          </p:cNvPr>
          <p:cNvSpPr>
            <a:spLocks xmlns:a="http://schemas.openxmlformats.org/drawingml/2006/main" noGrp="1"/>
          </p:cNvSpPr>
          <p:nvPr/>
        </p:nvSpPr>
        <p:spPr>
          <a:xfrm xmlns:a="http://schemas.openxmlformats.org/drawingml/2006/main">
            <a:off x="371475" y="1409700"/>
            <a:ext cx="3086100" cy="3305175"/>
          </a:xfrm>
          <a:prstGeom xmlns:a="http://schemas.openxmlformats.org/drawingml/2006/main" prst="roundRect">
            <a:avLst>
              <a:gd name="adj" fmla="val 4630"/>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7F25C264-3EFA-4C02-B817-E802D0283EDA}"/>
              </a:ext>
            </a:extLst>
          </p:cNvPr>
          <p:cNvSpPr>
            <a:spLocks xmlns:a="http://schemas.openxmlformats.org/drawingml/2006/main" noGrp="1"/>
          </p:cNvSpPr>
          <p:nvPr/>
        </p:nvSpPr>
        <p:spPr>
          <a:xfrm xmlns:a="http://schemas.openxmlformats.org/drawingml/2006/main">
            <a:off x="371475" y="1428750"/>
            <a:ext cx="47625" cy="32670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5366B9-C5AD-4DBE-BEA0-4B7C7B52131C}"/>
              </a:ext>
            </a:extLst>
          </p:cNvPr>
          <p:cNvSpPr>
            <a:spLocks xmlns:a="http://schemas.openxmlformats.org/drawingml/2006/main" noGrp="1"/>
          </p:cNvSpPr>
          <p:nvPr/>
        </p:nvSpPr>
        <p:spPr>
          <a:xfrm xmlns:a="http://schemas.openxmlformats.org/drawingml/2006/main">
            <a:off x="3657600" y="1409700"/>
            <a:ext cx="3476625" cy="3305175"/>
          </a:xfrm>
          <a:prstGeom xmlns:a="http://schemas.openxmlformats.org/drawingml/2006/main" prst="roundRect">
            <a:avLst>
              <a:gd name="adj" fmla="val 4323"/>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D6C2B642-6DF1-46D2-9007-6F179B196B29}"/>
              </a:ext>
            </a:extLst>
          </p:cNvPr>
          <p:cNvSpPr>
            <a:spLocks xmlns:a="http://schemas.openxmlformats.org/drawingml/2006/main" noGrp="1"/>
          </p:cNvSpPr>
          <p:nvPr/>
        </p:nvSpPr>
        <p:spPr>
          <a:xfrm xmlns:a="http://schemas.openxmlformats.org/drawingml/2006/main">
            <a:off x="3657600" y="1428750"/>
            <a:ext cx="47625" cy="32670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F143EAF-B1F2-4904-8A7B-645DE4D41BFC}"/>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Patient app</a:t>
            </a:r>
          </a:p>
        </p:txBody>
      </p:sp>
      <p:sp>
        <p:nvSpPr>
          <p:cNvPr id="2" name="">
            <a:extLst xmlns:a="http://schemas.openxmlformats.org/drawingml/2006/main">
              <a:ext uri="{FF2B5EF4-FFF2-40B4-BE49-F238E27FC236}">
                <a16:creationId xmlns:a16="http://schemas.microsoft.com/office/drawing/2014/main" id="{6E568303-8647-4E5D-9D09-BD77298E23B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ADDDE504-4F02-4065-AC1D-6F6467CF7F95}"/>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Expo / React Native screens bring cardiac status and telemetry to mobile.</a:t>
            </a:r>
          </a:p>
        </p:txBody>
      </p:sp>
      <p:sp>
        <p:nvSpPr>
          <p:cNvPr id="4" name="">
            <a:extLst xmlns:a="http://schemas.openxmlformats.org/drawingml/2006/main">
              <a:ext uri="{FF2B5EF4-FFF2-40B4-BE49-F238E27FC236}">
                <a16:creationId xmlns:a16="http://schemas.microsoft.com/office/drawing/2014/main" id="{DD86EC56-755D-4802-A1C3-BAB8E4F62A0F}"/>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F2C40A82-9066-4C5F-A30C-6554CF7C62F6}"/>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87811B17-5040-48C4-B69A-C74A75EE9C2B}"/>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11</a:t>
            </a:r>
          </a:p>
        </p:txBody>
      </p:sp>
      <p:sp>
        <p:nvSpPr>
          <p:cNvPr id="7" name="">
            <a:extLst xmlns:a="http://schemas.openxmlformats.org/drawingml/2006/main">
              <a:ext uri="{FF2B5EF4-FFF2-40B4-BE49-F238E27FC236}">
                <a16:creationId xmlns:a16="http://schemas.microsoft.com/office/drawing/2014/main" id="{4706FF7B-43C5-44D4-8DAF-7C47BEB469C2}"/>
              </a:ext>
            </a:extLst>
          </p:cNvPr>
          <p:cNvSpPr>
            <a:spLocks xmlns:a="http://schemas.openxmlformats.org/drawingml/2006/main" noGrp="1"/>
          </p:cNvSpPr>
          <p:nvPr/>
        </p:nvSpPr>
        <p:spPr>
          <a:xfrm xmlns:a="http://schemas.openxmlformats.org/drawingml/2006/main">
            <a:off x="552450" y="16192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165"/>
          </a:bodyPr>
          <a:lstStyle xmlns:a="http://schemas.openxmlformats.org/drawingml/2006/main">
            <a:defPPr algn="l">
              <a:defRPr sz="2025" b="1" i="0">
                <a:solidFill>
                  <a:srgbClr val="123F50"/>
                </a:solidFill>
                <a:latin typeface="Calibri Light"/>
                <a:ea typeface="Calibri Light"/>
                <a:cs typeface="Calibri Light"/>
              </a:defRPr>
            </a:defPPr>
            <a:lvl1pPr algn="l">
              <a:buNone/>
              <a:defRPr sz="1875" b="1" i="0">
                <a:solidFill>
                  <a:srgbClr val="123F50"/>
                </a:solidFill>
                <a:latin typeface="Calibri Light"/>
                <a:ea typeface="Calibri Light"/>
                <a:cs typeface="Calibri Light"/>
              </a:defRPr>
            </a:lvl1pPr>
            <a:lvl2pPr algn="l">
              <a:buNone/>
              <a:defRPr sz="1875" b="1" i="0">
                <a:solidFill>
                  <a:srgbClr val="123F50"/>
                </a:solidFill>
                <a:latin typeface="Calibri Light"/>
                <a:ea typeface="Calibri Light"/>
                <a:cs typeface="Calibri Light"/>
              </a:defRPr>
            </a:lvl2pPr>
            <a:lvl3pPr algn="l">
              <a:buNone/>
              <a:defRPr sz="1875" b="1" i="0">
                <a:solidFill>
                  <a:srgbClr val="123F50"/>
                </a:solidFill>
                <a:latin typeface="Calibri Light"/>
                <a:ea typeface="Calibri Light"/>
                <a:cs typeface="Calibri Light"/>
              </a:defRPr>
            </a:lvl3pPr>
            <a:lvl4pPr algn="l">
              <a:buNone/>
              <a:defRPr sz="1875" b="1" i="0">
                <a:solidFill>
                  <a:srgbClr val="123F50"/>
                </a:solidFill>
                <a:latin typeface="Calibri Light"/>
                <a:ea typeface="Calibri Light"/>
                <a:cs typeface="Calibri Light"/>
              </a:defRPr>
            </a:lvl4pPr>
            <a:lvl5pPr algn="l">
              <a:buNone/>
              <a:defRPr sz="1875" b="1" i="0">
                <a:solidFill>
                  <a:srgbClr val="123F50"/>
                </a:solidFill>
                <a:latin typeface="Calibri Light"/>
                <a:ea typeface="Calibri Light"/>
                <a:cs typeface="Calibri Light"/>
              </a:defRPr>
            </a:lvl5pPr>
            <a:lvl6pPr algn="l">
              <a:buNone/>
              <a:defRPr sz="1875" b="1" i="0">
                <a:solidFill>
                  <a:srgbClr val="123F50"/>
                </a:solidFill>
                <a:latin typeface="Calibri Light"/>
                <a:ea typeface="Calibri Light"/>
                <a:cs typeface="Calibri Light"/>
              </a:defRPr>
            </a:lvl6pPr>
            <a:lvl7pPr algn="l">
              <a:buNone/>
              <a:defRPr sz="1875" b="1" i="0">
                <a:solidFill>
                  <a:srgbClr val="123F50"/>
                </a:solidFill>
                <a:latin typeface="Calibri Light"/>
                <a:ea typeface="Calibri Light"/>
                <a:cs typeface="Calibri Light"/>
              </a:defRPr>
            </a:lvl7pPr>
            <a:lvl8pPr algn="l">
              <a:buNone/>
              <a:defRPr sz="1875" b="1" i="0">
                <a:solidFill>
                  <a:srgbClr val="123F50"/>
                </a:solidFill>
                <a:latin typeface="Calibri Light"/>
                <a:ea typeface="Calibri Light"/>
                <a:cs typeface="Calibri Light"/>
              </a:defRPr>
            </a:lvl8pPr>
            <a:lvl9pPr algn="l">
              <a:buNone/>
              <a:defRPr sz="1875" b="1" i="0">
                <a:solidFill>
                  <a:srgbClr val="123F50"/>
                </a:solidFill>
                <a:latin typeface="Calibri Light"/>
                <a:ea typeface="Calibri Light"/>
                <a:cs typeface="Calibri Light"/>
              </a:defRPr>
            </a:lvl9pPr>
          </a:lstStyle>
          <a:p xmlns:a="http://schemas.openxmlformats.org/drawingml/2006/main">
            <a:pPr algn="l">
              <a:lnSpc>
                <a:spcPct val="108000"/>
              </a:lnSpc>
              <a:buNone/>
              <a:defRPr sz="1875" b="1" i="0">
                <a:solidFill>
                  <a:srgbClr val="123F50"/>
                </a:solidFill>
                <a:latin typeface="Calibri Light"/>
                <a:ea typeface="Calibri Light"/>
                <a:cs typeface="Calibri Light"/>
              </a:defRPr>
            </a:pPr>
            <a:r>
              <a:rPr sz="2025" b="1" i="0">
                <a:solidFill>
                  <a:srgbClr val="123F50"/>
                </a:solidFill>
                <a:latin typeface="Calibri Light"/>
                <a:ea typeface="Calibri Light"/>
                <a:cs typeface="Calibri Light"/>
              </a:rPr>
              <a:t>Four-tab Expo app</a:t>
            </a:r>
          </a:p>
        </p:txBody>
      </p:sp>
      <p:sp>
        <p:nvSpPr>
          <p:cNvPr id="8" name="">
            <a:extLst xmlns:a="http://schemas.openxmlformats.org/drawingml/2006/main">
              <a:ext uri="{FF2B5EF4-FFF2-40B4-BE49-F238E27FC236}">
                <a16:creationId xmlns:a16="http://schemas.microsoft.com/office/drawing/2014/main" id="{7A43B820-4B70-4D0C-BC56-7B8DB6ED5D36}"/>
              </a:ext>
            </a:extLst>
          </p:cNvPr>
          <p:cNvSpPr>
            <a:spLocks xmlns:a="http://schemas.openxmlformats.org/drawingml/2006/main" noGrp="1"/>
          </p:cNvSpPr>
          <p:nvPr/>
        </p:nvSpPr>
        <p:spPr>
          <a:xfrm xmlns:a="http://schemas.openxmlformats.org/drawingml/2006/main">
            <a:off x="552450" y="20478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68F89"/>
                </a:solidFill>
                <a:latin typeface="Calibri"/>
                <a:ea typeface="Calibri"/>
                <a:cs typeface="Calibri"/>
              </a:defRPr>
            </a:defPPr>
            <a:lvl1pPr algn="l">
              <a:buNone/>
              <a:defRPr sz="1275" b="1" i="0">
                <a:solidFill>
                  <a:srgbClr val="0D6F73"/>
                </a:solidFill>
                <a:latin typeface="Calibri"/>
                <a:ea typeface="Calibri"/>
                <a:cs typeface="Calibri"/>
              </a:defRPr>
            </a:lvl1pPr>
            <a:lvl2pPr algn="l">
              <a:buNone/>
              <a:defRPr sz="1275" b="1" i="0">
                <a:solidFill>
                  <a:srgbClr val="0D6F73"/>
                </a:solidFill>
                <a:latin typeface="Calibri"/>
                <a:ea typeface="Calibri"/>
                <a:cs typeface="Calibri"/>
              </a:defRPr>
            </a:lvl2pPr>
            <a:lvl3pPr algn="l">
              <a:buNone/>
              <a:defRPr sz="1275" b="1" i="0">
                <a:solidFill>
                  <a:srgbClr val="0D6F73"/>
                </a:solidFill>
                <a:latin typeface="Calibri"/>
                <a:ea typeface="Calibri"/>
                <a:cs typeface="Calibri"/>
              </a:defRPr>
            </a:lvl3pPr>
            <a:lvl4pPr algn="l">
              <a:buNone/>
              <a:defRPr sz="1275" b="1" i="0">
                <a:solidFill>
                  <a:srgbClr val="0D6F73"/>
                </a:solidFill>
                <a:latin typeface="Calibri"/>
                <a:ea typeface="Calibri"/>
                <a:cs typeface="Calibri"/>
              </a:defRPr>
            </a:lvl4pPr>
            <a:lvl5pPr algn="l">
              <a:buNone/>
              <a:defRPr sz="1275" b="1" i="0">
                <a:solidFill>
                  <a:srgbClr val="0D6F73"/>
                </a:solidFill>
                <a:latin typeface="Calibri"/>
                <a:ea typeface="Calibri"/>
                <a:cs typeface="Calibri"/>
              </a:defRPr>
            </a:lvl5pPr>
            <a:lvl6pPr algn="l">
              <a:buNone/>
              <a:defRPr sz="1275" b="1" i="0">
                <a:solidFill>
                  <a:srgbClr val="0D6F73"/>
                </a:solidFill>
                <a:latin typeface="Calibri"/>
                <a:ea typeface="Calibri"/>
                <a:cs typeface="Calibri"/>
              </a:defRPr>
            </a:lvl6pPr>
            <a:lvl7pPr algn="l">
              <a:buNone/>
              <a:defRPr sz="1275" b="1" i="0">
                <a:solidFill>
                  <a:srgbClr val="0D6F73"/>
                </a:solidFill>
                <a:latin typeface="Calibri"/>
                <a:ea typeface="Calibri"/>
                <a:cs typeface="Calibri"/>
              </a:defRPr>
            </a:lvl7pPr>
            <a:lvl8pPr algn="l">
              <a:buNone/>
              <a:defRPr sz="1275" b="1" i="0">
                <a:solidFill>
                  <a:srgbClr val="0D6F73"/>
                </a:solidFill>
                <a:latin typeface="Calibri"/>
                <a:ea typeface="Calibri"/>
                <a:cs typeface="Calibri"/>
              </a:defRPr>
            </a:lvl8pPr>
            <a:lvl9pPr algn="l">
              <a:buNone/>
              <a:defRPr sz="1275" b="1" i="0">
                <a:solidFill>
                  <a:srgbClr val="0D6F73"/>
                </a:solidFill>
                <a:latin typeface="Calibri"/>
                <a:ea typeface="Calibri"/>
                <a:cs typeface="Calibri"/>
              </a:defRPr>
            </a:lvl9pPr>
          </a:lstStyle>
          <a:p xmlns:a="http://schemas.openxmlformats.org/drawingml/2006/main">
            <a:pPr algn="l">
              <a:lnSpc>
                <a:spcPct val="108000"/>
              </a:lnSpc>
              <a:buNone/>
              <a:defRPr sz="1275" b="1" i="0">
                <a:solidFill>
                  <a:srgbClr val="0D6F73"/>
                </a:solidFill>
                <a:latin typeface="Calibri"/>
                <a:ea typeface="Calibri"/>
                <a:cs typeface="Calibri"/>
              </a:defRPr>
            </a:pPr>
            <a:r>
              <a:rPr sz="1350" b="1" i="0">
                <a:solidFill>
                  <a:srgbClr val="168F89"/>
                </a:solidFill>
                <a:latin typeface="Calibri"/>
                <a:ea typeface="Calibri"/>
                <a:cs typeface="Calibri"/>
              </a:rPr>
              <a:t>Home  ·  Cardiac  ·  Alerts  ·  Profile</a:t>
            </a:r>
          </a:p>
        </p:txBody>
      </p:sp>
      <p:sp>
        <p:nvSpPr>
          <p:cNvPr id="9" name="">
            <a:extLst xmlns:a="http://schemas.openxmlformats.org/drawingml/2006/main">
              <a:ext uri="{FF2B5EF4-FFF2-40B4-BE49-F238E27FC236}">
                <a16:creationId xmlns:a16="http://schemas.microsoft.com/office/drawing/2014/main" id="{7108FAE1-1E78-4904-BFF9-5B9480FBF4C9}"/>
              </a:ext>
            </a:extLst>
          </p:cNvPr>
          <p:cNvSpPr>
            <a:spLocks xmlns:a="http://schemas.openxmlformats.org/drawingml/2006/main" noGrp="1"/>
          </p:cNvSpPr>
          <p:nvPr/>
        </p:nvSpPr>
        <p:spPr>
          <a:xfrm xmlns:a="http://schemas.openxmlformats.org/drawingml/2006/main">
            <a:off x="552450" y="2533650"/>
            <a:ext cx="26098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60"/>
          </a:bodyPr>
          <a:lstStyle xmlns:a="http://schemas.openxmlformats.org/drawingml/2006/main">
            <a:defPPr algn="l">
              <a:defRPr sz="1313" b="0" i="0">
                <a:solidFill>
                  <a:srgbClr val="34515B"/>
                </a:solidFill>
                <a:latin typeface="Calibri"/>
                <a:ea typeface="Calibri"/>
                <a:cs typeface="Calibri"/>
              </a:defRPr>
            </a:defPPr>
            <a:lvl1pPr algn="l">
              <a:buNone/>
              <a:defRPr sz="1313" b="0" i="0">
                <a:solidFill>
                  <a:srgbClr val="263C45"/>
                </a:solidFill>
                <a:latin typeface="Calibri"/>
                <a:ea typeface="Calibri"/>
                <a:cs typeface="Calibri"/>
              </a:defRPr>
            </a:lvl1pPr>
            <a:lvl2pPr algn="l">
              <a:buNone/>
              <a:defRPr sz="1313" b="0" i="0">
                <a:solidFill>
                  <a:srgbClr val="263C45"/>
                </a:solidFill>
                <a:latin typeface="Calibri"/>
                <a:ea typeface="Calibri"/>
                <a:cs typeface="Calibri"/>
              </a:defRPr>
            </a:lvl2pPr>
            <a:lvl3pPr algn="l">
              <a:buNone/>
              <a:defRPr sz="1313" b="0" i="0">
                <a:solidFill>
                  <a:srgbClr val="263C45"/>
                </a:solidFill>
                <a:latin typeface="Calibri"/>
                <a:ea typeface="Calibri"/>
                <a:cs typeface="Calibri"/>
              </a:defRPr>
            </a:lvl3pPr>
            <a:lvl4pPr algn="l">
              <a:buNone/>
              <a:defRPr sz="1313" b="0" i="0">
                <a:solidFill>
                  <a:srgbClr val="263C45"/>
                </a:solidFill>
                <a:latin typeface="Calibri"/>
                <a:ea typeface="Calibri"/>
                <a:cs typeface="Calibri"/>
              </a:defRPr>
            </a:lvl4pPr>
            <a:lvl5pPr algn="l">
              <a:buNone/>
              <a:defRPr sz="1313" b="0" i="0">
                <a:solidFill>
                  <a:srgbClr val="263C45"/>
                </a:solidFill>
                <a:latin typeface="Calibri"/>
                <a:ea typeface="Calibri"/>
                <a:cs typeface="Calibri"/>
              </a:defRPr>
            </a:lvl5pPr>
            <a:lvl6pPr algn="l">
              <a:buNone/>
              <a:defRPr sz="1313" b="0" i="0">
                <a:solidFill>
                  <a:srgbClr val="263C45"/>
                </a:solidFill>
                <a:latin typeface="Calibri"/>
                <a:ea typeface="Calibri"/>
                <a:cs typeface="Calibri"/>
              </a:defRPr>
            </a:lvl6pPr>
            <a:lvl7pPr algn="l">
              <a:buNone/>
              <a:defRPr sz="1313" b="0" i="0">
                <a:solidFill>
                  <a:srgbClr val="263C45"/>
                </a:solidFill>
                <a:latin typeface="Calibri"/>
                <a:ea typeface="Calibri"/>
                <a:cs typeface="Calibri"/>
              </a:defRPr>
            </a:lvl7pPr>
            <a:lvl8pPr algn="l">
              <a:buNone/>
              <a:defRPr sz="1313" b="0" i="0">
                <a:solidFill>
                  <a:srgbClr val="263C45"/>
                </a:solidFill>
                <a:latin typeface="Calibri"/>
                <a:ea typeface="Calibri"/>
                <a:cs typeface="Calibri"/>
              </a:defRPr>
            </a:lvl8pPr>
            <a:lvl9pPr algn="l">
              <a:buNone/>
              <a:defRPr sz="1313" b="0" i="0">
                <a:solidFill>
                  <a:srgbClr val="263C45"/>
                </a:solidFill>
                <a:latin typeface="Calibri"/>
                <a:ea typeface="Calibri"/>
                <a:cs typeface="Calibri"/>
              </a:defRPr>
            </a:lvl9pPr>
          </a:lstStyle>
          <a:p xmlns:a="http://schemas.openxmlformats.org/drawingml/2006/main">
            <a:pPr algn="l">
              <a:lnSpc>
                <a:spcPct val="118000"/>
              </a:lnSpc>
              <a:buNone/>
              <a:defRPr sz="1313" b="0" i="0">
                <a:solidFill>
                  <a:srgbClr val="263C45"/>
                </a:solidFill>
                <a:latin typeface="Calibri"/>
                <a:ea typeface="Calibri"/>
                <a:cs typeface="Calibri"/>
              </a:defRPr>
            </a:pPr>
            <a:r>
              <a:rPr sz="1313" b="0" i="0">
                <a:solidFill>
                  <a:srgbClr val="34515B"/>
                </a:solidFill>
                <a:latin typeface="Calibri"/>
                <a:ea typeface="Calibri"/>
                <a:cs typeface="Calibri"/>
              </a:rPr>
              <a:t>The Home screen shows the current synthetic patient status, selected vital readings, and a rule-based risk summary. Cardiac view lists recent telemetry; alerts and profile live in their own tabs.</a:t>
            </a:r>
          </a:p>
        </p:txBody>
      </p:sp>
      <p:sp>
        <p:nvSpPr>
          <p:cNvPr id="10" name="">
            <a:extLst xmlns:a="http://schemas.openxmlformats.org/drawingml/2006/main">
              <a:ext uri="{FF2B5EF4-FFF2-40B4-BE49-F238E27FC236}">
                <a16:creationId xmlns:a16="http://schemas.microsoft.com/office/drawing/2014/main" id="{4500CFE8-0113-4C9B-B457-44EFAAC438B8}"/>
              </a:ext>
            </a:extLst>
          </p:cNvPr>
          <p:cNvSpPr>
            <a:spLocks xmlns:a="http://schemas.openxmlformats.org/drawingml/2006/main" noGrp="1"/>
          </p:cNvSpPr>
          <p:nvPr/>
        </p:nvSpPr>
        <p:spPr>
          <a:xfrm xmlns:a="http://schemas.openxmlformats.org/drawingml/2006/main">
            <a:off x="3943350" y="1371600"/>
            <a:ext cx="2047875" cy="3429000"/>
          </a:xfrm>
          <a:prstGeom xmlns:a="http://schemas.openxmlformats.org/drawingml/2006/main" prst="roundRect">
            <a:avLst>
              <a:gd name="adj" fmla="val 7442"/>
            </a:avLst>
          </a:prstGeom>
          <a:solidFill xmlns:a="http://schemas.openxmlformats.org/drawingml/2006/main">
            <a:srgbClr val="FFFFFF"/>
          </a:solidFill>
          <a:ln xmlns:a="http://schemas.openxmlformats.org/drawingml/2006/main" w="19050">
            <a:solidFill>
              <a:srgbClr val="9BB7BE"/>
            </a:solidFill>
            <a:prstDash val="solid"/>
          </a:ln>
        </p:spPr>
      </p:sp>
      <p:sp>
        <p:nvSpPr>
          <p:cNvPr id="11" name="">
            <a:extLst xmlns:a="http://schemas.openxmlformats.org/drawingml/2006/main">
              <a:ext uri="{FF2B5EF4-FFF2-40B4-BE49-F238E27FC236}">
                <a16:creationId xmlns:a16="http://schemas.microsoft.com/office/drawing/2014/main" id="{9B58FEB2-9339-4F84-98A6-436D14B9F212}"/>
              </a:ext>
            </a:extLst>
          </p:cNvPr>
          <p:cNvSpPr>
            <a:spLocks xmlns:a="http://schemas.openxmlformats.org/drawingml/2006/main" noGrp="1"/>
          </p:cNvSpPr>
          <p:nvPr/>
        </p:nvSpPr>
        <p:spPr>
          <a:xfrm xmlns:a="http://schemas.openxmlformats.org/drawingml/2006/main">
            <a:off x="4705350" y="1466850"/>
            <a:ext cx="542925" cy="57150"/>
          </a:xfrm>
          <a:prstGeom xmlns:a="http://schemas.openxmlformats.org/drawingml/2006/main" prst="roundRect">
            <a:avLst>
              <a:gd name="adj" fmla="val 50000"/>
            </a:avLst>
          </a:prstGeom>
          <a:solidFill xmlns:a="http://schemas.openxmlformats.org/drawingml/2006/main">
            <a:srgbClr val="A9B9BE"/>
          </a:solidFill>
          <a:ln xmlns:a="http://schemas.openxmlformats.org/drawingml/2006/main" w="11430">
            <a:solidFill>
              <a:srgbClr val="A9B9BE"/>
            </a:solidFill>
            <a:prstDash val="solid"/>
          </a:ln>
        </p:spPr>
      </p:sp>
      <p:sp>
        <p:nvSpPr>
          <p:cNvPr id="12" name="">
            <a:extLst xmlns:a="http://schemas.openxmlformats.org/drawingml/2006/main">
              <a:ext uri="{FF2B5EF4-FFF2-40B4-BE49-F238E27FC236}">
                <a16:creationId xmlns:a16="http://schemas.microsoft.com/office/drawing/2014/main" id="{E1162157-7A60-4E76-BBCB-9A2AD647357E}"/>
              </a:ext>
            </a:extLst>
          </p:cNvPr>
          <p:cNvSpPr>
            <a:spLocks xmlns:a="http://schemas.openxmlformats.org/drawingml/2006/main" noGrp="1"/>
          </p:cNvSpPr>
          <p:nvPr/>
        </p:nvSpPr>
        <p:spPr>
          <a:xfrm xmlns:a="http://schemas.openxmlformats.org/drawingml/2006/main">
            <a:off x="4105275" y="16764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28DB2"/>
                </a:solidFill>
                <a:latin typeface="Calibri"/>
                <a:ea typeface="Calibri"/>
                <a:cs typeface="Calibri"/>
              </a:defRPr>
            </a:defPPr>
            <a:lvl1pPr algn="l">
              <a:buNone/>
              <a:defRPr sz="713" b="1" i="0">
                <a:solidFill>
                  <a:srgbClr val="428DB2"/>
                </a:solidFill>
                <a:latin typeface="Calibri"/>
                <a:ea typeface="Calibri"/>
                <a:cs typeface="Calibri"/>
              </a:defRPr>
            </a:lvl1pPr>
            <a:lvl2pPr algn="l">
              <a:buNone/>
              <a:defRPr sz="713" b="1" i="0">
                <a:solidFill>
                  <a:srgbClr val="428DB2"/>
                </a:solidFill>
                <a:latin typeface="Calibri"/>
                <a:ea typeface="Calibri"/>
                <a:cs typeface="Calibri"/>
              </a:defRPr>
            </a:lvl2pPr>
            <a:lvl3pPr algn="l">
              <a:buNone/>
              <a:defRPr sz="713" b="1" i="0">
                <a:solidFill>
                  <a:srgbClr val="428DB2"/>
                </a:solidFill>
                <a:latin typeface="Calibri"/>
                <a:ea typeface="Calibri"/>
                <a:cs typeface="Calibri"/>
              </a:defRPr>
            </a:lvl3pPr>
            <a:lvl4pPr algn="l">
              <a:buNone/>
              <a:defRPr sz="713" b="1" i="0">
                <a:solidFill>
                  <a:srgbClr val="428DB2"/>
                </a:solidFill>
                <a:latin typeface="Calibri"/>
                <a:ea typeface="Calibri"/>
                <a:cs typeface="Calibri"/>
              </a:defRPr>
            </a:lvl4pPr>
            <a:lvl5pPr algn="l">
              <a:buNone/>
              <a:defRPr sz="713" b="1" i="0">
                <a:solidFill>
                  <a:srgbClr val="428DB2"/>
                </a:solidFill>
                <a:latin typeface="Calibri"/>
                <a:ea typeface="Calibri"/>
                <a:cs typeface="Calibri"/>
              </a:defRPr>
            </a:lvl5pPr>
            <a:lvl6pPr algn="l">
              <a:buNone/>
              <a:defRPr sz="713" b="1" i="0">
                <a:solidFill>
                  <a:srgbClr val="428DB2"/>
                </a:solidFill>
                <a:latin typeface="Calibri"/>
                <a:ea typeface="Calibri"/>
                <a:cs typeface="Calibri"/>
              </a:defRPr>
            </a:lvl6pPr>
            <a:lvl7pPr algn="l">
              <a:buNone/>
              <a:defRPr sz="713" b="1" i="0">
                <a:solidFill>
                  <a:srgbClr val="428DB2"/>
                </a:solidFill>
                <a:latin typeface="Calibri"/>
                <a:ea typeface="Calibri"/>
                <a:cs typeface="Calibri"/>
              </a:defRPr>
            </a:lvl7pPr>
            <a:lvl8pPr algn="l">
              <a:buNone/>
              <a:defRPr sz="713" b="1" i="0">
                <a:solidFill>
                  <a:srgbClr val="428DB2"/>
                </a:solidFill>
                <a:latin typeface="Calibri"/>
                <a:ea typeface="Calibri"/>
                <a:cs typeface="Calibri"/>
              </a:defRPr>
            </a:lvl8pPr>
            <a:lvl9pPr algn="l">
              <a:buNone/>
              <a:defRPr sz="713" b="1" i="0">
                <a:solidFill>
                  <a:srgbClr val="428DB2"/>
                </a:solidFill>
                <a:latin typeface="Calibri"/>
                <a:ea typeface="Calibri"/>
                <a:cs typeface="Calibri"/>
              </a:defRPr>
            </a:lvl9pPr>
          </a:lstStyle>
          <a:p xmlns:a="http://schemas.openxmlformats.org/drawingml/2006/main">
            <a:pPr algn="l">
              <a:lnSpc>
                <a:spcPct val="108000"/>
              </a:lnSpc>
              <a:buNone/>
              <a:defRPr sz="713" b="1" i="0">
                <a:solidFill>
                  <a:srgbClr val="428DB2"/>
                </a:solidFill>
                <a:latin typeface="Calibri"/>
                <a:ea typeface="Calibri"/>
                <a:cs typeface="Calibri"/>
              </a:defRPr>
            </a:pPr>
            <a:r>
              <a:rPr sz="713" b="1" i="0">
                <a:solidFill>
                  <a:srgbClr val="428DB2"/>
                </a:solidFill>
                <a:latin typeface="Calibri"/>
                <a:ea typeface="Calibri"/>
                <a:cs typeface="Calibri"/>
              </a:rPr>
              <a:t>CARDIOTWIN PATIENT VIEW</a:t>
            </a:r>
          </a:p>
        </p:txBody>
      </p:sp>
      <p:sp>
        <p:nvSpPr>
          <p:cNvPr id="13" name="">
            <a:extLst xmlns:a="http://schemas.openxmlformats.org/drawingml/2006/main">
              <a:ext uri="{FF2B5EF4-FFF2-40B4-BE49-F238E27FC236}">
                <a16:creationId xmlns:a16="http://schemas.microsoft.com/office/drawing/2014/main" id="{0E68BC71-BD93-4D14-9259-CF76A8875ED3}"/>
              </a:ext>
            </a:extLst>
          </p:cNvPr>
          <p:cNvSpPr>
            <a:spLocks xmlns:a="http://schemas.openxmlformats.org/drawingml/2006/main" noGrp="1"/>
          </p:cNvSpPr>
          <p:nvPr/>
        </p:nvSpPr>
        <p:spPr>
          <a:xfrm xmlns:a="http://schemas.openxmlformats.org/drawingml/2006/main">
            <a:off x="4105275" y="1876425"/>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51"/>
          </a:bodyPr>
          <a:lstStyle xmlns:a="http://schemas.openxmlformats.org/drawingml/2006/main">
            <a:defPPr algn="l">
              <a:defRPr sz="1500" b="1" i="0">
                <a:solidFill>
                  <a:srgbClr val="102A36"/>
                </a:solidFill>
                <a:latin typeface="Calibri Light"/>
                <a:ea typeface="Calibri Light"/>
                <a:cs typeface="Calibri Light"/>
              </a:defRPr>
            </a:defPPr>
            <a:lvl1pPr algn="l">
              <a:buNone/>
              <a:defRPr sz="1500" b="1" i="0">
                <a:solidFill>
                  <a:srgbClr val="102A36"/>
                </a:solidFill>
                <a:latin typeface="Calibri Light"/>
                <a:ea typeface="Calibri Light"/>
                <a:cs typeface="Calibri Light"/>
              </a:defRPr>
            </a:lvl1pPr>
            <a:lvl2pPr algn="l">
              <a:buNone/>
              <a:defRPr sz="1500" b="1" i="0">
                <a:solidFill>
                  <a:srgbClr val="102A36"/>
                </a:solidFill>
                <a:latin typeface="Calibri Light"/>
                <a:ea typeface="Calibri Light"/>
                <a:cs typeface="Calibri Light"/>
              </a:defRPr>
            </a:lvl2pPr>
            <a:lvl3pPr algn="l">
              <a:buNone/>
              <a:defRPr sz="1500" b="1" i="0">
                <a:solidFill>
                  <a:srgbClr val="102A36"/>
                </a:solidFill>
                <a:latin typeface="Calibri Light"/>
                <a:ea typeface="Calibri Light"/>
                <a:cs typeface="Calibri Light"/>
              </a:defRPr>
            </a:lvl3pPr>
            <a:lvl4pPr algn="l">
              <a:buNone/>
              <a:defRPr sz="1500" b="1" i="0">
                <a:solidFill>
                  <a:srgbClr val="102A36"/>
                </a:solidFill>
                <a:latin typeface="Calibri Light"/>
                <a:ea typeface="Calibri Light"/>
                <a:cs typeface="Calibri Light"/>
              </a:defRPr>
            </a:lvl4pPr>
            <a:lvl5pPr algn="l">
              <a:buNone/>
              <a:defRPr sz="1500" b="1" i="0">
                <a:solidFill>
                  <a:srgbClr val="102A36"/>
                </a:solidFill>
                <a:latin typeface="Calibri Light"/>
                <a:ea typeface="Calibri Light"/>
                <a:cs typeface="Calibri Light"/>
              </a:defRPr>
            </a:lvl5pPr>
            <a:lvl6pPr algn="l">
              <a:buNone/>
              <a:defRPr sz="1500" b="1" i="0">
                <a:solidFill>
                  <a:srgbClr val="102A36"/>
                </a:solidFill>
                <a:latin typeface="Calibri Light"/>
                <a:ea typeface="Calibri Light"/>
                <a:cs typeface="Calibri Light"/>
              </a:defRPr>
            </a:lvl6pPr>
            <a:lvl7pPr algn="l">
              <a:buNone/>
              <a:defRPr sz="1500" b="1" i="0">
                <a:solidFill>
                  <a:srgbClr val="102A36"/>
                </a:solidFill>
                <a:latin typeface="Calibri Light"/>
                <a:ea typeface="Calibri Light"/>
                <a:cs typeface="Calibri Light"/>
              </a:defRPr>
            </a:lvl7pPr>
            <a:lvl8pPr algn="l">
              <a:buNone/>
              <a:defRPr sz="1500" b="1" i="0">
                <a:solidFill>
                  <a:srgbClr val="102A36"/>
                </a:solidFill>
                <a:latin typeface="Calibri Light"/>
                <a:ea typeface="Calibri Light"/>
                <a:cs typeface="Calibri Light"/>
              </a:defRPr>
            </a:lvl8pPr>
            <a:lvl9pPr algn="l">
              <a:buNone/>
              <a:defRPr sz="1500" b="1" i="0">
                <a:solidFill>
                  <a:srgbClr val="102A36"/>
                </a:solidFill>
                <a:latin typeface="Calibri Light"/>
                <a:ea typeface="Calibri Light"/>
                <a:cs typeface="Calibri Light"/>
              </a:defRPr>
            </a:lvl9pPr>
          </a:lstStyle>
          <a:p xmlns:a="http://schemas.openxmlformats.org/drawingml/2006/main">
            <a:pPr algn="l">
              <a:lnSpc>
                <a:spcPct val="108000"/>
              </a:lnSpc>
              <a:buNone/>
              <a:defRPr sz="1500" b="1" i="0">
                <a:solidFill>
                  <a:srgbClr val="102A36"/>
                </a:solidFill>
                <a:latin typeface="Calibri Light"/>
                <a:ea typeface="Calibri Light"/>
                <a:cs typeface="Calibri Light"/>
              </a:defRPr>
            </a:pPr>
            <a:r>
              <a:rPr sz="1500" b="1" i="0">
                <a:solidFill>
                  <a:srgbClr val="102A36"/>
                </a:solidFill>
                <a:latin typeface="Calibri Light"/>
                <a:ea typeface="Calibri Light"/>
                <a:cs typeface="Calibri Light"/>
              </a:rPr>
              <a:t>Synthetic patient</a:t>
            </a:r>
          </a:p>
        </p:txBody>
      </p:sp>
      <p:sp>
        <p:nvSpPr>
          <p:cNvPr id="14" name="">
            <a:extLst xmlns:a="http://schemas.openxmlformats.org/drawingml/2006/main">
              <a:ext uri="{FF2B5EF4-FFF2-40B4-BE49-F238E27FC236}">
                <a16:creationId xmlns:a16="http://schemas.microsoft.com/office/drawing/2014/main" id="{BEB5F115-C7CC-44E9-9AA4-59F2D3EEB0E5}"/>
              </a:ext>
            </a:extLst>
          </p:cNvPr>
          <p:cNvSpPr>
            <a:spLocks xmlns:a="http://schemas.openxmlformats.org/drawingml/2006/main" noGrp="1"/>
          </p:cNvSpPr>
          <p:nvPr/>
        </p:nvSpPr>
        <p:spPr>
          <a:xfrm xmlns:a="http://schemas.openxmlformats.org/drawingml/2006/main">
            <a:off x="4105275" y="21621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63" b="0" i="0">
                <a:solidFill>
                  <a:srgbClr val="647781"/>
                </a:solidFill>
                <a:latin typeface="Calibri"/>
                <a:ea typeface="Calibri"/>
                <a:cs typeface="Calibri"/>
              </a:defRPr>
            </a:defPPr>
            <a:lvl1pPr algn="l">
              <a:buNone/>
              <a:defRPr sz="863" b="0" i="0">
                <a:solidFill>
                  <a:srgbClr val="647781"/>
                </a:solidFill>
                <a:latin typeface="Calibri"/>
                <a:ea typeface="Calibri"/>
                <a:cs typeface="Calibri"/>
              </a:defRPr>
            </a:lvl1pPr>
            <a:lvl2pPr algn="l">
              <a:buNone/>
              <a:defRPr sz="863" b="0" i="0">
                <a:solidFill>
                  <a:srgbClr val="647781"/>
                </a:solidFill>
                <a:latin typeface="Calibri"/>
                <a:ea typeface="Calibri"/>
                <a:cs typeface="Calibri"/>
              </a:defRPr>
            </a:lvl2pPr>
            <a:lvl3pPr algn="l">
              <a:buNone/>
              <a:defRPr sz="863" b="0" i="0">
                <a:solidFill>
                  <a:srgbClr val="647781"/>
                </a:solidFill>
                <a:latin typeface="Calibri"/>
                <a:ea typeface="Calibri"/>
                <a:cs typeface="Calibri"/>
              </a:defRPr>
            </a:lvl3pPr>
            <a:lvl4pPr algn="l">
              <a:buNone/>
              <a:defRPr sz="863" b="0" i="0">
                <a:solidFill>
                  <a:srgbClr val="647781"/>
                </a:solidFill>
                <a:latin typeface="Calibri"/>
                <a:ea typeface="Calibri"/>
                <a:cs typeface="Calibri"/>
              </a:defRPr>
            </a:lvl4pPr>
            <a:lvl5pPr algn="l">
              <a:buNone/>
              <a:defRPr sz="863" b="0" i="0">
                <a:solidFill>
                  <a:srgbClr val="647781"/>
                </a:solidFill>
                <a:latin typeface="Calibri"/>
                <a:ea typeface="Calibri"/>
                <a:cs typeface="Calibri"/>
              </a:defRPr>
            </a:lvl5pPr>
            <a:lvl6pPr algn="l">
              <a:buNone/>
              <a:defRPr sz="863" b="0" i="0">
                <a:solidFill>
                  <a:srgbClr val="647781"/>
                </a:solidFill>
                <a:latin typeface="Calibri"/>
                <a:ea typeface="Calibri"/>
                <a:cs typeface="Calibri"/>
              </a:defRPr>
            </a:lvl6pPr>
            <a:lvl7pPr algn="l">
              <a:buNone/>
              <a:defRPr sz="863" b="0" i="0">
                <a:solidFill>
                  <a:srgbClr val="647781"/>
                </a:solidFill>
                <a:latin typeface="Calibri"/>
                <a:ea typeface="Calibri"/>
                <a:cs typeface="Calibri"/>
              </a:defRPr>
            </a:lvl7pPr>
            <a:lvl8pPr algn="l">
              <a:buNone/>
              <a:defRPr sz="863" b="0" i="0">
                <a:solidFill>
                  <a:srgbClr val="647781"/>
                </a:solidFill>
                <a:latin typeface="Calibri"/>
                <a:ea typeface="Calibri"/>
                <a:cs typeface="Calibri"/>
              </a:defRPr>
            </a:lvl8pPr>
            <a:lvl9pPr algn="l">
              <a:buNone/>
              <a:defRPr sz="863" b="0" i="0">
                <a:solidFill>
                  <a:srgbClr val="647781"/>
                </a:solidFill>
                <a:latin typeface="Calibri"/>
                <a:ea typeface="Calibri"/>
                <a:cs typeface="Calibri"/>
              </a:defRPr>
            </a:lvl9pPr>
          </a:lstStyle>
          <a:p xmlns:a="http://schemas.openxmlformats.org/drawingml/2006/main">
            <a:pPr algn="l">
              <a:lnSpc>
                <a:spcPct val="108000"/>
              </a:lnSpc>
              <a:buNone/>
              <a:defRPr sz="863" b="0" i="0">
                <a:solidFill>
                  <a:srgbClr val="647781"/>
                </a:solidFill>
                <a:latin typeface="Calibri"/>
                <a:ea typeface="Calibri"/>
                <a:cs typeface="Calibri"/>
              </a:defRPr>
            </a:pPr>
            <a:r>
              <a:rPr sz="863" b="0" i="0">
                <a:solidFill>
                  <a:srgbClr val="647781"/>
                </a:solidFill>
                <a:latin typeface="Calibri"/>
                <a:ea typeface="Calibri"/>
                <a:cs typeface="Calibri"/>
              </a:rPr>
              <a:t>Personal status from EHR + telemetry</a:t>
            </a:r>
          </a:p>
        </p:txBody>
      </p:sp>
      <p:sp>
        <p:nvSpPr>
          <p:cNvPr id="15" name="">
            <a:extLst xmlns:a="http://schemas.openxmlformats.org/drawingml/2006/main">
              <a:ext uri="{FF2B5EF4-FFF2-40B4-BE49-F238E27FC236}">
                <a16:creationId xmlns:a16="http://schemas.microsoft.com/office/drawing/2014/main" id="{C3025FE1-6C9D-4AFB-A675-A6D734BDAF0D}"/>
              </a:ext>
            </a:extLst>
          </p:cNvPr>
          <p:cNvSpPr>
            <a:spLocks xmlns:a="http://schemas.openxmlformats.org/drawingml/2006/main" noGrp="1"/>
          </p:cNvSpPr>
          <p:nvPr/>
        </p:nvSpPr>
        <p:spPr>
          <a:xfrm xmlns:a="http://schemas.openxmlformats.org/drawingml/2006/main">
            <a:off x="4105275" y="25431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Heart rate</a:t>
            </a:r>
          </a:p>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72 bpm</a:t>
            </a:r>
          </a:p>
        </p:txBody>
      </p:sp>
      <p:sp>
        <p:nvSpPr>
          <p:cNvPr id="16" name="">
            <a:extLst xmlns:a="http://schemas.openxmlformats.org/drawingml/2006/main">
              <a:ext uri="{FF2B5EF4-FFF2-40B4-BE49-F238E27FC236}">
                <a16:creationId xmlns:a16="http://schemas.microsoft.com/office/drawing/2014/main" id="{C9303190-FB57-489A-BC7D-A3E35DAAD382}"/>
              </a:ext>
            </a:extLst>
          </p:cNvPr>
          <p:cNvSpPr>
            <a:spLocks xmlns:a="http://schemas.openxmlformats.org/drawingml/2006/main" noGrp="1"/>
          </p:cNvSpPr>
          <p:nvPr/>
        </p:nvSpPr>
        <p:spPr>
          <a:xfrm xmlns:a="http://schemas.openxmlformats.org/drawingml/2006/main">
            <a:off x="4943475" y="25431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Blood pressure</a:t>
            </a:r>
          </a:p>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118/78</a:t>
            </a:r>
          </a:p>
        </p:txBody>
      </p:sp>
      <p:sp>
        <p:nvSpPr>
          <p:cNvPr id="17" name="">
            <a:extLst xmlns:a="http://schemas.openxmlformats.org/drawingml/2006/main">
              <a:ext uri="{FF2B5EF4-FFF2-40B4-BE49-F238E27FC236}">
                <a16:creationId xmlns:a16="http://schemas.microsoft.com/office/drawing/2014/main" id="{21D6AD73-504D-4B8B-B284-22FB60A1E168}"/>
              </a:ext>
            </a:extLst>
          </p:cNvPr>
          <p:cNvSpPr>
            <a:spLocks xmlns:a="http://schemas.openxmlformats.org/drawingml/2006/main" noGrp="1"/>
          </p:cNvSpPr>
          <p:nvPr/>
        </p:nvSpPr>
        <p:spPr>
          <a:xfrm xmlns:a="http://schemas.openxmlformats.org/drawingml/2006/main">
            <a:off x="4105275" y="30765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Oxygen</a:t>
            </a:r>
          </a:p>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98.5%</a:t>
            </a:r>
          </a:p>
        </p:txBody>
      </p:sp>
      <p:sp>
        <p:nvSpPr>
          <p:cNvPr id="18" name="">
            <a:extLst xmlns:a="http://schemas.openxmlformats.org/drawingml/2006/main">
              <a:ext uri="{FF2B5EF4-FFF2-40B4-BE49-F238E27FC236}">
                <a16:creationId xmlns:a16="http://schemas.microsoft.com/office/drawing/2014/main" id="{69835677-735F-4381-A7B1-99DE9F9A13CF}"/>
              </a:ext>
            </a:extLst>
          </p:cNvPr>
          <p:cNvSpPr>
            <a:spLocks xmlns:a="http://schemas.openxmlformats.org/drawingml/2006/main" noGrp="1"/>
          </p:cNvSpPr>
          <p:nvPr/>
        </p:nvSpPr>
        <p:spPr>
          <a:xfrm xmlns:a="http://schemas.openxmlformats.org/drawingml/2006/main">
            <a:off x="4943475" y="30765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938" b="1">
                <a:solidFill>
                  <a:srgbClr val="248F67"/>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938" b="1">
                <a:solidFill>
                  <a:srgbClr val="248F67"/>
                </a:solidFill>
                <a:latin typeface="Calibri"/>
                <a:ea typeface="Calibri"/>
                <a:cs typeface="Calibri"/>
              </a:rPr>
              <a:t>Twin risk</a:t>
            </a:r>
          </a:p>
          <a:p xmlns:a="http://schemas.openxmlformats.org/drawingml/2006/main">
            <a:pPr algn="l">
              <a:buNone/>
              <a:defRPr sz="788" b="0">
                <a:solidFill>
                  <a:srgbClr val="263C45"/>
                </a:solidFill>
                <a:latin typeface="Calibri"/>
                <a:ea typeface="Calibri"/>
                <a:cs typeface="Calibri"/>
              </a:defRPr>
            </a:pPr>
            <a:r>
              <a:rPr sz="938" b="1">
                <a:solidFill>
                  <a:srgbClr val="248F67"/>
                </a:solidFill>
                <a:latin typeface="Calibri"/>
                <a:ea typeface="Calibri"/>
                <a:cs typeface="Calibri"/>
              </a:rPr>
              <a:t>LOW</a:t>
            </a:r>
          </a:p>
        </p:txBody>
      </p:sp>
      <p:sp>
        <p:nvSpPr>
          <p:cNvPr id="19" name="">
            <a:extLst xmlns:a="http://schemas.openxmlformats.org/drawingml/2006/main">
              <a:ext uri="{FF2B5EF4-FFF2-40B4-BE49-F238E27FC236}">
                <a16:creationId xmlns:a16="http://schemas.microsoft.com/office/drawing/2014/main" id="{2C8FFD78-5A30-4150-BBCA-D80C695E9C38}"/>
              </a:ext>
            </a:extLst>
          </p:cNvPr>
          <p:cNvSpPr>
            <a:spLocks xmlns:a="http://schemas.openxmlformats.org/drawingml/2006/main" noGrp="1"/>
          </p:cNvSpPr>
          <p:nvPr/>
        </p:nvSpPr>
        <p:spPr>
          <a:xfrm xmlns:a="http://schemas.openxmlformats.org/drawingml/2006/main">
            <a:off x="4105275" y="3657600"/>
            <a:ext cx="16859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102A36"/>
                </a:solidFill>
                <a:latin typeface="Calibri"/>
                <a:ea typeface="Calibri"/>
                <a:cs typeface="Calibri"/>
              </a:defRPr>
            </a:defPPr>
            <a:lvl1pPr algn="l">
              <a:buNone/>
              <a:defRPr sz="825" b="1" i="0">
                <a:solidFill>
                  <a:srgbClr val="102A36"/>
                </a:solidFill>
                <a:latin typeface="Calibri"/>
                <a:ea typeface="Calibri"/>
                <a:cs typeface="Calibri"/>
              </a:defRPr>
            </a:lvl1pPr>
            <a:lvl2pPr algn="l">
              <a:buNone/>
              <a:defRPr sz="825" b="1" i="0">
                <a:solidFill>
                  <a:srgbClr val="102A36"/>
                </a:solidFill>
                <a:latin typeface="Calibri"/>
                <a:ea typeface="Calibri"/>
                <a:cs typeface="Calibri"/>
              </a:defRPr>
            </a:lvl2pPr>
            <a:lvl3pPr algn="l">
              <a:buNone/>
              <a:defRPr sz="825" b="1" i="0">
                <a:solidFill>
                  <a:srgbClr val="102A36"/>
                </a:solidFill>
                <a:latin typeface="Calibri"/>
                <a:ea typeface="Calibri"/>
                <a:cs typeface="Calibri"/>
              </a:defRPr>
            </a:lvl3pPr>
            <a:lvl4pPr algn="l">
              <a:buNone/>
              <a:defRPr sz="825" b="1" i="0">
                <a:solidFill>
                  <a:srgbClr val="102A36"/>
                </a:solidFill>
                <a:latin typeface="Calibri"/>
                <a:ea typeface="Calibri"/>
                <a:cs typeface="Calibri"/>
              </a:defRPr>
            </a:lvl4pPr>
            <a:lvl5pPr algn="l">
              <a:buNone/>
              <a:defRPr sz="825" b="1" i="0">
                <a:solidFill>
                  <a:srgbClr val="102A36"/>
                </a:solidFill>
                <a:latin typeface="Calibri"/>
                <a:ea typeface="Calibri"/>
                <a:cs typeface="Calibri"/>
              </a:defRPr>
            </a:lvl5pPr>
            <a:lvl6pPr algn="l">
              <a:buNone/>
              <a:defRPr sz="825" b="1" i="0">
                <a:solidFill>
                  <a:srgbClr val="102A36"/>
                </a:solidFill>
                <a:latin typeface="Calibri"/>
                <a:ea typeface="Calibri"/>
                <a:cs typeface="Calibri"/>
              </a:defRPr>
            </a:lvl6pPr>
            <a:lvl7pPr algn="l">
              <a:buNone/>
              <a:defRPr sz="825" b="1" i="0">
                <a:solidFill>
                  <a:srgbClr val="102A36"/>
                </a:solidFill>
                <a:latin typeface="Calibri"/>
                <a:ea typeface="Calibri"/>
                <a:cs typeface="Calibri"/>
              </a:defRPr>
            </a:lvl7pPr>
            <a:lvl8pPr algn="l">
              <a:buNone/>
              <a:defRPr sz="825" b="1" i="0">
                <a:solidFill>
                  <a:srgbClr val="102A36"/>
                </a:solidFill>
                <a:latin typeface="Calibri"/>
                <a:ea typeface="Calibri"/>
                <a:cs typeface="Calibri"/>
              </a:defRPr>
            </a:lvl8pPr>
            <a:lvl9pPr algn="l">
              <a:buNone/>
              <a:defRPr sz="825" b="1" i="0">
                <a:solidFill>
                  <a:srgbClr val="102A36"/>
                </a:solidFill>
                <a:latin typeface="Calibri"/>
                <a:ea typeface="Calibri"/>
                <a:cs typeface="Calibri"/>
              </a:defRPr>
            </a:lvl9pPr>
          </a:lstStyle>
          <a:p xmlns:a="http://schemas.openxmlformats.org/drawingml/2006/main">
            <a:pPr algn="l">
              <a:lnSpc>
                <a:spcPct val="108000"/>
              </a:lnSpc>
              <a:buNone/>
              <a:defRPr sz="825" b="1" i="0">
                <a:solidFill>
                  <a:srgbClr val="102A36"/>
                </a:solidFill>
                <a:latin typeface="Calibri"/>
                <a:ea typeface="Calibri"/>
                <a:cs typeface="Calibri"/>
              </a:defRPr>
            </a:pPr>
            <a:r>
              <a:rPr sz="825" b="1" i="0">
                <a:solidFill>
                  <a:srgbClr val="102A36"/>
                </a:solidFill>
                <a:latin typeface="Calibri"/>
                <a:ea typeface="Calibri"/>
                <a:cs typeface="Calibri"/>
              </a:rPr>
              <a:t>Cardiac event score</a:t>
            </a:r>
          </a:p>
        </p:txBody>
      </p:sp>
      <p:sp>
        <p:nvSpPr>
          <p:cNvPr id="20" name="">
            <a:extLst xmlns:a="http://schemas.openxmlformats.org/drawingml/2006/main">
              <a:ext uri="{FF2B5EF4-FFF2-40B4-BE49-F238E27FC236}">
                <a16:creationId xmlns:a16="http://schemas.microsoft.com/office/drawing/2014/main" id="{A4C1A83D-FE47-4F86-8570-F8198F10FC82}"/>
              </a:ext>
            </a:extLst>
          </p:cNvPr>
          <p:cNvSpPr>
            <a:spLocks xmlns:a="http://schemas.openxmlformats.org/drawingml/2006/main" noGrp="1"/>
          </p:cNvSpPr>
          <p:nvPr/>
        </p:nvSpPr>
        <p:spPr>
          <a:xfrm xmlns:a="http://schemas.openxmlformats.org/drawingml/2006/main">
            <a:off x="4105275" y="3886200"/>
            <a:ext cx="80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i="0">
                <a:solidFill>
                  <a:srgbClr val="4D8A68"/>
                </a:solidFill>
                <a:latin typeface="Calibri Light"/>
                <a:ea typeface="Calibri Light"/>
                <a:cs typeface="Calibri Light"/>
              </a:defRPr>
            </a:defPPr>
            <a:lvl1pPr algn="l">
              <a:buNone/>
              <a:defRPr sz="2400" b="1" i="0">
                <a:solidFill>
                  <a:srgbClr val="4D8A68"/>
                </a:solidFill>
                <a:latin typeface="Calibri Light"/>
                <a:ea typeface="Calibri Light"/>
                <a:cs typeface="Calibri Light"/>
              </a:defRPr>
            </a:lvl1pPr>
            <a:lvl2pPr algn="l">
              <a:buNone/>
              <a:defRPr sz="2400" b="1" i="0">
                <a:solidFill>
                  <a:srgbClr val="4D8A68"/>
                </a:solidFill>
                <a:latin typeface="Calibri Light"/>
                <a:ea typeface="Calibri Light"/>
                <a:cs typeface="Calibri Light"/>
              </a:defRPr>
            </a:lvl2pPr>
            <a:lvl3pPr algn="l">
              <a:buNone/>
              <a:defRPr sz="2400" b="1" i="0">
                <a:solidFill>
                  <a:srgbClr val="4D8A68"/>
                </a:solidFill>
                <a:latin typeface="Calibri Light"/>
                <a:ea typeface="Calibri Light"/>
                <a:cs typeface="Calibri Light"/>
              </a:defRPr>
            </a:lvl3pPr>
            <a:lvl4pPr algn="l">
              <a:buNone/>
              <a:defRPr sz="2400" b="1" i="0">
                <a:solidFill>
                  <a:srgbClr val="4D8A68"/>
                </a:solidFill>
                <a:latin typeface="Calibri Light"/>
                <a:ea typeface="Calibri Light"/>
                <a:cs typeface="Calibri Light"/>
              </a:defRPr>
            </a:lvl4pPr>
            <a:lvl5pPr algn="l">
              <a:buNone/>
              <a:defRPr sz="2400" b="1" i="0">
                <a:solidFill>
                  <a:srgbClr val="4D8A68"/>
                </a:solidFill>
                <a:latin typeface="Calibri Light"/>
                <a:ea typeface="Calibri Light"/>
                <a:cs typeface="Calibri Light"/>
              </a:defRPr>
            </a:lvl5pPr>
            <a:lvl6pPr algn="l">
              <a:buNone/>
              <a:defRPr sz="2400" b="1" i="0">
                <a:solidFill>
                  <a:srgbClr val="4D8A68"/>
                </a:solidFill>
                <a:latin typeface="Calibri Light"/>
                <a:ea typeface="Calibri Light"/>
                <a:cs typeface="Calibri Light"/>
              </a:defRPr>
            </a:lvl6pPr>
            <a:lvl7pPr algn="l">
              <a:buNone/>
              <a:defRPr sz="2400" b="1" i="0">
                <a:solidFill>
                  <a:srgbClr val="4D8A68"/>
                </a:solidFill>
                <a:latin typeface="Calibri Light"/>
                <a:ea typeface="Calibri Light"/>
                <a:cs typeface="Calibri Light"/>
              </a:defRPr>
            </a:lvl7pPr>
            <a:lvl8pPr algn="l">
              <a:buNone/>
              <a:defRPr sz="2400" b="1" i="0">
                <a:solidFill>
                  <a:srgbClr val="4D8A68"/>
                </a:solidFill>
                <a:latin typeface="Calibri Light"/>
                <a:ea typeface="Calibri Light"/>
                <a:cs typeface="Calibri Light"/>
              </a:defRPr>
            </a:lvl8pPr>
            <a:lvl9pPr algn="l">
              <a:buNone/>
              <a:defRPr sz="2400" b="1" i="0">
                <a:solidFill>
                  <a:srgbClr val="4D8A68"/>
                </a:solidFill>
                <a:latin typeface="Calibri Light"/>
                <a:ea typeface="Calibri Light"/>
                <a:cs typeface="Calibri Light"/>
              </a:defRPr>
            </a:lvl9pPr>
          </a:lstStyle>
          <a:p xmlns:a="http://schemas.openxmlformats.org/drawingml/2006/main">
            <a:pPr algn="l">
              <a:lnSpc>
                <a:spcPct val="108000"/>
              </a:lnSpc>
              <a:buNone/>
              <a:defRPr sz="2400" b="1" i="0">
                <a:solidFill>
                  <a:srgbClr val="4D8A68"/>
                </a:solidFill>
                <a:latin typeface="Calibri Light"/>
                <a:ea typeface="Calibri Light"/>
                <a:cs typeface="Calibri Light"/>
              </a:defRPr>
            </a:pPr>
            <a:r>
              <a:rPr sz="2400" b="1" i="0">
                <a:solidFill>
                  <a:srgbClr val="4D8A68"/>
                </a:solidFill>
                <a:latin typeface="Calibri Light"/>
                <a:ea typeface="Calibri Light"/>
                <a:cs typeface="Calibri Light"/>
              </a:rPr>
              <a:t>13%</a:t>
            </a:r>
          </a:p>
        </p:txBody>
      </p:sp>
      <p:sp>
        <p:nvSpPr>
          <p:cNvPr id="21" name="">
            <a:extLst xmlns:a="http://schemas.openxmlformats.org/drawingml/2006/main">
              <a:ext uri="{FF2B5EF4-FFF2-40B4-BE49-F238E27FC236}">
                <a16:creationId xmlns:a16="http://schemas.microsoft.com/office/drawing/2014/main" id="{A00BDBCF-0D12-4E13-9970-42C974E683E8}"/>
              </a:ext>
            </a:extLst>
          </p:cNvPr>
          <p:cNvSpPr>
            <a:spLocks xmlns:a="http://schemas.openxmlformats.org/drawingml/2006/main" noGrp="1"/>
          </p:cNvSpPr>
          <p:nvPr/>
        </p:nvSpPr>
        <p:spPr>
          <a:xfrm xmlns:a="http://schemas.openxmlformats.org/drawingml/2006/main">
            <a:off x="4105275" y="4324350"/>
            <a:ext cx="1676400" cy="66675"/>
          </a:xfrm>
          <a:prstGeom xmlns:a="http://schemas.openxmlformats.org/drawingml/2006/main" prst="roundRect">
            <a:avLst>
              <a:gd name="adj" fmla="val 50000"/>
            </a:avLst>
          </a:prstGeom>
          <a:solidFill xmlns:a="http://schemas.openxmlformats.org/drawingml/2006/main">
            <a:srgbClr val="E2ECE9"/>
          </a:solidFill>
          <a:ln xmlns:a="http://schemas.openxmlformats.org/drawingml/2006/main" w="11430">
            <a:solidFill>
              <a:srgbClr val="E2ECE9"/>
            </a:solidFill>
            <a:prstDash val="solid"/>
          </a:ln>
        </p:spPr>
      </p:sp>
      <p:sp>
        <p:nvSpPr>
          <p:cNvPr id="22" name="">
            <a:extLst xmlns:a="http://schemas.openxmlformats.org/drawingml/2006/main">
              <a:ext uri="{FF2B5EF4-FFF2-40B4-BE49-F238E27FC236}">
                <a16:creationId xmlns:a16="http://schemas.microsoft.com/office/drawing/2014/main" id="{C9048EC2-B68F-4E6F-BD44-0946E2E0E1EA}"/>
              </a:ext>
            </a:extLst>
          </p:cNvPr>
          <p:cNvSpPr>
            <a:spLocks xmlns:a="http://schemas.openxmlformats.org/drawingml/2006/main" noGrp="1"/>
          </p:cNvSpPr>
          <p:nvPr/>
        </p:nvSpPr>
        <p:spPr>
          <a:xfrm xmlns:a="http://schemas.openxmlformats.org/drawingml/2006/main">
            <a:off x="4105275" y="4324350"/>
            <a:ext cx="219075" cy="66675"/>
          </a:xfrm>
          <a:prstGeom xmlns:a="http://schemas.openxmlformats.org/drawingml/2006/main" prst="roundRect">
            <a:avLst>
              <a:gd name="adj" fmla="val 50000"/>
            </a:avLst>
          </a:prstGeom>
          <a:solidFill xmlns:a="http://schemas.openxmlformats.org/drawingml/2006/main">
            <a:srgbClr val="4D8A68"/>
          </a:solidFill>
          <a:ln xmlns:a="http://schemas.openxmlformats.org/drawingml/2006/main" w="11430">
            <a:solidFill>
              <a:srgbClr val="4D8A68"/>
            </a:solidFill>
            <a:prstDash val="solid"/>
          </a:ln>
        </p:spPr>
      </p:sp>
      <p:sp>
        <p:nvSpPr>
          <p:cNvPr id="23" name="">
            <a:extLst xmlns:a="http://schemas.openxmlformats.org/drawingml/2006/main">
              <a:ext uri="{FF2B5EF4-FFF2-40B4-BE49-F238E27FC236}">
                <a16:creationId xmlns:a16="http://schemas.microsoft.com/office/drawing/2014/main" id="{34363B96-1775-4856-88EB-43A44872226F}"/>
              </a:ext>
            </a:extLst>
          </p:cNvPr>
          <p:cNvSpPr>
            <a:spLocks xmlns:a="http://schemas.openxmlformats.org/drawingml/2006/main" noGrp="1"/>
          </p:cNvSpPr>
          <p:nvPr/>
        </p:nvSpPr>
        <p:spPr>
          <a:xfrm xmlns:a="http://schemas.openxmlformats.org/drawingml/2006/main">
            <a:off x="3333750" y="48291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647781"/>
                </a:solidFill>
                <a:latin typeface="Calibri"/>
                <a:ea typeface="Calibri"/>
                <a:cs typeface="Calibri"/>
              </a:defRPr>
            </a:defPPr>
            <a:lvl1pPr algn="ctr">
              <a:buNone/>
              <a:defRPr sz="825" b="0" i="0">
                <a:solidFill>
                  <a:srgbClr val="647781"/>
                </a:solidFill>
                <a:latin typeface="Calibri"/>
                <a:ea typeface="Calibri"/>
                <a:cs typeface="Calibri"/>
              </a:defRPr>
            </a:lvl1pPr>
            <a:lvl2pPr algn="ctr">
              <a:buNone/>
              <a:defRPr sz="825" b="0" i="0">
                <a:solidFill>
                  <a:srgbClr val="647781"/>
                </a:solidFill>
                <a:latin typeface="Calibri"/>
                <a:ea typeface="Calibri"/>
                <a:cs typeface="Calibri"/>
              </a:defRPr>
            </a:lvl2pPr>
            <a:lvl3pPr algn="ctr">
              <a:buNone/>
              <a:defRPr sz="825" b="0" i="0">
                <a:solidFill>
                  <a:srgbClr val="647781"/>
                </a:solidFill>
                <a:latin typeface="Calibri"/>
                <a:ea typeface="Calibri"/>
                <a:cs typeface="Calibri"/>
              </a:defRPr>
            </a:lvl3pPr>
            <a:lvl4pPr algn="ctr">
              <a:buNone/>
              <a:defRPr sz="825" b="0" i="0">
                <a:solidFill>
                  <a:srgbClr val="647781"/>
                </a:solidFill>
                <a:latin typeface="Calibri"/>
                <a:ea typeface="Calibri"/>
                <a:cs typeface="Calibri"/>
              </a:defRPr>
            </a:lvl4pPr>
            <a:lvl5pPr algn="ctr">
              <a:buNone/>
              <a:defRPr sz="825" b="0" i="0">
                <a:solidFill>
                  <a:srgbClr val="647781"/>
                </a:solidFill>
                <a:latin typeface="Calibri"/>
                <a:ea typeface="Calibri"/>
                <a:cs typeface="Calibri"/>
              </a:defRPr>
            </a:lvl5pPr>
            <a:lvl6pPr algn="ctr">
              <a:buNone/>
              <a:defRPr sz="825" b="0" i="0">
                <a:solidFill>
                  <a:srgbClr val="647781"/>
                </a:solidFill>
                <a:latin typeface="Calibri"/>
                <a:ea typeface="Calibri"/>
                <a:cs typeface="Calibri"/>
              </a:defRPr>
            </a:lvl6pPr>
            <a:lvl7pPr algn="ctr">
              <a:buNone/>
              <a:defRPr sz="825" b="0" i="0">
                <a:solidFill>
                  <a:srgbClr val="647781"/>
                </a:solidFill>
                <a:latin typeface="Calibri"/>
                <a:ea typeface="Calibri"/>
                <a:cs typeface="Calibri"/>
              </a:defRPr>
            </a:lvl7pPr>
            <a:lvl8pPr algn="ctr">
              <a:buNone/>
              <a:defRPr sz="825" b="0" i="0">
                <a:solidFill>
                  <a:srgbClr val="647781"/>
                </a:solidFill>
                <a:latin typeface="Calibri"/>
                <a:ea typeface="Calibri"/>
                <a:cs typeface="Calibri"/>
              </a:defRPr>
            </a:lvl8pPr>
            <a:lvl9pPr algn="ctr">
              <a:buNone/>
              <a:defRPr sz="825" b="0" i="0">
                <a:solidFill>
                  <a:srgbClr val="647781"/>
                </a:solidFill>
                <a:latin typeface="Calibri"/>
                <a:ea typeface="Calibri"/>
                <a:cs typeface="Calibri"/>
              </a:defRPr>
            </a:lvl9pPr>
          </a:lstStyle>
          <a:p xmlns:a="http://schemas.openxmlformats.org/drawingml/2006/main">
            <a:pPr algn="ctr">
              <a:lnSpc>
                <a:spcPct val="108000"/>
              </a:lnSpc>
              <a:buNone/>
              <a:defRPr sz="825" b="0" i="0">
                <a:solidFill>
                  <a:srgbClr val="647781"/>
                </a:solidFill>
                <a:latin typeface="Calibri"/>
                <a:ea typeface="Calibri"/>
                <a:cs typeface="Calibri"/>
              </a:defRPr>
            </a:pPr>
            <a:r>
              <a:rPr sz="825" b="0" i="0">
                <a:solidFill>
                  <a:srgbClr val="647781"/>
                </a:solidFill>
                <a:latin typeface="Calibri"/>
                <a:ea typeface="Calibri"/>
                <a:cs typeface="Calibri"/>
              </a:rPr>
              <a:t>Illustrative screen · values from a seeded synthetic profile</a:t>
            </a:r>
          </a:p>
        </p:txBody>
      </p:sp>
    </p:spTree>
    <p:extLst>
      <p:ext uri="{BB962C8B-B14F-4D97-AF65-F5344CB8AC3E}">
        <p14:creationId xmlns:p14="http://schemas.microsoft.com/office/powerpoint/2010/main" val="504976120"/>
      </p:ext>
    </p:extLst>
  </p:cSld>
</p:sld>
</file>

<file path=ppt/slides/slide12.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63ED6275-E468-408A-B9DA-B0AC78397C08}"/>
              </a:ext>
            </a:extLst>
          </p:cNvPr>
          <p:cNvPicPr>
            <a:picLocks xmlns:a="http://schemas.openxmlformats.org/drawingml/2006/main" noChangeAspect="1"/>
          </p:cNvPicPr>
          <p:nvPr/>
        </p:nvPicPr>
        <p:blipFill>
          <a:blip xmlns:r="http://schemas.openxmlformats.org/officeDocument/2006/relationships" xmlns:a="http://schemas.openxmlformats.org/drawingml/2006/main" r:embed="Rc43681e4b931459b"/>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4E5A4E4D-68A3-4CBB-BC3F-0AFAA20E26B2}"/>
              </a:ext>
            </a:extLst>
          </p:cNvPr>
          <p:cNvSpPr>
            <a:spLocks xmlns:a="http://schemas.openxmlformats.org/drawingml/2006/main" noGrp="1"/>
          </p:cNvSpPr>
          <p:nvPr/>
        </p:nvSpPr>
        <p:spPr>
          <a:xfrm xmlns:a="http://schemas.openxmlformats.org/drawingml/2006/main">
            <a:off x="838200" y="1304925"/>
            <a:ext cx="5810250" cy="3790950"/>
          </a:xfrm>
          <a:prstGeom xmlns:a="http://schemas.openxmlformats.org/drawingml/2006/main" prst="roundRect">
            <a:avLst>
              <a:gd name="adj" fmla="val 3769"/>
            </a:avLst>
          </a:prstGeom>
          <a:solidFill xmlns:a="http://schemas.openxmlformats.org/drawingml/2006/main">
            <a:srgbClr val="FFFFFF">
              <a:alpha val="95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9" name="">
            <a:extLst xmlns:a="http://schemas.openxmlformats.org/drawingml/2006/main">
              <a:ext uri="{FF2B5EF4-FFF2-40B4-BE49-F238E27FC236}">
                <a16:creationId xmlns:a16="http://schemas.microsoft.com/office/drawing/2014/main" id="{159EFDF0-AEBE-40CF-A6DC-0B8C10E6FF72}"/>
              </a:ext>
            </a:extLst>
          </p:cNvPr>
          <p:cNvSpPr>
            <a:spLocks xmlns:a="http://schemas.openxmlformats.org/drawingml/2006/main" noGrp="1"/>
          </p:cNvSpPr>
          <p:nvPr/>
        </p:nvSpPr>
        <p:spPr>
          <a:xfrm xmlns:a="http://schemas.openxmlformats.org/drawingml/2006/main">
            <a:off x="838200" y="1304925"/>
            <a:ext cx="47625" cy="37909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74653AD-FC68-4C6D-863B-91DC489AE3D7}"/>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Judge demo flow</a:t>
            </a:r>
          </a:p>
        </p:txBody>
      </p:sp>
      <p:sp>
        <p:nvSpPr>
          <p:cNvPr id="2" name="">
            <a:extLst xmlns:a="http://schemas.openxmlformats.org/drawingml/2006/main">
              <a:ext uri="{FF2B5EF4-FFF2-40B4-BE49-F238E27FC236}">
                <a16:creationId xmlns:a16="http://schemas.microsoft.com/office/drawing/2014/main" id="{BDD43741-FB27-4E14-8E17-84BC7970CE21}"/>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001CFF8D-705E-4182-A306-55E2EE890494}"/>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A short walkthrough shows ingestion, review, alerting, and the mobile companion.</a:t>
            </a:r>
          </a:p>
        </p:txBody>
      </p:sp>
      <p:sp>
        <p:nvSpPr>
          <p:cNvPr id="4" name="">
            <a:extLst xmlns:a="http://schemas.openxmlformats.org/drawingml/2006/main">
              <a:ext uri="{FF2B5EF4-FFF2-40B4-BE49-F238E27FC236}">
                <a16:creationId xmlns:a16="http://schemas.microsoft.com/office/drawing/2014/main" id="{992B0104-3569-4C46-B60F-8C5A5BE2AD3E}"/>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09C3488D-32D6-4112-B8AC-7C79831F4339}"/>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5A64C3E6-89A2-4A55-A53A-F5B0E57E7034}"/>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12</a:t>
            </a:r>
          </a:p>
        </p:txBody>
      </p:sp>
      <p:sp>
        <p:nvSpPr>
          <p:cNvPr id="7" name="">
            <a:extLst xmlns:a="http://schemas.openxmlformats.org/drawingml/2006/main">
              <a:ext uri="{FF2B5EF4-FFF2-40B4-BE49-F238E27FC236}">
                <a16:creationId xmlns:a16="http://schemas.microsoft.com/office/drawing/2014/main" id="{E2578200-7B7E-4749-ACC1-62215F30DFBC}"/>
              </a:ext>
            </a:extLst>
          </p:cNvPr>
          <p:cNvSpPr>
            <a:spLocks xmlns:a="http://schemas.openxmlformats.org/drawingml/2006/main" noGrp="1"/>
          </p:cNvSpPr>
          <p:nvPr/>
        </p:nvSpPr>
        <p:spPr>
          <a:xfrm xmlns:a="http://schemas.openxmlformats.org/drawingml/2006/main">
            <a:off x="552450" y="138112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01</a:t>
            </a:r>
          </a:p>
        </p:txBody>
      </p:sp>
      <p:sp>
        <p:nvSpPr>
          <p:cNvPr id="8" name="">
            <a:extLst xmlns:a="http://schemas.openxmlformats.org/drawingml/2006/main">
              <a:ext uri="{FF2B5EF4-FFF2-40B4-BE49-F238E27FC236}">
                <a16:creationId xmlns:a16="http://schemas.microsoft.com/office/drawing/2014/main" id="{B6BD93BA-7D0B-492D-9CD2-19FC36911248}"/>
              </a:ext>
            </a:extLst>
          </p:cNvPr>
          <p:cNvSpPr>
            <a:spLocks xmlns:a="http://schemas.openxmlformats.org/drawingml/2006/main" noGrp="1"/>
          </p:cNvSpPr>
          <p:nvPr/>
        </p:nvSpPr>
        <p:spPr>
          <a:xfrm xmlns:a="http://schemas.openxmlformats.org/drawingml/2006/main">
            <a:off x="1095375" y="138112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Start API + dashboard</a:t>
            </a:r>
          </a:p>
        </p:txBody>
      </p:sp>
      <p:sp>
        <p:nvSpPr>
          <p:cNvPr id="9" name="">
            <a:extLst xmlns:a="http://schemas.openxmlformats.org/drawingml/2006/main">
              <a:ext uri="{FF2B5EF4-FFF2-40B4-BE49-F238E27FC236}">
                <a16:creationId xmlns:a16="http://schemas.microsoft.com/office/drawing/2014/main" id="{9AE825F1-16BA-404E-9060-B6EFDD9A3543}"/>
              </a:ext>
            </a:extLst>
          </p:cNvPr>
          <p:cNvSpPr>
            <a:spLocks xmlns:a="http://schemas.openxmlformats.org/drawingml/2006/main" noGrp="1"/>
          </p:cNvSpPr>
          <p:nvPr/>
        </p:nvSpPr>
        <p:spPr>
          <a:xfrm xmlns:a="http://schemas.openxmlformats.org/drawingml/2006/main">
            <a:off x="3629025" y="138112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FastAPI on :8000; Next.js on :3000</a:t>
            </a:r>
          </a:p>
        </p:txBody>
      </p:sp>
      <p:sp>
        <p:nvSpPr>
          <p:cNvPr id="10" name="">
            <a:extLst xmlns:a="http://schemas.openxmlformats.org/drawingml/2006/main">
              <a:ext uri="{FF2B5EF4-FFF2-40B4-BE49-F238E27FC236}">
                <a16:creationId xmlns:a16="http://schemas.microsoft.com/office/drawing/2014/main" id="{D002B800-DB7A-47BF-A09D-239D5C3E9068}"/>
              </a:ext>
            </a:extLst>
          </p:cNvPr>
          <p:cNvSpPr>
            <a:spLocks xmlns:a="http://schemas.openxmlformats.org/drawingml/2006/main" noGrp="1"/>
          </p:cNvSpPr>
          <p:nvPr/>
        </p:nvSpPr>
        <p:spPr>
          <a:xfrm xmlns:a="http://schemas.openxmlformats.org/drawingml/2006/main" flipH="0" flipV="0">
            <a:off x="1095375" y="1743075"/>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1" name="">
            <a:extLst xmlns:a="http://schemas.openxmlformats.org/drawingml/2006/main">
              <a:ext uri="{FF2B5EF4-FFF2-40B4-BE49-F238E27FC236}">
                <a16:creationId xmlns:a16="http://schemas.microsoft.com/office/drawing/2014/main" id="{737CB590-B48C-43E8-A72C-146867FF1ADD}"/>
              </a:ext>
            </a:extLst>
          </p:cNvPr>
          <p:cNvSpPr>
            <a:spLocks xmlns:a="http://schemas.openxmlformats.org/drawingml/2006/main" noGrp="1"/>
          </p:cNvSpPr>
          <p:nvPr/>
        </p:nvSpPr>
        <p:spPr>
          <a:xfrm xmlns:a="http://schemas.openxmlformats.org/drawingml/2006/main">
            <a:off x="552450" y="1847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02</a:t>
            </a:r>
          </a:p>
        </p:txBody>
      </p:sp>
      <p:sp>
        <p:nvSpPr>
          <p:cNvPr id="12" name="">
            <a:extLst xmlns:a="http://schemas.openxmlformats.org/drawingml/2006/main">
              <a:ext uri="{FF2B5EF4-FFF2-40B4-BE49-F238E27FC236}">
                <a16:creationId xmlns:a16="http://schemas.microsoft.com/office/drawing/2014/main" id="{4A620B9D-D462-440B-B44F-43FF9A8D95F0}"/>
              </a:ext>
            </a:extLst>
          </p:cNvPr>
          <p:cNvSpPr>
            <a:spLocks xmlns:a="http://schemas.openxmlformats.org/drawingml/2006/main" noGrp="1"/>
          </p:cNvSpPr>
          <p:nvPr/>
        </p:nvSpPr>
        <p:spPr>
          <a:xfrm xmlns:a="http://schemas.openxmlformats.org/drawingml/2006/main">
            <a:off x="1095375" y="1847850"/>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Review synthetic roster</a:t>
            </a:r>
          </a:p>
        </p:txBody>
      </p:sp>
      <p:sp>
        <p:nvSpPr>
          <p:cNvPr id="13" name="">
            <a:extLst xmlns:a="http://schemas.openxmlformats.org/drawingml/2006/main">
              <a:ext uri="{FF2B5EF4-FFF2-40B4-BE49-F238E27FC236}">
                <a16:creationId xmlns:a16="http://schemas.microsoft.com/office/drawing/2014/main" id="{C1272DE5-551A-4EBF-9BA0-D590CF1AFFDF}"/>
              </a:ext>
            </a:extLst>
          </p:cNvPr>
          <p:cNvSpPr>
            <a:spLocks xmlns:a="http://schemas.openxmlformats.org/drawingml/2006/main" noGrp="1"/>
          </p:cNvSpPr>
          <p:nvPr/>
        </p:nvSpPr>
        <p:spPr>
          <a:xfrm xmlns:a="http://schemas.openxmlformats.org/drawingml/2006/main">
            <a:off x="3629025" y="1847850"/>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Four seeded patient profiles</a:t>
            </a:r>
          </a:p>
        </p:txBody>
      </p:sp>
      <p:sp>
        <p:nvSpPr>
          <p:cNvPr id="14" name="">
            <a:extLst xmlns:a="http://schemas.openxmlformats.org/drawingml/2006/main">
              <a:ext uri="{FF2B5EF4-FFF2-40B4-BE49-F238E27FC236}">
                <a16:creationId xmlns:a16="http://schemas.microsoft.com/office/drawing/2014/main" id="{C151968F-A68B-4A70-900B-0005DEB6C079}"/>
              </a:ext>
            </a:extLst>
          </p:cNvPr>
          <p:cNvSpPr>
            <a:spLocks xmlns:a="http://schemas.openxmlformats.org/drawingml/2006/main" noGrp="1"/>
          </p:cNvSpPr>
          <p:nvPr/>
        </p:nvSpPr>
        <p:spPr>
          <a:xfrm xmlns:a="http://schemas.openxmlformats.org/drawingml/2006/main" flipH="0" flipV="0">
            <a:off x="1095375" y="2209800"/>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5" name="">
            <a:extLst xmlns:a="http://schemas.openxmlformats.org/drawingml/2006/main">
              <a:ext uri="{FF2B5EF4-FFF2-40B4-BE49-F238E27FC236}">
                <a16:creationId xmlns:a16="http://schemas.microsoft.com/office/drawing/2014/main" id="{21D80A50-89CA-4161-8E27-302A87A6818E}"/>
              </a:ext>
            </a:extLst>
          </p:cNvPr>
          <p:cNvSpPr>
            <a:spLocks xmlns:a="http://schemas.openxmlformats.org/drawingml/2006/main" noGrp="1"/>
          </p:cNvSpPr>
          <p:nvPr/>
        </p:nvSpPr>
        <p:spPr>
          <a:xfrm xmlns:a="http://schemas.openxmlformats.org/drawingml/2006/main">
            <a:off x="552450" y="231457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03</a:t>
            </a:r>
          </a:p>
        </p:txBody>
      </p:sp>
      <p:sp>
        <p:nvSpPr>
          <p:cNvPr id="16" name="">
            <a:extLst xmlns:a="http://schemas.openxmlformats.org/drawingml/2006/main">
              <a:ext uri="{FF2B5EF4-FFF2-40B4-BE49-F238E27FC236}">
                <a16:creationId xmlns:a16="http://schemas.microsoft.com/office/drawing/2014/main" id="{B4448025-F86E-4D1B-9FB9-4E07C0D195F9}"/>
              </a:ext>
            </a:extLst>
          </p:cNvPr>
          <p:cNvSpPr>
            <a:spLocks xmlns:a="http://schemas.openxmlformats.org/drawingml/2006/main" noGrp="1"/>
          </p:cNvSpPr>
          <p:nvPr/>
        </p:nvSpPr>
        <p:spPr>
          <a:xfrm xmlns:a="http://schemas.openxmlformats.org/drawingml/2006/main">
            <a:off x="1095375" y="231457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Inspect EHR + vitals</a:t>
            </a:r>
          </a:p>
        </p:txBody>
      </p:sp>
      <p:sp>
        <p:nvSpPr>
          <p:cNvPr id="17" name="">
            <a:extLst xmlns:a="http://schemas.openxmlformats.org/drawingml/2006/main">
              <a:ext uri="{FF2B5EF4-FFF2-40B4-BE49-F238E27FC236}">
                <a16:creationId xmlns:a16="http://schemas.microsoft.com/office/drawing/2014/main" id="{F4FD1219-D35B-402F-9364-AF58DBF2384D}"/>
              </a:ext>
            </a:extLst>
          </p:cNvPr>
          <p:cNvSpPr>
            <a:spLocks xmlns:a="http://schemas.openxmlformats.org/drawingml/2006/main" noGrp="1"/>
          </p:cNvSpPr>
          <p:nvPr/>
        </p:nvSpPr>
        <p:spPr>
          <a:xfrm xmlns:a="http://schemas.openxmlformats.org/drawingml/2006/main">
            <a:off x="3629025" y="23145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Risk factors, HR, BP, SpO₂, ECG label</a:t>
            </a:r>
          </a:p>
        </p:txBody>
      </p:sp>
      <p:sp>
        <p:nvSpPr>
          <p:cNvPr id="18" name="">
            <a:extLst xmlns:a="http://schemas.openxmlformats.org/drawingml/2006/main">
              <a:ext uri="{FF2B5EF4-FFF2-40B4-BE49-F238E27FC236}">
                <a16:creationId xmlns:a16="http://schemas.microsoft.com/office/drawing/2014/main" id="{E60D5F81-A672-4962-89BF-D10A5709C56E}"/>
              </a:ext>
            </a:extLst>
          </p:cNvPr>
          <p:cNvSpPr>
            <a:spLocks xmlns:a="http://schemas.openxmlformats.org/drawingml/2006/main" noGrp="1"/>
          </p:cNvSpPr>
          <p:nvPr/>
        </p:nvSpPr>
        <p:spPr>
          <a:xfrm xmlns:a="http://schemas.openxmlformats.org/drawingml/2006/main" flipH="0" flipV="0">
            <a:off x="1095375" y="2676525"/>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9" name="">
            <a:extLst xmlns:a="http://schemas.openxmlformats.org/drawingml/2006/main">
              <a:ext uri="{FF2B5EF4-FFF2-40B4-BE49-F238E27FC236}">
                <a16:creationId xmlns:a16="http://schemas.microsoft.com/office/drawing/2014/main" id="{CC341DA1-BB23-49E2-8EAA-CC41ADC23D91}"/>
              </a:ext>
            </a:extLst>
          </p:cNvPr>
          <p:cNvSpPr>
            <a:spLocks xmlns:a="http://schemas.openxmlformats.org/drawingml/2006/main" noGrp="1"/>
          </p:cNvSpPr>
          <p:nvPr/>
        </p:nvSpPr>
        <p:spPr>
          <a:xfrm xmlns:a="http://schemas.openxmlformats.org/drawingml/2006/main">
            <a:off x="552450" y="278130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04</a:t>
            </a:r>
          </a:p>
        </p:txBody>
      </p:sp>
      <p:sp>
        <p:nvSpPr>
          <p:cNvPr id="20" name="">
            <a:extLst xmlns:a="http://schemas.openxmlformats.org/drawingml/2006/main">
              <a:ext uri="{FF2B5EF4-FFF2-40B4-BE49-F238E27FC236}">
                <a16:creationId xmlns:a16="http://schemas.microsoft.com/office/drawing/2014/main" id="{2E43FB57-ADD4-4628-86DD-B61BD1E1EF23}"/>
              </a:ext>
            </a:extLst>
          </p:cNvPr>
          <p:cNvSpPr>
            <a:spLocks xmlns:a="http://schemas.openxmlformats.org/drawingml/2006/main" noGrp="1"/>
          </p:cNvSpPr>
          <p:nvPr/>
        </p:nvSpPr>
        <p:spPr>
          <a:xfrm xmlns:a="http://schemas.openxmlformats.org/drawingml/2006/main">
            <a:off x="1095375" y="2781300"/>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Compare rule outputs</a:t>
            </a:r>
          </a:p>
        </p:txBody>
      </p:sp>
      <p:sp>
        <p:nvSpPr>
          <p:cNvPr id="21" name="">
            <a:extLst xmlns:a="http://schemas.openxmlformats.org/drawingml/2006/main">
              <a:ext uri="{FF2B5EF4-FFF2-40B4-BE49-F238E27FC236}">
                <a16:creationId xmlns:a16="http://schemas.microsoft.com/office/drawing/2014/main" id="{B542745C-380E-4AF2-953D-25AE44377451}"/>
              </a:ext>
            </a:extLst>
          </p:cNvPr>
          <p:cNvSpPr>
            <a:spLocks xmlns:a="http://schemas.openxmlformats.org/drawingml/2006/main" noGrp="1"/>
          </p:cNvSpPr>
          <p:nvPr/>
        </p:nvSpPr>
        <p:spPr>
          <a:xfrm xmlns:a="http://schemas.openxmlformats.org/drawingml/2006/main">
            <a:off x="3629025" y="2781300"/>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LOW through CRITICAL demo profiles</a:t>
            </a:r>
          </a:p>
        </p:txBody>
      </p:sp>
      <p:sp>
        <p:nvSpPr>
          <p:cNvPr id="22" name="">
            <a:extLst xmlns:a="http://schemas.openxmlformats.org/drawingml/2006/main">
              <a:ext uri="{FF2B5EF4-FFF2-40B4-BE49-F238E27FC236}">
                <a16:creationId xmlns:a16="http://schemas.microsoft.com/office/drawing/2014/main" id="{6C54C68C-25B2-4D32-BB8F-C275CB806FAF}"/>
              </a:ext>
            </a:extLst>
          </p:cNvPr>
          <p:cNvSpPr>
            <a:spLocks xmlns:a="http://schemas.openxmlformats.org/drawingml/2006/main" noGrp="1"/>
          </p:cNvSpPr>
          <p:nvPr/>
        </p:nvSpPr>
        <p:spPr>
          <a:xfrm xmlns:a="http://schemas.openxmlformats.org/drawingml/2006/main" flipH="0" flipV="0">
            <a:off x="1095375" y="3143250"/>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23" name="">
            <a:extLst xmlns:a="http://schemas.openxmlformats.org/drawingml/2006/main">
              <a:ext uri="{FF2B5EF4-FFF2-40B4-BE49-F238E27FC236}">
                <a16:creationId xmlns:a16="http://schemas.microsoft.com/office/drawing/2014/main" id="{C01E205E-DF4E-400B-8BCD-111F7D28FF33}"/>
              </a:ext>
            </a:extLst>
          </p:cNvPr>
          <p:cNvSpPr>
            <a:spLocks xmlns:a="http://schemas.openxmlformats.org/drawingml/2006/main" noGrp="1"/>
          </p:cNvSpPr>
          <p:nvPr/>
        </p:nvSpPr>
        <p:spPr>
          <a:xfrm xmlns:a="http://schemas.openxmlformats.org/drawingml/2006/main">
            <a:off x="552450" y="324802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05</a:t>
            </a:r>
          </a:p>
        </p:txBody>
      </p:sp>
      <p:sp>
        <p:nvSpPr>
          <p:cNvPr id="24" name="">
            <a:extLst xmlns:a="http://schemas.openxmlformats.org/drawingml/2006/main">
              <a:ext uri="{FF2B5EF4-FFF2-40B4-BE49-F238E27FC236}">
                <a16:creationId xmlns:a16="http://schemas.microsoft.com/office/drawing/2014/main" id="{7760B443-0269-465B-BBB8-2E9B17D016FB}"/>
              </a:ext>
            </a:extLst>
          </p:cNvPr>
          <p:cNvSpPr>
            <a:spLocks xmlns:a="http://schemas.openxmlformats.org/drawingml/2006/main" noGrp="1"/>
          </p:cNvSpPr>
          <p:nvPr/>
        </p:nvSpPr>
        <p:spPr>
          <a:xfrm xmlns:a="http://schemas.openxmlformats.org/drawingml/2006/main">
            <a:off x="1095375" y="324802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Submit a vital</a:t>
            </a:r>
          </a:p>
        </p:txBody>
      </p:sp>
      <p:sp>
        <p:nvSpPr>
          <p:cNvPr id="25" name="">
            <a:extLst xmlns:a="http://schemas.openxmlformats.org/drawingml/2006/main">
              <a:ext uri="{FF2B5EF4-FFF2-40B4-BE49-F238E27FC236}">
                <a16:creationId xmlns:a16="http://schemas.microsoft.com/office/drawing/2014/main" id="{4BBA7C6D-0762-45C0-95D2-4568869FE68C}"/>
              </a:ext>
            </a:extLst>
          </p:cNvPr>
          <p:cNvSpPr>
            <a:spLocks xmlns:a="http://schemas.openxmlformats.org/drawingml/2006/main" noGrp="1"/>
          </p:cNvSpPr>
          <p:nvPr/>
        </p:nvSpPr>
        <p:spPr>
          <a:xfrm xmlns:a="http://schemas.openxmlformats.org/drawingml/2006/main">
            <a:off x="3629025" y="324802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Swagger or live WebSocket event</a:t>
            </a:r>
          </a:p>
        </p:txBody>
      </p:sp>
      <p:sp>
        <p:nvSpPr>
          <p:cNvPr id="26" name="">
            <a:extLst xmlns:a="http://schemas.openxmlformats.org/drawingml/2006/main">
              <a:ext uri="{FF2B5EF4-FFF2-40B4-BE49-F238E27FC236}">
                <a16:creationId xmlns:a16="http://schemas.microsoft.com/office/drawing/2014/main" id="{6D426472-D1D4-465E-9324-71CF1BD40939}"/>
              </a:ext>
            </a:extLst>
          </p:cNvPr>
          <p:cNvSpPr>
            <a:spLocks xmlns:a="http://schemas.openxmlformats.org/drawingml/2006/main" noGrp="1"/>
          </p:cNvSpPr>
          <p:nvPr/>
        </p:nvSpPr>
        <p:spPr>
          <a:xfrm xmlns:a="http://schemas.openxmlformats.org/drawingml/2006/main" flipH="0" flipV="0">
            <a:off x="1095375" y="3609975"/>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27" name="">
            <a:extLst xmlns:a="http://schemas.openxmlformats.org/drawingml/2006/main">
              <a:ext uri="{FF2B5EF4-FFF2-40B4-BE49-F238E27FC236}">
                <a16:creationId xmlns:a16="http://schemas.microsoft.com/office/drawing/2014/main" id="{F1A03D95-2723-405D-B361-6AD1533CD3EC}"/>
              </a:ext>
            </a:extLst>
          </p:cNvPr>
          <p:cNvSpPr>
            <a:spLocks xmlns:a="http://schemas.openxmlformats.org/drawingml/2006/main" noGrp="1"/>
          </p:cNvSpPr>
          <p:nvPr/>
        </p:nvSpPr>
        <p:spPr>
          <a:xfrm xmlns:a="http://schemas.openxmlformats.org/drawingml/2006/main">
            <a:off x="552450" y="37147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06</a:t>
            </a:r>
          </a:p>
        </p:txBody>
      </p:sp>
      <p:sp>
        <p:nvSpPr>
          <p:cNvPr id="28" name="">
            <a:extLst xmlns:a="http://schemas.openxmlformats.org/drawingml/2006/main">
              <a:ext uri="{FF2B5EF4-FFF2-40B4-BE49-F238E27FC236}">
                <a16:creationId xmlns:a16="http://schemas.microsoft.com/office/drawing/2014/main" id="{82833EC0-D88E-41C0-8848-18D85C5B32DB}"/>
              </a:ext>
            </a:extLst>
          </p:cNvPr>
          <p:cNvSpPr>
            <a:spLocks xmlns:a="http://schemas.openxmlformats.org/drawingml/2006/main" noGrp="1"/>
          </p:cNvSpPr>
          <p:nvPr/>
        </p:nvSpPr>
        <p:spPr>
          <a:xfrm xmlns:a="http://schemas.openxmlformats.org/drawingml/2006/main">
            <a:off x="1095375" y="3714750"/>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Review + acknowledge</a:t>
            </a:r>
          </a:p>
        </p:txBody>
      </p:sp>
      <p:sp>
        <p:nvSpPr>
          <p:cNvPr id="29" name="">
            <a:extLst xmlns:a="http://schemas.openxmlformats.org/drawingml/2006/main">
              <a:ext uri="{FF2B5EF4-FFF2-40B4-BE49-F238E27FC236}">
                <a16:creationId xmlns:a16="http://schemas.microsoft.com/office/drawing/2014/main" id="{4D4E97F5-C321-499A-9FE3-CDB3D979FB39}"/>
              </a:ext>
            </a:extLst>
          </p:cNvPr>
          <p:cNvSpPr>
            <a:spLocks xmlns:a="http://schemas.openxmlformats.org/drawingml/2006/main" noGrp="1"/>
          </p:cNvSpPr>
          <p:nvPr/>
        </p:nvSpPr>
        <p:spPr>
          <a:xfrm xmlns:a="http://schemas.openxmlformats.org/drawingml/2006/main">
            <a:off x="3629025" y="3714750"/>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Alert queue updates in the dashboard</a:t>
            </a:r>
          </a:p>
        </p:txBody>
      </p:sp>
      <p:sp>
        <p:nvSpPr>
          <p:cNvPr id="30" name="">
            <a:extLst xmlns:a="http://schemas.openxmlformats.org/drawingml/2006/main">
              <a:ext uri="{FF2B5EF4-FFF2-40B4-BE49-F238E27FC236}">
                <a16:creationId xmlns:a16="http://schemas.microsoft.com/office/drawing/2014/main" id="{E6052539-D1B5-4307-A8B6-FA172A54EC72}"/>
              </a:ext>
            </a:extLst>
          </p:cNvPr>
          <p:cNvSpPr>
            <a:spLocks xmlns:a="http://schemas.openxmlformats.org/drawingml/2006/main" noGrp="1"/>
          </p:cNvSpPr>
          <p:nvPr/>
        </p:nvSpPr>
        <p:spPr>
          <a:xfrm xmlns:a="http://schemas.openxmlformats.org/drawingml/2006/main" flipH="0" flipV="0">
            <a:off x="1095375" y="4076700"/>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31" name="">
            <a:extLst xmlns:a="http://schemas.openxmlformats.org/drawingml/2006/main">
              <a:ext uri="{FF2B5EF4-FFF2-40B4-BE49-F238E27FC236}">
                <a16:creationId xmlns:a16="http://schemas.microsoft.com/office/drawing/2014/main" id="{BBADFB10-1190-413C-ADD4-731FDAE402DC}"/>
              </a:ext>
            </a:extLst>
          </p:cNvPr>
          <p:cNvSpPr>
            <a:spLocks xmlns:a="http://schemas.openxmlformats.org/drawingml/2006/main" noGrp="1"/>
          </p:cNvSpPr>
          <p:nvPr/>
        </p:nvSpPr>
        <p:spPr>
          <a:xfrm xmlns:a="http://schemas.openxmlformats.org/drawingml/2006/main">
            <a:off x="552450" y="418147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07</a:t>
            </a:r>
          </a:p>
        </p:txBody>
      </p:sp>
      <p:sp>
        <p:nvSpPr>
          <p:cNvPr id="32" name="">
            <a:extLst xmlns:a="http://schemas.openxmlformats.org/drawingml/2006/main">
              <a:ext uri="{FF2B5EF4-FFF2-40B4-BE49-F238E27FC236}">
                <a16:creationId xmlns:a16="http://schemas.microsoft.com/office/drawing/2014/main" id="{7416D6BE-E973-4E5B-9AF7-6D26B56FA046}"/>
              </a:ext>
            </a:extLst>
          </p:cNvPr>
          <p:cNvSpPr>
            <a:spLocks xmlns:a="http://schemas.openxmlformats.org/drawingml/2006/main" noGrp="1"/>
          </p:cNvSpPr>
          <p:nvPr/>
        </p:nvSpPr>
        <p:spPr>
          <a:xfrm xmlns:a="http://schemas.openxmlformats.org/drawingml/2006/main">
            <a:off x="1095375" y="418147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Show patient app</a:t>
            </a:r>
          </a:p>
        </p:txBody>
      </p:sp>
      <p:sp>
        <p:nvSpPr>
          <p:cNvPr id="33" name="">
            <a:extLst xmlns:a="http://schemas.openxmlformats.org/drawingml/2006/main">
              <a:ext uri="{FF2B5EF4-FFF2-40B4-BE49-F238E27FC236}">
                <a16:creationId xmlns:a16="http://schemas.microsoft.com/office/drawing/2014/main" id="{2DE132C3-836E-468B-9C55-2AD3B84F37C3}"/>
              </a:ext>
            </a:extLst>
          </p:cNvPr>
          <p:cNvSpPr>
            <a:spLocks xmlns:a="http://schemas.openxmlformats.org/drawingml/2006/main" noGrp="1"/>
          </p:cNvSpPr>
          <p:nvPr/>
        </p:nvSpPr>
        <p:spPr>
          <a:xfrm xmlns:a="http://schemas.openxmlformats.org/drawingml/2006/main">
            <a:off x="3629025" y="41814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Expo screens for status, telemetry, alerts</a:t>
            </a:r>
          </a:p>
        </p:txBody>
      </p:sp>
      <p:sp>
        <p:nvSpPr>
          <p:cNvPr id="35" name="diagram-background-slide-12">
            <a:extLst xmlns:a="http://schemas.openxmlformats.org/drawingml/2006/main">
              <a:ext uri="{FF2B5EF4-FFF2-40B4-BE49-F238E27FC236}">
                <a16:creationId xmlns:a16="http://schemas.microsoft.com/office/drawing/2014/main" id="{4DB7884E-9B44-4940-966D-488D75E546FD}"/>
              </a:ext>
            </a:extLst>
          </p:cNvPr>
          <p:cNvSpPr>
            <a:spLocks xmlns:a="http://schemas.openxmlformats.org/drawingml/2006/main" noGrp="1"/>
          </p:cNvSpPr>
          <p:nvPr/>
        </p:nvSpPr>
        <p:spPr>
          <a:xfrm xmlns:a="http://schemas.openxmlformats.org/drawingml/2006/main">
            <a:off x="400050" y="1295400"/>
            <a:ext cx="6677025" cy="3648075"/>
          </a:xfrm>
          <a:prstGeom xmlns:a="http://schemas.openxmlformats.org/drawingml/2006/main" prst="rect">
            <a:avLst/>
          </a:prstGeom>
          <a:solidFill xmlns:a="http://schemas.openxmlformats.org/drawingml/2006/main">
            <a:srgbClr val="F5FAF9"/>
          </a:solidFill>
          <a:ln xmlns:a="http://schemas.openxmlformats.org/drawingml/2006/main" w="0">
            <a:noFill/>
            <a:prstDash val="solid"/>
          </a:ln>
        </p:spPr>
      </p:sp>
      <p:pic>
        <p:nvPicPr>
          <p:cNvPr id="36" name="">
            <a:extLst xmlns:a="http://schemas.openxmlformats.org/drawingml/2006/main">
              <a:ext uri="{FF2B5EF4-FFF2-40B4-BE49-F238E27FC236}">
                <a16:creationId xmlns:a16="http://schemas.microsoft.com/office/drawing/2014/main" id="{3E73E077-D51B-4E35-B3BC-B756D28DAC37}"/>
              </a:ext>
            </a:extLst>
          </p:cNvPr>
          <p:cNvPicPr>
            <a:picLocks xmlns:a="http://schemas.openxmlformats.org/drawingml/2006/main" noChangeAspect="1"/>
          </p:cNvPicPr>
          <p:nvPr/>
        </p:nvPicPr>
        <p:blipFill>
          <a:blip xmlns:r="http://schemas.openxmlformats.org/officeDocument/2006/relationships" xmlns:a="http://schemas.openxmlformats.org/drawingml/2006/main" r:embed="R50b34b8f946a44d3"/>
          <a:stretch xmlns:a="http://schemas.openxmlformats.org/drawingml/2006/main"/>
        </p:blipFill>
        <p:spPr>
          <a:xfrm xmlns:a="http://schemas.openxmlformats.org/drawingml/2006/main">
            <a:off x="1066800" y="1438275"/>
            <a:ext cx="5353050" cy="3562350"/>
          </a:xfrm>
          <a:prstGeom xmlns:a="http://schemas.openxmlformats.org/drawingml/2006/main" prst="rect">
            <a:avLst/>
          </a:prstGeom>
        </p:spPr>
      </p:pic>
    </p:spTree>
    <p:extLst>
      <p:ext uri="{BB962C8B-B14F-4D97-AF65-F5344CB8AC3E}">
        <p14:creationId xmlns:p14="http://schemas.microsoft.com/office/powerpoint/2010/main" val="217794249"/>
      </p:ext>
    </p:extLst>
  </p:cSld>
</p:sld>
</file>

<file path=ppt/slides/slide13.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552F46B-C396-4068-9F71-EAE2A4227FAE}"/>
              </a:ext>
            </a:extLst>
          </p:cNvPr>
          <p:cNvPicPr>
            <a:picLocks xmlns:a="http://schemas.openxmlformats.org/drawingml/2006/main" noChangeAspect="1"/>
          </p:cNvPicPr>
          <p:nvPr/>
        </p:nvPicPr>
        <p:blipFill>
          <a:blip xmlns:r="http://schemas.openxmlformats.org/officeDocument/2006/relationships" xmlns:a="http://schemas.openxmlformats.org/drawingml/2006/main" r:embed="R68e8b3807c064109"/>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FE90673-7323-4F6E-AAA7-76B1D6C386CC}"/>
              </a:ext>
            </a:extLst>
          </p:cNvPr>
          <p:cNvSpPr>
            <a:spLocks xmlns:a="http://schemas.openxmlformats.org/drawingml/2006/main" noGrp="1"/>
          </p:cNvSpPr>
          <p:nvPr/>
        </p:nvSpPr>
        <p:spPr>
          <a:xfrm xmlns:a="http://schemas.openxmlformats.org/drawingml/2006/main">
            <a:off x="285750" y="1371600"/>
            <a:ext cx="6905625" cy="2533650"/>
          </a:xfrm>
          <a:prstGeom xmlns:a="http://schemas.openxmlformats.org/drawingml/2006/main" prst="roundRect">
            <a:avLst>
              <a:gd name="adj" fmla="val 5639"/>
            </a:avLst>
          </a:prstGeom>
          <a:solidFill xmlns:a="http://schemas.openxmlformats.org/drawingml/2006/main">
            <a:srgbClr val="FFFFFF">
              <a:alpha val="96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689F134-8B23-4B0A-BF21-027AF32BE8A7}"/>
              </a:ext>
            </a:extLst>
          </p:cNvPr>
          <p:cNvSpPr>
            <a:spLocks xmlns:a="http://schemas.openxmlformats.org/drawingml/2006/main" noGrp="1"/>
          </p:cNvSpPr>
          <p:nvPr/>
        </p:nvSpPr>
        <p:spPr>
          <a:xfrm xmlns:a="http://schemas.openxmlformats.org/drawingml/2006/main">
            <a:off x="285750" y="1371600"/>
            <a:ext cx="47625" cy="2533650"/>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E1DD11-EB5B-461D-A416-0D99F9CD85BF}"/>
              </a:ext>
            </a:extLst>
          </p:cNvPr>
          <p:cNvSpPr>
            <a:spLocks xmlns:a="http://schemas.openxmlformats.org/drawingml/2006/main" noGrp="1"/>
          </p:cNvSpPr>
          <p:nvPr/>
        </p:nvSpPr>
        <p:spPr>
          <a:xfrm xmlns:a="http://schemas.openxmlformats.org/drawingml/2006/main">
            <a:off x="628650" y="3971925"/>
            <a:ext cx="6229350" cy="552450"/>
          </a:xfrm>
          <a:prstGeom xmlns:a="http://schemas.openxmlformats.org/drawingml/2006/main" prst="roundRect">
            <a:avLst>
              <a:gd name="adj" fmla="val 25862"/>
            </a:avLst>
          </a:prstGeom>
          <a:solidFill xmlns:a="http://schemas.openxmlformats.org/drawingml/2006/main">
            <a:srgbClr val="EAF6F4"/>
          </a:solidFill>
          <a:ln xmlns:a="http://schemas.openxmlformats.org/drawingml/2006/main" w="9525">
            <a:solidFill>
              <a:srgbClr val="BFDCD7"/>
            </a:solidFill>
            <a:prstDash val="solid"/>
          </a:ln>
        </p:spPr>
      </p:sp>
      <p:sp>
        <p:nvSpPr>
          <p:cNvPr id="14" name="">
            <a:extLst xmlns:a="http://schemas.openxmlformats.org/drawingml/2006/main">
              <a:ext uri="{FF2B5EF4-FFF2-40B4-BE49-F238E27FC236}">
                <a16:creationId xmlns:a16="http://schemas.microsoft.com/office/drawing/2014/main" id="{4B28207F-63F3-41FC-900A-FC552D687636}"/>
              </a:ext>
            </a:extLst>
          </p:cNvPr>
          <p:cNvSpPr>
            <a:spLocks xmlns:a="http://schemas.openxmlformats.org/drawingml/2006/main" noGrp="1"/>
          </p:cNvSpPr>
          <p:nvPr/>
        </p:nvSpPr>
        <p:spPr>
          <a:xfrm xmlns:a="http://schemas.openxmlformats.org/drawingml/2006/main">
            <a:off x="628650" y="3971925"/>
            <a:ext cx="47625" cy="5524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AE50383-9FC7-4715-9412-10CB0D0B23FE}"/>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Digital Twin workflow · Excalidraw</a:t>
            </a:r>
          </a:p>
        </p:txBody>
      </p:sp>
      <p:sp>
        <p:nvSpPr>
          <p:cNvPr id="2" name="">
            <a:extLst xmlns:a="http://schemas.openxmlformats.org/drawingml/2006/main">
              <a:ext uri="{FF2B5EF4-FFF2-40B4-BE49-F238E27FC236}">
                <a16:creationId xmlns:a16="http://schemas.microsoft.com/office/drawing/2014/main" id="{71221A4B-CFEC-4E0D-96CA-5280DF43627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102C25A1-98C8-4F97-9B51-41E95386BF38}"/>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Editable source diagram created for the simulated monitoring flow.</a:t>
            </a:r>
          </a:p>
        </p:txBody>
      </p:sp>
      <p:sp>
        <p:nvSpPr>
          <p:cNvPr id="4" name="">
            <a:extLst xmlns:a="http://schemas.openxmlformats.org/drawingml/2006/main">
              <a:ext uri="{FF2B5EF4-FFF2-40B4-BE49-F238E27FC236}">
                <a16:creationId xmlns:a16="http://schemas.microsoft.com/office/drawing/2014/main" id="{48E993A2-21AD-4C00-9E01-9CC1237ED2AD}"/>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B7B244DF-9832-4A4F-AD9B-9BE3189F235E}"/>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0CB2309B-A7A2-4338-B495-51E0B4109C82}"/>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13</a:t>
            </a:r>
          </a:p>
        </p:txBody>
      </p:sp>
      <p:sp>
        <p:nvSpPr>
          <p:cNvPr id="8" name="">
            <a:extLst xmlns:a="http://schemas.openxmlformats.org/drawingml/2006/main">
              <a:ext uri="{FF2B5EF4-FFF2-40B4-BE49-F238E27FC236}">
                <a16:creationId xmlns:a16="http://schemas.microsoft.com/office/drawing/2014/main" id="{7219E3C2-258E-45F0-A5FB-E200BDCFCFF9}"/>
              </a:ext>
            </a:extLst>
          </p:cNvPr>
          <p:cNvSpPr>
            <a:spLocks xmlns:a="http://schemas.openxmlformats.org/drawingml/2006/main" noGrp="1"/>
          </p:cNvSpPr>
          <p:nvPr/>
        </p:nvSpPr>
        <p:spPr>
          <a:xfrm xmlns:a="http://schemas.openxmlformats.org/drawingml/2006/main">
            <a:off x="704850" y="4010025"/>
            <a:ext cx="607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38" b="1" i="0">
                <a:solidFill>
                  <a:srgbClr val="087E83"/>
                </a:solidFill>
                <a:latin typeface="Calibri"/>
                <a:ea typeface="Calibri"/>
                <a:cs typeface="Calibri"/>
              </a:defRPr>
            </a:defPPr>
            <a:lvl1pPr algn="ctr">
              <a:buNone/>
              <a:defRPr sz="1125" b="1" i="0">
                <a:solidFill>
                  <a:srgbClr val="0D6F73"/>
                </a:solidFill>
                <a:latin typeface="Calibri"/>
                <a:ea typeface="Calibri"/>
                <a:cs typeface="Calibri"/>
              </a:defRPr>
            </a:lvl1pPr>
            <a:lvl2pPr algn="ctr">
              <a:buNone/>
              <a:defRPr sz="1125" b="1" i="0">
                <a:solidFill>
                  <a:srgbClr val="0D6F73"/>
                </a:solidFill>
                <a:latin typeface="Calibri"/>
                <a:ea typeface="Calibri"/>
                <a:cs typeface="Calibri"/>
              </a:defRPr>
            </a:lvl2pPr>
            <a:lvl3pPr algn="ctr">
              <a:buNone/>
              <a:defRPr sz="1125" b="1" i="0">
                <a:solidFill>
                  <a:srgbClr val="0D6F73"/>
                </a:solidFill>
                <a:latin typeface="Calibri"/>
                <a:ea typeface="Calibri"/>
                <a:cs typeface="Calibri"/>
              </a:defRPr>
            </a:lvl3pPr>
            <a:lvl4pPr algn="ctr">
              <a:buNone/>
              <a:defRPr sz="1125" b="1" i="0">
                <a:solidFill>
                  <a:srgbClr val="0D6F73"/>
                </a:solidFill>
                <a:latin typeface="Calibri"/>
                <a:ea typeface="Calibri"/>
                <a:cs typeface="Calibri"/>
              </a:defRPr>
            </a:lvl4pPr>
            <a:lvl5pPr algn="ctr">
              <a:buNone/>
              <a:defRPr sz="1125" b="1" i="0">
                <a:solidFill>
                  <a:srgbClr val="0D6F73"/>
                </a:solidFill>
                <a:latin typeface="Calibri"/>
                <a:ea typeface="Calibri"/>
                <a:cs typeface="Calibri"/>
              </a:defRPr>
            </a:lvl5pPr>
            <a:lvl6pPr algn="ctr">
              <a:buNone/>
              <a:defRPr sz="1125" b="1" i="0">
                <a:solidFill>
                  <a:srgbClr val="0D6F73"/>
                </a:solidFill>
                <a:latin typeface="Calibri"/>
                <a:ea typeface="Calibri"/>
                <a:cs typeface="Calibri"/>
              </a:defRPr>
            </a:lvl6pPr>
            <a:lvl7pPr algn="ctr">
              <a:buNone/>
              <a:defRPr sz="1125" b="1" i="0">
                <a:solidFill>
                  <a:srgbClr val="0D6F73"/>
                </a:solidFill>
                <a:latin typeface="Calibri"/>
                <a:ea typeface="Calibri"/>
                <a:cs typeface="Calibri"/>
              </a:defRPr>
            </a:lvl7pPr>
            <a:lvl8pPr algn="ctr">
              <a:buNone/>
              <a:defRPr sz="1125" b="1" i="0">
                <a:solidFill>
                  <a:srgbClr val="0D6F73"/>
                </a:solidFill>
                <a:latin typeface="Calibri"/>
                <a:ea typeface="Calibri"/>
                <a:cs typeface="Calibri"/>
              </a:defRPr>
            </a:lvl8pPr>
            <a:lvl9pPr algn="ctr">
              <a:buNone/>
              <a:defRPr sz="1125" b="1" i="0">
                <a:solidFill>
                  <a:srgbClr val="0D6F73"/>
                </a:solidFill>
                <a:latin typeface="Calibri"/>
                <a:ea typeface="Calibri"/>
                <a:cs typeface="Calibri"/>
              </a:defRPr>
            </a:lvl9pPr>
          </a:lstStyle>
          <a:p xmlns:a="http://schemas.openxmlformats.org/drawingml/2006/main">
            <a:pPr algn="ctr">
              <a:lnSpc>
                <a:spcPct val="108000"/>
              </a:lnSpc>
              <a:buNone/>
              <a:defRPr sz="1125" b="1" i="0">
                <a:solidFill>
                  <a:srgbClr val="0D6F73"/>
                </a:solidFill>
                <a:latin typeface="Calibri"/>
                <a:ea typeface="Calibri"/>
                <a:cs typeface="Calibri"/>
              </a:defRPr>
            </a:pPr>
            <a:r>
              <a:rPr sz="1238" b="1" i="0">
                <a:solidFill>
                  <a:srgbClr val="087E83"/>
                </a:solidFill>
                <a:latin typeface="Calibri"/>
                <a:ea typeface="Calibri"/>
                <a:cs typeface="Calibri"/>
              </a:rPr>
              <a:t>What-if readings are assessed separately and do not change patient history. Alerts require authorization and three consecutive flagged hourly summaries.</a:t>
            </a:r>
          </a:p>
        </p:txBody>
      </p:sp>
      <p:pic>
        <p:nvPicPr>
          <p:cNvPr id="7" name="">
            <a:extLst xmlns:a="http://schemas.openxmlformats.org/drawingml/2006/main">
              <a:ext uri="{FF2B5EF4-FFF2-40B4-BE49-F238E27FC236}">
                <a16:creationId xmlns:a16="http://schemas.microsoft.com/office/drawing/2014/main" id="{E51C890C-460F-44BD-8172-63D67E73F89C}"/>
              </a:ext>
            </a:extLst>
          </p:cNvPr>
          <p:cNvPicPr>
            <a:picLocks xmlns:a="http://schemas.openxmlformats.org/drawingml/2006/main" noChangeAspect="1"/>
          </p:cNvPicPr>
          <p:nvPr/>
        </p:nvPicPr>
        <p:blipFill>
          <a:blip xmlns:r="http://schemas.openxmlformats.org/officeDocument/2006/relationships" xmlns:a="http://schemas.openxmlformats.org/drawingml/2006/main" r:embed="R20c7ab644a954905"/>
          <a:stretch xmlns:a="http://schemas.openxmlformats.org/drawingml/2006/main"/>
        </p:blipFill>
        <p:spPr>
          <a:xfrm xmlns:a="http://schemas.openxmlformats.org/drawingml/2006/main">
            <a:off x="409575" y="1495425"/>
            <a:ext cx="6657975" cy="2266950"/>
          </a:xfrm>
          <a:prstGeom xmlns:a="http://schemas.openxmlformats.org/drawingml/2006/main" prst="rect">
            <a:avLst/>
          </a:prstGeom>
        </p:spPr>
      </p:pic>
    </p:spTree>
    <p:extLst>
      <p:ext uri="{BB962C8B-B14F-4D97-AF65-F5344CB8AC3E}">
        <p14:creationId xmlns:p14="http://schemas.microsoft.com/office/powerpoint/2010/main" val="1770572534"/>
      </p:ext>
    </p:extLst>
  </p:cSld>
</p:sld>
</file>

<file path=ppt/slides/slide14.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A26858EF-13D4-4CEF-8402-110A94D803E2}"/>
              </a:ext>
            </a:extLst>
          </p:cNvPr>
          <p:cNvPicPr>
            <a:picLocks xmlns:a="http://schemas.openxmlformats.org/drawingml/2006/main" noChangeAspect="1"/>
          </p:cNvPicPr>
          <p:nvPr/>
        </p:nvPicPr>
        <p:blipFill>
          <a:blip xmlns:r="http://schemas.openxmlformats.org/officeDocument/2006/relationships" xmlns:a="http://schemas.openxmlformats.org/drawingml/2006/main" r:embed="Rb96be7793ec04a2b"/>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699A22E3-B897-4EFD-8C80-6EEFEF4CFE05}"/>
              </a:ext>
            </a:extLst>
          </p:cNvPr>
          <p:cNvSpPr>
            <a:spLocks xmlns:a="http://schemas.openxmlformats.org/drawingml/2006/main" noGrp="1"/>
          </p:cNvSpPr>
          <p:nvPr/>
        </p:nvSpPr>
        <p:spPr>
          <a:xfrm xmlns:a="http://schemas.openxmlformats.org/drawingml/2006/main">
            <a:off x="1428750" y="1323975"/>
            <a:ext cx="4619625" cy="3943350"/>
          </a:xfrm>
          <a:prstGeom xmlns:a="http://schemas.openxmlformats.org/drawingml/2006/main" prst="roundRect">
            <a:avLst>
              <a:gd name="adj" fmla="val 3623"/>
            </a:avLst>
          </a:prstGeom>
          <a:solidFill xmlns:a="http://schemas.openxmlformats.org/drawingml/2006/main">
            <a:srgbClr val="FFFFFF">
              <a:alpha val="94000"/>
            </a:srgbClr>
          </a:solidFill>
          <a:ln xmlns:a="http://schemas.openxmlformats.org/drawingml/2006/main" w="9525">
            <a:solidFill>
              <a:srgbClr val="CCDC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94996A6-B30E-4C32-847E-3B5CA9382B8F}"/>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Before real-world use</a:t>
            </a:r>
          </a:p>
        </p:txBody>
      </p:sp>
      <p:sp>
        <p:nvSpPr>
          <p:cNvPr id="2" name="">
            <a:extLst xmlns:a="http://schemas.openxmlformats.org/drawingml/2006/main">
              <a:ext uri="{FF2B5EF4-FFF2-40B4-BE49-F238E27FC236}">
                <a16:creationId xmlns:a16="http://schemas.microsoft.com/office/drawing/2014/main" id="{596E08AD-75D6-479F-8D64-871C2CDA15D9}"/>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7D6FC2B9-BA55-4EDB-84AD-AA99AB6C2784}"/>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path forward is validation, safety review, and production-grade data handling.</a:t>
            </a:r>
          </a:p>
        </p:txBody>
      </p:sp>
      <p:sp>
        <p:nvSpPr>
          <p:cNvPr id="4" name="">
            <a:extLst xmlns:a="http://schemas.openxmlformats.org/drawingml/2006/main">
              <a:ext uri="{FF2B5EF4-FFF2-40B4-BE49-F238E27FC236}">
                <a16:creationId xmlns:a16="http://schemas.microsoft.com/office/drawing/2014/main" id="{DAEED13A-0AAB-4DE4-963B-B7313FC46D70}"/>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CBCE7D4-FFD5-4C62-903C-C0C860494745}"/>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737C21D1-4701-41FD-AFC6-2727E639C910}"/>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14</a:t>
            </a:r>
          </a:p>
        </p:txBody>
      </p:sp>
      <p:sp>
        <p:nvSpPr>
          <p:cNvPr id="7" name="">
            <a:extLst xmlns:a="http://schemas.openxmlformats.org/drawingml/2006/main">
              <a:ext uri="{FF2B5EF4-FFF2-40B4-BE49-F238E27FC236}">
                <a16:creationId xmlns:a16="http://schemas.microsoft.com/office/drawing/2014/main" id="{E1FF4FD0-2FE6-4125-8293-782A2DA5DD6A}"/>
              </a:ext>
            </a:extLst>
          </p:cNvPr>
          <p:cNvSpPr>
            <a:spLocks xmlns:a="http://schemas.openxmlformats.org/drawingml/2006/main" noGrp="1"/>
          </p:cNvSpPr>
          <p:nvPr/>
        </p:nvSpPr>
        <p:spPr>
          <a:xfrm xmlns:a="http://schemas.openxmlformats.org/drawingml/2006/main">
            <a:off x="552450" y="136207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01</a:t>
            </a:r>
          </a:p>
        </p:txBody>
      </p:sp>
      <p:sp>
        <p:nvSpPr>
          <p:cNvPr id="8" name="">
            <a:extLst xmlns:a="http://schemas.openxmlformats.org/drawingml/2006/main">
              <a:ext uri="{FF2B5EF4-FFF2-40B4-BE49-F238E27FC236}">
                <a16:creationId xmlns:a16="http://schemas.microsoft.com/office/drawing/2014/main" id="{4AE18612-7DEB-4C73-94BE-D4E8D294B12D}"/>
              </a:ext>
            </a:extLst>
          </p:cNvPr>
          <p:cNvSpPr>
            <a:spLocks xmlns:a="http://schemas.openxmlformats.org/drawingml/2006/main" noGrp="1"/>
          </p:cNvSpPr>
          <p:nvPr/>
        </p:nvSpPr>
        <p:spPr>
          <a:xfrm xmlns:a="http://schemas.openxmlformats.org/drawingml/2006/main">
            <a:off x="1076325" y="13620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Validate the risk logic</a:t>
            </a:r>
          </a:p>
        </p:txBody>
      </p:sp>
      <p:sp>
        <p:nvSpPr>
          <p:cNvPr id="9" name="">
            <a:extLst xmlns:a="http://schemas.openxmlformats.org/drawingml/2006/main">
              <a:ext uri="{FF2B5EF4-FFF2-40B4-BE49-F238E27FC236}">
                <a16:creationId xmlns:a16="http://schemas.microsoft.com/office/drawing/2014/main" id="{D3496E5F-68E6-47CD-B776-E6BE4B20C901}"/>
              </a:ext>
            </a:extLst>
          </p:cNvPr>
          <p:cNvSpPr>
            <a:spLocks xmlns:a="http://schemas.openxmlformats.org/drawingml/2006/main" noGrp="1"/>
          </p:cNvSpPr>
          <p:nvPr/>
        </p:nvSpPr>
        <p:spPr>
          <a:xfrm xmlns:a="http://schemas.openxmlformats.org/drawingml/2006/main">
            <a:off x="3495675" y="136207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Use appropriate data and independent evaluation; do not treat synthetic labels as clinical evidence.</a:t>
            </a:r>
          </a:p>
        </p:txBody>
      </p:sp>
      <p:sp>
        <p:nvSpPr>
          <p:cNvPr id="10" name="">
            <a:extLst xmlns:a="http://schemas.openxmlformats.org/drawingml/2006/main">
              <a:ext uri="{FF2B5EF4-FFF2-40B4-BE49-F238E27FC236}">
                <a16:creationId xmlns:a16="http://schemas.microsoft.com/office/drawing/2014/main" id="{AC1A16D1-0F57-4798-B294-CD77E33D1C23}"/>
              </a:ext>
            </a:extLst>
          </p:cNvPr>
          <p:cNvSpPr>
            <a:spLocks xmlns:a="http://schemas.openxmlformats.org/drawingml/2006/main" noGrp="1"/>
          </p:cNvSpPr>
          <p:nvPr/>
        </p:nvSpPr>
        <p:spPr>
          <a:xfrm xmlns:a="http://schemas.openxmlformats.org/drawingml/2006/main" flipH="0" flipV="0">
            <a:off x="1076325" y="184785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1" name="">
            <a:extLst xmlns:a="http://schemas.openxmlformats.org/drawingml/2006/main">
              <a:ext uri="{FF2B5EF4-FFF2-40B4-BE49-F238E27FC236}">
                <a16:creationId xmlns:a16="http://schemas.microsoft.com/office/drawing/2014/main" id="{3F564F5B-864C-4E2F-A01E-594F145AEEC3}"/>
              </a:ext>
            </a:extLst>
          </p:cNvPr>
          <p:cNvSpPr>
            <a:spLocks xmlns:a="http://schemas.openxmlformats.org/drawingml/2006/main" noGrp="1"/>
          </p:cNvSpPr>
          <p:nvPr/>
        </p:nvSpPr>
        <p:spPr>
          <a:xfrm xmlns:a="http://schemas.openxmlformats.org/drawingml/2006/main">
            <a:off x="552450" y="19526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02</a:t>
            </a:r>
          </a:p>
        </p:txBody>
      </p:sp>
      <p:sp>
        <p:nvSpPr>
          <p:cNvPr id="12" name="">
            <a:extLst xmlns:a="http://schemas.openxmlformats.org/drawingml/2006/main">
              <a:ext uri="{FF2B5EF4-FFF2-40B4-BE49-F238E27FC236}">
                <a16:creationId xmlns:a16="http://schemas.microsoft.com/office/drawing/2014/main" id="{00DD240F-1B12-4CCE-85FA-B54697A93D34}"/>
              </a:ext>
            </a:extLst>
          </p:cNvPr>
          <p:cNvSpPr>
            <a:spLocks xmlns:a="http://schemas.openxmlformats.org/drawingml/2006/main" noGrp="1"/>
          </p:cNvSpPr>
          <p:nvPr/>
        </p:nvSpPr>
        <p:spPr>
          <a:xfrm xmlns:a="http://schemas.openxmlformats.org/drawingml/2006/main">
            <a:off x="1076325" y="195262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Review every recommendation</a:t>
            </a:r>
          </a:p>
        </p:txBody>
      </p:sp>
      <p:sp>
        <p:nvSpPr>
          <p:cNvPr id="13" name="">
            <a:extLst xmlns:a="http://schemas.openxmlformats.org/drawingml/2006/main">
              <a:ext uri="{FF2B5EF4-FFF2-40B4-BE49-F238E27FC236}">
                <a16:creationId xmlns:a16="http://schemas.microsoft.com/office/drawing/2014/main" id="{1051EA8E-1D05-4814-AAEE-9798044D2885}"/>
              </a:ext>
            </a:extLst>
          </p:cNvPr>
          <p:cNvSpPr>
            <a:spLocks xmlns:a="http://schemas.openxmlformats.org/drawingml/2006/main" noGrp="1"/>
          </p:cNvSpPr>
          <p:nvPr/>
        </p:nvSpPr>
        <p:spPr>
          <a:xfrm xmlns:a="http://schemas.openxmlformats.org/drawingml/2006/main">
            <a:off x="3495675" y="195262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Replace hard-coded action text with clinician-approved, context-aware guidance.</a:t>
            </a:r>
          </a:p>
        </p:txBody>
      </p:sp>
      <p:sp>
        <p:nvSpPr>
          <p:cNvPr id="14" name="">
            <a:extLst xmlns:a="http://schemas.openxmlformats.org/drawingml/2006/main">
              <a:ext uri="{FF2B5EF4-FFF2-40B4-BE49-F238E27FC236}">
                <a16:creationId xmlns:a16="http://schemas.microsoft.com/office/drawing/2014/main" id="{58D4FD85-6BF6-421D-B310-2DD554D3CCB2}"/>
              </a:ext>
            </a:extLst>
          </p:cNvPr>
          <p:cNvSpPr>
            <a:spLocks xmlns:a="http://schemas.openxmlformats.org/drawingml/2006/main" noGrp="1"/>
          </p:cNvSpPr>
          <p:nvPr/>
        </p:nvSpPr>
        <p:spPr>
          <a:xfrm xmlns:a="http://schemas.openxmlformats.org/drawingml/2006/main" flipH="0" flipV="0">
            <a:off x="1076325" y="243840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5" name="">
            <a:extLst xmlns:a="http://schemas.openxmlformats.org/drawingml/2006/main">
              <a:ext uri="{FF2B5EF4-FFF2-40B4-BE49-F238E27FC236}">
                <a16:creationId xmlns:a16="http://schemas.microsoft.com/office/drawing/2014/main" id="{BDC237AE-818A-4982-86B5-33201E688C37}"/>
              </a:ext>
            </a:extLst>
          </p:cNvPr>
          <p:cNvSpPr>
            <a:spLocks xmlns:a="http://schemas.openxmlformats.org/drawingml/2006/main" noGrp="1"/>
          </p:cNvSpPr>
          <p:nvPr/>
        </p:nvSpPr>
        <p:spPr>
          <a:xfrm xmlns:a="http://schemas.openxmlformats.org/drawingml/2006/main">
            <a:off x="552450" y="254317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03</a:t>
            </a:r>
          </a:p>
        </p:txBody>
      </p:sp>
      <p:sp>
        <p:nvSpPr>
          <p:cNvPr id="16" name="">
            <a:extLst xmlns:a="http://schemas.openxmlformats.org/drawingml/2006/main">
              <a:ext uri="{FF2B5EF4-FFF2-40B4-BE49-F238E27FC236}">
                <a16:creationId xmlns:a16="http://schemas.microsoft.com/office/drawing/2014/main" id="{DC3DDC33-F54C-4607-B498-2A6D2C6B8A13}"/>
              </a:ext>
            </a:extLst>
          </p:cNvPr>
          <p:cNvSpPr>
            <a:spLocks xmlns:a="http://schemas.openxmlformats.org/drawingml/2006/main" noGrp="1"/>
          </p:cNvSpPr>
          <p:nvPr/>
        </p:nvSpPr>
        <p:spPr>
          <a:xfrm xmlns:a="http://schemas.openxmlformats.org/drawingml/2006/main">
            <a:off x="1076325" y="25431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Protect patient information</a:t>
            </a:r>
          </a:p>
        </p:txBody>
      </p:sp>
      <p:sp>
        <p:nvSpPr>
          <p:cNvPr id="17" name="">
            <a:extLst xmlns:a="http://schemas.openxmlformats.org/drawingml/2006/main">
              <a:ext uri="{FF2B5EF4-FFF2-40B4-BE49-F238E27FC236}">
                <a16:creationId xmlns:a16="http://schemas.microsoft.com/office/drawing/2014/main" id="{9B4283AC-330C-4CBB-A542-526B2D623141}"/>
              </a:ext>
            </a:extLst>
          </p:cNvPr>
          <p:cNvSpPr>
            <a:spLocks xmlns:a="http://schemas.openxmlformats.org/drawingml/2006/main" noGrp="1"/>
          </p:cNvSpPr>
          <p:nvPr/>
        </p:nvSpPr>
        <p:spPr>
          <a:xfrm xmlns:a="http://schemas.openxmlformats.org/drawingml/2006/main">
            <a:off x="3495675" y="254317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Add authentication, authorization, consent, secure storage, audit logs, and retention controls.</a:t>
            </a:r>
          </a:p>
        </p:txBody>
      </p:sp>
      <p:sp>
        <p:nvSpPr>
          <p:cNvPr id="18" name="">
            <a:extLst xmlns:a="http://schemas.openxmlformats.org/drawingml/2006/main">
              <a:ext uri="{FF2B5EF4-FFF2-40B4-BE49-F238E27FC236}">
                <a16:creationId xmlns:a16="http://schemas.microsoft.com/office/drawing/2014/main" id="{B544E6B8-752C-4D39-9F20-5E068A8659EF}"/>
              </a:ext>
            </a:extLst>
          </p:cNvPr>
          <p:cNvSpPr>
            <a:spLocks xmlns:a="http://schemas.openxmlformats.org/drawingml/2006/main" noGrp="1"/>
          </p:cNvSpPr>
          <p:nvPr/>
        </p:nvSpPr>
        <p:spPr>
          <a:xfrm xmlns:a="http://schemas.openxmlformats.org/drawingml/2006/main" flipH="0" flipV="0">
            <a:off x="1076325" y="302895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9" name="">
            <a:extLst xmlns:a="http://schemas.openxmlformats.org/drawingml/2006/main">
              <a:ext uri="{FF2B5EF4-FFF2-40B4-BE49-F238E27FC236}">
                <a16:creationId xmlns:a16="http://schemas.microsoft.com/office/drawing/2014/main" id="{115E97A9-124C-4ACD-95A1-AEDF63FB695C}"/>
              </a:ext>
            </a:extLst>
          </p:cNvPr>
          <p:cNvSpPr>
            <a:spLocks xmlns:a="http://schemas.openxmlformats.org/drawingml/2006/main" noGrp="1"/>
          </p:cNvSpPr>
          <p:nvPr/>
        </p:nvSpPr>
        <p:spPr>
          <a:xfrm xmlns:a="http://schemas.openxmlformats.org/drawingml/2006/main">
            <a:off x="552450" y="31337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04</a:t>
            </a:r>
          </a:p>
        </p:txBody>
      </p:sp>
      <p:sp>
        <p:nvSpPr>
          <p:cNvPr id="20" name="">
            <a:extLst xmlns:a="http://schemas.openxmlformats.org/drawingml/2006/main">
              <a:ext uri="{FF2B5EF4-FFF2-40B4-BE49-F238E27FC236}">
                <a16:creationId xmlns:a16="http://schemas.microsoft.com/office/drawing/2014/main" id="{916DE2BF-4776-4102-94EA-0E6FCE5C97EF}"/>
              </a:ext>
            </a:extLst>
          </p:cNvPr>
          <p:cNvSpPr>
            <a:spLocks xmlns:a="http://schemas.openxmlformats.org/drawingml/2006/main" noGrp="1"/>
          </p:cNvSpPr>
          <p:nvPr/>
        </p:nvSpPr>
        <p:spPr>
          <a:xfrm xmlns:a="http://schemas.openxmlformats.org/drawingml/2006/main">
            <a:off x="1076325" y="313372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Prove device and service behavior</a:t>
            </a:r>
          </a:p>
        </p:txBody>
      </p:sp>
      <p:sp>
        <p:nvSpPr>
          <p:cNvPr id="21" name="">
            <a:extLst xmlns:a="http://schemas.openxmlformats.org/drawingml/2006/main">
              <a:ext uri="{FF2B5EF4-FFF2-40B4-BE49-F238E27FC236}">
                <a16:creationId xmlns:a16="http://schemas.microsoft.com/office/drawing/2014/main" id="{2D725BFA-5A8D-4861-8400-6408147A8ACC}"/>
              </a:ext>
            </a:extLst>
          </p:cNvPr>
          <p:cNvSpPr>
            <a:spLocks xmlns:a="http://schemas.openxmlformats.org/drawingml/2006/main" noGrp="1"/>
          </p:cNvSpPr>
          <p:nvPr/>
        </p:nvSpPr>
        <p:spPr>
          <a:xfrm xmlns:a="http://schemas.openxmlformats.org/drawingml/2006/main">
            <a:off x="3495675" y="313372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Test ingestion, missing / delayed readings, alert routing, persistence, and recovery.</a:t>
            </a:r>
          </a:p>
        </p:txBody>
      </p:sp>
      <p:sp>
        <p:nvSpPr>
          <p:cNvPr id="22" name="">
            <a:extLst xmlns:a="http://schemas.openxmlformats.org/drawingml/2006/main">
              <a:ext uri="{FF2B5EF4-FFF2-40B4-BE49-F238E27FC236}">
                <a16:creationId xmlns:a16="http://schemas.microsoft.com/office/drawing/2014/main" id="{FE29F5F7-78B6-423B-A0DB-356FCAFDB370}"/>
              </a:ext>
            </a:extLst>
          </p:cNvPr>
          <p:cNvSpPr>
            <a:spLocks xmlns:a="http://schemas.openxmlformats.org/drawingml/2006/main" noGrp="1"/>
          </p:cNvSpPr>
          <p:nvPr/>
        </p:nvSpPr>
        <p:spPr>
          <a:xfrm xmlns:a="http://schemas.openxmlformats.org/drawingml/2006/main" flipH="0" flipV="0">
            <a:off x="1076325" y="361950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23" name="">
            <a:extLst xmlns:a="http://schemas.openxmlformats.org/drawingml/2006/main">
              <a:ext uri="{FF2B5EF4-FFF2-40B4-BE49-F238E27FC236}">
                <a16:creationId xmlns:a16="http://schemas.microsoft.com/office/drawing/2014/main" id="{06550CE9-8A33-41FA-ACBF-2C5812D8E355}"/>
              </a:ext>
            </a:extLst>
          </p:cNvPr>
          <p:cNvSpPr>
            <a:spLocks xmlns:a="http://schemas.openxmlformats.org/drawingml/2006/main" noGrp="1"/>
          </p:cNvSpPr>
          <p:nvPr/>
        </p:nvSpPr>
        <p:spPr>
          <a:xfrm xmlns:a="http://schemas.openxmlformats.org/drawingml/2006/main">
            <a:off x="552450" y="372427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05</a:t>
            </a:r>
          </a:p>
        </p:txBody>
      </p:sp>
      <p:sp>
        <p:nvSpPr>
          <p:cNvPr id="24" name="">
            <a:extLst xmlns:a="http://schemas.openxmlformats.org/drawingml/2006/main">
              <a:ext uri="{FF2B5EF4-FFF2-40B4-BE49-F238E27FC236}">
                <a16:creationId xmlns:a16="http://schemas.microsoft.com/office/drawing/2014/main" id="{9E657FD7-5225-4F55-AAF7-6C2BADFF1C97}"/>
              </a:ext>
            </a:extLst>
          </p:cNvPr>
          <p:cNvSpPr>
            <a:spLocks xmlns:a="http://schemas.openxmlformats.org/drawingml/2006/main" noGrp="1"/>
          </p:cNvSpPr>
          <p:nvPr/>
        </p:nvSpPr>
        <p:spPr>
          <a:xfrm xmlns:a="http://schemas.openxmlformats.org/drawingml/2006/main">
            <a:off x="1076325" y="37242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118"/>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Complete clinical and regulatory review</a:t>
            </a:r>
          </a:p>
        </p:txBody>
      </p:sp>
      <p:sp>
        <p:nvSpPr>
          <p:cNvPr id="25" name="">
            <a:extLst xmlns:a="http://schemas.openxmlformats.org/drawingml/2006/main">
              <a:ext uri="{FF2B5EF4-FFF2-40B4-BE49-F238E27FC236}">
                <a16:creationId xmlns:a16="http://schemas.microsoft.com/office/drawing/2014/main" id="{E9FA17C6-2C49-4516-BA07-2ED8AB156101}"/>
              </a:ext>
            </a:extLst>
          </p:cNvPr>
          <p:cNvSpPr>
            <a:spLocks xmlns:a="http://schemas.openxmlformats.org/drawingml/2006/main" noGrp="1"/>
          </p:cNvSpPr>
          <p:nvPr/>
        </p:nvSpPr>
        <p:spPr>
          <a:xfrm xmlns:a="http://schemas.openxmlformats.org/drawingml/2006/main">
            <a:off x="3495675" y="372427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Set intended use and involve qualified clinical, privacy, and regulatory reviewers.</a:t>
            </a:r>
          </a:p>
        </p:txBody>
      </p:sp>
      <p:sp>
        <p:nvSpPr>
          <p:cNvPr id="26" name="">
            <a:extLst xmlns:a="http://schemas.openxmlformats.org/drawingml/2006/main">
              <a:ext uri="{FF2B5EF4-FFF2-40B4-BE49-F238E27FC236}">
                <a16:creationId xmlns:a16="http://schemas.microsoft.com/office/drawing/2014/main" id="{41FD344A-2C0F-49DC-B8F9-61AEF19A9426}"/>
              </a:ext>
            </a:extLst>
          </p:cNvPr>
          <p:cNvSpPr>
            <a:spLocks xmlns:a="http://schemas.openxmlformats.org/drawingml/2006/main" noGrp="1"/>
          </p:cNvSpPr>
          <p:nvPr/>
        </p:nvSpPr>
        <p:spPr>
          <a:xfrm xmlns:a="http://schemas.openxmlformats.org/drawingml/2006/main">
            <a:off x="914400" y="4476750"/>
            <a:ext cx="565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B94B4B"/>
                </a:solidFill>
                <a:latin typeface="Calibri"/>
                <a:ea typeface="Calibri"/>
                <a:cs typeface="Calibri"/>
              </a:defRPr>
            </a:defPPr>
            <a:lvl1pPr algn="ctr">
              <a:buNone/>
              <a:defRPr sz="1275" b="1" i="0">
                <a:solidFill>
                  <a:srgbClr val="B94B4B"/>
                </a:solidFill>
                <a:latin typeface="Calibri"/>
                <a:ea typeface="Calibri"/>
                <a:cs typeface="Calibri"/>
              </a:defRPr>
            </a:lvl1pPr>
            <a:lvl2pPr algn="ctr">
              <a:buNone/>
              <a:defRPr sz="1275" b="1" i="0">
                <a:solidFill>
                  <a:srgbClr val="B94B4B"/>
                </a:solidFill>
                <a:latin typeface="Calibri"/>
                <a:ea typeface="Calibri"/>
                <a:cs typeface="Calibri"/>
              </a:defRPr>
            </a:lvl2pPr>
            <a:lvl3pPr algn="ctr">
              <a:buNone/>
              <a:defRPr sz="1275" b="1" i="0">
                <a:solidFill>
                  <a:srgbClr val="B94B4B"/>
                </a:solidFill>
                <a:latin typeface="Calibri"/>
                <a:ea typeface="Calibri"/>
                <a:cs typeface="Calibri"/>
              </a:defRPr>
            </a:lvl3pPr>
            <a:lvl4pPr algn="ctr">
              <a:buNone/>
              <a:defRPr sz="1275" b="1" i="0">
                <a:solidFill>
                  <a:srgbClr val="B94B4B"/>
                </a:solidFill>
                <a:latin typeface="Calibri"/>
                <a:ea typeface="Calibri"/>
                <a:cs typeface="Calibri"/>
              </a:defRPr>
            </a:lvl4pPr>
            <a:lvl5pPr algn="ctr">
              <a:buNone/>
              <a:defRPr sz="1275" b="1" i="0">
                <a:solidFill>
                  <a:srgbClr val="B94B4B"/>
                </a:solidFill>
                <a:latin typeface="Calibri"/>
                <a:ea typeface="Calibri"/>
                <a:cs typeface="Calibri"/>
              </a:defRPr>
            </a:lvl5pPr>
            <a:lvl6pPr algn="ctr">
              <a:buNone/>
              <a:defRPr sz="1275" b="1" i="0">
                <a:solidFill>
                  <a:srgbClr val="B94B4B"/>
                </a:solidFill>
                <a:latin typeface="Calibri"/>
                <a:ea typeface="Calibri"/>
                <a:cs typeface="Calibri"/>
              </a:defRPr>
            </a:lvl6pPr>
            <a:lvl7pPr algn="ctr">
              <a:buNone/>
              <a:defRPr sz="1275" b="1" i="0">
                <a:solidFill>
                  <a:srgbClr val="B94B4B"/>
                </a:solidFill>
                <a:latin typeface="Calibri"/>
                <a:ea typeface="Calibri"/>
                <a:cs typeface="Calibri"/>
              </a:defRPr>
            </a:lvl7pPr>
            <a:lvl8pPr algn="ctr">
              <a:buNone/>
              <a:defRPr sz="1275" b="1" i="0">
                <a:solidFill>
                  <a:srgbClr val="B94B4B"/>
                </a:solidFill>
                <a:latin typeface="Calibri"/>
                <a:ea typeface="Calibri"/>
                <a:cs typeface="Calibri"/>
              </a:defRPr>
            </a:lvl8pPr>
            <a:lvl9pPr algn="ctr">
              <a:buNone/>
              <a:defRPr sz="1275" b="1" i="0">
                <a:solidFill>
                  <a:srgbClr val="B94B4B"/>
                </a:solidFill>
                <a:latin typeface="Calibri"/>
                <a:ea typeface="Calibri"/>
                <a:cs typeface="Calibri"/>
              </a:defRPr>
            </a:lvl9pPr>
          </a:lstStyle>
          <a:p xmlns:a="http://schemas.openxmlformats.org/drawingml/2006/main">
            <a:pPr algn="ctr">
              <a:lnSpc>
                <a:spcPct val="108000"/>
              </a:lnSpc>
              <a:buNone/>
              <a:defRPr sz="1275" b="1" i="0">
                <a:solidFill>
                  <a:srgbClr val="B94B4B"/>
                </a:solidFill>
                <a:latin typeface="Calibri"/>
                <a:ea typeface="Calibri"/>
                <a:cs typeface="Calibri"/>
              </a:defRPr>
            </a:pPr>
            <a:r>
              <a:rPr sz="1275" b="1" i="0">
                <a:solidFill>
                  <a:srgbClr val="B94B4B"/>
                </a:solidFill>
                <a:latin typeface="Calibri"/>
                <a:ea typeface="Calibri"/>
                <a:cs typeface="Calibri"/>
              </a:rPr>
              <a:t>Prototype only · no diagnosis · no validated event prediction</a:t>
            </a:r>
          </a:p>
        </p:txBody>
      </p:sp>
      <p:sp>
        <p:nvSpPr>
          <p:cNvPr id="28" name="diagram-background-slide-14">
            <a:extLst xmlns:a="http://schemas.openxmlformats.org/drawingml/2006/main">
              <a:ext uri="{FF2B5EF4-FFF2-40B4-BE49-F238E27FC236}">
                <a16:creationId xmlns:a16="http://schemas.microsoft.com/office/drawing/2014/main" id="{E962F3CE-EEE8-472D-9939-EAFDFA154E75}"/>
              </a:ext>
            </a:extLst>
          </p:cNvPr>
          <p:cNvSpPr>
            <a:spLocks xmlns:a="http://schemas.openxmlformats.org/drawingml/2006/main" noGrp="1"/>
          </p:cNvSpPr>
          <p:nvPr/>
        </p:nvSpPr>
        <p:spPr>
          <a:xfrm xmlns:a="http://schemas.openxmlformats.org/drawingml/2006/main">
            <a:off x="400050" y="1295400"/>
            <a:ext cx="6677025" cy="3648075"/>
          </a:xfrm>
          <a:prstGeom xmlns:a="http://schemas.openxmlformats.org/drawingml/2006/main" prst="rect">
            <a:avLst/>
          </a:prstGeom>
          <a:solidFill xmlns:a="http://schemas.openxmlformats.org/drawingml/2006/main">
            <a:srgbClr val="F5FAF9"/>
          </a:solidFill>
          <a:ln xmlns:a="http://schemas.openxmlformats.org/drawingml/2006/main" w="0">
            <a:noFill/>
            <a:prstDash val="solid"/>
          </a:ln>
        </p:spPr>
      </p:sp>
      <p:pic>
        <p:nvPicPr>
          <p:cNvPr id="29" name="">
            <a:extLst xmlns:a="http://schemas.openxmlformats.org/drawingml/2006/main">
              <a:ext uri="{FF2B5EF4-FFF2-40B4-BE49-F238E27FC236}">
                <a16:creationId xmlns:a16="http://schemas.microsoft.com/office/drawing/2014/main" id="{BBD1936D-E988-4D4E-B6BF-A4401FFA5536}"/>
              </a:ext>
            </a:extLst>
          </p:cNvPr>
          <p:cNvPicPr>
            <a:picLocks xmlns:a="http://schemas.openxmlformats.org/drawingml/2006/main" noChangeAspect="1"/>
          </p:cNvPicPr>
          <p:nvPr/>
        </p:nvPicPr>
        <p:blipFill>
          <a:blip xmlns:r="http://schemas.openxmlformats.org/officeDocument/2006/relationships" xmlns:a="http://schemas.openxmlformats.org/drawingml/2006/main" r:embed="Rcf634a75744a4002"/>
          <a:stretch xmlns:a="http://schemas.openxmlformats.org/drawingml/2006/main"/>
        </p:blipFill>
        <p:spPr>
          <a:xfrm xmlns:a="http://schemas.openxmlformats.org/drawingml/2006/main">
            <a:off x="1685925" y="1438275"/>
            <a:ext cx="4105275" cy="3781425"/>
          </a:xfrm>
          <a:prstGeom xmlns:a="http://schemas.openxmlformats.org/drawingml/2006/main" prst="rect">
            <a:avLst/>
          </a:prstGeom>
        </p:spPr>
      </p:pic>
    </p:spTree>
    <p:extLst>
      <p:ext uri="{BB962C8B-B14F-4D97-AF65-F5344CB8AC3E}">
        <p14:creationId xmlns:p14="http://schemas.microsoft.com/office/powerpoint/2010/main" val="646449543"/>
      </p:ext>
    </p:extLst>
  </p:cSld>
</p:sld>
</file>

<file path=ppt/slides/slide15.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3B1EBCBC-440D-49C0-BA17-B51E321C81FC}"/>
              </a:ext>
            </a:extLst>
          </p:cNvPr>
          <p:cNvCxnSpPr>
            <a:stCxn xmlns:a="http://schemas.openxmlformats.org/drawingml/2006/main" id="5" idx="2"/>
            <a:endCxn xmlns:a="http://schemas.openxmlformats.org/drawingml/2006/main" id="17" idx="0"/>
          </p:cNvCxnSpPr>
          <p:nvPr/>
        </p:nvCxnSpPr>
        <p:spPr>
          <a:xfrm xmlns:a="http://schemas.openxmlformats.org/drawingml/2006/main">
            <a:off x="3733800" y="3371850"/>
            <a:ext cx="0" cy="409575"/>
          </a:xfrm>
          <a:prstGeom xmlns:a="http://schemas.openxmlformats.org/drawingml/2006/main" prst="straightConnector1">
            <a:avLst/>
          </a:prstGeom>
          <a:ln xmlns:a="http://schemas.openxmlformats.org/drawingml/2006/main" w="16193">
            <a:solidFill>
              <a:srgbClr val="809297"/>
            </a:solidFill>
            <a:prstDash val="dash"/>
            <a:headEnd type="arrow" w="sm" len="sm"/>
          </a:ln>
        </p:spPr>
      </p:cxnSp>
      <p:cxnSp>
        <p:nvCxnSpPr>
          <p:cNvPr id="15" name="">
            <a:extLst xmlns:a="http://schemas.openxmlformats.org/drawingml/2006/main">
              <a:ext uri="{FF2B5EF4-FFF2-40B4-BE49-F238E27FC236}">
                <a16:creationId xmlns:a16="http://schemas.microsoft.com/office/drawing/2014/main" id="{E5DE1AF2-1BFD-497E-90E1-1E6380B3B6DD}"/>
              </a:ext>
            </a:extLst>
          </p:cNvPr>
          <p:cNvCxnSpPr>
            <a:stCxn xmlns:a="http://schemas.openxmlformats.org/drawingml/2006/main" id="5" idx="3"/>
            <a:endCxn xmlns:a="http://schemas.openxmlformats.org/drawingml/2006/main" id="6" idx="1"/>
          </p:cNvCxnSpPr>
          <p:nvPr/>
        </p:nvCxnSpPr>
        <p:spPr>
          <a:xfrm xmlns:a="http://schemas.openxmlformats.org/drawingml/2006/main">
            <a:off x="4610100" y="2562225"/>
            <a:ext cx="828675" cy="0"/>
          </a:xfrm>
          <a:prstGeom xmlns:a="http://schemas.openxmlformats.org/drawingml/2006/main" prst="straightConnector1">
            <a:avLst/>
          </a:prstGeom>
          <a:ln xmlns:a="http://schemas.openxmlformats.org/drawingml/2006/main" w="19050">
            <a:solidFill>
              <a:srgbClr val="159C92"/>
            </a:solidFill>
            <a:prstDash val="solid"/>
            <a:headEnd type="arrow" w="sm" len="sm"/>
            <a:tailEnd type="arrow" w="sm" len="sm"/>
          </a:ln>
        </p:spPr>
      </p:cxnSp>
      <p:cxnSp>
        <p:nvCxnSpPr>
          <p:cNvPr id="13" name="">
            <a:extLst xmlns:a="http://schemas.openxmlformats.org/drawingml/2006/main">
              <a:ext uri="{FF2B5EF4-FFF2-40B4-BE49-F238E27FC236}">
                <a16:creationId xmlns:a16="http://schemas.microsoft.com/office/drawing/2014/main" id="{6D3562B1-3A11-444C-9E03-1F9142480E63}"/>
              </a:ext>
            </a:extLst>
          </p:cNvPr>
          <p:cNvCxnSpPr>
            <a:stCxn xmlns:a="http://schemas.openxmlformats.org/drawingml/2006/main" id="4" idx="3"/>
            <a:endCxn xmlns:a="http://schemas.openxmlformats.org/drawingml/2006/main" id="5" idx="1"/>
          </p:cNvCxnSpPr>
          <p:nvPr/>
        </p:nvCxnSpPr>
        <p:spPr>
          <a:xfrm xmlns:a="http://schemas.openxmlformats.org/drawingml/2006/main">
            <a:off x="2028825" y="2562225"/>
            <a:ext cx="828675" cy="0"/>
          </a:xfrm>
          <a:prstGeom xmlns:a="http://schemas.openxmlformats.org/drawingml/2006/main" prst="straightConnector1">
            <a:avLst/>
          </a:prstGeom>
          <a:ln xmlns:a="http://schemas.openxmlformats.org/drawingml/2006/main" w="19050">
            <a:solidFill>
              <a:srgbClr val="159C92"/>
            </a:solidFill>
            <a:prstDash val="solid"/>
            <a:headEnd type="arrow" w="sm" len="sm"/>
            <a:tailEnd type="arrow" w="sm" len="sm"/>
          </a:ln>
        </p:spPr>
      </p:cxnSp>
      <p:sp>
        <p:nvSpPr>
          <p:cNvPr id="25" name="Tech stack title">
            <a:extLst xmlns:a="http://schemas.openxmlformats.org/drawingml/2006/main">
              <a:ext uri="{FF2B5EF4-FFF2-40B4-BE49-F238E27FC236}">
                <a16:creationId xmlns:a16="http://schemas.microsoft.com/office/drawing/2014/main" id="{549504CE-95BC-4971-9809-595B05578E01}"/>
              </a:ext>
            </a:extLst>
          </p:cNvPr>
          <p:cNvSpPr>
            <a:spLocks xmlns:a="http://schemas.openxmlformats.org/drawingml/2006/main" noGrp="1"/>
          </p:cNvSpPr>
          <p:nvPr/>
        </p:nvSpPr>
        <p:spPr>
          <a:xfrm xmlns:a="http://schemas.openxmlformats.org/drawingml/2006/main">
            <a:off x="457200" y="28575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23F50"/>
                </a:solidFill>
                <a:latin typeface="Calibri Light"/>
                <a:ea typeface="Calibri Light"/>
                <a:cs typeface="Calibri Light"/>
              </a:defRPr>
            </a:defPPr>
            <a:lvl1pPr algn="l">
              <a:defRPr sz="2475" b="1">
                <a:solidFill>
                  <a:srgbClr val="123F50"/>
                </a:solidFill>
                <a:latin typeface="Calibri Light"/>
                <a:ea typeface="Calibri Light"/>
                <a:cs typeface="Calibri Light"/>
              </a:defRPr>
            </a:lvl1pPr>
            <a:lvl2pPr algn="l">
              <a:defRPr sz="2475" b="1">
                <a:solidFill>
                  <a:srgbClr val="123F50"/>
                </a:solidFill>
                <a:latin typeface="Calibri Light"/>
                <a:ea typeface="Calibri Light"/>
                <a:cs typeface="Calibri Light"/>
              </a:defRPr>
            </a:lvl2pPr>
            <a:lvl3pPr algn="l">
              <a:defRPr sz="2475" b="1">
                <a:solidFill>
                  <a:srgbClr val="123F50"/>
                </a:solidFill>
                <a:latin typeface="Calibri Light"/>
                <a:ea typeface="Calibri Light"/>
                <a:cs typeface="Calibri Light"/>
              </a:defRPr>
            </a:lvl3pPr>
            <a:lvl4pPr algn="l">
              <a:defRPr sz="2475" b="1">
                <a:solidFill>
                  <a:srgbClr val="123F50"/>
                </a:solidFill>
                <a:latin typeface="Calibri Light"/>
                <a:ea typeface="Calibri Light"/>
                <a:cs typeface="Calibri Light"/>
              </a:defRPr>
            </a:lvl4pPr>
            <a:lvl5pPr algn="l">
              <a:defRPr sz="2475" b="1">
                <a:solidFill>
                  <a:srgbClr val="123F50"/>
                </a:solidFill>
                <a:latin typeface="Calibri Light"/>
                <a:ea typeface="Calibri Light"/>
                <a:cs typeface="Calibri Light"/>
              </a:defRPr>
            </a:lvl5pPr>
            <a:lvl6pPr algn="l">
              <a:defRPr sz="2475" b="1">
                <a:solidFill>
                  <a:srgbClr val="123F50"/>
                </a:solidFill>
                <a:latin typeface="Calibri Light"/>
                <a:ea typeface="Calibri Light"/>
                <a:cs typeface="Calibri Light"/>
              </a:defRPr>
            </a:lvl6pPr>
            <a:lvl7pPr algn="l">
              <a:defRPr sz="2475" b="1">
                <a:solidFill>
                  <a:srgbClr val="123F50"/>
                </a:solidFill>
                <a:latin typeface="Calibri Light"/>
                <a:ea typeface="Calibri Light"/>
                <a:cs typeface="Calibri Light"/>
              </a:defRPr>
            </a:lvl7pPr>
            <a:lvl8pPr algn="l">
              <a:defRPr sz="2475" b="1">
                <a:solidFill>
                  <a:srgbClr val="123F50"/>
                </a:solidFill>
                <a:latin typeface="Calibri Light"/>
                <a:ea typeface="Calibri Light"/>
                <a:cs typeface="Calibri Light"/>
              </a:defRPr>
            </a:lvl8pPr>
            <a:lvl9pPr algn="l">
              <a:defRPr sz="2475" b="1">
                <a:solidFill>
                  <a:srgbClr val="123F50"/>
                </a:solidFill>
                <a:latin typeface="Calibri Light"/>
                <a:ea typeface="Calibri Light"/>
                <a:cs typeface="Calibri Light"/>
              </a:defRPr>
            </a:lvl9pPr>
          </a:lstStyle>
          <a:p xmlns:a="http://schemas.openxmlformats.org/drawingml/2006/main">
            <a:pPr algn="l">
              <a:defRPr sz="2475" b="1">
                <a:solidFill>
                  <a:srgbClr val="123F50"/>
                </a:solidFill>
                <a:latin typeface="Calibri Light"/>
                <a:ea typeface="Calibri Light"/>
                <a:cs typeface="Calibri Light"/>
              </a:defRPr>
            </a:pPr>
            <a:r>
              <a:rPr sz="2475" b="1">
                <a:solidFill>
                  <a:srgbClr val="123F50"/>
                </a:solidFill>
                <a:latin typeface="Calibri Light"/>
                <a:ea typeface="Calibri Light"/>
                <a:cs typeface="Calibri Light"/>
              </a:rPr>
              <a:t>Tech stack and connections</a:t>
            </a:r>
          </a:p>
        </p:txBody>
      </p:sp>
      <p:sp>
        <p:nvSpPr>
          <p:cNvPr id="2" name="title accent">
            <a:extLst xmlns:a="http://schemas.openxmlformats.org/drawingml/2006/main">
              <a:ext uri="{FF2B5EF4-FFF2-40B4-BE49-F238E27FC236}">
                <a16:creationId xmlns:a16="http://schemas.microsoft.com/office/drawing/2014/main" id="{F633458C-88E3-41F0-939B-0D2A15E71D84}"/>
              </a:ext>
            </a:extLst>
          </p:cNvPr>
          <p:cNvSpPr>
            <a:spLocks xmlns:a="http://schemas.openxmlformats.org/drawingml/2006/main" noGrp="1"/>
          </p:cNvSpPr>
          <p:nvPr/>
        </p:nvSpPr>
        <p:spPr>
          <a:xfrm xmlns:a="http://schemas.openxmlformats.org/drawingml/2006/main">
            <a:off x="457200" y="790575"/>
            <a:ext cx="647700" cy="38100"/>
          </a:xfrm>
          <a:prstGeom xmlns:a="http://schemas.openxmlformats.org/drawingml/2006/main" prst="rect">
            <a:avLst/>
          </a:prstGeom>
          <a:solidFill xmlns:a="http://schemas.openxmlformats.org/drawingml/2006/main">
            <a:srgbClr val="159C92"/>
          </a:solidFill>
          <a:ln xmlns:a="http://schemas.openxmlformats.org/drawingml/2006/main" w="0">
            <a:noFill/>
            <a:prstDash val="solid"/>
          </a:ln>
        </p:spPr>
      </p:sp>
      <p:sp>
        <p:nvSpPr>
          <p:cNvPr id="3" name="Tech stack subtitle">
            <a:extLst xmlns:a="http://schemas.openxmlformats.org/drawingml/2006/main">
              <a:ext uri="{FF2B5EF4-FFF2-40B4-BE49-F238E27FC236}">
                <a16:creationId xmlns:a16="http://schemas.microsoft.com/office/drawing/2014/main" id="{12D780AB-44A8-49F4-83B8-1866BBBCE64D}"/>
              </a:ext>
            </a:extLst>
          </p:cNvPr>
          <p:cNvSpPr>
            <a:spLocks xmlns:a="http://schemas.openxmlformats.org/drawingml/2006/main" noGrp="1"/>
          </p:cNvSpPr>
          <p:nvPr/>
        </p:nvSpPr>
        <p:spPr>
          <a:xfrm xmlns:a="http://schemas.openxmlformats.org/drawingml/2006/main">
            <a:off x="457200" y="942975"/>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a:solidFill>
                  <a:srgbClr val="60777E"/>
                </a:solidFill>
                <a:latin typeface="Calibri"/>
                <a:ea typeface="Calibri"/>
                <a:cs typeface="Calibri"/>
              </a:defRPr>
            </a:defPPr>
            <a:lvl1pPr algn="l">
              <a:defRPr sz="1163" b="0">
                <a:solidFill>
                  <a:srgbClr val="60777E"/>
                </a:solidFill>
                <a:latin typeface="Calibri"/>
                <a:ea typeface="Calibri"/>
                <a:cs typeface="Calibri"/>
              </a:defRPr>
            </a:lvl1pPr>
            <a:lvl2pPr algn="l">
              <a:defRPr sz="1163" b="0">
                <a:solidFill>
                  <a:srgbClr val="60777E"/>
                </a:solidFill>
                <a:latin typeface="Calibri"/>
                <a:ea typeface="Calibri"/>
                <a:cs typeface="Calibri"/>
              </a:defRPr>
            </a:lvl2pPr>
            <a:lvl3pPr algn="l">
              <a:defRPr sz="1163" b="0">
                <a:solidFill>
                  <a:srgbClr val="60777E"/>
                </a:solidFill>
                <a:latin typeface="Calibri"/>
                <a:ea typeface="Calibri"/>
                <a:cs typeface="Calibri"/>
              </a:defRPr>
            </a:lvl3pPr>
            <a:lvl4pPr algn="l">
              <a:defRPr sz="1163" b="0">
                <a:solidFill>
                  <a:srgbClr val="60777E"/>
                </a:solidFill>
                <a:latin typeface="Calibri"/>
                <a:ea typeface="Calibri"/>
                <a:cs typeface="Calibri"/>
              </a:defRPr>
            </a:lvl4pPr>
            <a:lvl5pPr algn="l">
              <a:defRPr sz="1163" b="0">
                <a:solidFill>
                  <a:srgbClr val="60777E"/>
                </a:solidFill>
                <a:latin typeface="Calibri"/>
                <a:ea typeface="Calibri"/>
                <a:cs typeface="Calibri"/>
              </a:defRPr>
            </a:lvl5pPr>
            <a:lvl6pPr algn="l">
              <a:defRPr sz="1163" b="0">
                <a:solidFill>
                  <a:srgbClr val="60777E"/>
                </a:solidFill>
                <a:latin typeface="Calibri"/>
                <a:ea typeface="Calibri"/>
                <a:cs typeface="Calibri"/>
              </a:defRPr>
            </a:lvl6pPr>
            <a:lvl7pPr algn="l">
              <a:defRPr sz="1163" b="0">
                <a:solidFill>
                  <a:srgbClr val="60777E"/>
                </a:solidFill>
                <a:latin typeface="Calibri"/>
                <a:ea typeface="Calibri"/>
                <a:cs typeface="Calibri"/>
              </a:defRPr>
            </a:lvl7pPr>
            <a:lvl8pPr algn="l">
              <a:defRPr sz="1163" b="0">
                <a:solidFill>
                  <a:srgbClr val="60777E"/>
                </a:solidFill>
                <a:latin typeface="Calibri"/>
                <a:ea typeface="Calibri"/>
                <a:cs typeface="Calibri"/>
              </a:defRPr>
            </a:lvl8pPr>
            <a:lvl9pPr algn="l">
              <a:defRPr sz="1163" b="0">
                <a:solidFill>
                  <a:srgbClr val="60777E"/>
                </a:solidFill>
                <a:latin typeface="Calibri"/>
                <a:ea typeface="Calibri"/>
                <a:cs typeface="Calibri"/>
              </a:defRPr>
            </a:lvl9pPr>
          </a:lstStyle>
          <a:p xmlns:a="http://schemas.openxmlformats.org/drawingml/2006/main">
            <a:pPr algn="l">
              <a:defRPr sz="1163" b="0">
                <a:solidFill>
                  <a:srgbClr val="60777E"/>
                </a:solidFill>
                <a:latin typeface="Calibri"/>
                <a:ea typeface="Calibri"/>
                <a:cs typeface="Calibri"/>
              </a:defRPr>
            </a:pPr>
            <a:r>
              <a:rPr sz="1163" b="0">
                <a:solidFill>
                  <a:srgbClr val="60777E"/>
                </a:solidFill>
                <a:latin typeface="Calibri"/>
                <a:ea typeface="Calibri"/>
                <a:cs typeface="Calibri"/>
              </a:rPr>
              <a:t>Flutter connects to the FastAPI service, local data store, and demo analytics.</a:t>
            </a:r>
          </a:p>
        </p:txBody>
      </p:sp>
      <p:sp>
        <p:nvSpPr>
          <p:cNvPr id="4" name="Mobile app node">
            <a:extLst xmlns:a="http://schemas.openxmlformats.org/drawingml/2006/main">
              <a:ext uri="{FF2B5EF4-FFF2-40B4-BE49-F238E27FC236}">
                <a16:creationId xmlns:a16="http://schemas.microsoft.com/office/drawing/2014/main" id="{C3F2EB8A-2F8C-4986-A9F0-834047E9AAED}"/>
              </a:ext>
            </a:extLst>
          </p:cNvPr>
          <p:cNvSpPr>
            <a:spLocks xmlns:a="http://schemas.openxmlformats.org/drawingml/2006/main" noGrp="1"/>
          </p:cNvSpPr>
          <p:nvPr/>
        </p:nvSpPr>
        <p:spPr>
          <a:xfrm xmlns:a="http://schemas.openxmlformats.org/drawingml/2006/main">
            <a:off x="457200" y="1895475"/>
            <a:ext cx="1571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1430">
            <a:solidFill>
              <a:srgbClr val="CFE1DE"/>
            </a:solidFill>
            <a:prstDash val="solid"/>
          </a:ln>
        </p:spPr>
      </p:sp>
      <p:sp>
        <p:nvSpPr>
          <p:cNvPr id="5" name="Backend API node">
            <a:extLst xmlns:a="http://schemas.openxmlformats.org/drawingml/2006/main">
              <a:ext uri="{FF2B5EF4-FFF2-40B4-BE49-F238E27FC236}">
                <a16:creationId xmlns:a16="http://schemas.microsoft.com/office/drawing/2014/main" id="{C4A6FCF2-BE64-4570-BAE4-271FCD7DAD98}"/>
              </a:ext>
            </a:extLst>
          </p:cNvPr>
          <p:cNvSpPr>
            <a:spLocks xmlns:a="http://schemas.openxmlformats.org/drawingml/2006/main" noGrp="1"/>
          </p:cNvSpPr>
          <p:nvPr/>
        </p:nvSpPr>
        <p:spPr>
          <a:xfrm xmlns:a="http://schemas.openxmlformats.org/drawingml/2006/main">
            <a:off x="2857500" y="1752600"/>
            <a:ext cx="1752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159C92"/>
            </a:solidFill>
            <a:prstDash val="solid"/>
          </a:ln>
        </p:spPr>
      </p:sp>
      <p:sp>
        <p:nvSpPr>
          <p:cNvPr id="6" name="Data and analytics node">
            <a:extLst xmlns:a="http://schemas.openxmlformats.org/drawingml/2006/main">
              <a:ext uri="{FF2B5EF4-FFF2-40B4-BE49-F238E27FC236}">
                <a16:creationId xmlns:a16="http://schemas.microsoft.com/office/drawing/2014/main" id="{2156FCC1-7472-415C-AE67-2471E7A4DC4B}"/>
              </a:ext>
            </a:extLst>
          </p:cNvPr>
          <p:cNvSpPr>
            <a:spLocks xmlns:a="http://schemas.openxmlformats.org/drawingml/2006/main" noGrp="1"/>
          </p:cNvSpPr>
          <p:nvPr/>
        </p:nvSpPr>
        <p:spPr>
          <a:xfrm xmlns:a="http://schemas.openxmlformats.org/drawingml/2006/main">
            <a:off x="5438775" y="1895475"/>
            <a:ext cx="1571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1430">
            <a:solidFill>
              <a:srgbClr val="CFE1DE"/>
            </a:solidFill>
            <a:prstDash val="solid"/>
          </a:ln>
        </p:spPr>
      </p:sp>
      <p:sp>
        <p:nvSpPr>
          <p:cNvPr id="7" name="Mobile heading">
            <a:extLst xmlns:a="http://schemas.openxmlformats.org/drawingml/2006/main">
              <a:ext uri="{FF2B5EF4-FFF2-40B4-BE49-F238E27FC236}">
                <a16:creationId xmlns:a16="http://schemas.microsoft.com/office/drawing/2014/main" id="{DBC72ADC-3364-405E-B56E-2BDFBF8B0B6B}"/>
              </a:ext>
            </a:extLst>
          </p:cNvPr>
          <p:cNvSpPr>
            <a:spLocks xmlns:a="http://schemas.openxmlformats.org/drawingml/2006/main" noGrp="1"/>
          </p:cNvSpPr>
          <p:nvPr/>
        </p:nvSpPr>
        <p:spPr>
          <a:xfrm xmlns:a="http://schemas.openxmlformats.org/drawingml/2006/main">
            <a:off x="600075" y="203835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0E7772"/>
                </a:solidFill>
                <a:latin typeface="Calibri"/>
                <a:ea typeface="Calibri"/>
                <a:cs typeface="Calibri"/>
              </a:defRPr>
            </a:defPPr>
            <a:lvl1pPr algn="l">
              <a:defRPr sz="1050" b="1">
                <a:solidFill>
                  <a:srgbClr val="0E7772"/>
                </a:solidFill>
                <a:latin typeface="Calibri"/>
                <a:ea typeface="Calibri"/>
                <a:cs typeface="Calibri"/>
              </a:defRPr>
            </a:lvl1pPr>
            <a:lvl2pPr algn="l">
              <a:defRPr sz="1050" b="1">
                <a:solidFill>
                  <a:srgbClr val="0E7772"/>
                </a:solidFill>
                <a:latin typeface="Calibri"/>
                <a:ea typeface="Calibri"/>
                <a:cs typeface="Calibri"/>
              </a:defRPr>
            </a:lvl2pPr>
            <a:lvl3pPr algn="l">
              <a:defRPr sz="1050" b="1">
                <a:solidFill>
                  <a:srgbClr val="0E7772"/>
                </a:solidFill>
                <a:latin typeface="Calibri"/>
                <a:ea typeface="Calibri"/>
                <a:cs typeface="Calibri"/>
              </a:defRPr>
            </a:lvl3pPr>
            <a:lvl4pPr algn="l">
              <a:defRPr sz="1050" b="1">
                <a:solidFill>
                  <a:srgbClr val="0E7772"/>
                </a:solidFill>
                <a:latin typeface="Calibri"/>
                <a:ea typeface="Calibri"/>
                <a:cs typeface="Calibri"/>
              </a:defRPr>
            </a:lvl4pPr>
            <a:lvl5pPr algn="l">
              <a:defRPr sz="1050" b="1">
                <a:solidFill>
                  <a:srgbClr val="0E7772"/>
                </a:solidFill>
                <a:latin typeface="Calibri"/>
                <a:ea typeface="Calibri"/>
                <a:cs typeface="Calibri"/>
              </a:defRPr>
            </a:lvl5pPr>
            <a:lvl6pPr algn="l">
              <a:defRPr sz="1050" b="1">
                <a:solidFill>
                  <a:srgbClr val="0E7772"/>
                </a:solidFill>
                <a:latin typeface="Calibri"/>
                <a:ea typeface="Calibri"/>
                <a:cs typeface="Calibri"/>
              </a:defRPr>
            </a:lvl6pPr>
            <a:lvl7pPr algn="l">
              <a:defRPr sz="1050" b="1">
                <a:solidFill>
                  <a:srgbClr val="0E7772"/>
                </a:solidFill>
                <a:latin typeface="Calibri"/>
                <a:ea typeface="Calibri"/>
                <a:cs typeface="Calibri"/>
              </a:defRPr>
            </a:lvl7pPr>
            <a:lvl8pPr algn="l">
              <a:defRPr sz="1050" b="1">
                <a:solidFill>
                  <a:srgbClr val="0E7772"/>
                </a:solidFill>
                <a:latin typeface="Calibri"/>
                <a:ea typeface="Calibri"/>
                <a:cs typeface="Calibri"/>
              </a:defRPr>
            </a:lvl8pPr>
            <a:lvl9pPr algn="l">
              <a:defRPr sz="1050" b="1">
                <a:solidFill>
                  <a:srgbClr val="0E7772"/>
                </a:solidFill>
                <a:latin typeface="Calibri"/>
                <a:ea typeface="Calibri"/>
                <a:cs typeface="Calibri"/>
              </a:defRPr>
            </a:lvl9pPr>
          </a:lstStyle>
          <a:p xmlns:a="http://schemas.openxmlformats.org/drawingml/2006/main">
            <a:pPr algn="l">
              <a:defRPr sz="1050" b="1">
                <a:solidFill>
                  <a:srgbClr val="0E7772"/>
                </a:solidFill>
                <a:latin typeface="Calibri"/>
                <a:ea typeface="Calibri"/>
                <a:cs typeface="Calibri"/>
              </a:defRPr>
            </a:pPr>
            <a:r>
              <a:rPr sz="1050" b="1">
                <a:solidFill>
                  <a:srgbClr val="0E7772"/>
                </a:solidFill>
                <a:latin typeface="Calibri"/>
                <a:ea typeface="Calibri"/>
                <a:cs typeface="Calibri"/>
              </a:rPr>
              <a:t>MOBILE APP</a:t>
            </a:r>
          </a:p>
        </p:txBody>
      </p:sp>
      <p:sp>
        <p:nvSpPr>
          <p:cNvPr id="8" name="Mobile stack">
            <a:extLst xmlns:a="http://schemas.openxmlformats.org/drawingml/2006/main">
              <a:ext uri="{FF2B5EF4-FFF2-40B4-BE49-F238E27FC236}">
                <a16:creationId xmlns:a16="http://schemas.microsoft.com/office/drawing/2014/main" id="{CD8548CD-BC0B-43A2-9262-A0CCC92EFC2C}"/>
              </a:ext>
            </a:extLst>
          </p:cNvPr>
          <p:cNvSpPr>
            <a:spLocks xmlns:a="http://schemas.openxmlformats.org/drawingml/2006/main" noGrp="1"/>
          </p:cNvSpPr>
          <p:nvPr/>
        </p:nvSpPr>
        <p:spPr>
          <a:xfrm xmlns:a="http://schemas.openxmlformats.org/drawingml/2006/main">
            <a:off x="600075" y="2343150"/>
            <a:ext cx="1285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354E57"/>
                </a:solidFill>
                <a:latin typeface="Calibri"/>
                <a:ea typeface="Calibri"/>
                <a:cs typeface="Calibri"/>
              </a:defRPr>
            </a:defPPr>
            <a:lvl1pPr algn="l">
              <a:defRPr sz="1050" b="0">
                <a:solidFill>
                  <a:srgbClr val="354E57"/>
                </a:solidFill>
                <a:latin typeface="Calibri"/>
                <a:ea typeface="Calibri"/>
                <a:cs typeface="Calibri"/>
              </a:defRPr>
            </a:lvl1pPr>
            <a:lvl2pPr algn="l">
              <a:defRPr sz="1050" b="0">
                <a:solidFill>
                  <a:srgbClr val="354E57"/>
                </a:solidFill>
                <a:latin typeface="Calibri"/>
                <a:ea typeface="Calibri"/>
                <a:cs typeface="Calibri"/>
              </a:defRPr>
            </a:lvl2pPr>
            <a:lvl3pPr algn="l">
              <a:defRPr sz="1050" b="0">
                <a:solidFill>
                  <a:srgbClr val="354E57"/>
                </a:solidFill>
                <a:latin typeface="Calibri"/>
                <a:ea typeface="Calibri"/>
                <a:cs typeface="Calibri"/>
              </a:defRPr>
            </a:lvl3pPr>
            <a:lvl4pPr algn="l">
              <a:defRPr sz="1050" b="0">
                <a:solidFill>
                  <a:srgbClr val="354E57"/>
                </a:solidFill>
                <a:latin typeface="Calibri"/>
                <a:ea typeface="Calibri"/>
                <a:cs typeface="Calibri"/>
              </a:defRPr>
            </a:lvl4pPr>
            <a:lvl5pPr algn="l">
              <a:defRPr sz="1050" b="0">
                <a:solidFill>
                  <a:srgbClr val="354E57"/>
                </a:solidFill>
                <a:latin typeface="Calibri"/>
                <a:ea typeface="Calibri"/>
                <a:cs typeface="Calibri"/>
              </a:defRPr>
            </a:lvl5pPr>
            <a:lvl6pPr algn="l">
              <a:defRPr sz="1050" b="0">
                <a:solidFill>
                  <a:srgbClr val="354E57"/>
                </a:solidFill>
                <a:latin typeface="Calibri"/>
                <a:ea typeface="Calibri"/>
                <a:cs typeface="Calibri"/>
              </a:defRPr>
            </a:lvl6pPr>
            <a:lvl7pPr algn="l">
              <a:defRPr sz="1050" b="0">
                <a:solidFill>
                  <a:srgbClr val="354E57"/>
                </a:solidFill>
                <a:latin typeface="Calibri"/>
                <a:ea typeface="Calibri"/>
                <a:cs typeface="Calibri"/>
              </a:defRPr>
            </a:lvl7pPr>
            <a:lvl8pPr algn="l">
              <a:defRPr sz="1050" b="0">
                <a:solidFill>
                  <a:srgbClr val="354E57"/>
                </a:solidFill>
                <a:latin typeface="Calibri"/>
                <a:ea typeface="Calibri"/>
                <a:cs typeface="Calibri"/>
              </a:defRPr>
            </a:lvl8pPr>
            <a:lvl9pPr algn="l">
              <a:defRPr sz="1050" b="0">
                <a:solidFill>
                  <a:srgbClr val="354E57"/>
                </a:solidFill>
                <a:latin typeface="Calibri"/>
                <a:ea typeface="Calibri"/>
                <a:cs typeface="Calibri"/>
              </a:defRPr>
            </a:lvl9pPr>
          </a:lstStyle>
          <a:p xmlns:a="http://schemas.openxmlformats.org/drawingml/2006/main">
            <a:pPr algn="l">
              <a:defRPr sz="1050" b="0">
                <a:solidFill>
                  <a:srgbClr val="354E57"/>
                </a:solidFill>
                <a:latin typeface="Calibri"/>
                <a:ea typeface="Calibri"/>
                <a:cs typeface="Calibri"/>
              </a:defRPr>
            </a:pPr>
            <a:r>
              <a:rPr sz="1050" b="0">
                <a:solidFill>
                  <a:srgbClr val="354E57"/>
                </a:solidFill>
                <a:latin typeface="Calibri"/>
                <a:ea typeface="Calibri"/>
                <a:cs typeface="Calibri"/>
              </a:rPr>
              <a:t>Flutter · Dart</a:t>
            </a:r>
          </a:p>
          <a:p xmlns:a="http://schemas.openxmlformats.org/drawingml/2006/main">
            <a:pPr algn="l">
              <a:defRPr sz="1050" b="0">
                <a:solidFill>
                  <a:srgbClr val="354E57"/>
                </a:solidFill>
                <a:latin typeface="Calibri"/>
                <a:ea typeface="Calibri"/>
                <a:cs typeface="Calibri"/>
              </a:defRPr>
            </a:pPr>
            <a:r>
              <a:rPr sz="1050" b="0">
                <a:solidFill>
                  <a:srgbClr val="354E57"/>
                </a:solidFill>
                <a:latin typeface="Calibri"/>
                <a:ea typeface="Calibri"/>
                <a:cs typeface="Calibri"/>
              </a:rPr>
              <a:t>HTTP client</a:t>
            </a:r>
          </a:p>
          <a:p xmlns:a="http://schemas.openxmlformats.org/drawingml/2006/main">
            <a:pPr algn="l">
              <a:defRPr sz="1050" b="0">
                <a:solidFill>
                  <a:srgbClr val="354E57"/>
                </a:solidFill>
                <a:latin typeface="Calibri"/>
                <a:ea typeface="Calibri"/>
                <a:cs typeface="Calibri"/>
              </a:defRPr>
            </a:pPr>
            <a:r>
              <a:rPr sz="1050" b="0">
                <a:solidFill>
                  <a:srgbClr val="354E57"/>
                </a:solidFill>
                <a:latin typeface="Calibri"/>
                <a:ea typeface="Calibri"/>
                <a:cs typeface="Calibri"/>
              </a:rPr>
              <a:t>Displays dashboard and simulation results</a:t>
            </a:r>
          </a:p>
        </p:txBody>
      </p:sp>
      <p:sp>
        <p:nvSpPr>
          <p:cNvPr id="9" name="Backend heading">
            <a:extLst xmlns:a="http://schemas.openxmlformats.org/drawingml/2006/main">
              <a:ext uri="{FF2B5EF4-FFF2-40B4-BE49-F238E27FC236}">
                <a16:creationId xmlns:a16="http://schemas.microsoft.com/office/drawing/2014/main" id="{C32BB777-910D-437A-AF07-16A939860D0E}"/>
              </a:ext>
            </a:extLst>
          </p:cNvPr>
          <p:cNvSpPr>
            <a:spLocks xmlns:a="http://schemas.openxmlformats.org/drawingml/2006/main" noGrp="1"/>
          </p:cNvSpPr>
          <p:nvPr/>
        </p:nvSpPr>
        <p:spPr>
          <a:xfrm xmlns:a="http://schemas.openxmlformats.org/drawingml/2006/main">
            <a:off x="3009900" y="18954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E85C3B"/>
                </a:solidFill>
                <a:latin typeface="Calibri"/>
                <a:ea typeface="Calibri"/>
                <a:cs typeface="Calibri"/>
              </a:defRPr>
            </a:defPPr>
            <a:lvl1pPr algn="l">
              <a:defRPr sz="1050" b="1">
                <a:solidFill>
                  <a:srgbClr val="E85C3B"/>
                </a:solidFill>
                <a:latin typeface="Calibri"/>
                <a:ea typeface="Calibri"/>
                <a:cs typeface="Calibri"/>
              </a:defRPr>
            </a:lvl1pPr>
            <a:lvl2pPr algn="l">
              <a:defRPr sz="1050" b="1">
                <a:solidFill>
                  <a:srgbClr val="E85C3B"/>
                </a:solidFill>
                <a:latin typeface="Calibri"/>
                <a:ea typeface="Calibri"/>
                <a:cs typeface="Calibri"/>
              </a:defRPr>
            </a:lvl2pPr>
            <a:lvl3pPr algn="l">
              <a:defRPr sz="1050" b="1">
                <a:solidFill>
                  <a:srgbClr val="E85C3B"/>
                </a:solidFill>
                <a:latin typeface="Calibri"/>
                <a:ea typeface="Calibri"/>
                <a:cs typeface="Calibri"/>
              </a:defRPr>
            </a:lvl3pPr>
            <a:lvl4pPr algn="l">
              <a:defRPr sz="1050" b="1">
                <a:solidFill>
                  <a:srgbClr val="E85C3B"/>
                </a:solidFill>
                <a:latin typeface="Calibri"/>
                <a:ea typeface="Calibri"/>
                <a:cs typeface="Calibri"/>
              </a:defRPr>
            </a:lvl4pPr>
            <a:lvl5pPr algn="l">
              <a:defRPr sz="1050" b="1">
                <a:solidFill>
                  <a:srgbClr val="E85C3B"/>
                </a:solidFill>
                <a:latin typeface="Calibri"/>
                <a:ea typeface="Calibri"/>
                <a:cs typeface="Calibri"/>
              </a:defRPr>
            </a:lvl5pPr>
            <a:lvl6pPr algn="l">
              <a:defRPr sz="1050" b="1">
                <a:solidFill>
                  <a:srgbClr val="E85C3B"/>
                </a:solidFill>
                <a:latin typeface="Calibri"/>
                <a:ea typeface="Calibri"/>
                <a:cs typeface="Calibri"/>
              </a:defRPr>
            </a:lvl6pPr>
            <a:lvl7pPr algn="l">
              <a:defRPr sz="1050" b="1">
                <a:solidFill>
                  <a:srgbClr val="E85C3B"/>
                </a:solidFill>
                <a:latin typeface="Calibri"/>
                <a:ea typeface="Calibri"/>
                <a:cs typeface="Calibri"/>
              </a:defRPr>
            </a:lvl7pPr>
            <a:lvl8pPr algn="l">
              <a:defRPr sz="1050" b="1">
                <a:solidFill>
                  <a:srgbClr val="E85C3B"/>
                </a:solidFill>
                <a:latin typeface="Calibri"/>
                <a:ea typeface="Calibri"/>
                <a:cs typeface="Calibri"/>
              </a:defRPr>
            </a:lvl8pPr>
            <a:lvl9pPr algn="l">
              <a:defRPr sz="1050" b="1">
                <a:solidFill>
                  <a:srgbClr val="E85C3B"/>
                </a:solidFill>
                <a:latin typeface="Calibri"/>
                <a:ea typeface="Calibri"/>
                <a:cs typeface="Calibri"/>
              </a:defRPr>
            </a:lvl9pPr>
          </a:lstStyle>
          <a:p xmlns:a="http://schemas.openxmlformats.org/drawingml/2006/main">
            <a:pPr algn="l">
              <a:defRPr sz="1050" b="1">
                <a:solidFill>
                  <a:srgbClr val="E85C3B"/>
                </a:solidFill>
                <a:latin typeface="Calibri"/>
                <a:ea typeface="Calibri"/>
                <a:cs typeface="Calibri"/>
              </a:defRPr>
            </a:pPr>
            <a:r>
              <a:rPr sz="1050" b="1">
                <a:solidFill>
                  <a:srgbClr val="E85C3B"/>
                </a:solidFill>
                <a:latin typeface="Calibri"/>
                <a:ea typeface="Calibri"/>
                <a:cs typeface="Calibri"/>
              </a:rPr>
              <a:t>BACKEND API</a:t>
            </a:r>
          </a:p>
        </p:txBody>
      </p:sp>
      <p:sp>
        <p:nvSpPr>
          <p:cNvPr id="10" name="Backend stack">
            <a:extLst xmlns:a="http://schemas.openxmlformats.org/drawingml/2006/main">
              <a:ext uri="{FF2B5EF4-FFF2-40B4-BE49-F238E27FC236}">
                <a16:creationId xmlns:a16="http://schemas.microsoft.com/office/drawing/2014/main" id="{3B2EB799-460A-4EA6-889D-0CCED2469A8F}"/>
              </a:ext>
            </a:extLst>
          </p:cNvPr>
          <p:cNvSpPr>
            <a:spLocks xmlns:a="http://schemas.openxmlformats.org/drawingml/2006/main" noGrp="1"/>
          </p:cNvSpPr>
          <p:nvPr/>
        </p:nvSpPr>
        <p:spPr>
          <a:xfrm xmlns:a="http://schemas.openxmlformats.org/drawingml/2006/main">
            <a:off x="3009900" y="2200275"/>
            <a:ext cx="14478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354E57"/>
                </a:solidFill>
                <a:latin typeface="Calibri"/>
                <a:ea typeface="Calibri"/>
                <a:cs typeface="Calibri"/>
              </a:defRPr>
            </a:defPPr>
            <a:lvl1pPr algn="l">
              <a:defRPr sz="1050" b="0">
                <a:solidFill>
                  <a:srgbClr val="354E57"/>
                </a:solidFill>
                <a:latin typeface="Calibri"/>
                <a:ea typeface="Calibri"/>
                <a:cs typeface="Calibri"/>
              </a:defRPr>
            </a:lvl1pPr>
            <a:lvl2pPr algn="l">
              <a:defRPr sz="1050" b="0">
                <a:solidFill>
                  <a:srgbClr val="354E57"/>
                </a:solidFill>
                <a:latin typeface="Calibri"/>
                <a:ea typeface="Calibri"/>
                <a:cs typeface="Calibri"/>
              </a:defRPr>
            </a:lvl2pPr>
            <a:lvl3pPr algn="l">
              <a:defRPr sz="1050" b="0">
                <a:solidFill>
                  <a:srgbClr val="354E57"/>
                </a:solidFill>
                <a:latin typeface="Calibri"/>
                <a:ea typeface="Calibri"/>
                <a:cs typeface="Calibri"/>
              </a:defRPr>
            </a:lvl3pPr>
            <a:lvl4pPr algn="l">
              <a:defRPr sz="1050" b="0">
                <a:solidFill>
                  <a:srgbClr val="354E57"/>
                </a:solidFill>
                <a:latin typeface="Calibri"/>
                <a:ea typeface="Calibri"/>
                <a:cs typeface="Calibri"/>
              </a:defRPr>
            </a:lvl4pPr>
            <a:lvl5pPr algn="l">
              <a:defRPr sz="1050" b="0">
                <a:solidFill>
                  <a:srgbClr val="354E57"/>
                </a:solidFill>
                <a:latin typeface="Calibri"/>
                <a:ea typeface="Calibri"/>
                <a:cs typeface="Calibri"/>
              </a:defRPr>
            </a:lvl5pPr>
            <a:lvl6pPr algn="l">
              <a:defRPr sz="1050" b="0">
                <a:solidFill>
                  <a:srgbClr val="354E57"/>
                </a:solidFill>
                <a:latin typeface="Calibri"/>
                <a:ea typeface="Calibri"/>
                <a:cs typeface="Calibri"/>
              </a:defRPr>
            </a:lvl6pPr>
            <a:lvl7pPr algn="l">
              <a:defRPr sz="1050" b="0">
                <a:solidFill>
                  <a:srgbClr val="354E57"/>
                </a:solidFill>
                <a:latin typeface="Calibri"/>
                <a:ea typeface="Calibri"/>
                <a:cs typeface="Calibri"/>
              </a:defRPr>
            </a:lvl7pPr>
            <a:lvl8pPr algn="l">
              <a:defRPr sz="1050" b="0">
                <a:solidFill>
                  <a:srgbClr val="354E57"/>
                </a:solidFill>
                <a:latin typeface="Calibri"/>
                <a:ea typeface="Calibri"/>
                <a:cs typeface="Calibri"/>
              </a:defRPr>
            </a:lvl8pPr>
            <a:lvl9pPr algn="l">
              <a:defRPr sz="1050" b="0">
                <a:solidFill>
                  <a:srgbClr val="354E57"/>
                </a:solidFill>
                <a:latin typeface="Calibri"/>
                <a:ea typeface="Calibri"/>
                <a:cs typeface="Calibri"/>
              </a:defRPr>
            </a:lvl9pPr>
          </a:lstStyle>
          <a:p xmlns:a="http://schemas.openxmlformats.org/drawingml/2006/main">
            <a:pPr algn="l">
              <a:defRPr sz="1050" b="0">
                <a:solidFill>
                  <a:srgbClr val="354E57"/>
                </a:solidFill>
                <a:latin typeface="Calibri"/>
                <a:ea typeface="Calibri"/>
                <a:cs typeface="Calibri"/>
              </a:defRPr>
            </a:pPr>
            <a:r>
              <a:rPr sz="1050" b="0">
                <a:solidFill>
                  <a:srgbClr val="354E57"/>
                </a:solidFill>
                <a:latin typeface="Calibri"/>
                <a:ea typeface="Calibri"/>
                <a:cs typeface="Calibri"/>
              </a:rPr>
              <a:t>Python · FastAPI</a:t>
            </a:r>
          </a:p>
          <a:p xmlns:a="http://schemas.openxmlformats.org/drawingml/2006/main">
            <a:pPr algn="l">
              <a:defRPr sz="1050" b="0">
                <a:solidFill>
                  <a:srgbClr val="354E57"/>
                </a:solidFill>
                <a:latin typeface="Calibri"/>
                <a:ea typeface="Calibri"/>
                <a:cs typeface="Calibri"/>
              </a:defRPr>
            </a:pPr>
            <a:r>
              <a:rPr sz="1050" b="0">
                <a:solidFill>
                  <a:srgbClr val="354E57"/>
                </a:solidFill>
                <a:latin typeface="Calibri"/>
                <a:ea typeface="Calibri"/>
                <a:cs typeface="Calibri"/>
              </a:rPr>
              <a:t>Pydantic schemas</a:t>
            </a:r>
          </a:p>
          <a:p xmlns:a="http://schemas.openxmlformats.org/drawingml/2006/main">
            <a:pPr algn="l">
              <a:defRPr sz="1050" b="0">
                <a:solidFill>
                  <a:srgbClr val="354E57"/>
                </a:solidFill>
                <a:latin typeface="Calibri"/>
                <a:ea typeface="Calibri"/>
                <a:cs typeface="Calibri"/>
              </a:defRPr>
            </a:pPr>
            <a:r>
              <a:rPr sz="1050" b="0">
                <a:solidFill>
                  <a:srgbClr val="354E57"/>
                </a:solidFill>
                <a:latin typeface="Calibri"/>
                <a:ea typeface="Calibri"/>
                <a:cs typeface="Calibri"/>
              </a:rPr>
              <a:t>Coordinates assessment workflow</a:t>
            </a:r>
          </a:p>
        </p:txBody>
      </p:sp>
      <p:sp>
        <p:nvSpPr>
          <p:cNvPr id="11" name="Data heading">
            <a:extLst xmlns:a="http://schemas.openxmlformats.org/drawingml/2006/main">
              <a:ext uri="{FF2B5EF4-FFF2-40B4-BE49-F238E27FC236}">
                <a16:creationId xmlns:a16="http://schemas.microsoft.com/office/drawing/2014/main" id="{D83B24F0-F61D-4482-BD14-4C2C6A655F70}"/>
              </a:ext>
            </a:extLst>
          </p:cNvPr>
          <p:cNvSpPr>
            <a:spLocks xmlns:a="http://schemas.openxmlformats.org/drawingml/2006/main" noGrp="1"/>
          </p:cNvSpPr>
          <p:nvPr/>
        </p:nvSpPr>
        <p:spPr>
          <a:xfrm xmlns:a="http://schemas.openxmlformats.org/drawingml/2006/main">
            <a:off x="5572125" y="20383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13" b="1">
                <a:solidFill>
                  <a:srgbClr val="0E7772"/>
                </a:solidFill>
                <a:latin typeface="Calibri"/>
                <a:ea typeface="Calibri"/>
                <a:cs typeface="Calibri"/>
              </a:defRPr>
            </a:defPPr>
            <a:lvl1pPr algn="l">
              <a:defRPr sz="1013" b="1">
                <a:solidFill>
                  <a:srgbClr val="0E7772"/>
                </a:solidFill>
                <a:latin typeface="Calibri"/>
                <a:ea typeface="Calibri"/>
                <a:cs typeface="Calibri"/>
              </a:defRPr>
            </a:lvl1pPr>
            <a:lvl2pPr algn="l">
              <a:defRPr sz="1013" b="1">
                <a:solidFill>
                  <a:srgbClr val="0E7772"/>
                </a:solidFill>
                <a:latin typeface="Calibri"/>
                <a:ea typeface="Calibri"/>
                <a:cs typeface="Calibri"/>
              </a:defRPr>
            </a:lvl2pPr>
            <a:lvl3pPr algn="l">
              <a:defRPr sz="1013" b="1">
                <a:solidFill>
                  <a:srgbClr val="0E7772"/>
                </a:solidFill>
                <a:latin typeface="Calibri"/>
                <a:ea typeface="Calibri"/>
                <a:cs typeface="Calibri"/>
              </a:defRPr>
            </a:lvl3pPr>
            <a:lvl4pPr algn="l">
              <a:defRPr sz="1013" b="1">
                <a:solidFill>
                  <a:srgbClr val="0E7772"/>
                </a:solidFill>
                <a:latin typeface="Calibri"/>
                <a:ea typeface="Calibri"/>
                <a:cs typeface="Calibri"/>
              </a:defRPr>
            </a:lvl4pPr>
            <a:lvl5pPr algn="l">
              <a:defRPr sz="1013" b="1">
                <a:solidFill>
                  <a:srgbClr val="0E7772"/>
                </a:solidFill>
                <a:latin typeface="Calibri"/>
                <a:ea typeface="Calibri"/>
                <a:cs typeface="Calibri"/>
              </a:defRPr>
            </a:lvl5pPr>
            <a:lvl6pPr algn="l">
              <a:defRPr sz="1013" b="1">
                <a:solidFill>
                  <a:srgbClr val="0E7772"/>
                </a:solidFill>
                <a:latin typeface="Calibri"/>
                <a:ea typeface="Calibri"/>
                <a:cs typeface="Calibri"/>
              </a:defRPr>
            </a:lvl6pPr>
            <a:lvl7pPr algn="l">
              <a:defRPr sz="1013" b="1">
                <a:solidFill>
                  <a:srgbClr val="0E7772"/>
                </a:solidFill>
                <a:latin typeface="Calibri"/>
                <a:ea typeface="Calibri"/>
                <a:cs typeface="Calibri"/>
              </a:defRPr>
            </a:lvl7pPr>
            <a:lvl8pPr algn="l">
              <a:defRPr sz="1013" b="1">
                <a:solidFill>
                  <a:srgbClr val="0E7772"/>
                </a:solidFill>
                <a:latin typeface="Calibri"/>
                <a:ea typeface="Calibri"/>
                <a:cs typeface="Calibri"/>
              </a:defRPr>
            </a:lvl8pPr>
            <a:lvl9pPr algn="l">
              <a:defRPr sz="1013" b="1">
                <a:solidFill>
                  <a:srgbClr val="0E7772"/>
                </a:solidFill>
                <a:latin typeface="Calibri"/>
                <a:ea typeface="Calibri"/>
                <a:cs typeface="Calibri"/>
              </a:defRPr>
            </a:lvl9pPr>
          </a:lstStyle>
          <a:p xmlns:a="http://schemas.openxmlformats.org/drawingml/2006/main">
            <a:pPr algn="l">
              <a:defRPr sz="1013" b="1">
                <a:solidFill>
                  <a:srgbClr val="0E7772"/>
                </a:solidFill>
                <a:latin typeface="Calibri"/>
                <a:ea typeface="Calibri"/>
                <a:cs typeface="Calibri"/>
              </a:defRPr>
            </a:pPr>
            <a:r>
              <a:rPr sz="1013" b="1">
                <a:solidFill>
                  <a:srgbClr val="0E7772"/>
                </a:solidFill>
                <a:latin typeface="Calibri"/>
                <a:ea typeface="Calibri"/>
                <a:cs typeface="Calibri"/>
              </a:rPr>
              <a:t>DATA + ANALYTICS</a:t>
            </a:r>
          </a:p>
        </p:txBody>
      </p:sp>
      <p:sp>
        <p:nvSpPr>
          <p:cNvPr id="12" name="Data stack">
            <a:extLst xmlns:a="http://schemas.openxmlformats.org/drawingml/2006/main">
              <a:ext uri="{FF2B5EF4-FFF2-40B4-BE49-F238E27FC236}">
                <a16:creationId xmlns:a16="http://schemas.microsoft.com/office/drawing/2014/main" id="{9683E466-7FEB-4782-9200-A38B16CB38BC}"/>
              </a:ext>
            </a:extLst>
          </p:cNvPr>
          <p:cNvSpPr>
            <a:spLocks xmlns:a="http://schemas.openxmlformats.org/drawingml/2006/main" noGrp="1"/>
          </p:cNvSpPr>
          <p:nvPr/>
        </p:nvSpPr>
        <p:spPr>
          <a:xfrm xmlns:a="http://schemas.openxmlformats.org/drawingml/2006/main">
            <a:off x="5572125" y="2343150"/>
            <a:ext cx="1314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354E57"/>
                </a:solidFill>
                <a:latin typeface="Calibri"/>
                <a:ea typeface="Calibri"/>
                <a:cs typeface="Calibri"/>
              </a:defRPr>
            </a:defPPr>
            <a:lvl1pPr algn="l">
              <a:defRPr sz="975" b="0">
                <a:solidFill>
                  <a:srgbClr val="354E57"/>
                </a:solidFill>
                <a:latin typeface="Calibri"/>
                <a:ea typeface="Calibri"/>
                <a:cs typeface="Calibri"/>
              </a:defRPr>
            </a:lvl1pPr>
            <a:lvl2pPr algn="l">
              <a:defRPr sz="975" b="0">
                <a:solidFill>
                  <a:srgbClr val="354E57"/>
                </a:solidFill>
                <a:latin typeface="Calibri"/>
                <a:ea typeface="Calibri"/>
                <a:cs typeface="Calibri"/>
              </a:defRPr>
            </a:lvl2pPr>
            <a:lvl3pPr algn="l">
              <a:defRPr sz="975" b="0">
                <a:solidFill>
                  <a:srgbClr val="354E57"/>
                </a:solidFill>
                <a:latin typeface="Calibri"/>
                <a:ea typeface="Calibri"/>
                <a:cs typeface="Calibri"/>
              </a:defRPr>
            </a:lvl3pPr>
            <a:lvl4pPr algn="l">
              <a:defRPr sz="975" b="0">
                <a:solidFill>
                  <a:srgbClr val="354E57"/>
                </a:solidFill>
                <a:latin typeface="Calibri"/>
                <a:ea typeface="Calibri"/>
                <a:cs typeface="Calibri"/>
              </a:defRPr>
            </a:lvl4pPr>
            <a:lvl5pPr algn="l">
              <a:defRPr sz="975" b="0">
                <a:solidFill>
                  <a:srgbClr val="354E57"/>
                </a:solidFill>
                <a:latin typeface="Calibri"/>
                <a:ea typeface="Calibri"/>
                <a:cs typeface="Calibri"/>
              </a:defRPr>
            </a:lvl5pPr>
            <a:lvl6pPr algn="l">
              <a:defRPr sz="975" b="0">
                <a:solidFill>
                  <a:srgbClr val="354E57"/>
                </a:solidFill>
                <a:latin typeface="Calibri"/>
                <a:ea typeface="Calibri"/>
                <a:cs typeface="Calibri"/>
              </a:defRPr>
            </a:lvl6pPr>
            <a:lvl7pPr algn="l">
              <a:defRPr sz="975" b="0">
                <a:solidFill>
                  <a:srgbClr val="354E57"/>
                </a:solidFill>
                <a:latin typeface="Calibri"/>
                <a:ea typeface="Calibri"/>
                <a:cs typeface="Calibri"/>
              </a:defRPr>
            </a:lvl7pPr>
            <a:lvl8pPr algn="l">
              <a:defRPr sz="975" b="0">
                <a:solidFill>
                  <a:srgbClr val="354E57"/>
                </a:solidFill>
                <a:latin typeface="Calibri"/>
                <a:ea typeface="Calibri"/>
                <a:cs typeface="Calibri"/>
              </a:defRPr>
            </a:lvl8pPr>
            <a:lvl9pPr algn="l">
              <a:defRPr sz="975" b="0">
                <a:solidFill>
                  <a:srgbClr val="354E57"/>
                </a:solidFill>
                <a:latin typeface="Calibri"/>
                <a:ea typeface="Calibri"/>
                <a:cs typeface="Calibri"/>
              </a:defRPr>
            </a:lvl9pPr>
          </a:lstStyle>
          <a:p xmlns:a="http://schemas.openxmlformats.org/drawingml/2006/main">
            <a:pPr algn="l">
              <a:defRPr sz="975" b="0">
                <a:solidFill>
                  <a:srgbClr val="354E57"/>
                </a:solidFill>
                <a:latin typeface="Calibri"/>
                <a:ea typeface="Calibri"/>
                <a:cs typeface="Calibri"/>
              </a:defRPr>
            </a:pPr>
            <a:r>
              <a:rPr sz="975" b="0">
                <a:solidFill>
                  <a:srgbClr val="354E57"/>
                </a:solidFill>
                <a:latin typeface="Calibri"/>
                <a:ea typeface="Calibri"/>
                <a:cs typeface="Calibri"/>
              </a:rPr>
              <a:t>SQLite · sqlite3</a:t>
            </a:r>
          </a:p>
          <a:p xmlns:a="http://schemas.openxmlformats.org/drawingml/2006/main">
            <a:pPr algn="l">
              <a:defRPr sz="975" b="0">
                <a:solidFill>
                  <a:srgbClr val="354E57"/>
                </a:solidFill>
                <a:latin typeface="Calibri"/>
                <a:ea typeface="Calibri"/>
                <a:cs typeface="Calibri"/>
              </a:defRPr>
            </a:pPr>
            <a:r>
              <a:rPr sz="975" b="0">
                <a:solidFill>
                  <a:srgbClr val="354E57"/>
                </a:solidFill>
                <a:latin typeface="Calibri"/>
                <a:ea typeface="Calibri"/>
                <a:cs typeface="Calibri"/>
              </a:rPr>
              <a:t>NumPy · pandas</a:t>
            </a:r>
          </a:p>
          <a:p xmlns:a="http://schemas.openxmlformats.org/drawingml/2006/main">
            <a:pPr algn="l">
              <a:defRPr sz="975" b="0">
                <a:solidFill>
                  <a:srgbClr val="354E57"/>
                </a:solidFill>
                <a:latin typeface="Calibri"/>
                <a:ea typeface="Calibri"/>
                <a:cs typeface="Calibri"/>
              </a:defRPr>
            </a:pPr>
            <a:r>
              <a:rPr sz="975" b="0">
                <a:solidFill>
                  <a:srgbClr val="354E57"/>
                </a:solidFill>
                <a:latin typeface="Calibri"/>
                <a:ea typeface="Calibri"/>
                <a:cs typeface="Calibri"/>
              </a:rPr>
              <a:t>scikit-learn demo model</a:t>
            </a:r>
          </a:p>
          <a:p xmlns:a="http://schemas.openxmlformats.org/drawingml/2006/main">
            <a:pPr algn="l">
              <a:defRPr sz="975" b="0">
                <a:solidFill>
                  <a:srgbClr val="354E57"/>
                </a:solidFill>
                <a:latin typeface="Calibri"/>
                <a:ea typeface="Calibri"/>
                <a:cs typeface="Calibri"/>
              </a:defRPr>
            </a:pPr>
            <a:r>
              <a:rPr sz="975" b="0">
                <a:solidFill>
                  <a:srgbClr val="354E57"/>
                </a:solidFill>
                <a:latin typeface="Calibri"/>
                <a:ea typeface="Calibri"/>
                <a:cs typeface="Calibri"/>
              </a:rPr>
              <a:t>(synthetic labels)</a:t>
            </a:r>
          </a:p>
        </p:txBody>
      </p:sp>
      <p:sp>
        <p:nvSpPr>
          <p:cNvPr id="14" name="REST JSON link label">
            <a:extLst xmlns:a="http://schemas.openxmlformats.org/drawingml/2006/main">
              <a:ext uri="{FF2B5EF4-FFF2-40B4-BE49-F238E27FC236}">
                <a16:creationId xmlns:a16="http://schemas.microsoft.com/office/drawing/2014/main" id="{1507CF6B-529D-436B-A800-EC3C5818063B}"/>
              </a:ext>
            </a:extLst>
          </p:cNvPr>
          <p:cNvSpPr>
            <a:spLocks xmlns:a="http://schemas.openxmlformats.org/drawingml/2006/main" noGrp="1"/>
          </p:cNvSpPr>
          <p:nvPr/>
        </p:nvSpPr>
        <p:spPr>
          <a:xfrm xmlns:a="http://schemas.openxmlformats.org/drawingml/2006/main">
            <a:off x="2047875" y="2114550"/>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a:solidFill>
                  <a:srgbClr val="0E7772"/>
                </a:solidFill>
                <a:latin typeface="Calibri"/>
                <a:ea typeface="Calibri"/>
                <a:cs typeface="Calibri"/>
              </a:defRPr>
            </a:defPPr>
            <a:lvl1pPr algn="ctr">
              <a:defRPr sz="863" b="1">
                <a:solidFill>
                  <a:srgbClr val="0E7772"/>
                </a:solidFill>
                <a:latin typeface="Calibri"/>
                <a:ea typeface="Calibri"/>
                <a:cs typeface="Calibri"/>
              </a:defRPr>
            </a:lvl1pPr>
            <a:lvl2pPr algn="ctr">
              <a:defRPr sz="863" b="1">
                <a:solidFill>
                  <a:srgbClr val="0E7772"/>
                </a:solidFill>
                <a:latin typeface="Calibri"/>
                <a:ea typeface="Calibri"/>
                <a:cs typeface="Calibri"/>
              </a:defRPr>
            </a:lvl2pPr>
            <a:lvl3pPr algn="ctr">
              <a:defRPr sz="863" b="1">
                <a:solidFill>
                  <a:srgbClr val="0E7772"/>
                </a:solidFill>
                <a:latin typeface="Calibri"/>
                <a:ea typeface="Calibri"/>
                <a:cs typeface="Calibri"/>
              </a:defRPr>
            </a:lvl3pPr>
            <a:lvl4pPr algn="ctr">
              <a:defRPr sz="863" b="1">
                <a:solidFill>
                  <a:srgbClr val="0E7772"/>
                </a:solidFill>
                <a:latin typeface="Calibri"/>
                <a:ea typeface="Calibri"/>
                <a:cs typeface="Calibri"/>
              </a:defRPr>
            </a:lvl4pPr>
            <a:lvl5pPr algn="ctr">
              <a:defRPr sz="863" b="1">
                <a:solidFill>
                  <a:srgbClr val="0E7772"/>
                </a:solidFill>
                <a:latin typeface="Calibri"/>
                <a:ea typeface="Calibri"/>
                <a:cs typeface="Calibri"/>
              </a:defRPr>
            </a:lvl5pPr>
            <a:lvl6pPr algn="ctr">
              <a:defRPr sz="863" b="1">
                <a:solidFill>
                  <a:srgbClr val="0E7772"/>
                </a:solidFill>
                <a:latin typeface="Calibri"/>
                <a:ea typeface="Calibri"/>
                <a:cs typeface="Calibri"/>
              </a:defRPr>
            </a:lvl6pPr>
            <a:lvl7pPr algn="ctr">
              <a:defRPr sz="863" b="1">
                <a:solidFill>
                  <a:srgbClr val="0E7772"/>
                </a:solidFill>
                <a:latin typeface="Calibri"/>
                <a:ea typeface="Calibri"/>
                <a:cs typeface="Calibri"/>
              </a:defRPr>
            </a:lvl7pPr>
            <a:lvl8pPr algn="ctr">
              <a:defRPr sz="863" b="1">
                <a:solidFill>
                  <a:srgbClr val="0E7772"/>
                </a:solidFill>
                <a:latin typeface="Calibri"/>
                <a:ea typeface="Calibri"/>
                <a:cs typeface="Calibri"/>
              </a:defRPr>
            </a:lvl8pPr>
            <a:lvl9pPr algn="ctr">
              <a:defRPr sz="863" b="1">
                <a:solidFill>
                  <a:srgbClr val="0E7772"/>
                </a:solidFill>
                <a:latin typeface="Calibri"/>
                <a:ea typeface="Calibri"/>
                <a:cs typeface="Calibri"/>
              </a:defRPr>
            </a:lvl9pPr>
          </a:lstStyle>
          <a:p xmlns:a="http://schemas.openxmlformats.org/drawingml/2006/main">
            <a:pPr algn="ctr">
              <a:defRPr sz="863" b="1">
                <a:solidFill>
                  <a:srgbClr val="0E7772"/>
                </a:solidFill>
                <a:latin typeface="Calibri"/>
                <a:ea typeface="Calibri"/>
                <a:cs typeface="Calibri"/>
              </a:defRPr>
            </a:pPr>
            <a:r>
              <a:rPr sz="863" b="1">
                <a:solidFill>
                  <a:srgbClr val="0E7772"/>
                </a:solidFill>
                <a:latin typeface="Calibri"/>
                <a:ea typeface="Calibri"/>
                <a:cs typeface="Calibri"/>
              </a:rPr>
              <a:t>REST / JSON</a:t>
            </a:r>
          </a:p>
        </p:txBody>
      </p:sp>
      <p:sp>
        <p:nvSpPr>
          <p:cNvPr id="16" name="SQLite link label">
            <a:extLst xmlns:a="http://schemas.openxmlformats.org/drawingml/2006/main">
              <a:ext uri="{FF2B5EF4-FFF2-40B4-BE49-F238E27FC236}">
                <a16:creationId xmlns:a16="http://schemas.microsoft.com/office/drawing/2014/main" id="{BE96A738-FDC8-46F7-B3BE-3ED85DE135AD}"/>
              </a:ext>
            </a:extLst>
          </p:cNvPr>
          <p:cNvSpPr>
            <a:spLocks xmlns:a="http://schemas.openxmlformats.org/drawingml/2006/main" noGrp="1"/>
          </p:cNvSpPr>
          <p:nvPr/>
        </p:nvSpPr>
        <p:spPr>
          <a:xfrm xmlns:a="http://schemas.openxmlformats.org/drawingml/2006/main">
            <a:off x="4629150" y="2114550"/>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a:solidFill>
                  <a:srgbClr val="0E7772"/>
                </a:solidFill>
                <a:latin typeface="Calibri"/>
                <a:ea typeface="Calibri"/>
                <a:cs typeface="Calibri"/>
              </a:defRPr>
            </a:defPPr>
            <a:lvl1pPr algn="ctr">
              <a:defRPr sz="863" b="1">
                <a:solidFill>
                  <a:srgbClr val="0E7772"/>
                </a:solidFill>
                <a:latin typeface="Calibri"/>
                <a:ea typeface="Calibri"/>
                <a:cs typeface="Calibri"/>
              </a:defRPr>
            </a:lvl1pPr>
            <a:lvl2pPr algn="ctr">
              <a:defRPr sz="863" b="1">
                <a:solidFill>
                  <a:srgbClr val="0E7772"/>
                </a:solidFill>
                <a:latin typeface="Calibri"/>
                <a:ea typeface="Calibri"/>
                <a:cs typeface="Calibri"/>
              </a:defRPr>
            </a:lvl2pPr>
            <a:lvl3pPr algn="ctr">
              <a:defRPr sz="863" b="1">
                <a:solidFill>
                  <a:srgbClr val="0E7772"/>
                </a:solidFill>
                <a:latin typeface="Calibri"/>
                <a:ea typeface="Calibri"/>
                <a:cs typeface="Calibri"/>
              </a:defRPr>
            </a:lvl3pPr>
            <a:lvl4pPr algn="ctr">
              <a:defRPr sz="863" b="1">
                <a:solidFill>
                  <a:srgbClr val="0E7772"/>
                </a:solidFill>
                <a:latin typeface="Calibri"/>
                <a:ea typeface="Calibri"/>
                <a:cs typeface="Calibri"/>
              </a:defRPr>
            </a:lvl4pPr>
            <a:lvl5pPr algn="ctr">
              <a:defRPr sz="863" b="1">
                <a:solidFill>
                  <a:srgbClr val="0E7772"/>
                </a:solidFill>
                <a:latin typeface="Calibri"/>
                <a:ea typeface="Calibri"/>
                <a:cs typeface="Calibri"/>
              </a:defRPr>
            </a:lvl5pPr>
            <a:lvl6pPr algn="ctr">
              <a:defRPr sz="863" b="1">
                <a:solidFill>
                  <a:srgbClr val="0E7772"/>
                </a:solidFill>
                <a:latin typeface="Calibri"/>
                <a:ea typeface="Calibri"/>
                <a:cs typeface="Calibri"/>
              </a:defRPr>
            </a:lvl6pPr>
            <a:lvl7pPr algn="ctr">
              <a:defRPr sz="863" b="1">
                <a:solidFill>
                  <a:srgbClr val="0E7772"/>
                </a:solidFill>
                <a:latin typeface="Calibri"/>
                <a:ea typeface="Calibri"/>
                <a:cs typeface="Calibri"/>
              </a:defRPr>
            </a:lvl7pPr>
            <a:lvl8pPr algn="ctr">
              <a:defRPr sz="863" b="1">
                <a:solidFill>
                  <a:srgbClr val="0E7772"/>
                </a:solidFill>
                <a:latin typeface="Calibri"/>
                <a:ea typeface="Calibri"/>
                <a:cs typeface="Calibri"/>
              </a:defRPr>
            </a:lvl8pPr>
            <a:lvl9pPr algn="ctr">
              <a:defRPr sz="863" b="1">
                <a:solidFill>
                  <a:srgbClr val="0E7772"/>
                </a:solidFill>
                <a:latin typeface="Calibri"/>
                <a:ea typeface="Calibri"/>
                <a:cs typeface="Calibri"/>
              </a:defRPr>
            </a:lvl9pPr>
          </a:lstStyle>
          <a:p xmlns:a="http://schemas.openxmlformats.org/drawingml/2006/main">
            <a:pPr algn="ctr">
              <a:defRPr sz="863" b="1">
                <a:solidFill>
                  <a:srgbClr val="0E7772"/>
                </a:solidFill>
                <a:latin typeface="Calibri"/>
                <a:ea typeface="Calibri"/>
                <a:cs typeface="Calibri"/>
              </a:defRPr>
            </a:pPr>
            <a:r>
              <a:rPr sz="863" b="1">
                <a:solidFill>
                  <a:srgbClr val="0E7772"/>
                </a:solidFill>
                <a:latin typeface="Calibri"/>
                <a:ea typeface="Calibri"/>
                <a:cs typeface="Calibri"/>
              </a:rPr>
              <a:t>read / write</a:t>
            </a:r>
          </a:p>
        </p:txBody>
      </p:sp>
      <p:sp>
        <p:nvSpPr>
          <p:cNvPr id="17" name="Optional Firebase alerts">
            <a:extLst xmlns:a="http://schemas.openxmlformats.org/drawingml/2006/main">
              <a:ext uri="{FF2B5EF4-FFF2-40B4-BE49-F238E27FC236}">
                <a16:creationId xmlns:a16="http://schemas.microsoft.com/office/drawing/2014/main" id="{CC68FB55-B52B-46AC-8DD4-3E188730B679}"/>
              </a:ext>
            </a:extLst>
          </p:cNvPr>
          <p:cNvSpPr>
            <a:spLocks xmlns:a="http://schemas.openxmlformats.org/drawingml/2006/main" noGrp="1"/>
          </p:cNvSpPr>
          <p:nvPr/>
        </p:nvSpPr>
        <p:spPr>
          <a:xfrm xmlns:a="http://schemas.openxmlformats.org/drawingml/2006/main">
            <a:off x="2857500" y="3781425"/>
            <a:ext cx="1752600" cy="571500"/>
          </a:xfrm>
          <a:prstGeom xmlns:a="http://schemas.openxmlformats.org/drawingml/2006/main" prst="roundRect">
            <a:avLst>
              <a:gd name="adj" fmla="val 10000"/>
            </a:avLst>
          </a:prstGeom>
          <a:solidFill xmlns:a="http://schemas.openxmlformats.org/drawingml/2006/main">
            <a:srgbClr val="EAF4F2"/>
          </a:solidFill>
          <a:ln xmlns:a="http://schemas.openxmlformats.org/drawingml/2006/main" w="11430">
            <a:solidFill>
              <a:srgbClr val="B8D9D4"/>
            </a:solidFill>
            <a:prstDash val="solid"/>
          </a:ln>
        </p:spPr>
      </p:sp>
      <p:sp>
        <p:nvSpPr>
          <p:cNvPr id="19" name="Firebase alerts label">
            <a:extLst xmlns:a="http://schemas.openxmlformats.org/drawingml/2006/main">
              <a:ext uri="{FF2B5EF4-FFF2-40B4-BE49-F238E27FC236}">
                <a16:creationId xmlns:a16="http://schemas.microsoft.com/office/drawing/2014/main" id="{F85E1854-EE9D-4C00-84BF-A865AD3BAC52}"/>
              </a:ext>
            </a:extLst>
          </p:cNvPr>
          <p:cNvSpPr>
            <a:spLocks xmlns:a="http://schemas.openxmlformats.org/drawingml/2006/main" noGrp="1"/>
          </p:cNvSpPr>
          <p:nvPr/>
        </p:nvSpPr>
        <p:spPr>
          <a:xfrm xmlns:a="http://schemas.openxmlformats.org/drawingml/2006/main">
            <a:off x="3000375" y="3857625"/>
            <a:ext cx="1476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E85C3B"/>
                </a:solidFill>
                <a:latin typeface="Calibri"/>
                <a:ea typeface="Calibri"/>
                <a:cs typeface="Calibri"/>
              </a:defRPr>
            </a:defPPr>
            <a:lvl1pPr algn="l">
              <a:defRPr sz="900" b="1">
                <a:solidFill>
                  <a:srgbClr val="E85C3B"/>
                </a:solidFill>
                <a:latin typeface="Calibri"/>
                <a:ea typeface="Calibri"/>
                <a:cs typeface="Calibri"/>
              </a:defRPr>
            </a:lvl1pPr>
            <a:lvl2pPr algn="l">
              <a:defRPr sz="900" b="1">
                <a:solidFill>
                  <a:srgbClr val="E85C3B"/>
                </a:solidFill>
                <a:latin typeface="Calibri"/>
                <a:ea typeface="Calibri"/>
                <a:cs typeface="Calibri"/>
              </a:defRPr>
            </a:lvl2pPr>
            <a:lvl3pPr algn="l">
              <a:defRPr sz="900" b="1">
                <a:solidFill>
                  <a:srgbClr val="E85C3B"/>
                </a:solidFill>
                <a:latin typeface="Calibri"/>
                <a:ea typeface="Calibri"/>
                <a:cs typeface="Calibri"/>
              </a:defRPr>
            </a:lvl3pPr>
            <a:lvl4pPr algn="l">
              <a:defRPr sz="900" b="1">
                <a:solidFill>
                  <a:srgbClr val="E85C3B"/>
                </a:solidFill>
                <a:latin typeface="Calibri"/>
                <a:ea typeface="Calibri"/>
                <a:cs typeface="Calibri"/>
              </a:defRPr>
            </a:lvl4pPr>
            <a:lvl5pPr algn="l">
              <a:defRPr sz="900" b="1">
                <a:solidFill>
                  <a:srgbClr val="E85C3B"/>
                </a:solidFill>
                <a:latin typeface="Calibri"/>
                <a:ea typeface="Calibri"/>
                <a:cs typeface="Calibri"/>
              </a:defRPr>
            </a:lvl5pPr>
            <a:lvl6pPr algn="l">
              <a:defRPr sz="900" b="1">
                <a:solidFill>
                  <a:srgbClr val="E85C3B"/>
                </a:solidFill>
                <a:latin typeface="Calibri"/>
                <a:ea typeface="Calibri"/>
                <a:cs typeface="Calibri"/>
              </a:defRPr>
            </a:lvl6pPr>
            <a:lvl7pPr algn="l">
              <a:defRPr sz="900" b="1">
                <a:solidFill>
                  <a:srgbClr val="E85C3B"/>
                </a:solidFill>
                <a:latin typeface="Calibri"/>
                <a:ea typeface="Calibri"/>
                <a:cs typeface="Calibri"/>
              </a:defRPr>
            </a:lvl7pPr>
            <a:lvl8pPr algn="l">
              <a:defRPr sz="900" b="1">
                <a:solidFill>
                  <a:srgbClr val="E85C3B"/>
                </a:solidFill>
                <a:latin typeface="Calibri"/>
                <a:ea typeface="Calibri"/>
                <a:cs typeface="Calibri"/>
              </a:defRPr>
            </a:lvl8pPr>
            <a:lvl9pPr algn="l">
              <a:defRPr sz="900" b="1">
                <a:solidFill>
                  <a:srgbClr val="E85C3B"/>
                </a:solidFill>
                <a:latin typeface="Calibri"/>
                <a:ea typeface="Calibri"/>
                <a:cs typeface="Calibri"/>
              </a:defRPr>
            </a:lvl9pPr>
          </a:lstStyle>
          <a:p xmlns:a="http://schemas.openxmlformats.org/drawingml/2006/main">
            <a:pPr algn="l">
              <a:defRPr sz="900" b="1">
                <a:solidFill>
                  <a:srgbClr val="E85C3B"/>
                </a:solidFill>
                <a:latin typeface="Calibri"/>
                <a:ea typeface="Calibri"/>
                <a:cs typeface="Calibri"/>
              </a:defRPr>
            </a:pPr>
            <a:r>
              <a:rPr sz="900" b="1">
                <a:solidFill>
                  <a:srgbClr val="E85C3B"/>
                </a:solidFill>
                <a:latin typeface="Calibri"/>
                <a:ea typeface="Calibri"/>
                <a:cs typeface="Calibri"/>
              </a:rPr>
              <a:t>OPTIONAL ALERTS</a:t>
            </a:r>
          </a:p>
        </p:txBody>
      </p:sp>
      <p:sp>
        <p:nvSpPr>
          <p:cNvPr id="20" name="Firebase alerts detail">
            <a:extLst xmlns:a="http://schemas.openxmlformats.org/drawingml/2006/main">
              <a:ext uri="{FF2B5EF4-FFF2-40B4-BE49-F238E27FC236}">
                <a16:creationId xmlns:a16="http://schemas.microsoft.com/office/drawing/2014/main" id="{6911B369-C773-4992-9962-67D14E40DA3D}"/>
              </a:ext>
            </a:extLst>
          </p:cNvPr>
          <p:cNvSpPr>
            <a:spLocks xmlns:a="http://schemas.openxmlformats.org/drawingml/2006/main" noGrp="1"/>
          </p:cNvSpPr>
          <p:nvPr/>
        </p:nvSpPr>
        <p:spPr>
          <a:xfrm xmlns:a="http://schemas.openxmlformats.org/drawingml/2006/main">
            <a:off x="3000375" y="40481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148"/>
          </a:bodyPr>
          <a:lstStyle xmlns:a="http://schemas.openxmlformats.org/drawingml/2006/main">
            <a:defPPr algn="l">
              <a:defRPr sz="863" b="0">
                <a:solidFill>
                  <a:srgbClr val="354E57"/>
                </a:solidFill>
                <a:latin typeface="Calibri"/>
                <a:ea typeface="Calibri"/>
                <a:cs typeface="Calibri"/>
              </a:defRPr>
            </a:defPPr>
            <a:lvl1pPr algn="l">
              <a:defRPr sz="863" b="0">
                <a:solidFill>
                  <a:srgbClr val="354E57"/>
                </a:solidFill>
                <a:latin typeface="Calibri"/>
                <a:ea typeface="Calibri"/>
                <a:cs typeface="Calibri"/>
              </a:defRPr>
            </a:lvl1pPr>
            <a:lvl2pPr algn="l">
              <a:defRPr sz="863" b="0">
                <a:solidFill>
                  <a:srgbClr val="354E57"/>
                </a:solidFill>
                <a:latin typeface="Calibri"/>
                <a:ea typeface="Calibri"/>
                <a:cs typeface="Calibri"/>
              </a:defRPr>
            </a:lvl2pPr>
            <a:lvl3pPr algn="l">
              <a:defRPr sz="863" b="0">
                <a:solidFill>
                  <a:srgbClr val="354E57"/>
                </a:solidFill>
                <a:latin typeface="Calibri"/>
                <a:ea typeface="Calibri"/>
                <a:cs typeface="Calibri"/>
              </a:defRPr>
            </a:lvl3pPr>
            <a:lvl4pPr algn="l">
              <a:defRPr sz="863" b="0">
                <a:solidFill>
                  <a:srgbClr val="354E57"/>
                </a:solidFill>
                <a:latin typeface="Calibri"/>
                <a:ea typeface="Calibri"/>
                <a:cs typeface="Calibri"/>
              </a:defRPr>
            </a:lvl4pPr>
            <a:lvl5pPr algn="l">
              <a:defRPr sz="863" b="0">
                <a:solidFill>
                  <a:srgbClr val="354E57"/>
                </a:solidFill>
                <a:latin typeface="Calibri"/>
                <a:ea typeface="Calibri"/>
                <a:cs typeface="Calibri"/>
              </a:defRPr>
            </a:lvl5pPr>
            <a:lvl6pPr algn="l">
              <a:defRPr sz="863" b="0">
                <a:solidFill>
                  <a:srgbClr val="354E57"/>
                </a:solidFill>
                <a:latin typeface="Calibri"/>
                <a:ea typeface="Calibri"/>
                <a:cs typeface="Calibri"/>
              </a:defRPr>
            </a:lvl6pPr>
            <a:lvl7pPr algn="l">
              <a:defRPr sz="863" b="0">
                <a:solidFill>
                  <a:srgbClr val="354E57"/>
                </a:solidFill>
                <a:latin typeface="Calibri"/>
                <a:ea typeface="Calibri"/>
                <a:cs typeface="Calibri"/>
              </a:defRPr>
            </a:lvl7pPr>
            <a:lvl8pPr algn="l">
              <a:defRPr sz="863" b="0">
                <a:solidFill>
                  <a:srgbClr val="354E57"/>
                </a:solidFill>
                <a:latin typeface="Calibri"/>
                <a:ea typeface="Calibri"/>
                <a:cs typeface="Calibri"/>
              </a:defRPr>
            </a:lvl8pPr>
            <a:lvl9pPr algn="l">
              <a:defRPr sz="863" b="0">
                <a:solidFill>
                  <a:srgbClr val="354E57"/>
                </a:solidFill>
                <a:latin typeface="Calibri"/>
                <a:ea typeface="Calibri"/>
                <a:cs typeface="Calibri"/>
              </a:defRPr>
            </a:lvl9pPr>
          </a:lstStyle>
          <a:p xmlns:a="http://schemas.openxmlformats.org/drawingml/2006/main">
            <a:pPr algn="l">
              <a:defRPr sz="863" b="0">
                <a:solidFill>
                  <a:srgbClr val="354E57"/>
                </a:solidFill>
                <a:latin typeface="Calibri"/>
                <a:ea typeface="Calibri"/>
                <a:cs typeface="Calibri"/>
              </a:defRPr>
            </a:pPr>
            <a:r>
              <a:rPr sz="863" b="0">
                <a:solidFill>
                  <a:srgbClr val="354E57"/>
                </a:solidFill>
                <a:latin typeface="Calibri"/>
                <a:ea typeface="Calibri"/>
                <a:cs typeface="Calibri"/>
              </a:rPr>
              <a:t>Firebase Admin + Cloud Messaging</a:t>
            </a:r>
          </a:p>
          <a:p xmlns:a="http://schemas.openxmlformats.org/drawingml/2006/main">
            <a:pPr algn="l">
              <a:defRPr sz="863" b="0">
                <a:solidFill>
                  <a:srgbClr val="354E57"/>
                </a:solidFill>
                <a:latin typeface="Calibri"/>
                <a:ea typeface="Calibri"/>
                <a:cs typeface="Calibri"/>
              </a:defRPr>
            </a:pPr>
            <a:r>
              <a:rPr sz="863" b="0">
                <a:solidFill>
                  <a:srgbClr val="354E57"/>
                </a:solidFill>
                <a:latin typeface="Calibri"/>
                <a:ea typeface="Calibri"/>
                <a:cs typeface="Calibri"/>
              </a:rPr>
              <a:t>when configured</a:t>
            </a:r>
          </a:p>
        </p:txBody>
      </p:sp>
      <p:sp>
        <p:nvSpPr>
          <p:cNvPr id="21" name="Prototype safety note">
            <a:extLst xmlns:a="http://schemas.openxmlformats.org/drawingml/2006/main">
              <a:ext uri="{FF2B5EF4-FFF2-40B4-BE49-F238E27FC236}">
                <a16:creationId xmlns:a16="http://schemas.microsoft.com/office/drawing/2014/main" id="{FA68C851-D1D0-4C28-9B75-4A8D6CDC946B}"/>
              </a:ext>
            </a:extLst>
          </p:cNvPr>
          <p:cNvSpPr>
            <a:spLocks xmlns:a="http://schemas.openxmlformats.org/drawingml/2006/main" noGrp="1"/>
          </p:cNvSpPr>
          <p:nvPr/>
        </p:nvSpPr>
        <p:spPr>
          <a:xfrm xmlns:a="http://schemas.openxmlformats.org/drawingml/2006/main">
            <a:off x="1238250" y="4581525"/>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60777E"/>
                </a:solidFill>
                <a:latin typeface="Calibri"/>
                <a:ea typeface="Calibri"/>
                <a:cs typeface="Calibri"/>
              </a:defRPr>
            </a:defPPr>
            <a:lvl1pPr algn="ctr">
              <a:defRPr sz="975" b="0">
                <a:solidFill>
                  <a:srgbClr val="60777E"/>
                </a:solidFill>
                <a:latin typeface="Calibri"/>
                <a:ea typeface="Calibri"/>
                <a:cs typeface="Calibri"/>
              </a:defRPr>
            </a:lvl1pPr>
            <a:lvl2pPr algn="ctr">
              <a:defRPr sz="975" b="0">
                <a:solidFill>
                  <a:srgbClr val="60777E"/>
                </a:solidFill>
                <a:latin typeface="Calibri"/>
                <a:ea typeface="Calibri"/>
                <a:cs typeface="Calibri"/>
              </a:defRPr>
            </a:lvl2pPr>
            <a:lvl3pPr algn="ctr">
              <a:defRPr sz="975" b="0">
                <a:solidFill>
                  <a:srgbClr val="60777E"/>
                </a:solidFill>
                <a:latin typeface="Calibri"/>
                <a:ea typeface="Calibri"/>
                <a:cs typeface="Calibri"/>
              </a:defRPr>
            </a:lvl3pPr>
            <a:lvl4pPr algn="ctr">
              <a:defRPr sz="975" b="0">
                <a:solidFill>
                  <a:srgbClr val="60777E"/>
                </a:solidFill>
                <a:latin typeface="Calibri"/>
                <a:ea typeface="Calibri"/>
                <a:cs typeface="Calibri"/>
              </a:defRPr>
            </a:lvl4pPr>
            <a:lvl5pPr algn="ctr">
              <a:defRPr sz="975" b="0">
                <a:solidFill>
                  <a:srgbClr val="60777E"/>
                </a:solidFill>
                <a:latin typeface="Calibri"/>
                <a:ea typeface="Calibri"/>
                <a:cs typeface="Calibri"/>
              </a:defRPr>
            </a:lvl5pPr>
            <a:lvl6pPr algn="ctr">
              <a:defRPr sz="975" b="0">
                <a:solidFill>
                  <a:srgbClr val="60777E"/>
                </a:solidFill>
                <a:latin typeface="Calibri"/>
                <a:ea typeface="Calibri"/>
                <a:cs typeface="Calibri"/>
              </a:defRPr>
            </a:lvl6pPr>
            <a:lvl7pPr algn="ctr">
              <a:defRPr sz="975" b="0">
                <a:solidFill>
                  <a:srgbClr val="60777E"/>
                </a:solidFill>
                <a:latin typeface="Calibri"/>
                <a:ea typeface="Calibri"/>
                <a:cs typeface="Calibri"/>
              </a:defRPr>
            </a:lvl7pPr>
            <a:lvl8pPr algn="ctr">
              <a:defRPr sz="975" b="0">
                <a:solidFill>
                  <a:srgbClr val="60777E"/>
                </a:solidFill>
                <a:latin typeface="Calibri"/>
                <a:ea typeface="Calibri"/>
                <a:cs typeface="Calibri"/>
              </a:defRPr>
            </a:lvl8pPr>
            <a:lvl9pPr algn="ctr">
              <a:defRPr sz="975" b="0">
                <a:solidFill>
                  <a:srgbClr val="60777E"/>
                </a:solidFill>
                <a:latin typeface="Calibri"/>
                <a:ea typeface="Calibri"/>
                <a:cs typeface="Calibri"/>
              </a:defRPr>
            </a:lvl9pPr>
          </a:lstStyle>
          <a:p xmlns:a="http://schemas.openxmlformats.org/drawingml/2006/main">
            <a:pPr algn="ctr">
              <a:defRPr sz="975" b="0">
                <a:solidFill>
                  <a:srgbClr val="60777E"/>
                </a:solidFill>
                <a:latin typeface="Calibri"/>
                <a:ea typeface="Calibri"/>
                <a:cs typeface="Calibri"/>
              </a:defRPr>
            </a:pPr>
            <a:r>
              <a:rPr sz="975" b="0">
                <a:solidFill>
                  <a:srgbClr val="60777E"/>
                </a:solidFill>
                <a:latin typeface="Calibri"/>
                <a:ea typeface="Calibri"/>
                <a:cs typeface="Calibri"/>
              </a:rPr>
              <a:t>Synthetic-data prototype · demo classifier only · not for diagnosis</a:t>
            </a:r>
          </a:p>
        </p:txBody>
      </p:sp>
      <p:sp>
        <p:nvSpPr>
          <p:cNvPr id="22" name="footer rule">
            <a:extLst xmlns:a="http://schemas.openxmlformats.org/drawingml/2006/main">
              <a:ext uri="{FF2B5EF4-FFF2-40B4-BE49-F238E27FC236}">
                <a16:creationId xmlns:a16="http://schemas.microsoft.com/office/drawing/2014/main" id="{EAB81698-3BF9-49E8-8CC2-D701587AA0E1}"/>
              </a:ext>
            </a:extLst>
          </p:cNvPr>
          <p:cNvSpPr>
            <a:spLocks xmlns:a="http://schemas.openxmlformats.org/drawingml/2006/main" noGrp="1"/>
          </p:cNvSpPr>
          <p:nvPr/>
        </p:nvSpPr>
        <p:spPr>
          <a:xfrm xmlns:a="http://schemas.openxmlformats.org/drawingml/2006/main">
            <a:off x="457200" y="5010150"/>
            <a:ext cx="6553200" cy="0"/>
          </a:xfrm>
          <a:prstGeom xmlns:a="http://schemas.openxmlformats.org/drawingml/2006/main" prst="line">
            <a:avLst/>
          </a:prstGeom>
          <a:noFill xmlns:a="http://schemas.openxmlformats.org/drawingml/2006/main"/>
          <a:ln xmlns:a="http://schemas.openxmlformats.org/drawingml/2006/main" w="9525">
            <a:solidFill>
              <a:srgbClr val="D7E8E5"/>
            </a:solidFill>
            <a:prstDash val="solid"/>
          </a:ln>
        </p:spPr>
      </p:sp>
      <p:sp>
        <p:nvSpPr>
          <p:cNvPr id="23" name="Deck footer">
            <a:extLst xmlns:a="http://schemas.openxmlformats.org/drawingml/2006/main">
              <a:ext uri="{FF2B5EF4-FFF2-40B4-BE49-F238E27FC236}">
                <a16:creationId xmlns:a16="http://schemas.microsoft.com/office/drawing/2014/main" id="{C629C679-496B-4F03-A1B4-4334708058F5}"/>
              </a:ext>
            </a:extLst>
          </p:cNvPr>
          <p:cNvSpPr>
            <a:spLocks xmlns:a="http://schemas.openxmlformats.org/drawingml/2006/main" noGrp="1"/>
          </p:cNvSpPr>
          <p:nvPr/>
        </p:nvSpPr>
        <p:spPr>
          <a:xfrm xmlns:a="http://schemas.openxmlformats.org/drawingml/2006/main">
            <a:off x="457200" y="50958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75" b="1">
                <a:solidFill>
                  <a:srgbClr val="0E7772"/>
                </a:solidFill>
                <a:latin typeface="Calibri"/>
                <a:ea typeface="Calibri"/>
                <a:cs typeface="Calibri"/>
              </a:defRPr>
            </a:defPPr>
            <a:lvl1pPr algn="l">
              <a:defRPr sz="675" b="1">
                <a:solidFill>
                  <a:srgbClr val="0E7772"/>
                </a:solidFill>
                <a:latin typeface="Calibri"/>
                <a:ea typeface="Calibri"/>
                <a:cs typeface="Calibri"/>
              </a:defRPr>
            </a:lvl1pPr>
            <a:lvl2pPr algn="l">
              <a:defRPr sz="675" b="1">
                <a:solidFill>
                  <a:srgbClr val="0E7772"/>
                </a:solidFill>
                <a:latin typeface="Calibri"/>
                <a:ea typeface="Calibri"/>
                <a:cs typeface="Calibri"/>
              </a:defRPr>
            </a:lvl2pPr>
            <a:lvl3pPr algn="l">
              <a:defRPr sz="675" b="1">
                <a:solidFill>
                  <a:srgbClr val="0E7772"/>
                </a:solidFill>
                <a:latin typeface="Calibri"/>
                <a:ea typeface="Calibri"/>
                <a:cs typeface="Calibri"/>
              </a:defRPr>
            </a:lvl3pPr>
            <a:lvl4pPr algn="l">
              <a:defRPr sz="675" b="1">
                <a:solidFill>
                  <a:srgbClr val="0E7772"/>
                </a:solidFill>
                <a:latin typeface="Calibri"/>
                <a:ea typeface="Calibri"/>
                <a:cs typeface="Calibri"/>
              </a:defRPr>
            </a:lvl4pPr>
            <a:lvl5pPr algn="l">
              <a:defRPr sz="675" b="1">
                <a:solidFill>
                  <a:srgbClr val="0E7772"/>
                </a:solidFill>
                <a:latin typeface="Calibri"/>
                <a:ea typeface="Calibri"/>
                <a:cs typeface="Calibri"/>
              </a:defRPr>
            </a:lvl5pPr>
            <a:lvl6pPr algn="l">
              <a:defRPr sz="675" b="1">
                <a:solidFill>
                  <a:srgbClr val="0E7772"/>
                </a:solidFill>
                <a:latin typeface="Calibri"/>
                <a:ea typeface="Calibri"/>
                <a:cs typeface="Calibri"/>
              </a:defRPr>
            </a:lvl6pPr>
            <a:lvl7pPr algn="l">
              <a:defRPr sz="675" b="1">
                <a:solidFill>
                  <a:srgbClr val="0E7772"/>
                </a:solidFill>
                <a:latin typeface="Calibri"/>
                <a:ea typeface="Calibri"/>
                <a:cs typeface="Calibri"/>
              </a:defRPr>
            </a:lvl7pPr>
            <a:lvl8pPr algn="l">
              <a:defRPr sz="675" b="1">
                <a:solidFill>
                  <a:srgbClr val="0E7772"/>
                </a:solidFill>
                <a:latin typeface="Calibri"/>
                <a:ea typeface="Calibri"/>
                <a:cs typeface="Calibri"/>
              </a:defRPr>
            </a:lvl8pPr>
            <a:lvl9pPr algn="l">
              <a:defRPr sz="675" b="1">
                <a:solidFill>
                  <a:srgbClr val="0E7772"/>
                </a:solidFill>
                <a:latin typeface="Calibri"/>
                <a:ea typeface="Calibri"/>
                <a:cs typeface="Calibri"/>
              </a:defRPr>
            </a:lvl9pPr>
          </a:lstStyle>
          <a:p xmlns:a="http://schemas.openxmlformats.org/drawingml/2006/main">
            <a:pPr algn="l">
              <a:defRPr sz="675" b="1">
                <a:solidFill>
                  <a:srgbClr val="0E7772"/>
                </a:solidFill>
                <a:latin typeface="Calibri"/>
                <a:ea typeface="Calibri"/>
                <a:cs typeface="Calibri"/>
              </a:defRPr>
            </a:pPr>
            <a:r>
              <a:rPr sz="675" b="1">
                <a:solidFill>
                  <a:srgbClr val="0E7772"/>
                </a:solidFill>
                <a:latin typeface="Calibri"/>
                <a:ea typeface="Calibri"/>
                <a:cs typeface="Calibri"/>
              </a:rPr>
              <a:t>SADHYA  ·  CARDIOTWIN</a:t>
            </a:r>
          </a:p>
        </p:txBody>
      </p:sp>
      <p:sp>
        <p:nvSpPr>
          <p:cNvPr id="24" name="Page number">
            <a:extLst xmlns:a="http://schemas.openxmlformats.org/drawingml/2006/main">
              <a:ext uri="{FF2B5EF4-FFF2-40B4-BE49-F238E27FC236}">
                <a16:creationId xmlns:a16="http://schemas.microsoft.com/office/drawing/2014/main" id="{D9653D62-EE74-4B8F-A711-FD99CE86A567}"/>
              </a:ext>
            </a:extLst>
          </p:cNvPr>
          <p:cNvSpPr>
            <a:spLocks xmlns:a="http://schemas.openxmlformats.org/drawingml/2006/main" noGrp="1"/>
          </p:cNvSpPr>
          <p:nvPr/>
        </p:nvSpPr>
        <p:spPr>
          <a:xfrm xmlns:a="http://schemas.openxmlformats.org/drawingml/2006/main">
            <a:off x="6838950" y="5095875"/>
            <a:ext cx="171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675" b="1">
                <a:solidFill>
                  <a:srgbClr val="0E7772"/>
                </a:solidFill>
                <a:latin typeface="Calibri"/>
                <a:ea typeface="Calibri"/>
                <a:cs typeface="Calibri"/>
              </a:defRPr>
            </a:defPPr>
            <a:lvl1pPr algn="r">
              <a:defRPr sz="675" b="1">
                <a:solidFill>
                  <a:srgbClr val="0E7772"/>
                </a:solidFill>
                <a:latin typeface="Calibri"/>
                <a:ea typeface="Calibri"/>
                <a:cs typeface="Calibri"/>
              </a:defRPr>
            </a:lvl1pPr>
            <a:lvl2pPr algn="r">
              <a:defRPr sz="675" b="1">
                <a:solidFill>
                  <a:srgbClr val="0E7772"/>
                </a:solidFill>
                <a:latin typeface="Calibri"/>
                <a:ea typeface="Calibri"/>
                <a:cs typeface="Calibri"/>
              </a:defRPr>
            </a:lvl2pPr>
            <a:lvl3pPr algn="r">
              <a:defRPr sz="675" b="1">
                <a:solidFill>
                  <a:srgbClr val="0E7772"/>
                </a:solidFill>
                <a:latin typeface="Calibri"/>
                <a:ea typeface="Calibri"/>
                <a:cs typeface="Calibri"/>
              </a:defRPr>
            </a:lvl3pPr>
            <a:lvl4pPr algn="r">
              <a:defRPr sz="675" b="1">
                <a:solidFill>
                  <a:srgbClr val="0E7772"/>
                </a:solidFill>
                <a:latin typeface="Calibri"/>
                <a:ea typeface="Calibri"/>
                <a:cs typeface="Calibri"/>
              </a:defRPr>
            </a:lvl4pPr>
            <a:lvl5pPr algn="r">
              <a:defRPr sz="675" b="1">
                <a:solidFill>
                  <a:srgbClr val="0E7772"/>
                </a:solidFill>
                <a:latin typeface="Calibri"/>
                <a:ea typeface="Calibri"/>
                <a:cs typeface="Calibri"/>
              </a:defRPr>
            </a:lvl5pPr>
            <a:lvl6pPr algn="r">
              <a:defRPr sz="675" b="1">
                <a:solidFill>
                  <a:srgbClr val="0E7772"/>
                </a:solidFill>
                <a:latin typeface="Calibri"/>
                <a:ea typeface="Calibri"/>
                <a:cs typeface="Calibri"/>
              </a:defRPr>
            </a:lvl6pPr>
            <a:lvl7pPr algn="r">
              <a:defRPr sz="675" b="1">
                <a:solidFill>
                  <a:srgbClr val="0E7772"/>
                </a:solidFill>
                <a:latin typeface="Calibri"/>
                <a:ea typeface="Calibri"/>
                <a:cs typeface="Calibri"/>
              </a:defRPr>
            </a:lvl7pPr>
            <a:lvl8pPr algn="r">
              <a:defRPr sz="675" b="1">
                <a:solidFill>
                  <a:srgbClr val="0E7772"/>
                </a:solidFill>
                <a:latin typeface="Calibri"/>
                <a:ea typeface="Calibri"/>
                <a:cs typeface="Calibri"/>
              </a:defRPr>
            </a:lvl8pPr>
            <a:lvl9pPr algn="r">
              <a:defRPr sz="675" b="1">
                <a:solidFill>
                  <a:srgbClr val="0E7772"/>
                </a:solidFill>
                <a:latin typeface="Calibri"/>
                <a:ea typeface="Calibri"/>
                <a:cs typeface="Calibri"/>
              </a:defRPr>
            </a:lvl9pPr>
          </a:lstStyle>
          <a:p xmlns:a="http://schemas.openxmlformats.org/drawingml/2006/main">
            <a:pPr algn="r">
              <a:defRPr sz="675" b="1">
                <a:solidFill>
                  <a:srgbClr val="0E7772"/>
                </a:solidFill>
                <a:latin typeface="Calibri"/>
                <a:ea typeface="Calibri"/>
                <a:cs typeface="Calibri"/>
              </a:defRPr>
            </a:pPr>
            <a:r>
              <a:rPr sz="675" b="1">
                <a:solidFill>
                  <a:srgbClr val="0E7772"/>
                </a:solidFill>
                <a:latin typeface="Calibri"/>
                <a:ea typeface="Calibri"/>
                <a:cs typeface="Calibri"/>
              </a:rPr>
              <a:t>15</a:t>
            </a:r>
          </a:p>
        </p:txBody>
      </p:sp>
    </p:spTree>
    <p:extLst>
      <p:ext uri="{BB962C8B-B14F-4D97-AF65-F5344CB8AC3E}">
        <p14:creationId xmlns:p14="http://schemas.microsoft.com/office/powerpoint/2010/main" val="637845133"/>
      </p:ext>
    </p:extLst>
  </p:cSld>
</p:sld>
</file>

<file path=ppt/slides/slide16.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597ABB77-A2A4-4200-9295-6E676E60E009}"/>
              </a:ext>
            </a:extLst>
          </p:cNvPr>
          <p:cNvPicPr>
            <a:picLocks xmlns:a="http://schemas.openxmlformats.org/drawingml/2006/main" noChangeAspect="1"/>
          </p:cNvPicPr>
          <p:nvPr/>
        </p:nvPicPr>
        <p:blipFill>
          <a:blip xmlns:r="http://schemas.openxmlformats.org/officeDocument/2006/relationships" xmlns:a="http://schemas.openxmlformats.org/drawingml/2006/main" r:embed="Rce8689d966954578"/>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CE43498-4325-4E1B-B57C-EEB663FA337F}"/>
              </a:ext>
            </a:extLst>
          </p:cNvPr>
          <p:cNvSpPr>
            <a:spLocks xmlns:a="http://schemas.openxmlformats.org/drawingml/2006/main" noGrp="1"/>
          </p:cNvSpPr>
          <p:nvPr/>
        </p:nvSpPr>
        <p:spPr>
          <a:xfrm xmlns:a="http://schemas.openxmlformats.org/drawingml/2006/main">
            <a:off x="381000" y="1295400"/>
            <a:ext cx="6715125" cy="3838575"/>
          </a:xfrm>
          <a:prstGeom xmlns:a="http://schemas.openxmlformats.org/drawingml/2006/main" prst="roundRect">
            <a:avLst>
              <a:gd name="adj" fmla="val 3722"/>
            </a:avLst>
          </a:prstGeom>
          <a:solidFill xmlns:a="http://schemas.openxmlformats.org/drawingml/2006/main">
            <a:srgbClr val="FFFFFF">
              <a:alpha val="94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1A6B7913-A7C9-4CF0-A708-FB96CFBC3CA0}"/>
              </a:ext>
            </a:extLst>
          </p:cNvPr>
          <p:cNvSpPr>
            <a:spLocks xmlns:a="http://schemas.openxmlformats.org/drawingml/2006/main" noGrp="1"/>
          </p:cNvSpPr>
          <p:nvPr/>
        </p:nvSpPr>
        <p:spPr>
          <a:xfrm xmlns:a="http://schemas.openxmlformats.org/drawingml/2006/main">
            <a:off x="381000" y="1295400"/>
            <a:ext cx="47625" cy="38385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3B2877-4737-4681-8CF3-802FB0AA34A8}"/>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Meet the team</a:t>
            </a:r>
          </a:p>
        </p:txBody>
      </p:sp>
      <p:sp>
        <p:nvSpPr>
          <p:cNvPr id="2" name="">
            <a:extLst xmlns:a="http://schemas.openxmlformats.org/drawingml/2006/main">
              <a:ext uri="{FF2B5EF4-FFF2-40B4-BE49-F238E27FC236}">
                <a16:creationId xmlns:a16="http://schemas.microsoft.com/office/drawing/2014/main" id="{1D4D2E7D-620C-491C-8451-1BFD5C22747C}"/>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4E304555-634F-44E4-9929-085DFEE3DB8E}"/>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Cardiovascular Digital Twin · project team</a:t>
            </a:r>
          </a:p>
        </p:txBody>
      </p:sp>
      <p:sp>
        <p:nvSpPr>
          <p:cNvPr id="4" name="">
            <a:extLst xmlns:a="http://schemas.openxmlformats.org/drawingml/2006/main">
              <a:ext uri="{FF2B5EF4-FFF2-40B4-BE49-F238E27FC236}">
                <a16:creationId xmlns:a16="http://schemas.microsoft.com/office/drawing/2014/main" id="{D0B1341D-8FAD-4A9C-BF71-67C5C7601FB4}"/>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3255E337-9BE9-44B6-8A95-F11A9397153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AF87395D-2D8D-4DBC-B24D-D1A27969498C}"/>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16</a:t>
            </a:r>
          </a:p>
        </p:txBody>
      </p:sp>
      <p:sp>
        <p:nvSpPr>
          <p:cNvPr id="7" name="">
            <a:extLst xmlns:a="http://schemas.openxmlformats.org/drawingml/2006/main">
              <a:ext uri="{FF2B5EF4-FFF2-40B4-BE49-F238E27FC236}">
                <a16:creationId xmlns:a16="http://schemas.microsoft.com/office/drawing/2014/main" id="{A91EAA03-CF83-4FA8-A66D-DF76489746FB}"/>
              </a:ext>
            </a:extLst>
          </p:cNvPr>
          <p:cNvSpPr>
            <a:spLocks xmlns:a="http://schemas.openxmlformats.org/drawingml/2006/main" noGrp="1"/>
          </p:cNvSpPr>
          <p:nvPr/>
        </p:nvSpPr>
        <p:spPr>
          <a:xfrm xmlns:a="http://schemas.openxmlformats.org/drawingml/2006/main">
            <a:off x="2009775" y="1609725"/>
            <a:ext cx="3457575" cy="1000125"/>
          </a:xfrm>
          <a:prstGeom xmlns:a="http://schemas.openxmlformats.org/drawingml/2006/main" prst="roundRect">
            <a:avLst>
              <a:gd name="adj" fmla="val 7619"/>
            </a:avLst>
          </a:prstGeom>
          <a:solidFill xmlns:a="http://schemas.openxmlformats.org/drawingml/2006/main">
            <a:srgbClr val="123F50"/>
          </a:solidFill>
          <a:ln xmlns:a="http://schemas.openxmlformats.org/drawingml/2006/main" w="14288">
            <a:solidFill>
              <a:srgbClr val="123F50"/>
            </a:solidFill>
            <a:prstDash val="solid"/>
          </a:ln>
        </p:spPr>
      </p:sp>
      <p:sp>
        <p:nvSpPr>
          <p:cNvPr id="8" name="">
            <a:extLst xmlns:a="http://schemas.openxmlformats.org/drawingml/2006/main">
              <a:ext uri="{FF2B5EF4-FFF2-40B4-BE49-F238E27FC236}">
                <a16:creationId xmlns:a16="http://schemas.microsoft.com/office/drawing/2014/main" id="{5C396CE0-8675-4413-A603-DF29F7B8273A}"/>
              </a:ext>
            </a:extLst>
          </p:cNvPr>
          <p:cNvSpPr>
            <a:spLocks xmlns:a="http://schemas.openxmlformats.org/drawingml/2006/main" noGrp="1"/>
          </p:cNvSpPr>
          <p:nvPr/>
        </p:nvSpPr>
        <p:spPr>
          <a:xfrm xmlns:a="http://schemas.openxmlformats.org/drawingml/2006/main">
            <a:off x="2200275" y="1762125"/>
            <a:ext cx="3076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A7DCD8"/>
                </a:solidFill>
                <a:latin typeface="Calibri"/>
                <a:ea typeface="Calibri"/>
                <a:cs typeface="Calibri"/>
              </a:defRPr>
            </a:defPPr>
            <a:lvl1pPr algn="ctr">
              <a:buNone/>
              <a:defRPr sz="975" b="1" i="0">
                <a:solidFill>
                  <a:srgbClr val="A7DCD8"/>
                </a:solidFill>
                <a:latin typeface="Calibri"/>
                <a:ea typeface="Calibri"/>
                <a:cs typeface="Calibri"/>
              </a:defRPr>
            </a:lvl1pPr>
            <a:lvl2pPr algn="ctr">
              <a:buNone/>
              <a:defRPr sz="975" b="1" i="0">
                <a:solidFill>
                  <a:srgbClr val="A7DCD8"/>
                </a:solidFill>
                <a:latin typeface="Calibri"/>
                <a:ea typeface="Calibri"/>
                <a:cs typeface="Calibri"/>
              </a:defRPr>
            </a:lvl2pPr>
            <a:lvl3pPr algn="ctr">
              <a:buNone/>
              <a:defRPr sz="975" b="1" i="0">
                <a:solidFill>
                  <a:srgbClr val="A7DCD8"/>
                </a:solidFill>
                <a:latin typeface="Calibri"/>
                <a:ea typeface="Calibri"/>
                <a:cs typeface="Calibri"/>
              </a:defRPr>
            </a:lvl3pPr>
            <a:lvl4pPr algn="ctr">
              <a:buNone/>
              <a:defRPr sz="975" b="1" i="0">
                <a:solidFill>
                  <a:srgbClr val="A7DCD8"/>
                </a:solidFill>
                <a:latin typeface="Calibri"/>
                <a:ea typeface="Calibri"/>
                <a:cs typeface="Calibri"/>
              </a:defRPr>
            </a:lvl4pPr>
            <a:lvl5pPr algn="ctr">
              <a:buNone/>
              <a:defRPr sz="975" b="1" i="0">
                <a:solidFill>
                  <a:srgbClr val="A7DCD8"/>
                </a:solidFill>
                <a:latin typeface="Calibri"/>
                <a:ea typeface="Calibri"/>
                <a:cs typeface="Calibri"/>
              </a:defRPr>
            </a:lvl5pPr>
            <a:lvl6pPr algn="ctr">
              <a:buNone/>
              <a:defRPr sz="975" b="1" i="0">
                <a:solidFill>
                  <a:srgbClr val="A7DCD8"/>
                </a:solidFill>
                <a:latin typeface="Calibri"/>
                <a:ea typeface="Calibri"/>
                <a:cs typeface="Calibri"/>
              </a:defRPr>
            </a:lvl6pPr>
            <a:lvl7pPr algn="ctr">
              <a:buNone/>
              <a:defRPr sz="975" b="1" i="0">
                <a:solidFill>
                  <a:srgbClr val="A7DCD8"/>
                </a:solidFill>
                <a:latin typeface="Calibri"/>
                <a:ea typeface="Calibri"/>
                <a:cs typeface="Calibri"/>
              </a:defRPr>
            </a:lvl7pPr>
            <a:lvl8pPr algn="ctr">
              <a:buNone/>
              <a:defRPr sz="975" b="1" i="0">
                <a:solidFill>
                  <a:srgbClr val="A7DCD8"/>
                </a:solidFill>
                <a:latin typeface="Calibri"/>
                <a:ea typeface="Calibri"/>
                <a:cs typeface="Calibri"/>
              </a:defRPr>
            </a:lvl8pPr>
            <a:lvl9pPr algn="ctr">
              <a:buNone/>
              <a:defRPr sz="975" b="1" i="0">
                <a:solidFill>
                  <a:srgbClr val="A7DCD8"/>
                </a:solidFill>
                <a:latin typeface="Calibri"/>
                <a:ea typeface="Calibri"/>
                <a:cs typeface="Calibri"/>
              </a:defRPr>
            </a:lvl9pPr>
          </a:lstStyle>
          <a:p xmlns:a="http://schemas.openxmlformats.org/drawingml/2006/main">
            <a:pPr algn="ctr">
              <a:lnSpc>
                <a:spcPct val="108000"/>
              </a:lnSpc>
              <a:buNone/>
              <a:defRPr sz="975" b="1" i="0">
                <a:solidFill>
                  <a:srgbClr val="A7DCD8"/>
                </a:solidFill>
                <a:latin typeface="Calibri"/>
                <a:ea typeface="Calibri"/>
                <a:cs typeface="Calibri"/>
              </a:defRPr>
            </a:pPr>
            <a:r>
              <a:rPr sz="975" b="1" i="0">
                <a:solidFill>
                  <a:srgbClr val="A7DCD8"/>
                </a:solidFill>
                <a:latin typeface="Calibri"/>
                <a:ea typeface="Calibri"/>
                <a:cs typeface="Calibri"/>
              </a:rPr>
              <a:t>TEAM LEADER</a:t>
            </a:r>
          </a:p>
        </p:txBody>
      </p:sp>
      <p:sp>
        <p:nvSpPr>
          <p:cNvPr id="9" name="">
            <a:extLst xmlns:a="http://schemas.openxmlformats.org/drawingml/2006/main">
              <a:ext uri="{FF2B5EF4-FFF2-40B4-BE49-F238E27FC236}">
                <a16:creationId xmlns:a16="http://schemas.microsoft.com/office/drawing/2014/main" id="{B2DFFE74-8B48-4FC1-8411-4596A4E30B63}"/>
              </a:ext>
            </a:extLst>
          </p:cNvPr>
          <p:cNvSpPr>
            <a:spLocks xmlns:a="http://schemas.openxmlformats.org/drawingml/2006/main" noGrp="1"/>
          </p:cNvSpPr>
          <p:nvPr/>
        </p:nvSpPr>
        <p:spPr>
          <a:xfrm xmlns:a="http://schemas.openxmlformats.org/drawingml/2006/main">
            <a:off x="2200275" y="2019300"/>
            <a:ext cx="30765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i="0">
                <a:solidFill>
                  <a:srgbClr val="FFFFFF"/>
                </a:solidFill>
                <a:latin typeface="Calibri Light"/>
                <a:ea typeface="Calibri Light"/>
                <a:cs typeface="Calibri Light"/>
              </a:defRPr>
            </a:defPPr>
            <a:lvl1pPr algn="ctr">
              <a:buNone/>
              <a:defRPr sz="2025" b="1" i="0">
                <a:solidFill>
                  <a:srgbClr val="FFFFFF"/>
                </a:solidFill>
                <a:latin typeface="Calibri Light"/>
                <a:ea typeface="Calibri Light"/>
                <a:cs typeface="Calibri Light"/>
              </a:defRPr>
            </a:lvl1pPr>
            <a:lvl2pPr algn="ctr">
              <a:buNone/>
              <a:defRPr sz="2025" b="1" i="0">
                <a:solidFill>
                  <a:srgbClr val="FFFFFF"/>
                </a:solidFill>
                <a:latin typeface="Calibri Light"/>
                <a:ea typeface="Calibri Light"/>
                <a:cs typeface="Calibri Light"/>
              </a:defRPr>
            </a:lvl2pPr>
            <a:lvl3pPr algn="ctr">
              <a:buNone/>
              <a:defRPr sz="2025" b="1" i="0">
                <a:solidFill>
                  <a:srgbClr val="FFFFFF"/>
                </a:solidFill>
                <a:latin typeface="Calibri Light"/>
                <a:ea typeface="Calibri Light"/>
                <a:cs typeface="Calibri Light"/>
              </a:defRPr>
            </a:lvl3pPr>
            <a:lvl4pPr algn="ctr">
              <a:buNone/>
              <a:defRPr sz="2025" b="1" i="0">
                <a:solidFill>
                  <a:srgbClr val="FFFFFF"/>
                </a:solidFill>
                <a:latin typeface="Calibri Light"/>
                <a:ea typeface="Calibri Light"/>
                <a:cs typeface="Calibri Light"/>
              </a:defRPr>
            </a:lvl4pPr>
            <a:lvl5pPr algn="ctr">
              <a:buNone/>
              <a:defRPr sz="2025" b="1" i="0">
                <a:solidFill>
                  <a:srgbClr val="FFFFFF"/>
                </a:solidFill>
                <a:latin typeface="Calibri Light"/>
                <a:ea typeface="Calibri Light"/>
                <a:cs typeface="Calibri Light"/>
              </a:defRPr>
            </a:lvl5pPr>
            <a:lvl6pPr algn="ctr">
              <a:buNone/>
              <a:defRPr sz="2025" b="1" i="0">
                <a:solidFill>
                  <a:srgbClr val="FFFFFF"/>
                </a:solidFill>
                <a:latin typeface="Calibri Light"/>
                <a:ea typeface="Calibri Light"/>
                <a:cs typeface="Calibri Light"/>
              </a:defRPr>
            </a:lvl6pPr>
            <a:lvl7pPr algn="ctr">
              <a:buNone/>
              <a:defRPr sz="2025" b="1" i="0">
                <a:solidFill>
                  <a:srgbClr val="FFFFFF"/>
                </a:solidFill>
                <a:latin typeface="Calibri Light"/>
                <a:ea typeface="Calibri Light"/>
                <a:cs typeface="Calibri Light"/>
              </a:defRPr>
            </a:lvl7pPr>
            <a:lvl8pPr algn="ctr">
              <a:buNone/>
              <a:defRPr sz="2025" b="1" i="0">
                <a:solidFill>
                  <a:srgbClr val="FFFFFF"/>
                </a:solidFill>
                <a:latin typeface="Calibri Light"/>
                <a:ea typeface="Calibri Light"/>
                <a:cs typeface="Calibri Light"/>
              </a:defRPr>
            </a:lvl8pPr>
            <a:lvl9pPr algn="ctr">
              <a:buNone/>
              <a:defRPr sz="2025" b="1" i="0">
                <a:solidFill>
                  <a:srgbClr val="FFFFFF"/>
                </a:solidFill>
                <a:latin typeface="Calibri Light"/>
                <a:ea typeface="Calibri Light"/>
                <a:cs typeface="Calibri Light"/>
              </a:defRPr>
            </a:lvl9pPr>
          </a:lstStyle>
          <a:p xmlns:a="http://schemas.openxmlformats.org/drawingml/2006/main">
            <a:pPr algn="ctr">
              <a:lnSpc>
                <a:spcPct val="108000"/>
              </a:lnSpc>
              <a:buNone/>
              <a:defRPr sz="2025" b="1" i="0">
                <a:solidFill>
                  <a:srgbClr val="FFFFFF"/>
                </a:solidFill>
                <a:latin typeface="Calibri Light"/>
                <a:ea typeface="Calibri Light"/>
                <a:cs typeface="Calibri Light"/>
              </a:defRPr>
            </a:pPr>
            <a:r>
              <a:rPr sz="2025" b="1" i="0">
                <a:solidFill>
                  <a:srgbClr val="FFFFFF"/>
                </a:solidFill>
                <a:latin typeface="Calibri Light"/>
                <a:ea typeface="Calibri Light"/>
                <a:cs typeface="Calibri Light"/>
              </a:rPr>
              <a:t>Manthan Sanap</a:t>
            </a:r>
          </a:p>
        </p:txBody>
      </p:sp>
      <p:sp>
        <p:nvSpPr>
          <p:cNvPr id="10" name="">
            <a:extLst xmlns:a="http://schemas.openxmlformats.org/drawingml/2006/main">
              <a:ext uri="{FF2B5EF4-FFF2-40B4-BE49-F238E27FC236}">
                <a16:creationId xmlns:a16="http://schemas.microsoft.com/office/drawing/2014/main" id="{84878F95-EEA3-4E31-9F91-9AA0ECF056A4}"/>
              </a:ext>
            </a:extLst>
          </p:cNvPr>
          <p:cNvSpPr>
            <a:spLocks xmlns:a="http://schemas.openxmlformats.org/drawingml/2006/main" noGrp="1"/>
          </p:cNvSpPr>
          <p:nvPr/>
        </p:nvSpPr>
        <p:spPr>
          <a:xfrm xmlns:a="http://schemas.openxmlformats.org/drawingml/2006/main">
            <a:off x="704850" y="3057525"/>
            <a:ext cx="17240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383">
            <a:solidFill>
              <a:srgbClr val="BED8D6"/>
            </a:solidFill>
            <a:prstDash val="solid"/>
          </a:ln>
        </p:spPr>
      </p:sp>
      <p:sp>
        <p:nvSpPr>
          <p:cNvPr id="11" name="">
            <a:extLst xmlns:a="http://schemas.openxmlformats.org/drawingml/2006/main">
              <a:ext uri="{FF2B5EF4-FFF2-40B4-BE49-F238E27FC236}">
                <a16:creationId xmlns:a16="http://schemas.microsoft.com/office/drawing/2014/main" id="{1BD12B1E-6EEC-486D-A073-88E2F39F5DD8}"/>
              </a:ext>
            </a:extLst>
          </p:cNvPr>
          <p:cNvSpPr>
            <a:spLocks xmlns:a="http://schemas.openxmlformats.org/drawingml/2006/main" noGrp="1"/>
          </p:cNvSpPr>
          <p:nvPr/>
        </p:nvSpPr>
        <p:spPr>
          <a:xfrm xmlns:a="http://schemas.openxmlformats.org/drawingml/2006/main">
            <a:off x="828675" y="3200400"/>
            <a:ext cx="1476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xmlns:a="http://schemas.openxmlformats.org/drawingml/2006/main">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2" name="">
            <a:extLst xmlns:a="http://schemas.openxmlformats.org/drawingml/2006/main">
              <a:ext uri="{FF2B5EF4-FFF2-40B4-BE49-F238E27FC236}">
                <a16:creationId xmlns:a16="http://schemas.microsoft.com/office/drawing/2014/main" id="{1E993C09-3BF3-48E3-8C7B-C03F71EE50E1}"/>
              </a:ext>
            </a:extLst>
          </p:cNvPr>
          <p:cNvSpPr>
            <a:spLocks xmlns:a="http://schemas.openxmlformats.org/drawingml/2006/main" noGrp="1"/>
          </p:cNvSpPr>
          <p:nvPr/>
        </p:nvSpPr>
        <p:spPr>
          <a:xfrm xmlns:a="http://schemas.openxmlformats.org/drawingml/2006/main">
            <a:off x="828675" y="34671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xmlns:a="http://schemas.openxmlformats.org/drawingml/2006/main">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Jay Mapari</a:t>
            </a:r>
          </a:p>
        </p:txBody>
      </p:sp>
      <p:sp>
        <p:nvSpPr>
          <p:cNvPr id="13" name="">
            <a:extLst xmlns:a="http://schemas.openxmlformats.org/drawingml/2006/main">
              <a:ext uri="{FF2B5EF4-FFF2-40B4-BE49-F238E27FC236}">
                <a16:creationId xmlns:a16="http://schemas.microsoft.com/office/drawing/2014/main" id="{D8387883-BCBB-461E-8A30-60B90CBF29AF}"/>
              </a:ext>
            </a:extLst>
          </p:cNvPr>
          <p:cNvSpPr>
            <a:spLocks xmlns:a="http://schemas.openxmlformats.org/drawingml/2006/main" noGrp="1"/>
          </p:cNvSpPr>
          <p:nvPr/>
        </p:nvSpPr>
        <p:spPr>
          <a:xfrm xmlns:a="http://schemas.openxmlformats.org/drawingml/2006/main">
            <a:off x="2876550" y="3057525"/>
            <a:ext cx="17240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383">
            <a:solidFill>
              <a:srgbClr val="BED8D6"/>
            </a:solidFill>
            <a:prstDash val="solid"/>
          </a:ln>
        </p:spPr>
      </p:sp>
      <p:sp>
        <p:nvSpPr>
          <p:cNvPr id="14" name="">
            <a:extLst xmlns:a="http://schemas.openxmlformats.org/drawingml/2006/main">
              <a:ext uri="{FF2B5EF4-FFF2-40B4-BE49-F238E27FC236}">
                <a16:creationId xmlns:a16="http://schemas.microsoft.com/office/drawing/2014/main" id="{7A997148-6FBE-48BA-A66A-742E3FC83453}"/>
              </a:ext>
            </a:extLst>
          </p:cNvPr>
          <p:cNvSpPr>
            <a:spLocks xmlns:a="http://schemas.openxmlformats.org/drawingml/2006/main" noGrp="1"/>
          </p:cNvSpPr>
          <p:nvPr/>
        </p:nvSpPr>
        <p:spPr>
          <a:xfrm xmlns:a="http://schemas.openxmlformats.org/drawingml/2006/main">
            <a:off x="3000375" y="3200400"/>
            <a:ext cx="1476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xmlns:a="http://schemas.openxmlformats.org/drawingml/2006/main">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5" name="">
            <a:extLst xmlns:a="http://schemas.openxmlformats.org/drawingml/2006/main">
              <a:ext uri="{FF2B5EF4-FFF2-40B4-BE49-F238E27FC236}">
                <a16:creationId xmlns:a16="http://schemas.microsoft.com/office/drawing/2014/main" id="{F2B5EF15-0609-4A82-9EC0-5A95041285BC}"/>
              </a:ext>
            </a:extLst>
          </p:cNvPr>
          <p:cNvSpPr>
            <a:spLocks xmlns:a="http://schemas.openxmlformats.org/drawingml/2006/main" noGrp="1"/>
          </p:cNvSpPr>
          <p:nvPr/>
        </p:nvSpPr>
        <p:spPr>
          <a:xfrm xmlns:a="http://schemas.openxmlformats.org/drawingml/2006/main">
            <a:off x="3000375" y="34671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xmlns:a="http://schemas.openxmlformats.org/drawingml/2006/main">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Aditya Kharade</a:t>
            </a:r>
          </a:p>
        </p:txBody>
      </p:sp>
      <p:sp>
        <p:nvSpPr>
          <p:cNvPr id="16" name="">
            <a:extLst xmlns:a="http://schemas.openxmlformats.org/drawingml/2006/main">
              <a:ext uri="{FF2B5EF4-FFF2-40B4-BE49-F238E27FC236}">
                <a16:creationId xmlns:a16="http://schemas.microsoft.com/office/drawing/2014/main" id="{42517617-6214-4AD3-8960-5C686CC64662}"/>
              </a:ext>
            </a:extLst>
          </p:cNvPr>
          <p:cNvSpPr>
            <a:spLocks xmlns:a="http://schemas.openxmlformats.org/drawingml/2006/main" noGrp="1"/>
          </p:cNvSpPr>
          <p:nvPr/>
        </p:nvSpPr>
        <p:spPr>
          <a:xfrm xmlns:a="http://schemas.openxmlformats.org/drawingml/2006/main">
            <a:off x="5048250" y="3057525"/>
            <a:ext cx="17240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383">
            <a:solidFill>
              <a:srgbClr val="BED8D6"/>
            </a:solidFill>
            <a:prstDash val="solid"/>
          </a:ln>
        </p:spPr>
      </p:sp>
      <p:sp>
        <p:nvSpPr>
          <p:cNvPr id="17" name="">
            <a:extLst xmlns:a="http://schemas.openxmlformats.org/drawingml/2006/main">
              <a:ext uri="{FF2B5EF4-FFF2-40B4-BE49-F238E27FC236}">
                <a16:creationId xmlns:a16="http://schemas.microsoft.com/office/drawing/2014/main" id="{AE116A0C-BCE5-436C-B7C9-B5815C3E3B6B}"/>
              </a:ext>
            </a:extLst>
          </p:cNvPr>
          <p:cNvSpPr>
            <a:spLocks xmlns:a="http://schemas.openxmlformats.org/drawingml/2006/main" noGrp="1"/>
          </p:cNvSpPr>
          <p:nvPr/>
        </p:nvSpPr>
        <p:spPr>
          <a:xfrm xmlns:a="http://schemas.openxmlformats.org/drawingml/2006/main">
            <a:off x="5172075" y="3200400"/>
            <a:ext cx="1476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xmlns:a="http://schemas.openxmlformats.org/drawingml/2006/main">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8" name="">
            <a:extLst xmlns:a="http://schemas.openxmlformats.org/drawingml/2006/main">
              <a:ext uri="{FF2B5EF4-FFF2-40B4-BE49-F238E27FC236}">
                <a16:creationId xmlns:a16="http://schemas.microsoft.com/office/drawing/2014/main" id="{9901FE1A-A68E-4645-B1E2-29A5A18551FA}"/>
              </a:ext>
            </a:extLst>
          </p:cNvPr>
          <p:cNvSpPr>
            <a:spLocks xmlns:a="http://schemas.openxmlformats.org/drawingml/2006/main" noGrp="1"/>
          </p:cNvSpPr>
          <p:nvPr/>
        </p:nvSpPr>
        <p:spPr>
          <a:xfrm xmlns:a="http://schemas.openxmlformats.org/drawingml/2006/main">
            <a:off x="5172075" y="34671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xmlns:a="http://schemas.openxmlformats.org/drawingml/2006/main">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Aditya Patil</a:t>
            </a:r>
          </a:p>
        </p:txBody>
      </p:sp>
      <p:sp>
        <p:nvSpPr>
          <p:cNvPr id="19" name="">
            <a:extLst xmlns:a="http://schemas.openxmlformats.org/drawingml/2006/main">
              <a:ext uri="{FF2B5EF4-FFF2-40B4-BE49-F238E27FC236}">
                <a16:creationId xmlns:a16="http://schemas.microsoft.com/office/drawing/2014/main" id="{96C88123-1212-4CDD-B890-450CDC8B97D1}"/>
              </a:ext>
            </a:extLst>
          </p:cNvPr>
          <p:cNvSpPr>
            <a:spLocks xmlns:a="http://schemas.openxmlformats.org/drawingml/2006/main" noGrp="1"/>
          </p:cNvSpPr>
          <p:nvPr/>
        </p:nvSpPr>
        <p:spPr>
          <a:xfrm xmlns:a="http://schemas.openxmlformats.org/drawingml/2006/main">
            <a:off x="1247775" y="4419600"/>
            <a:ext cx="4991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i="0">
                <a:solidFill>
                  <a:srgbClr val="647781"/>
                </a:solidFill>
                <a:latin typeface="Calibri"/>
                <a:ea typeface="Calibri"/>
                <a:cs typeface="Calibri"/>
              </a:defRPr>
            </a:defPPr>
            <a:lvl1pPr algn="ctr">
              <a:buNone/>
              <a:defRPr sz="1275" b="0" i="0">
                <a:solidFill>
                  <a:srgbClr val="647781"/>
                </a:solidFill>
                <a:latin typeface="Calibri"/>
                <a:ea typeface="Calibri"/>
                <a:cs typeface="Calibri"/>
              </a:defRPr>
            </a:lvl1pPr>
            <a:lvl2pPr algn="ctr">
              <a:buNone/>
              <a:defRPr sz="1275" b="0" i="0">
                <a:solidFill>
                  <a:srgbClr val="647781"/>
                </a:solidFill>
                <a:latin typeface="Calibri"/>
                <a:ea typeface="Calibri"/>
                <a:cs typeface="Calibri"/>
              </a:defRPr>
            </a:lvl2pPr>
            <a:lvl3pPr algn="ctr">
              <a:buNone/>
              <a:defRPr sz="1275" b="0" i="0">
                <a:solidFill>
                  <a:srgbClr val="647781"/>
                </a:solidFill>
                <a:latin typeface="Calibri"/>
                <a:ea typeface="Calibri"/>
                <a:cs typeface="Calibri"/>
              </a:defRPr>
            </a:lvl3pPr>
            <a:lvl4pPr algn="ctr">
              <a:buNone/>
              <a:defRPr sz="1275" b="0" i="0">
                <a:solidFill>
                  <a:srgbClr val="647781"/>
                </a:solidFill>
                <a:latin typeface="Calibri"/>
                <a:ea typeface="Calibri"/>
                <a:cs typeface="Calibri"/>
              </a:defRPr>
            </a:lvl4pPr>
            <a:lvl5pPr algn="ctr">
              <a:buNone/>
              <a:defRPr sz="1275" b="0" i="0">
                <a:solidFill>
                  <a:srgbClr val="647781"/>
                </a:solidFill>
                <a:latin typeface="Calibri"/>
                <a:ea typeface="Calibri"/>
                <a:cs typeface="Calibri"/>
              </a:defRPr>
            </a:lvl5pPr>
            <a:lvl6pPr algn="ctr">
              <a:buNone/>
              <a:defRPr sz="1275" b="0" i="0">
                <a:solidFill>
                  <a:srgbClr val="647781"/>
                </a:solidFill>
                <a:latin typeface="Calibri"/>
                <a:ea typeface="Calibri"/>
                <a:cs typeface="Calibri"/>
              </a:defRPr>
            </a:lvl6pPr>
            <a:lvl7pPr algn="ctr">
              <a:buNone/>
              <a:defRPr sz="1275" b="0" i="0">
                <a:solidFill>
                  <a:srgbClr val="647781"/>
                </a:solidFill>
                <a:latin typeface="Calibri"/>
                <a:ea typeface="Calibri"/>
                <a:cs typeface="Calibri"/>
              </a:defRPr>
            </a:lvl7pPr>
            <a:lvl8pPr algn="ctr">
              <a:buNone/>
              <a:defRPr sz="1275" b="0" i="0">
                <a:solidFill>
                  <a:srgbClr val="647781"/>
                </a:solidFill>
                <a:latin typeface="Calibri"/>
                <a:ea typeface="Calibri"/>
                <a:cs typeface="Calibri"/>
              </a:defRPr>
            </a:lvl8pPr>
            <a:lvl9pPr algn="ctr">
              <a:buNone/>
              <a:defRPr sz="1275" b="0" i="0">
                <a:solidFill>
                  <a:srgbClr val="647781"/>
                </a:solidFill>
                <a:latin typeface="Calibri"/>
                <a:ea typeface="Calibri"/>
                <a:cs typeface="Calibri"/>
              </a:defRPr>
            </a:lvl9pPr>
          </a:lstStyle>
          <a:p xmlns:a="http://schemas.openxmlformats.org/drawingml/2006/main">
            <a:pPr algn="ctr">
              <a:lnSpc>
                <a:spcPct val="108000"/>
              </a:lnSpc>
              <a:buNone/>
              <a:defRPr sz="1275" b="0" i="0">
                <a:solidFill>
                  <a:srgbClr val="647781"/>
                </a:solidFill>
                <a:latin typeface="Calibri"/>
                <a:ea typeface="Calibri"/>
                <a:cs typeface="Calibri"/>
              </a:defRPr>
            </a:pPr>
            <a:r>
              <a:rPr sz="1275" b="0" i="0">
                <a:solidFill>
                  <a:srgbClr val="647781"/>
                </a:solidFill>
                <a:latin typeface="Calibri"/>
                <a:ea typeface="Calibri"/>
                <a:cs typeface="Calibri"/>
              </a:rPr>
              <a:t>Building a simulated, baseline-aware monitoring prototype</a:t>
            </a:r>
          </a:p>
        </p:txBody>
      </p:sp>
      <p:sp>
        <p:nvSpPr>
          <p:cNvPr id="21" name="diagram-background-slide-15">
            <a:extLst xmlns:a="http://schemas.openxmlformats.org/drawingml/2006/main">
              <a:ext uri="{FF2B5EF4-FFF2-40B4-BE49-F238E27FC236}">
                <a16:creationId xmlns:a16="http://schemas.microsoft.com/office/drawing/2014/main" id="{DA35B9B1-AAAD-414B-B7F8-60E7F157E017}"/>
              </a:ext>
            </a:extLst>
          </p:cNvPr>
          <p:cNvSpPr>
            <a:spLocks xmlns:a="http://schemas.openxmlformats.org/drawingml/2006/main" noGrp="1"/>
          </p:cNvSpPr>
          <p:nvPr/>
        </p:nvSpPr>
        <p:spPr>
          <a:xfrm xmlns:a="http://schemas.openxmlformats.org/drawingml/2006/main">
            <a:off x="400050" y="1295400"/>
            <a:ext cx="6677025" cy="3648075"/>
          </a:xfrm>
          <a:prstGeom xmlns:a="http://schemas.openxmlformats.org/drawingml/2006/main" prst="rect">
            <a:avLst/>
          </a:prstGeom>
          <a:solidFill xmlns:a="http://schemas.openxmlformats.org/drawingml/2006/main">
            <a:srgbClr val="F5FAF9"/>
          </a:solidFill>
          <a:ln xmlns:a="http://schemas.openxmlformats.org/drawingml/2006/main" w="0">
            <a:noFill/>
            <a:prstDash val="solid"/>
          </a:ln>
        </p:spPr>
      </p:sp>
      <p:pic>
        <p:nvPicPr>
          <p:cNvPr id="22" name="">
            <a:extLst xmlns:a="http://schemas.openxmlformats.org/drawingml/2006/main">
              <a:ext uri="{FF2B5EF4-FFF2-40B4-BE49-F238E27FC236}">
                <a16:creationId xmlns:a16="http://schemas.microsoft.com/office/drawing/2014/main" id="{70C0651A-93A8-49EF-96BB-4761198CEBFB}"/>
              </a:ext>
            </a:extLst>
          </p:cNvPr>
          <p:cNvPicPr>
            <a:picLocks xmlns:a="http://schemas.openxmlformats.org/drawingml/2006/main" noChangeAspect="1"/>
          </p:cNvPicPr>
          <p:nvPr/>
        </p:nvPicPr>
        <p:blipFill>
          <a:blip xmlns:r="http://schemas.openxmlformats.org/officeDocument/2006/relationships" xmlns:a="http://schemas.openxmlformats.org/drawingml/2006/main" r:embed="R8fbec626db8c47d2"/>
          <a:stretch xmlns:a="http://schemas.openxmlformats.org/drawingml/2006/main"/>
        </p:blipFill>
        <p:spPr>
          <a:xfrm xmlns:a="http://schemas.openxmlformats.org/drawingml/2006/main">
            <a:off x="514350" y="1400175"/>
            <a:ext cx="6448425" cy="3619500"/>
          </a:xfrm>
          <a:prstGeom xmlns:a="http://schemas.openxmlformats.org/drawingml/2006/main" prst="rect">
            <a:avLst/>
          </a:prstGeom>
        </p:spPr>
      </p:pic>
    </p:spTree>
    <p:extLst>
      <p:ext uri="{BB962C8B-B14F-4D97-AF65-F5344CB8AC3E}">
        <p14:creationId xmlns:p14="http://schemas.microsoft.com/office/powerpoint/2010/main" val="1648720729"/>
      </p:ext>
    </p:extLst>
  </p:cSld>
</p:sld>
</file>

<file path=ppt/slides/slide17.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E6C8793-F0AD-41FB-97D6-3E7609EE9E14}"/>
              </a:ext>
            </a:extLst>
          </p:cNvPr>
          <p:cNvPicPr>
            <a:picLocks xmlns:a="http://schemas.openxmlformats.org/drawingml/2006/main" noChangeAspect="1"/>
          </p:cNvPicPr>
          <p:nvPr/>
        </p:nvPicPr>
        <p:blipFill>
          <a:blip xmlns:r="http://schemas.openxmlformats.org/officeDocument/2006/relationships" xmlns:a="http://schemas.openxmlformats.org/drawingml/2006/main" r:embed="Rcd28cf80467c45f8"/>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3B007F2-DACD-4404-BE28-0FC3CFB4167F}"/>
              </a:ext>
            </a:extLst>
          </p:cNvPr>
          <p:cNvSpPr>
            <a:spLocks xmlns:a="http://schemas.openxmlformats.org/drawingml/2006/main" noGrp="1"/>
          </p:cNvSpPr>
          <p:nvPr/>
        </p:nvSpPr>
        <p:spPr>
          <a:xfrm xmlns:a="http://schemas.openxmlformats.org/drawingml/2006/main">
            <a:off x="342900" y="1247775"/>
            <a:ext cx="6791325" cy="3457575"/>
          </a:xfrm>
          <a:prstGeom xmlns:a="http://schemas.openxmlformats.org/drawingml/2006/main" prst="roundRect">
            <a:avLst>
              <a:gd name="adj" fmla="val 4132"/>
            </a:avLst>
          </a:prstGeom>
          <a:solidFill xmlns:a="http://schemas.openxmlformats.org/drawingml/2006/main">
            <a:srgbClr val="FFFFFF">
              <a:alpha val="95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3374BB8-F3B2-40C6-A8B2-F78B4B1F2662}"/>
              </a:ext>
            </a:extLst>
          </p:cNvPr>
          <p:cNvSpPr>
            <a:spLocks xmlns:a="http://schemas.openxmlformats.org/drawingml/2006/main" noGrp="1"/>
          </p:cNvSpPr>
          <p:nvPr/>
        </p:nvSpPr>
        <p:spPr>
          <a:xfrm xmlns:a="http://schemas.openxmlformats.org/drawingml/2006/main">
            <a:off x="342900" y="1247775"/>
            <a:ext cx="66675" cy="34575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8C8B93-80EE-4FFD-B85C-DB39D14E7581}"/>
              </a:ext>
            </a:extLst>
          </p:cNvPr>
          <p:cNvSpPr>
            <a:spLocks xmlns:a="http://schemas.openxmlformats.org/drawingml/2006/main" noGrp="1"/>
          </p:cNvSpPr>
          <p:nvPr/>
        </p:nvSpPr>
        <p:spPr>
          <a:xfrm xmlns:a="http://schemas.openxmlformats.org/drawingml/2006/main">
            <a:off x="5076825" y="1762125"/>
            <a:ext cx="1533525" cy="1533525"/>
          </a:xfrm>
          <a:prstGeom xmlns:a="http://schemas.openxmlformats.org/drawingml/2006/main" prst="ellipse">
            <a:avLst/>
          </a:prstGeom>
          <a:solidFill xmlns:a="http://schemas.openxmlformats.org/drawingml/2006/main">
            <a:srgbClr val="E4F4F0"/>
          </a:solidFill>
          <a:ln xmlns:a="http://schemas.openxmlformats.org/drawingml/2006/main" w="9525">
            <a:solidFill>
              <a:srgbClr val="A8D7CF"/>
            </a:solidFill>
            <a:prstDash val="solid"/>
          </a:ln>
        </p:spPr>
      </p:sp>
      <p:pic>
        <p:nvPicPr>
          <p:cNvPr id="15" name="">
            <a:extLst xmlns:a="http://schemas.openxmlformats.org/drawingml/2006/main">
              <a:ext uri="{FF2B5EF4-FFF2-40B4-BE49-F238E27FC236}">
                <a16:creationId xmlns:a16="http://schemas.microsoft.com/office/drawing/2014/main" id="{81A7764E-6269-4EA4-B5C0-2C49E52B2E20}"/>
              </a:ext>
            </a:extLst>
          </p:cNvPr>
          <p:cNvPicPr>
            <a:picLocks xmlns:a="http://schemas.openxmlformats.org/drawingml/2006/main" noChangeAspect="1"/>
          </p:cNvPicPr>
          <p:nvPr/>
        </p:nvPicPr>
        <p:blipFill>
          <a:blip xmlns:r="http://schemas.openxmlformats.org/officeDocument/2006/relationships" xmlns:a="http://schemas.openxmlformats.org/drawingml/2006/main" r:embed="R1c6cb45a91db4066"/>
          <a:stretch xmlns:a="http://schemas.openxmlformats.org/drawingml/2006/main"/>
        </p:blipFill>
        <p:spPr>
          <a:xfrm xmlns:a="http://schemas.openxmlformats.org/drawingml/2006/main">
            <a:off x="5295900" y="2041030"/>
            <a:ext cx="1104900" cy="96619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5F4A7D2-FB5E-4946-98F5-73567898EEF2}"/>
              </a:ext>
            </a:extLst>
          </p:cNvPr>
          <p:cNvSpPr>
            <a:spLocks xmlns:a="http://schemas.openxmlformats.org/drawingml/2006/main" noGrp="1"/>
          </p:cNvSpPr>
          <p:nvPr/>
        </p:nvSpPr>
        <p:spPr>
          <a:xfrm xmlns:a="http://schemas.openxmlformats.org/drawingml/2006/main">
            <a:off x="5295900" y="2447925"/>
            <a:ext cx="228600" cy="0"/>
          </a:xfrm>
          <a:prstGeom xmlns:a="http://schemas.openxmlformats.org/drawingml/2006/main" prst="line">
            <a:avLst/>
          </a:prstGeom>
          <a:noFill xmlns:a="http://schemas.openxmlformats.org/drawingml/2006/main"/>
          <a:ln xmlns:a="http://schemas.openxmlformats.org/drawingml/2006/main" w="28575">
            <a:solidFill>
              <a:srgbClr val="1598B7"/>
            </a:solidFill>
            <a:prstDash val="solid"/>
          </a:ln>
        </p:spPr>
      </p:sp>
      <p:sp>
        <p:nvSpPr>
          <p:cNvPr id="17" name="">
            <a:extLst xmlns:a="http://schemas.openxmlformats.org/drawingml/2006/main">
              <a:ext uri="{FF2B5EF4-FFF2-40B4-BE49-F238E27FC236}">
                <a16:creationId xmlns:a16="http://schemas.microsoft.com/office/drawing/2014/main" id="{BC3F5D45-F904-475D-86DD-61104E0A60F7}"/>
              </a:ext>
            </a:extLst>
          </p:cNvPr>
          <p:cNvSpPr>
            <a:spLocks xmlns:a="http://schemas.openxmlformats.org/drawingml/2006/main" noGrp="1"/>
          </p:cNvSpPr>
          <p:nvPr/>
        </p:nvSpPr>
        <p:spPr>
          <a:xfrm xmlns:a="http://schemas.openxmlformats.org/drawingml/2006/main">
            <a:off x="752475" y="1790700"/>
            <a:ext cx="335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168F89"/>
                </a:solidFill>
              </a:defRPr>
            </a:defPPr>
            <a:lvl1pPr algn="l">
              <a:buNone/>
              <a:defRPr sz="975" b="1">
                <a:solidFill>
                  <a:srgbClr val="168F89"/>
                </a:solidFill>
              </a:defRPr>
            </a:lvl1pPr>
            <a:lvl2pPr algn="l">
              <a:buNone/>
              <a:defRPr sz="975" b="1">
                <a:solidFill>
                  <a:srgbClr val="168F89"/>
                </a:solidFill>
              </a:defRPr>
            </a:lvl2pPr>
            <a:lvl3pPr algn="l">
              <a:buNone/>
              <a:defRPr sz="975" b="1">
                <a:solidFill>
                  <a:srgbClr val="168F89"/>
                </a:solidFill>
              </a:defRPr>
            </a:lvl3pPr>
            <a:lvl4pPr algn="l">
              <a:buNone/>
              <a:defRPr sz="975" b="1">
                <a:solidFill>
                  <a:srgbClr val="168F89"/>
                </a:solidFill>
              </a:defRPr>
            </a:lvl4pPr>
            <a:lvl5pPr algn="l">
              <a:buNone/>
              <a:defRPr sz="975" b="1">
                <a:solidFill>
                  <a:srgbClr val="168F89"/>
                </a:solidFill>
              </a:defRPr>
            </a:lvl5pPr>
            <a:lvl6pPr algn="l">
              <a:buNone/>
              <a:defRPr sz="975" b="1">
                <a:solidFill>
                  <a:srgbClr val="168F89"/>
                </a:solidFill>
              </a:defRPr>
            </a:lvl6pPr>
            <a:lvl7pPr algn="l">
              <a:buNone/>
              <a:defRPr sz="975" b="1">
                <a:solidFill>
                  <a:srgbClr val="168F89"/>
                </a:solidFill>
              </a:defRPr>
            </a:lvl7pPr>
            <a:lvl8pPr algn="l">
              <a:buNone/>
              <a:defRPr sz="975" b="1">
                <a:solidFill>
                  <a:srgbClr val="168F89"/>
                </a:solidFill>
              </a:defRPr>
            </a:lvl8pPr>
            <a:lvl9pPr algn="l">
              <a:buNone/>
              <a:defRPr sz="975" b="1">
                <a:solidFill>
                  <a:srgbClr val="168F89"/>
                </a:solidFill>
              </a:defRPr>
            </a:lvl9pPr>
          </a:lstStyle>
          <a:p xmlns:a="http://schemas.openxmlformats.org/drawingml/2006/main">
            <a:pPr algn="l">
              <a:buNone/>
              <a:defRPr sz="975" b="1">
                <a:solidFill>
                  <a:srgbClr val="168F89"/>
                </a:solidFill>
              </a:defRPr>
            </a:pPr>
            <a:r>
              <a:rPr sz="975" b="1">
                <a:solidFill>
                  <a:srgbClr val="168F89"/>
                </a:solidFill>
              </a:rPr>
              <a:t>CARDIOVASCULAR DIGITAL TWIN</a:t>
            </a:r>
          </a:p>
        </p:txBody>
      </p:sp>
      <p:sp>
        <p:nvSpPr>
          <p:cNvPr id="18" name="">
            <a:extLst xmlns:a="http://schemas.openxmlformats.org/drawingml/2006/main">
              <a:ext uri="{FF2B5EF4-FFF2-40B4-BE49-F238E27FC236}">
                <a16:creationId xmlns:a16="http://schemas.microsoft.com/office/drawing/2014/main" id="{F2373360-EC99-47E5-B728-D36C0516C3A4}"/>
              </a:ext>
            </a:extLst>
          </p:cNvPr>
          <p:cNvSpPr>
            <a:spLocks xmlns:a="http://schemas.openxmlformats.org/drawingml/2006/main" noGrp="1"/>
          </p:cNvSpPr>
          <p:nvPr/>
        </p:nvSpPr>
        <p:spPr>
          <a:xfrm xmlns:a="http://schemas.openxmlformats.org/drawingml/2006/main">
            <a:off x="752475" y="2162175"/>
            <a:ext cx="3714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350" b="1">
                <a:solidFill>
                  <a:srgbClr val="123F50"/>
                </a:solidFill>
              </a:defRPr>
            </a:defPPr>
            <a:lvl1pPr algn="l">
              <a:buNone/>
              <a:defRPr sz="4350" b="1">
                <a:solidFill>
                  <a:srgbClr val="123F50"/>
                </a:solidFill>
              </a:defRPr>
            </a:lvl1pPr>
            <a:lvl2pPr algn="l">
              <a:buNone/>
              <a:defRPr sz="4350" b="1">
                <a:solidFill>
                  <a:srgbClr val="123F50"/>
                </a:solidFill>
              </a:defRPr>
            </a:lvl2pPr>
            <a:lvl3pPr algn="l">
              <a:buNone/>
              <a:defRPr sz="4350" b="1">
                <a:solidFill>
                  <a:srgbClr val="123F50"/>
                </a:solidFill>
              </a:defRPr>
            </a:lvl3pPr>
            <a:lvl4pPr algn="l">
              <a:buNone/>
              <a:defRPr sz="4350" b="1">
                <a:solidFill>
                  <a:srgbClr val="123F50"/>
                </a:solidFill>
              </a:defRPr>
            </a:lvl4pPr>
            <a:lvl5pPr algn="l">
              <a:buNone/>
              <a:defRPr sz="4350" b="1">
                <a:solidFill>
                  <a:srgbClr val="123F50"/>
                </a:solidFill>
              </a:defRPr>
            </a:lvl5pPr>
            <a:lvl6pPr algn="l">
              <a:buNone/>
              <a:defRPr sz="4350" b="1">
                <a:solidFill>
                  <a:srgbClr val="123F50"/>
                </a:solidFill>
              </a:defRPr>
            </a:lvl6pPr>
            <a:lvl7pPr algn="l">
              <a:buNone/>
              <a:defRPr sz="4350" b="1">
                <a:solidFill>
                  <a:srgbClr val="123F50"/>
                </a:solidFill>
              </a:defRPr>
            </a:lvl7pPr>
            <a:lvl8pPr algn="l">
              <a:buNone/>
              <a:defRPr sz="4350" b="1">
                <a:solidFill>
                  <a:srgbClr val="123F50"/>
                </a:solidFill>
              </a:defRPr>
            </a:lvl8pPr>
            <a:lvl9pPr algn="l">
              <a:buNone/>
              <a:defRPr sz="4350" b="1">
                <a:solidFill>
                  <a:srgbClr val="123F50"/>
                </a:solidFill>
              </a:defRPr>
            </a:lvl9pPr>
          </a:lstStyle>
          <a:p xmlns:a="http://schemas.openxmlformats.org/drawingml/2006/main">
            <a:pPr algn="l">
              <a:buNone/>
              <a:defRPr sz="4350" b="1">
                <a:solidFill>
                  <a:srgbClr val="123F50"/>
                </a:solidFill>
              </a:defRPr>
            </a:pPr>
            <a:r>
              <a:rPr sz="4350" b="1">
                <a:solidFill>
                  <a:srgbClr val="123F50"/>
                </a:solidFill>
              </a:rPr>
              <a:t>The End</a:t>
            </a:r>
          </a:p>
        </p:txBody>
      </p:sp>
      <p:sp>
        <p:nvSpPr>
          <p:cNvPr id="19" name="">
            <a:extLst xmlns:a="http://schemas.openxmlformats.org/drawingml/2006/main">
              <a:ext uri="{FF2B5EF4-FFF2-40B4-BE49-F238E27FC236}">
                <a16:creationId xmlns:a16="http://schemas.microsoft.com/office/drawing/2014/main" id="{26C33A14-4218-4FA3-968E-AD4020FF8B78}"/>
              </a:ext>
            </a:extLst>
          </p:cNvPr>
          <p:cNvSpPr>
            <a:spLocks xmlns:a="http://schemas.openxmlformats.org/drawingml/2006/main" noGrp="1"/>
          </p:cNvSpPr>
          <p:nvPr/>
        </p:nvSpPr>
        <p:spPr>
          <a:xfrm xmlns:a="http://schemas.openxmlformats.org/drawingml/2006/main">
            <a:off x="781050" y="32766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294E59"/>
                </a:solidFill>
              </a:defRPr>
            </a:defPPr>
            <a:lvl1pPr algn="l">
              <a:buNone/>
              <a:defRPr sz="1575" b="1">
                <a:solidFill>
                  <a:srgbClr val="294E59"/>
                </a:solidFill>
              </a:defRPr>
            </a:lvl1pPr>
            <a:lvl2pPr algn="l">
              <a:buNone/>
              <a:defRPr sz="1575" b="1">
                <a:solidFill>
                  <a:srgbClr val="294E59"/>
                </a:solidFill>
              </a:defRPr>
            </a:lvl2pPr>
            <a:lvl3pPr algn="l">
              <a:buNone/>
              <a:defRPr sz="1575" b="1">
                <a:solidFill>
                  <a:srgbClr val="294E59"/>
                </a:solidFill>
              </a:defRPr>
            </a:lvl3pPr>
            <a:lvl4pPr algn="l">
              <a:buNone/>
              <a:defRPr sz="1575" b="1">
                <a:solidFill>
                  <a:srgbClr val="294E59"/>
                </a:solidFill>
              </a:defRPr>
            </a:lvl4pPr>
            <a:lvl5pPr algn="l">
              <a:buNone/>
              <a:defRPr sz="1575" b="1">
                <a:solidFill>
                  <a:srgbClr val="294E59"/>
                </a:solidFill>
              </a:defRPr>
            </a:lvl5pPr>
            <a:lvl6pPr algn="l">
              <a:buNone/>
              <a:defRPr sz="1575" b="1">
                <a:solidFill>
                  <a:srgbClr val="294E59"/>
                </a:solidFill>
              </a:defRPr>
            </a:lvl6pPr>
            <a:lvl7pPr algn="l">
              <a:buNone/>
              <a:defRPr sz="1575" b="1">
                <a:solidFill>
                  <a:srgbClr val="294E59"/>
                </a:solidFill>
              </a:defRPr>
            </a:lvl7pPr>
            <a:lvl8pPr algn="l">
              <a:buNone/>
              <a:defRPr sz="1575" b="1">
                <a:solidFill>
                  <a:srgbClr val="294E59"/>
                </a:solidFill>
              </a:defRPr>
            </a:lvl8pPr>
            <a:lvl9pPr algn="l">
              <a:buNone/>
              <a:defRPr sz="1575" b="1">
                <a:solidFill>
                  <a:srgbClr val="294E59"/>
                </a:solidFill>
              </a:defRPr>
            </a:lvl9pPr>
          </a:lstStyle>
          <a:p xmlns:a="http://schemas.openxmlformats.org/drawingml/2006/main">
            <a:pPr algn="l">
              <a:buNone/>
              <a:defRPr sz="1575" b="1">
                <a:solidFill>
                  <a:srgbClr val="294E59"/>
                </a:solidFill>
              </a:defRPr>
            </a:pPr>
            <a:r>
              <a:rPr sz="1575" b="1">
                <a:solidFill>
                  <a:srgbClr val="294E59"/>
                </a:solidFill>
              </a:rPr>
              <a:t>Thank you for exploring CardioTwin.</a:t>
            </a:r>
          </a:p>
        </p:txBody>
      </p:sp>
      <p:sp>
        <p:nvSpPr>
          <p:cNvPr id="20" name="">
            <a:extLst xmlns:a="http://schemas.openxmlformats.org/drawingml/2006/main">
              <a:ext uri="{FF2B5EF4-FFF2-40B4-BE49-F238E27FC236}">
                <a16:creationId xmlns:a16="http://schemas.microsoft.com/office/drawing/2014/main" id="{2A85A478-7785-414C-A670-6BEA51632C45}"/>
              </a:ext>
            </a:extLst>
          </p:cNvPr>
          <p:cNvSpPr>
            <a:spLocks xmlns:a="http://schemas.openxmlformats.org/drawingml/2006/main" noGrp="1"/>
          </p:cNvSpPr>
          <p:nvPr/>
        </p:nvSpPr>
        <p:spPr>
          <a:xfrm xmlns:a="http://schemas.openxmlformats.org/drawingml/2006/main">
            <a:off x="781050" y="37052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5E7279"/>
                </a:solidFill>
              </a:defRPr>
            </a:defPPr>
            <a:lvl1pPr algn="l">
              <a:buNone/>
              <a:defRPr sz="1125" b="0">
                <a:solidFill>
                  <a:srgbClr val="5E7279"/>
                </a:solidFill>
              </a:defRPr>
            </a:lvl1pPr>
            <a:lvl2pPr algn="l">
              <a:buNone/>
              <a:defRPr sz="1125" b="0">
                <a:solidFill>
                  <a:srgbClr val="5E7279"/>
                </a:solidFill>
              </a:defRPr>
            </a:lvl2pPr>
            <a:lvl3pPr algn="l">
              <a:buNone/>
              <a:defRPr sz="1125" b="0">
                <a:solidFill>
                  <a:srgbClr val="5E7279"/>
                </a:solidFill>
              </a:defRPr>
            </a:lvl3pPr>
            <a:lvl4pPr algn="l">
              <a:buNone/>
              <a:defRPr sz="1125" b="0">
                <a:solidFill>
                  <a:srgbClr val="5E7279"/>
                </a:solidFill>
              </a:defRPr>
            </a:lvl4pPr>
            <a:lvl5pPr algn="l">
              <a:buNone/>
              <a:defRPr sz="1125" b="0">
                <a:solidFill>
                  <a:srgbClr val="5E7279"/>
                </a:solidFill>
              </a:defRPr>
            </a:lvl5pPr>
            <a:lvl6pPr algn="l">
              <a:buNone/>
              <a:defRPr sz="1125" b="0">
                <a:solidFill>
                  <a:srgbClr val="5E7279"/>
                </a:solidFill>
              </a:defRPr>
            </a:lvl6pPr>
            <a:lvl7pPr algn="l">
              <a:buNone/>
              <a:defRPr sz="1125" b="0">
                <a:solidFill>
                  <a:srgbClr val="5E7279"/>
                </a:solidFill>
              </a:defRPr>
            </a:lvl7pPr>
            <a:lvl8pPr algn="l">
              <a:buNone/>
              <a:defRPr sz="1125" b="0">
                <a:solidFill>
                  <a:srgbClr val="5E7279"/>
                </a:solidFill>
              </a:defRPr>
            </a:lvl8pPr>
            <a:lvl9pPr algn="l">
              <a:buNone/>
              <a:defRPr sz="1125" b="0">
                <a:solidFill>
                  <a:srgbClr val="5E7279"/>
                </a:solidFill>
              </a:defRPr>
            </a:lvl9pPr>
          </a:lstStyle>
          <a:p xmlns:a="http://schemas.openxmlformats.org/drawingml/2006/main">
            <a:pPr algn="l">
              <a:buNone/>
              <a:defRPr sz="1125" b="0">
                <a:solidFill>
                  <a:srgbClr val="5E7279"/>
                </a:solidFill>
              </a:defRPr>
            </a:pPr>
            <a:r>
              <a:rPr sz="1125" b="0">
                <a:solidFill>
                  <a:srgbClr val="5E7279"/>
                </a:solidFill>
              </a:rPr>
              <a:t>A baseline-aware monitoring prototype</a:t>
            </a:r>
          </a:p>
        </p:txBody>
      </p:sp>
    </p:spTree>
    <p:extLst>
      <p:ext uri="{BB962C8B-B14F-4D97-AF65-F5344CB8AC3E}">
        <p14:creationId xmlns:p14="http://schemas.microsoft.com/office/powerpoint/2010/main" val="7524003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2026-10-22T13:33:15.9840000Z</dcterms:created>
  <dcterms:modified xsi:type="dcterms:W3CDTF">2026-10-22T13:33:15.9840000Z</dcterms:modified>
</coreProperties>
</file>