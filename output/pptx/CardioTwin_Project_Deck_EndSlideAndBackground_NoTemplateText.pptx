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70" r:id="rId8"/>
    <p:sldId id="262" r:id="rId9"/>
    <p:sldId id="263" r:id="rId10"/>
    <p:sldId id="264" r:id="rId11"/>
    <p:sldId id="265" r:id="rId12"/>
    <p:sldId id="266" r:id="rId13"/>
    <p:sldId id="267" r:id="rId14"/>
    <p:sldId id="269" r:id="rId15"/>
    <p:sldId id="268" r:id="rId16"/>
    <p:sldId id="271" r:id="rId17"/>
    <p:sldId id="272" r:id="rId18"/>
  </p:sldIdLst>
  <p:sldSz cx="7477125" cy="539115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82" autoAdjust="0"/>
    <p:restoredTop sz="94660"/>
  </p:normalViewPr>
  <p:slideViewPr>
    <p:cSldViewPr>
      <p:cViewPr varScale="1">
        <p:scale>
          <a:sx n="89" d="100"/>
          <a:sy n="89" d="100"/>
        </p:scale>
        <p:origin x="-1084" y="-76"/>
      </p:cViewPr>
      <p:guideLst>
        <p:guide orient="horz" pos="1698"/>
        <p:guide pos="2355"/>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extLst>
      <p:ext uri="{BB962C8B-B14F-4D97-AF65-F5344CB8AC3E}">
        <p14:creationId xmlns:p14="http://schemas.microsoft.com/office/powerpoint/2010/main" val="2410443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as a synthetic proof of concept. It is built to demonstrate how EHR context and wearable data could be reviewed together.</a:t>
            </a:r>
          </a:p>
          <a:p>
            <a:endParaRPr/>
          </a:p>
          <a:p>
            <a:r>
              <a:t>Sources: </a:t>
            </a:r>
          </a:p>
          <a:p>
            <a:r>
              <a:t>https://github.com/Aditya725wu/DigitalTwin/blob/main/README.md</a:t>
            </a:r>
          </a:p>
          <a:p>
            <a:r>
              <a:t>https://github.com/Aditya725wu/DigitalTwin/blob/main/docs/architecture.md</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repository documents static EHR factors and a dynamic wearable stream. The generator seeds synthetic patient profiles and readings.</a:t>
            </a:r>
          </a:p>
          <a:p>
            <a:endParaRPr/>
          </a:p>
          <a:p>
            <a:r>
              <a:t>Sources: </a:t>
            </a:r>
          </a:p>
          <a:p>
            <a:r>
              <a:t>https://github.com/Aditya725wu/DigitalTwin/blob/main/README.md</a:t>
            </a:r>
          </a:p>
          <a:p>
            <a:r>
              <a:t>https://github.com/Aditya725wu/DigitalTwin/blob/main/docs/api-reference.md</a:t>
            </a:r>
          </a:p>
          <a:p>
            <a:r>
              <a:t>https://github.com/Aditya725wu/DigitalTwin/blob/main/backend/generate_cardiac_data.py</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embeds both ChatGPT diagram image files provided by the user, without redrawing their contents. The images show the Twin decision and alert workflow. The POC uses synthetic data and flags deviations for attention; it does not diagnose or predict medical events.</a:t>
            </a:r>
          </a:p>
          <a:p>
            <a:endParaRPr/>
          </a:p>
          <a:p>
            <a:r>
              <a:t>Sources: </a:t>
            </a:r>
          </a:p>
          <a:p>
            <a:r>
              <a:t>https://github.com/Aditya725wu/DigitalTwin/blob/main/README.md</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Swagger at /docs during a demo. These endpoints are documented in the current repository.</a:t>
            </a:r>
          </a:p>
          <a:p>
            <a:endParaRPr/>
          </a:p>
          <a:p>
            <a:r>
              <a:t>Sources: </a:t>
            </a:r>
          </a:p>
          <a:p>
            <a:r>
              <a:t>https://github.com/Aditya725wu/DigitalTwin/blob/main/docs/api-reference.md</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service uses a score assembled from threshold points and divides by 45. Risk classification also considers blood-pressure and rhythm flags. This should not be presented as a validated probability.</a:t>
            </a:r>
          </a:p>
          <a:p>
            <a:endParaRPr/>
          </a:p>
          <a:p>
            <a:r>
              <a:t>Sources: </a:t>
            </a:r>
          </a:p>
          <a:p>
            <a:r>
              <a:t>https://github.com/Aditya725wu/DigitalTwin/blob/main/backend/main.py</a:t>
            </a:r>
          </a:p>
          <a:p>
            <a:r>
              <a:t>https://github.com/Aditya725wu/DigitalTwin/blob/main/backend/heart_disease_models.py</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conflate the optional model-training script with the active API path. The risk labels in the trainer are constructed from the same simplified factors, so its metrics do not establish clinical performance.</a:t>
            </a:r>
          </a:p>
          <a:p>
            <a:endParaRPr/>
          </a:p>
          <a:p>
            <a:r>
              <a:t>Sources: </a:t>
            </a:r>
          </a:p>
          <a:p>
            <a:r>
              <a:t>https://github.com/Aditya725wu/DigitalTwin/blob/main/backend/main.py</a:t>
            </a:r>
          </a:p>
          <a:p>
            <a:r>
              <a:t>https://github.com/Aditya725wu/DigitalTwin/blob/main/backend/heart_disease_models.py</a:t>
            </a:r>
          </a:p>
          <a:p>
            <a:r>
              <a:t>https://github.com/Aditya725wu/DigitalTwin/blob/main/backend/generate_cardiac_data.py</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current backend stores recent readings in memory, capped at 1,000 per patient, and pushes alert or prediction updates over the socket.</a:t>
            </a:r>
          </a:p>
          <a:p>
            <a:endParaRPr/>
          </a:p>
          <a:p>
            <a:r>
              <a:t>Sources: </a:t>
            </a:r>
          </a:p>
          <a:p>
            <a:r>
              <a:t>https://github.com/Aditya725wu/DigitalTwin/blob/main/docs/api-reference.md</a:t>
            </a:r>
          </a:p>
          <a:p>
            <a:r>
              <a:t>https://github.com/Aditya725wu/DigitalTwin/blob/main/backend/main.py</a:t>
            </a:r>
          </a:p>
          <a:p>
            <a:r>
              <a:t>https://github.com/Aditya725wu/DigitalTwin/blob/main/docs/architecture.md</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Thresholds are illustrative code behavior only. The action strings returned by the repository are hard-coded and need clinician safety review before any real-world use.</a:t>
            </a:r>
          </a:p>
          <a:p>
            <a:endParaRPr/>
          </a:p>
          <a:p>
            <a:r>
              <a:t>Sources: </a:t>
            </a:r>
          </a:p>
          <a:p>
            <a:r>
              <a:t>https://github.com/Aditya725wu/DigitalTwin/blob/main/backend/main.py</a:t>
            </a:r>
          </a:p>
          <a:p>
            <a:r>
              <a:t>https://github.com/Aditya725wu/DigitalTwin/blob/main/docs/api-reference.md</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an editable schematic based on the React dashboard sections in the repo, not a captured screenshot. The plotted trend line is illustrative rather than patient data. The code refreshes dashboard data every 30 seconds and supports alert acknowledgement.</a:t>
            </a:r>
          </a:p>
          <a:p>
            <a:endParaRPr/>
          </a:p>
          <a:p>
            <a:r>
              <a:t>Sources: </a:t>
            </a:r>
          </a:p>
          <a:p>
            <a:r>
              <a:t>https://github.com/Aditya725wu/DigitalTwin/blob/main/web-dashboard/src/app/dashboard/page.tsx</a:t>
            </a:r>
          </a:p>
          <a:p>
            <a:r>
              <a:t>https://github.com/Aditya725wu/DigitalTwin/blob/main/README.md</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an editable schematic based on the Expo screen code. The example value is from a seeded synthetic patient and is not clinical evidence.</a:t>
            </a:r>
          </a:p>
          <a:p>
            <a:endParaRPr/>
          </a:p>
          <a:p>
            <a:r>
              <a:t>Sources: </a:t>
            </a:r>
          </a:p>
          <a:p>
            <a:r>
              <a:t>https://github.com/Aditya725wu/DigitalTwin/blob/main/mobile-app/App.js</a:t>
            </a:r>
          </a:p>
          <a:p>
            <a:r>
              <a:t>https://github.com/Aditya725wu/DigitalTwin/blob/main/mobile-app/src/screens/HomeScreen.js</a:t>
            </a:r>
          </a:p>
          <a:p>
            <a:r>
              <a:t>https://github.com/Aditya725wu/DigitalTwin/blob/main/mobile-app/src/screens/CardiacScreen.js</a:t>
            </a:r>
          </a:p>
          <a:p>
            <a:r>
              <a:t>https://github.com/Aditya725wu/DigitalTwin/blob/main/mobile-app/src/screens/AlertsScreen.js</a:t>
            </a:r>
          </a:p>
          <a:p>
            <a:r>
              <a:t>https://github.com/Aditya725wu/DigitalTwin/blob/main/mobile-app/src/screens/ProfileScreen.js</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Follow the repository demo sequence. Show that a new vital can be submitted through Swagger and then reviewed as an alert.</a:t>
            </a:r>
          </a:p>
          <a:p>
            <a:endParaRPr/>
          </a:p>
          <a:p>
            <a:r>
              <a:t>Sources: </a:t>
            </a:r>
          </a:p>
          <a:p>
            <a:r>
              <a:t>https://github.com/Aditya725wu/DigitalTwin/blob/main/README.md</a:t>
            </a:r>
          </a:p>
          <a:p>
            <a:r>
              <a:t>https://github.com/Aditya725wu/DigitalTwin/blob/main/docs/hackathon-submission.md</a:t>
            </a:r>
          </a:p>
          <a:p>
            <a:r>
              <a:t>https://github.com/Aditya725wu/DigitalTwin/blob/main/docs/api-reference.md</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Close with the boundary: all data are synthetic, persistence is in memory, risk scoring is simplified, and the repository is not a medical device.</a:t>
            </a:r>
          </a:p>
          <a:p>
            <a:endParaRPr/>
          </a:p>
          <a:p>
            <a:r>
              <a:t>Sources: </a:t>
            </a:r>
          </a:p>
          <a:p>
            <a:r>
              <a:t>https://github.com/Aditya725wu/DigitalTwin/blob/main/README.md</a:t>
            </a:r>
          </a:p>
          <a:p>
            <a:r>
              <a:t>https://github.com/Aditya725wu/DigitalTwin/blob/main/docs/hackathon-submission.md</a:t>
            </a:r>
          </a:p>
          <a:p>
            <a:r>
              <a:t>https://github.com/Aditya725wu/DigitalTwin/blob/main/backend/main.py</a:t>
            </a:r>
          </a:p>
          <a:p>
            <a:r>
              <a:t>https://github.com/Aditya725wu/DigitalTwin/blob/main/backend/heart_disease_models.py</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uses the editable Excalidraw source diagram digital_twin_flow.excalidraw created for the project. It complements the Napkin.ai diagram on slide 4.</a:t>
            </a:r>
          </a:p>
          <a:p>
            <a:endParaRPr/>
          </a:p>
          <a:p>
            <a:r>
              <a:t>Sources: </a:t>
            </a:r>
          </a:p>
          <a:p>
            <a:r>
              <a:t>https://github.com/Aditya725wu/DigitalTwin/blob/main/README.md</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the project team. Team leader: Manthan Sanap. Members: Jay Mapari, Aditya Kharade, and Aditya Patil.</a:t>
            </a:r>
          </a:p>
          <a:p>
            <a:endParaRPr/>
          </a:p>
          <a:p>
            <a:r>
              <a:t>Sources: </a:t>
            </a:r>
          </a:p>
          <a:p>
            <a:r>
              <a:t>https://github.com/Aditya725wu/DigitalTwin/blob/main/README.md</a:t>
            </a:r>
          </a:p>
          <a:p>
            <a:endParaRPr/>
          </a:p>
          <a:p>
            <a:r>
              <a:t>Safety: synthetic proof of concept only. Outputs are simplified heuristics, not validated clinical predictions or medical advice.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9F0F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xmlns="" id="{0A978CA2-418E-41CB-83CA-40D65A2CE4A1}"/>
              </a:ext>
            </a:extLst>
          </p:cNvPr>
          <p:cNvPicPr>
            <a:picLocks noChangeAspect="1"/>
          </p:cNvPicPr>
          <p:nvPr/>
        </p:nvPicPr>
        <p:blipFill>
          <a:blip r:embed="rId3"/>
          <a:srcRect/>
          <a:stretch>
            <a:fillRect/>
          </a:stretch>
        </p:blipFill>
        <p:spPr>
          <a:xfrm>
            <a:off x="0" y="0"/>
            <a:ext cx="7477125" cy="5391150"/>
          </a:xfrm>
          <a:prstGeom prst="rect">
            <a:avLst/>
          </a:prstGeom>
        </p:spPr>
      </p:pic>
      <p:sp>
        <p:nvSpPr>
          <p:cNvPr id="2" name="Rectangle 1">
            <a:extLst>
              <a:ext uri="{FF2B5EF4-FFF2-40B4-BE49-F238E27FC236}">
                <a16:creationId xmlns:a16="http://schemas.microsoft.com/office/drawing/2014/main" xmlns="" id="{1D83CEEB-D345-487F-A956-BF42C021A877}"/>
              </a:ext>
            </a:extLst>
          </p:cNvPr>
          <p:cNvSpPr>
            <a:spLocks noGrp="1"/>
          </p:cNvSpPr>
          <p:nvPr/>
        </p:nvSpPr>
        <p:spPr>
          <a:xfrm>
            <a:off x="685800" y="1228725"/>
            <a:ext cx="6105525" cy="742950"/>
          </a:xfrm>
          <a:prstGeom prst="rect">
            <a:avLst/>
          </a:prstGeom>
          <a:noFill/>
          <a:ln w="0">
            <a:noFill/>
          </a:ln>
        </p:spPr>
        <p:txBody>
          <a:bodyPr wrap="none" lIns="0" tIns="0" rIns="0" bIns="0" anchor="ctr">
            <a:noAutofit/>
          </a:bodyPr>
          <a:lstStyle/>
          <a:p>
            <a:pPr algn="ctr">
              <a:buNone/>
              <a:defRPr sz="5100">
                <a:solidFill>
                  <a:srgbClr val="07334B"/>
                </a:solidFill>
                <a:latin typeface="Georgia"/>
                <a:ea typeface="Georgia"/>
                <a:cs typeface="Georgia"/>
              </a:defRPr>
            </a:pPr>
            <a:r>
              <a:rPr sz="5100">
                <a:solidFill>
                  <a:srgbClr val="07334B"/>
                </a:solidFill>
                <a:latin typeface="Georgia"/>
                <a:ea typeface="Georgia"/>
                <a:cs typeface="Georgia"/>
              </a:rPr>
              <a:t>S A D H Y A</a:t>
            </a:r>
          </a:p>
        </p:txBody>
      </p:sp>
    </p:spTree>
    <p:extLst>
      <p:ext uri="{BB962C8B-B14F-4D97-AF65-F5344CB8AC3E}">
        <p14:creationId xmlns:p14="http://schemas.microsoft.com/office/powerpoint/2010/main" val="5539491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xmlns="" id="{98ACA53F-0214-4553-87FE-BEDCC5D92FAC}"/>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17" name="Rounded Rectangle 16">
            <a:extLst>
              <a:ext uri="{FF2B5EF4-FFF2-40B4-BE49-F238E27FC236}">
                <a16:creationId xmlns:a16="http://schemas.microsoft.com/office/drawing/2014/main" xmlns="" id="{2A831F86-AD84-4EDE-80DA-B0F7A5B86F15}"/>
              </a:ext>
            </a:extLst>
          </p:cNvPr>
          <p:cNvSpPr>
            <a:spLocks noGrp="1"/>
          </p:cNvSpPr>
          <p:nvPr/>
        </p:nvSpPr>
        <p:spPr>
          <a:xfrm>
            <a:off x="342900" y="1400175"/>
            <a:ext cx="2933700" cy="3276600"/>
          </a:xfrm>
          <a:prstGeom prst="roundRect">
            <a:avLst>
              <a:gd name="adj" fmla="val 4870"/>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18" name="Rounded Rectangle 17">
            <a:extLst>
              <a:ext uri="{FF2B5EF4-FFF2-40B4-BE49-F238E27FC236}">
                <a16:creationId xmlns:a16="http://schemas.microsoft.com/office/drawing/2014/main" xmlns="" id="{1D6D0D20-F79C-499A-9DAC-E756A86937BF}"/>
              </a:ext>
            </a:extLst>
          </p:cNvPr>
          <p:cNvSpPr>
            <a:spLocks noGrp="1"/>
          </p:cNvSpPr>
          <p:nvPr/>
        </p:nvSpPr>
        <p:spPr>
          <a:xfrm>
            <a:off x="342900" y="1419225"/>
            <a:ext cx="47625" cy="3238500"/>
          </a:xfrm>
          <a:prstGeom prst="roundRect">
            <a:avLst>
              <a:gd name="adj" fmla="val 50000"/>
            </a:avLst>
          </a:prstGeom>
          <a:solidFill>
            <a:srgbClr val="168F89"/>
          </a:solidFill>
          <a:ln w="0">
            <a:noFill/>
            <a:prstDash val="solid"/>
          </a:ln>
        </p:spPr>
      </p:sp>
      <p:sp>
        <p:nvSpPr>
          <p:cNvPr id="19" name="Rounded Rectangle 18">
            <a:extLst>
              <a:ext uri="{FF2B5EF4-FFF2-40B4-BE49-F238E27FC236}">
                <a16:creationId xmlns:a16="http://schemas.microsoft.com/office/drawing/2014/main" xmlns="" id="{7660F97B-5227-401F-BB32-1AD31CF5C860}"/>
              </a:ext>
            </a:extLst>
          </p:cNvPr>
          <p:cNvSpPr>
            <a:spLocks noGrp="1"/>
          </p:cNvSpPr>
          <p:nvPr/>
        </p:nvSpPr>
        <p:spPr>
          <a:xfrm>
            <a:off x="3419475" y="1400175"/>
            <a:ext cx="3705225" cy="3276600"/>
          </a:xfrm>
          <a:prstGeom prst="roundRect">
            <a:avLst>
              <a:gd name="adj" fmla="val 4360"/>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20" name="Rounded Rectangle 19">
            <a:extLst>
              <a:ext uri="{FF2B5EF4-FFF2-40B4-BE49-F238E27FC236}">
                <a16:creationId xmlns:a16="http://schemas.microsoft.com/office/drawing/2014/main" xmlns="" id="{B4CC1D95-C20F-4F6F-8D05-E801ECADDB29}"/>
              </a:ext>
            </a:extLst>
          </p:cNvPr>
          <p:cNvSpPr>
            <a:spLocks noGrp="1"/>
          </p:cNvSpPr>
          <p:nvPr/>
        </p:nvSpPr>
        <p:spPr>
          <a:xfrm>
            <a:off x="3419475" y="1419225"/>
            <a:ext cx="57150" cy="3238500"/>
          </a:xfrm>
          <a:prstGeom prst="roundRect">
            <a:avLst>
              <a:gd name="adj" fmla="val 50000"/>
            </a:avLst>
          </a:prstGeom>
          <a:solidFill>
            <a:srgbClr val="1598B7"/>
          </a:solidFill>
          <a:ln w="0">
            <a:noFill/>
            <a:prstDash val="solid"/>
          </a:ln>
        </p:spPr>
      </p:sp>
      <p:cxnSp>
        <p:nvCxnSpPr>
          <p:cNvPr id="13" name="Straight Arrow Connector 12">
            <a:extLst>
              <a:ext uri="{FF2B5EF4-FFF2-40B4-BE49-F238E27FC236}">
                <a16:creationId xmlns:a16="http://schemas.microsoft.com/office/drawing/2014/main" xmlns="" id="{6BA56D28-65DA-4A40-9F3E-6D1C08051C2C}"/>
              </a:ext>
            </a:extLst>
          </p:cNvPr>
          <p:cNvCxnSpPr>
            <a:stCxn id="10" idx="3"/>
            <a:endCxn id="11" idx="1"/>
          </p:cNvCxnSpPr>
          <p:nvPr/>
        </p:nvCxnSpPr>
        <p:spPr>
          <a:xfrm flipV="1">
            <a:off x="4857750" y="2495550"/>
            <a:ext cx="428625" cy="533400"/>
          </a:xfrm>
          <a:prstGeom prst="straightConnector1">
            <a:avLst/>
          </a:prstGeom>
          <a:ln w="19050">
            <a:solidFill>
              <a:srgbClr val="248F8A"/>
            </a:solidFill>
            <a:prstDash val="solid"/>
          </a:ln>
        </p:spPr>
      </p:cxnSp>
      <p:cxnSp>
        <p:nvCxnSpPr>
          <p:cNvPr id="12" name="Straight Arrow Connector 11">
            <a:extLst>
              <a:ext uri="{FF2B5EF4-FFF2-40B4-BE49-F238E27FC236}">
                <a16:creationId xmlns:a16="http://schemas.microsoft.com/office/drawing/2014/main" xmlns="" id="{13387C3A-A085-4E37-B34A-57B2AF6F90DD}"/>
              </a:ext>
            </a:extLst>
          </p:cNvPr>
          <p:cNvCxnSpPr>
            <a:stCxn id="9" idx="3"/>
            <a:endCxn id="11" idx="1"/>
          </p:cNvCxnSpPr>
          <p:nvPr/>
        </p:nvCxnSpPr>
        <p:spPr>
          <a:xfrm>
            <a:off x="4857750" y="1914525"/>
            <a:ext cx="428625" cy="581025"/>
          </a:xfrm>
          <a:prstGeom prst="straightConnector1">
            <a:avLst/>
          </a:prstGeom>
          <a:ln w="19050">
            <a:solidFill>
              <a:srgbClr val="248F8A"/>
            </a:solidFill>
            <a:prstDash val="solid"/>
          </a:ln>
        </p:spPr>
      </p:cxnSp>
      <p:sp>
        <p:nvSpPr>
          <p:cNvPr id="15" name="Rectangle 14">
            <a:extLst>
              <a:ext uri="{FF2B5EF4-FFF2-40B4-BE49-F238E27FC236}">
                <a16:creationId xmlns:a16="http://schemas.microsoft.com/office/drawing/2014/main" xmlns="" id="{BE3A622A-B8D4-4BF1-96CE-F6AD5FAB4CAB}"/>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CardioTwin at a glance</a:t>
            </a:r>
          </a:p>
        </p:txBody>
      </p:sp>
      <p:sp>
        <p:nvSpPr>
          <p:cNvPr id="2" name="Straight Connector 1">
            <a:extLst>
              <a:ext uri="{FF2B5EF4-FFF2-40B4-BE49-F238E27FC236}">
                <a16:creationId xmlns:a16="http://schemas.microsoft.com/office/drawing/2014/main" xmlns="" id="{DDEE5B96-2126-476D-8A71-5C69FE19EAC2}"/>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EA2BC8D6-3414-40C2-BD92-C68FAEBA8B80}"/>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A synthetic-data prototype for clinician review of cardiac context and incoming telemetry.</a:t>
            </a:r>
          </a:p>
        </p:txBody>
      </p:sp>
      <p:sp>
        <p:nvSpPr>
          <p:cNvPr id="4" name="Straight Connector 3">
            <a:extLst>
              <a:ext uri="{FF2B5EF4-FFF2-40B4-BE49-F238E27FC236}">
                <a16:creationId xmlns:a16="http://schemas.microsoft.com/office/drawing/2014/main" xmlns="" id="{F37DA405-2EE3-4824-A94C-0F32E02890F1}"/>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180AF8F9-8D37-4EEF-8BD0-DD8B748EBFB5}"/>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A0C56D11-A022-47E8-8F72-DBBEDD250AEA}"/>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02</a:t>
            </a:r>
          </a:p>
        </p:txBody>
      </p:sp>
      <p:sp>
        <p:nvSpPr>
          <p:cNvPr id="7" name="Rectangle 6">
            <a:extLst>
              <a:ext uri="{FF2B5EF4-FFF2-40B4-BE49-F238E27FC236}">
                <a16:creationId xmlns:a16="http://schemas.microsoft.com/office/drawing/2014/main" xmlns="" id="{BDE3DD17-7472-4C55-8262-96457EE3857A}"/>
              </a:ext>
            </a:extLst>
          </p:cNvPr>
          <p:cNvSpPr>
            <a:spLocks noGrp="1"/>
          </p:cNvSpPr>
          <p:nvPr/>
        </p:nvSpPr>
        <p:spPr>
          <a:xfrm>
            <a:off x="514350" y="1638300"/>
            <a:ext cx="2457450" cy="1181100"/>
          </a:xfrm>
          <a:prstGeom prst="rect">
            <a:avLst/>
          </a:prstGeom>
          <a:noFill/>
          <a:ln w="0">
            <a:noFill/>
            <a:prstDash val="solid"/>
          </a:ln>
        </p:spPr>
        <p:txBody>
          <a:bodyPr wrap="square" lIns="0" tIns="0" rIns="0" bIns="0" anchor="t">
            <a:normAutofit fontScale="98356"/>
          </a:bodyPr>
          <a:lstStyle>
            <a:defPPr algn="l">
              <a:defRPr sz="2550" b="1" i="0">
                <a:solidFill>
                  <a:srgbClr val="123F50"/>
                </a:solidFill>
                <a:latin typeface="Calibri Light"/>
                <a:ea typeface="Calibri Light"/>
                <a:cs typeface="Calibri Light"/>
              </a:defRPr>
            </a:defPPr>
            <a:lvl1pPr algn="l">
              <a:buNone/>
              <a:defRPr sz="2550" b="1" i="0">
                <a:solidFill>
                  <a:srgbClr val="123F50"/>
                </a:solidFill>
                <a:latin typeface="Calibri Light"/>
                <a:ea typeface="Calibri Light"/>
                <a:cs typeface="Calibri Light"/>
              </a:defRPr>
            </a:lvl1pPr>
            <a:lvl2pPr algn="l">
              <a:buNone/>
              <a:defRPr sz="2550" b="1" i="0">
                <a:solidFill>
                  <a:srgbClr val="123F50"/>
                </a:solidFill>
                <a:latin typeface="Calibri Light"/>
                <a:ea typeface="Calibri Light"/>
                <a:cs typeface="Calibri Light"/>
              </a:defRPr>
            </a:lvl2pPr>
            <a:lvl3pPr algn="l">
              <a:buNone/>
              <a:defRPr sz="2550" b="1" i="0">
                <a:solidFill>
                  <a:srgbClr val="123F50"/>
                </a:solidFill>
                <a:latin typeface="Calibri Light"/>
                <a:ea typeface="Calibri Light"/>
                <a:cs typeface="Calibri Light"/>
              </a:defRPr>
            </a:lvl3pPr>
            <a:lvl4pPr algn="l">
              <a:buNone/>
              <a:defRPr sz="2550" b="1" i="0">
                <a:solidFill>
                  <a:srgbClr val="123F50"/>
                </a:solidFill>
                <a:latin typeface="Calibri Light"/>
                <a:ea typeface="Calibri Light"/>
                <a:cs typeface="Calibri Light"/>
              </a:defRPr>
            </a:lvl4pPr>
            <a:lvl5pPr algn="l">
              <a:buNone/>
              <a:defRPr sz="2550" b="1" i="0">
                <a:solidFill>
                  <a:srgbClr val="123F50"/>
                </a:solidFill>
                <a:latin typeface="Calibri Light"/>
                <a:ea typeface="Calibri Light"/>
                <a:cs typeface="Calibri Light"/>
              </a:defRPr>
            </a:lvl5pPr>
            <a:lvl6pPr algn="l">
              <a:buNone/>
              <a:defRPr sz="2550" b="1" i="0">
                <a:solidFill>
                  <a:srgbClr val="123F50"/>
                </a:solidFill>
                <a:latin typeface="Calibri Light"/>
                <a:ea typeface="Calibri Light"/>
                <a:cs typeface="Calibri Light"/>
              </a:defRPr>
            </a:lvl6pPr>
            <a:lvl7pPr algn="l">
              <a:buNone/>
              <a:defRPr sz="2550" b="1" i="0">
                <a:solidFill>
                  <a:srgbClr val="123F50"/>
                </a:solidFill>
                <a:latin typeface="Calibri Light"/>
                <a:ea typeface="Calibri Light"/>
                <a:cs typeface="Calibri Light"/>
              </a:defRPr>
            </a:lvl7pPr>
            <a:lvl8pPr algn="l">
              <a:buNone/>
              <a:defRPr sz="2550" b="1" i="0">
                <a:solidFill>
                  <a:srgbClr val="123F50"/>
                </a:solidFill>
                <a:latin typeface="Calibri Light"/>
                <a:ea typeface="Calibri Light"/>
                <a:cs typeface="Calibri Light"/>
              </a:defRPr>
            </a:lvl8pPr>
            <a:lvl9pPr algn="l">
              <a:buNone/>
              <a:defRPr sz="2550" b="1" i="0">
                <a:solidFill>
                  <a:srgbClr val="123F50"/>
                </a:solidFill>
                <a:latin typeface="Calibri Light"/>
                <a:ea typeface="Calibri Light"/>
                <a:cs typeface="Calibri Light"/>
              </a:defRPr>
            </a:lvl9pPr>
          </a:lstStyle>
          <a:p>
            <a:pPr algn="l">
              <a:lnSpc>
                <a:spcPct val="103000"/>
              </a:lnSpc>
              <a:buNone/>
              <a:defRPr sz="2550" b="1" i="0">
                <a:solidFill>
                  <a:srgbClr val="123F50"/>
                </a:solidFill>
                <a:latin typeface="Calibri Light"/>
                <a:ea typeface="Calibri Light"/>
                <a:cs typeface="Calibri Light"/>
              </a:defRPr>
            </a:pPr>
            <a:r>
              <a:rPr sz="2550" b="1" i="0">
                <a:solidFill>
                  <a:srgbClr val="123F50"/>
                </a:solidFill>
                <a:latin typeface="Calibri Light"/>
                <a:ea typeface="Calibri Light"/>
                <a:cs typeface="Calibri Light"/>
              </a:rPr>
              <a:t>One patient view</a:t>
            </a:r>
          </a:p>
          <a:p>
            <a:pPr algn="l">
              <a:lnSpc>
                <a:spcPct val="103000"/>
              </a:lnSpc>
              <a:buNone/>
              <a:defRPr sz="2550" b="1" i="0">
                <a:solidFill>
                  <a:srgbClr val="123F50"/>
                </a:solidFill>
                <a:latin typeface="Calibri Light"/>
                <a:ea typeface="Calibri Light"/>
                <a:cs typeface="Calibri Light"/>
              </a:defRPr>
            </a:pPr>
            <a:r>
              <a:rPr sz="2550" b="1" i="0">
                <a:solidFill>
                  <a:srgbClr val="123F50"/>
                </a:solidFill>
                <a:latin typeface="Calibri Light"/>
                <a:ea typeface="Calibri Light"/>
                <a:cs typeface="Calibri Light"/>
              </a:rPr>
              <a:t>from two data streams</a:t>
            </a:r>
          </a:p>
        </p:txBody>
      </p:sp>
      <p:sp>
        <p:nvSpPr>
          <p:cNvPr id="8" name="Rectangle 7">
            <a:extLst>
              <a:ext uri="{FF2B5EF4-FFF2-40B4-BE49-F238E27FC236}">
                <a16:creationId xmlns:a16="http://schemas.microsoft.com/office/drawing/2014/main" xmlns="" id="{93EA7D53-59CF-4B1D-AF09-53F8F4AC643F}"/>
              </a:ext>
            </a:extLst>
          </p:cNvPr>
          <p:cNvSpPr>
            <a:spLocks noGrp="1"/>
          </p:cNvSpPr>
          <p:nvPr/>
        </p:nvSpPr>
        <p:spPr>
          <a:xfrm>
            <a:off x="514350" y="2952750"/>
            <a:ext cx="2628900" cy="990600"/>
          </a:xfrm>
          <a:prstGeom prst="rect">
            <a:avLst/>
          </a:prstGeom>
          <a:noFill/>
          <a:ln w="0">
            <a:noFill/>
            <a:prstDash val="solid"/>
          </a:ln>
        </p:spPr>
        <p:txBody>
          <a:bodyPr wrap="square" lIns="0" tIns="0" rIns="0" bIns="0" anchor="t">
            <a:normAutofit fontScale="87975" lnSpcReduction="10000"/>
          </a:bodyPr>
          <a:lstStyle>
            <a:defPPr algn="l">
              <a:defRPr sz="1350" b="0" i="0">
                <a:solidFill>
                  <a:srgbClr val="263C45"/>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a:pPr algn="l">
              <a:lnSpc>
                <a:spcPct val="116000"/>
              </a:lnSpc>
              <a:buNone/>
              <a:defRPr sz="1350" b="0" i="0">
                <a:solidFill>
                  <a:srgbClr val="263C45"/>
                </a:solidFill>
                <a:latin typeface="Calibri"/>
                <a:ea typeface="Calibri"/>
                <a:cs typeface="Calibri"/>
              </a:defRPr>
            </a:pPr>
            <a:r>
              <a:rPr sz="1350" b="0" i="0">
                <a:solidFill>
                  <a:srgbClr val="263C45"/>
                </a:solidFill>
                <a:latin typeface="Calibri"/>
                <a:ea typeface="Calibri"/>
                <a:cs typeface="Calibri"/>
              </a:rPr>
              <a:t>CardioTwin combines a synthetic EHR profile with simulated wearable readings, then presents rule-based cardiac indicators in a clinician dashboard and patient app.</a:t>
            </a:r>
          </a:p>
        </p:txBody>
      </p:sp>
      <p:sp>
        <p:nvSpPr>
          <p:cNvPr id="9" name="Rounded Rectangle 8">
            <a:extLst>
              <a:ext uri="{FF2B5EF4-FFF2-40B4-BE49-F238E27FC236}">
                <a16:creationId xmlns:a16="http://schemas.microsoft.com/office/drawing/2014/main" xmlns="" id="{3457BBDF-8D26-4E2F-9F57-96BD3AD85748}"/>
              </a:ext>
            </a:extLst>
          </p:cNvPr>
          <p:cNvSpPr>
            <a:spLocks noGrp="1"/>
          </p:cNvSpPr>
          <p:nvPr/>
        </p:nvSpPr>
        <p:spPr>
          <a:xfrm>
            <a:off x="3476625" y="1571625"/>
            <a:ext cx="1381125" cy="685800"/>
          </a:xfrm>
          <a:prstGeom prst="roundRect">
            <a:avLst>
              <a:gd name="adj" fmla="val 11111"/>
            </a:avLst>
          </a:prstGeom>
          <a:solidFill>
            <a:srgbClr val="E8F3F4"/>
          </a:solidFill>
          <a:ln w="11430">
            <a:solidFill>
              <a:srgbClr val="BBD7D8"/>
            </a:solidFill>
            <a:prstDash val="solid"/>
          </a:ln>
        </p:spPr>
        <p:txBody>
          <a:bodyPr wrap="square" lIns="95250" tIns="76200" rIns="95250" bIns="76200" anchor="ctr">
            <a:normAutofit/>
          </a:bodyPr>
          <a:lstStyle>
            <a:defPPr algn="ctr">
              <a:defRPr sz="1200" b="1">
                <a:solidFill>
                  <a:srgbClr val="263C45"/>
                </a:solidFill>
                <a:latin typeface="Calibri"/>
                <a:ea typeface="Calibri"/>
                <a:cs typeface="Calibri"/>
              </a:defRPr>
            </a:defPPr>
            <a:lvl1pPr algn="ctr">
              <a:buNone/>
              <a:defRPr sz="1200" b="1">
                <a:solidFill>
                  <a:srgbClr val="263C45"/>
                </a:solidFill>
                <a:latin typeface="Calibri"/>
                <a:ea typeface="Calibri"/>
                <a:cs typeface="Calibri"/>
              </a:defRPr>
            </a:lvl1pPr>
            <a:lvl2pPr algn="ctr">
              <a:buNone/>
              <a:defRPr sz="1200" b="1">
                <a:solidFill>
                  <a:srgbClr val="263C45"/>
                </a:solidFill>
                <a:latin typeface="Calibri"/>
                <a:ea typeface="Calibri"/>
                <a:cs typeface="Calibri"/>
              </a:defRPr>
            </a:lvl2pPr>
            <a:lvl3pPr algn="ctr">
              <a:buNone/>
              <a:defRPr sz="1200" b="1">
                <a:solidFill>
                  <a:srgbClr val="263C45"/>
                </a:solidFill>
                <a:latin typeface="Calibri"/>
                <a:ea typeface="Calibri"/>
                <a:cs typeface="Calibri"/>
              </a:defRPr>
            </a:lvl3pPr>
            <a:lvl4pPr algn="ctr">
              <a:buNone/>
              <a:defRPr sz="1200" b="1">
                <a:solidFill>
                  <a:srgbClr val="263C45"/>
                </a:solidFill>
                <a:latin typeface="Calibri"/>
                <a:ea typeface="Calibri"/>
                <a:cs typeface="Calibri"/>
              </a:defRPr>
            </a:lvl4pPr>
            <a:lvl5pPr algn="ctr">
              <a:buNone/>
              <a:defRPr sz="1200" b="1">
                <a:solidFill>
                  <a:srgbClr val="263C45"/>
                </a:solidFill>
                <a:latin typeface="Calibri"/>
                <a:ea typeface="Calibri"/>
                <a:cs typeface="Calibri"/>
              </a:defRPr>
            </a:lvl5pPr>
            <a:lvl6pPr algn="ctr">
              <a:buNone/>
              <a:defRPr sz="1200" b="1">
                <a:solidFill>
                  <a:srgbClr val="263C45"/>
                </a:solidFill>
                <a:latin typeface="Calibri"/>
                <a:ea typeface="Calibri"/>
                <a:cs typeface="Calibri"/>
              </a:defRPr>
            </a:lvl6pPr>
            <a:lvl7pPr algn="ctr">
              <a:buNone/>
              <a:defRPr sz="1200" b="1">
                <a:solidFill>
                  <a:srgbClr val="263C45"/>
                </a:solidFill>
                <a:latin typeface="Calibri"/>
                <a:ea typeface="Calibri"/>
                <a:cs typeface="Calibri"/>
              </a:defRPr>
            </a:lvl7pPr>
            <a:lvl8pPr algn="ctr">
              <a:buNone/>
              <a:defRPr sz="1200" b="1">
                <a:solidFill>
                  <a:srgbClr val="263C45"/>
                </a:solidFill>
                <a:latin typeface="Calibri"/>
                <a:ea typeface="Calibri"/>
                <a:cs typeface="Calibri"/>
              </a:defRPr>
            </a:lvl8pPr>
            <a:lvl9pPr algn="ctr">
              <a:buNone/>
              <a:defRPr sz="1200" b="1">
                <a:solidFill>
                  <a:srgbClr val="263C45"/>
                </a:solidFill>
                <a:latin typeface="Calibri"/>
                <a:ea typeface="Calibri"/>
                <a:cs typeface="Calibri"/>
              </a:defRPr>
            </a:lvl9pPr>
          </a:lstStyle>
          <a:p>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Synthetic EHR</a:t>
            </a:r>
          </a:p>
          <a:p>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patient context</a:t>
            </a:r>
          </a:p>
        </p:txBody>
      </p:sp>
      <p:sp>
        <p:nvSpPr>
          <p:cNvPr id="10" name="Rounded Rectangle 9">
            <a:extLst>
              <a:ext uri="{FF2B5EF4-FFF2-40B4-BE49-F238E27FC236}">
                <a16:creationId xmlns:a16="http://schemas.microsoft.com/office/drawing/2014/main" xmlns="" id="{04B51FEF-9C23-48A4-B126-39647369E459}"/>
              </a:ext>
            </a:extLst>
          </p:cNvPr>
          <p:cNvSpPr>
            <a:spLocks noGrp="1"/>
          </p:cNvSpPr>
          <p:nvPr/>
        </p:nvSpPr>
        <p:spPr>
          <a:xfrm>
            <a:off x="3476625" y="2686050"/>
            <a:ext cx="1381125" cy="685800"/>
          </a:xfrm>
          <a:prstGeom prst="roundRect">
            <a:avLst>
              <a:gd name="adj" fmla="val 11111"/>
            </a:avLst>
          </a:prstGeom>
          <a:solidFill>
            <a:srgbClr val="E6F4EF"/>
          </a:solidFill>
          <a:ln w="11430">
            <a:solidFill>
              <a:srgbClr val="BFDCD2"/>
            </a:solidFill>
            <a:prstDash val="solid"/>
          </a:ln>
        </p:spPr>
        <p:txBody>
          <a:bodyPr wrap="square" lIns="95250" tIns="76200" rIns="95250" bIns="76200" anchor="ctr">
            <a:normAutofit fontScale="90766"/>
          </a:bodyPr>
          <a:lstStyle>
            <a:defPPr algn="ctr">
              <a:defRPr sz="1200" b="1">
                <a:solidFill>
                  <a:srgbClr val="263C45"/>
                </a:solidFill>
                <a:latin typeface="Calibri"/>
                <a:ea typeface="Calibri"/>
                <a:cs typeface="Calibri"/>
              </a:defRPr>
            </a:defPPr>
            <a:lvl1pPr algn="ctr">
              <a:buNone/>
              <a:defRPr sz="1200" b="1">
                <a:solidFill>
                  <a:srgbClr val="263C45"/>
                </a:solidFill>
                <a:latin typeface="Calibri"/>
                <a:ea typeface="Calibri"/>
                <a:cs typeface="Calibri"/>
              </a:defRPr>
            </a:lvl1pPr>
            <a:lvl2pPr algn="ctr">
              <a:buNone/>
              <a:defRPr sz="1200" b="1">
                <a:solidFill>
                  <a:srgbClr val="263C45"/>
                </a:solidFill>
                <a:latin typeface="Calibri"/>
                <a:ea typeface="Calibri"/>
                <a:cs typeface="Calibri"/>
              </a:defRPr>
            </a:lvl2pPr>
            <a:lvl3pPr algn="ctr">
              <a:buNone/>
              <a:defRPr sz="1200" b="1">
                <a:solidFill>
                  <a:srgbClr val="263C45"/>
                </a:solidFill>
                <a:latin typeface="Calibri"/>
                <a:ea typeface="Calibri"/>
                <a:cs typeface="Calibri"/>
              </a:defRPr>
            </a:lvl3pPr>
            <a:lvl4pPr algn="ctr">
              <a:buNone/>
              <a:defRPr sz="1200" b="1">
                <a:solidFill>
                  <a:srgbClr val="263C45"/>
                </a:solidFill>
                <a:latin typeface="Calibri"/>
                <a:ea typeface="Calibri"/>
                <a:cs typeface="Calibri"/>
              </a:defRPr>
            </a:lvl4pPr>
            <a:lvl5pPr algn="ctr">
              <a:buNone/>
              <a:defRPr sz="1200" b="1">
                <a:solidFill>
                  <a:srgbClr val="263C45"/>
                </a:solidFill>
                <a:latin typeface="Calibri"/>
                <a:ea typeface="Calibri"/>
                <a:cs typeface="Calibri"/>
              </a:defRPr>
            </a:lvl5pPr>
            <a:lvl6pPr algn="ctr">
              <a:buNone/>
              <a:defRPr sz="1200" b="1">
                <a:solidFill>
                  <a:srgbClr val="263C45"/>
                </a:solidFill>
                <a:latin typeface="Calibri"/>
                <a:ea typeface="Calibri"/>
                <a:cs typeface="Calibri"/>
              </a:defRPr>
            </a:lvl6pPr>
            <a:lvl7pPr algn="ctr">
              <a:buNone/>
              <a:defRPr sz="1200" b="1">
                <a:solidFill>
                  <a:srgbClr val="263C45"/>
                </a:solidFill>
                <a:latin typeface="Calibri"/>
                <a:ea typeface="Calibri"/>
                <a:cs typeface="Calibri"/>
              </a:defRPr>
            </a:lvl7pPr>
            <a:lvl8pPr algn="ctr">
              <a:buNone/>
              <a:defRPr sz="1200" b="1">
                <a:solidFill>
                  <a:srgbClr val="263C45"/>
                </a:solidFill>
                <a:latin typeface="Calibri"/>
                <a:ea typeface="Calibri"/>
                <a:cs typeface="Calibri"/>
              </a:defRPr>
            </a:lvl8pPr>
            <a:lvl9pPr algn="ctr">
              <a:buNone/>
              <a:defRPr sz="1200" b="1">
                <a:solidFill>
                  <a:srgbClr val="263C45"/>
                </a:solidFill>
                <a:latin typeface="Calibri"/>
                <a:ea typeface="Calibri"/>
                <a:cs typeface="Calibri"/>
              </a:defRPr>
            </a:lvl9pPr>
          </a:lstStyle>
          <a:p>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Simulated</a:t>
            </a:r>
          </a:p>
          <a:p>
            <a:pPr algn="ctr">
              <a:buNone/>
              <a:defRPr sz="1200" b="1">
                <a:solidFill>
                  <a:srgbClr val="263C45"/>
                </a:solidFill>
                <a:latin typeface="Calibri"/>
                <a:ea typeface="Calibri"/>
                <a:cs typeface="Calibri"/>
              </a:defRPr>
            </a:pPr>
            <a:r>
              <a:rPr sz="1200" b="1">
                <a:solidFill>
                  <a:srgbClr val="263C45"/>
                </a:solidFill>
                <a:latin typeface="Calibri"/>
                <a:ea typeface="Calibri"/>
                <a:cs typeface="Calibri"/>
              </a:rPr>
              <a:t>wearable readings</a:t>
            </a:r>
          </a:p>
        </p:txBody>
      </p:sp>
      <p:sp>
        <p:nvSpPr>
          <p:cNvPr id="11" name="Rounded Rectangle 10">
            <a:extLst>
              <a:ext uri="{FF2B5EF4-FFF2-40B4-BE49-F238E27FC236}">
                <a16:creationId xmlns:a16="http://schemas.microsoft.com/office/drawing/2014/main" xmlns="" id="{BDF6D400-9E9F-4E20-84FB-F8F78CAA1B73}"/>
              </a:ext>
            </a:extLst>
          </p:cNvPr>
          <p:cNvSpPr>
            <a:spLocks noGrp="1"/>
          </p:cNvSpPr>
          <p:nvPr/>
        </p:nvSpPr>
        <p:spPr>
          <a:xfrm>
            <a:off x="5286375" y="2076450"/>
            <a:ext cx="1562100" cy="838200"/>
          </a:xfrm>
          <a:prstGeom prst="roundRect">
            <a:avLst>
              <a:gd name="adj" fmla="val 9091"/>
            </a:avLst>
          </a:prstGeom>
          <a:solidFill>
            <a:srgbClr val="123F50"/>
          </a:solidFill>
          <a:ln w="11430">
            <a:solidFill>
              <a:srgbClr val="123F50"/>
            </a:solidFill>
            <a:prstDash val="solid"/>
          </a:ln>
        </p:spPr>
        <p:txBody>
          <a:bodyPr wrap="square" lIns="95250" tIns="76200" rIns="95250" bIns="76200" anchor="ctr">
            <a:normAutofit/>
          </a:bodyPr>
          <a:lstStyle>
            <a:defPPr algn="ctr">
              <a:defRPr sz="1350" b="1">
                <a:solidFill>
                  <a:srgbClr val="FFFFFF"/>
                </a:solidFill>
                <a:latin typeface="Calibri"/>
                <a:ea typeface="Calibri"/>
                <a:cs typeface="Calibri"/>
              </a:defRPr>
            </a:defPPr>
            <a:lvl1pPr algn="ctr">
              <a:buNone/>
              <a:defRPr sz="1350" b="1">
                <a:solidFill>
                  <a:srgbClr val="FFFFFF"/>
                </a:solidFill>
                <a:latin typeface="Calibri"/>
                <a:ea typeface="Calibri"/>
                <a:cs typeface="Calibri"/>
              </a:defRPr>
            </a:lvl1pPr>
            <a:lvl2pPr algn="ctr">
              <a:buNone/>
              <a:defRPr sz="1350" b="1">
                <a:solidFill>
                  <a:srgbClr val="FFFFFF"/>
                </a:solidFill>
                <a:latin typeface="Calibri"/>
                <a:ea typeface="Calibri"/>
                <a:cs typeface="Calibri"/>
              </a:defRPr>
            </a:lvl2pPr>
            <a:lvl3pPr algn="ctr">
              <a:buNone/>
              <a:defRPr sz="1350" b="1">
                <a:solidFill>
                  <a:srgbClr val="FFFFFF"/>
                </a:solidFill>
                <a:latin typeface="Calibri"/>
                <a:ea typeface="Calibri"/>
                <a:cs typeface="Calibri"/>
              </a:defRPr>
            </a:lvl3pPr>
            <a:lvl4pPr algn="ctr">
              <a:buNone/>
              <a:defRPr sz="1350" b="1">
                <a:solidFill>
                  <a:srgbClr val="FFFFFF"/>
                </a:solidFill>
                <a:latin typeface="Calibri"/>
                <a:ea typeface="Calibri"/>
                <a:cs typeface="Calibri"/>
              </a:defRPr>
            </a:lvl4pPr>
            <a:lvl5pPr algn="ctr">
              <a:buNone/>
              <a:defRPr sz="1350" b="1">
                <a:solidFill>
                  <a:srgbClr val="FFFFFF"/>
                </a:solidFill>
                <a:latin typeface="Calibri"/>
                <a:ea typeface="Calibri"/>
                <a:cs typeface="Calibri"/>
              </a:defRPr>
            </a:lvl5pPr>
            <a:lvl6pPr algn="ctr">
              <a:buNone/>
              <a:defRPr sz="1350" b="1">
                <a:solidFill>
                  <a:srgbClr val="FFFFFF"/>
                </a:solidFill>
                <a:latin typeface="Calibri"/>
                <a:ea typeface="Calibri"/>
                <a:cs typeface="Calibri"/>
              </a:defRPr>
            </a:lvl6pPr>
            <a:lvl7pPr algn="ctr">
              <a:buNone/>
              <a:defRPr sz="1350" b="1">
                <a:solidFill>
                  <a:srgbClr val="FFFFFF"/>
                </a:solidFill>
                <a:latin typeface="Calibri"/>
                <a:ea typeface="Calibri"/>
                <a:cs typeface="Calibri"/>
              </a:defRPr>
            </a:lvl7pPr>
            <a:lvl8pPr algn="ctr">
              <a:buNone/>
              <a:defRPr sz="1350" b="1">
                <a:solidFill>
                  <a:srgbClr val="FFFFFF"/>
                </a:solidFill>
                <a:latin typeface="Calibri"/>
                <a:ea typeface="Calibri"/>
                <a:cs typeface="Calibri"/>
              </a:defRPr>
            </a:lvl8pPr>
            <a:lvl9pPr algn="ctr">
              <a:buNone/>
              <a:defRPr sz="1350" b="1">
                <a:solidFill>
                  <a:srgbClr val="FFFFFF"/>
                </a:solidFill>
                <a:latin typeface="Calibri"/>
                <a:ea typeface="Calibri"/>
                <a:cs typeface="Calibri"/>
              </a:defRPr>
            </a:lvl9pPr>
          </a:lstStyle>
          <a:p>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CardioTwin</a:t>
            </a:r>
          </a:p>
          <a:p>
            <a:pPr algn="ctr">
              <a:buNone/>
              <a:defRPr sz="1350" b="1">
                <a:solidFill>
                  <a:srgbClr val="FFFFFF"/>
                </a:solidFill>
                <a:latin typeface="Calibri"/>
                <a:ea typeface="Calibri"/>
                <a:cs typeface="Calibri"/>
              </a:defRPr>
            </a:pPr>
            <a:r>
              <a:rPr sz="1350" b="1">
                <a:solidFill>
                  <a:srgbClr val="FFFFFF"/>
                </a:solidFill>
                <a:latin typeface="Calibri"/>
                <a:ea typeface="Calibri"/>
                <a:cs typeface="Calibri"/>
              </a:rPr>
              <a:t>Risk · rhythm · BP</a:t>
            </a:r>
          </a:p>
        </p:txBody>
      </p:sp>
      <p:sp>
        <p:nvSpPr>
          <p:cNvPr id="14" name="Rectangle 13">
            <a:extLst>
              <a:ext uri="{FF2B5EF4-FFF2-40B4-BE49-F238E27FC236}">
                <a16:creationId xmlns:a16="http://schemas.microsoft.com/office/drawing/2014/main" xmlns="" id="{D586E81E-83FB-490D-8E69-9EB803576CBB}"/>
              </a:ext>
            </a:extLst>
          </p:cNvPr>
          <p:cNvSpPr>
            <a:spLocks noGrp="1"/>
          </p:cNvSpPr>
          <p:nvPr/>
        </p:nvSpPr>
        <p:spPr>
          <a:xfrm>
            <a:off x="4981575" y="3314700"/>
            <a:ext cx="2085975" cy="238125"/>
          </a:xfrm>
          <a:prstGeom prst="rect">
            <a:avLst/>
          </a:prstGeom>
          <a:noFill/>
          <a:ln w="0">
            <a:noFill/>
            <a:prstDash val="solid"/>
          </a:ln>
        </p:spPr>
        <p:txBody>
          <a:bodyPr wrap="square" lIns="0" tIns="0" rIns="0" bIns="0" anchor="t">
            <a:normAutofit/>
          </a:bodyPr>
          <a:lstStyle>
            <a:defPPr algn="ctr">
              <a:defRPr sz="1050" b="1" i="0">
                <a:solidFill>
                  <a:srgbClr val="0D6F73"/>
                </a:solidFill>
                <a:latin typeface="Calibri"/>
                <a:ea typeface="Calibri"/>
                <a:cs typeface="Calibri"/>
              </a:defRPr>
            </a:defPPr>
            <a:lvl1pPr algn="ctr">
              <a:buNone/>
              <a:defRPr sz="1050" b="1" i="0">
                <a:solidFill>
                  <a:srgbClr val="0D6F73"/>
                </a:solidFill>
                <a:latin typeface="Calibri"/>
                <a:ea typeface="Calibri"/>
                <a:cs typeface="Calibri"/>
              </a:defRPr>
            </a:lvl1pPr>
            <a:lvl2pPr algn="ctr">
              <a:buNone/>
              <a:defRPr sz="1050" b="1" i="0">
                <a:solidFill>
                  <a:srgbClr val="0D6F73"/>
                </a:solidFill>
                <a:latin typeface="Calibri"/>
                <a:ea typeface="Calibri"/>
                <a:cs typeface="Calibri"/>
              </a:defRPr>
            </a:lvl2pPr>
            <a:lvl3pPr algn="ctr">
              <a:buNone/>
              <a:defRPr sz="1050" b="1" i="0">
                <a:solidFill>
                  <a:srgbClr val="0D6F73"/>
                </a:solidFill>
                <a:latin typeface="Calibri"/>
                <a:ea typeface="Calibri"/>
                <a:cs typeface="Calibri"/>
              </a:defRPr>
            </a:lvl3pPr>
            <a:lvl4pPr algn="ctr">
              <a:buNone/>
              <a:defRPr sz="1050" b="1" i="0">
                <a:solidFill>
                  <a:srgbClr val="0D6F73"/>
                </a:solidFill>
                <a:latin typeface="Calibri"/>
                <a:ea typeface="Calibri"/>
                <a:cs typeface="Calibri"/>
              </a:defRPr>
            </a:lvl4pPr>
            <a:lvl5pPr algn="ctr">
              <a:buNone/>
              <a:defRPr sz="1050" b="1" i="0">
                <a:solidFill>
                  <a:srgbClr val="0D6F73"/>
                </a:solidFill>
                <a:latin typeface="Calibri"/>
                <a:ea typeface="Calibri"/>
                <a:cs typeface="Calibri"/>
              </a:defRPr>
            </a:lvl5pPr>
            <a:lvl6pPr algn="ctr">
              <a:buNone/>
              <a:defRPr sz="1050" b="1" i="0">
                <a:solidFill>
                  <a:srgbClr val="0D6F73"/>
                </a:solidFill>
                <a:latin typeface="Calibri"/>
                <a:ea typeface="Calibri"/>
                <a:cs typeface="Calibri"/>
              </a:defRPr>
            </a:lvl6pPr>
            <a:lvl7pPr algn="ctr">
              <a:buNone/>
              <a:defRPr sz="1050" b="1" i="0">
                <a:solidFill>
                  <a:srgbClr val="0D6F73"/>
                </a:solidFill>
                <a:latin typeface="Calibri"/>
                <a:ea typeface="Calibri"/>
                <a:cs typeface="Calibri"/>
              </a:defRPr>
            </a:lvl7pPr>
            <a:lvl8pPr algn="ctr">
              <a:buNone/>
              <a:defRPr sz="1050" b="1" i="0">
                <a:solidFill>
                  <a:srgbClr val="0D6F73"/>
                </a:solidFill>
                <a:latin typeface="Calibri"/>
                <a:ea typeface="Calibri"/>
                <a:cs typeface="Calibri"/>
              </a:defRPr>
            </a:lvl8pPr>
            <a:lvl9pPr algn="ctr">
              <a:buNone/>
              <a:defRPr sz="1050" b="1" i="0">
                <a:solidFill>
                  <a:srgbClr val="0D6F73"/>
                </a:solidFill>
                <a:latin typeface="Calibri"/>
                <a:ea typeface="Calibri"/>
                <a:cs typeface="Calibri"/>
              </a:defRPr>
            </a:lvl9pPr>
          </a:lstStyle>
          <a:p>
            <a:pPr algn="ctr">
              <a:lnSpc>
                <a:spcPct val="108000"/>
              </a:lnSpc>
              <a:buNone/>
              <a:defRPr sz="1050" b="1" i="0">
                <a:solidFill>
                  <a:srgbClr val="0D6F73"/>
                </a:solidFill>
                <a:latin typeface="Calibri"/>
                <a:ea typeface="Calibri"/>
                <a:cs typeface="Calibri"/>
              </a:defRPr>
            </a:pPr>
            <a:r>
              <a:rPr sz="1050" b="1" i="0">
                <a:solidFill>
                  <a:srgbClr val="0D6F73"/>
                </a:solidFill>
                <a:latin typeface="Calibri"/>
                <a:ea typeface="Calibri"/>
                <a:cs typeface="Calibri"/>
              </a:rPr>
              <a:t>Review support · not diagnosis</a:t>
            </a:r>
          </a:p>
        </p:txBody>
      </p:sp>
    </p:spTree>
    <p:extLst>
      <p:ext uri="{BB962C8B-B14F-4D97-AF65-F5344CB8AC3E}">
        <p14:creationId xmlns:p14="http://schemas.microsoft.com/office/powerpoint/2010/main" val="12011860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xmlns="" id="{88A19055-C587-4BD6-8912-E50CF11CF8D8}"/>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15" name="Rounded Rectangle 14">
            <a:extLst>
              <a:ext uri="{FF2B5EF4-FFF2-40B4-BE49-F238E27FC236}">
                <a16:creationId xmlns:a16="http://schemas.microsoft.com/office/drawing/2014/main" xmlns="" id="{5424C39B-601E-4FC4-87D0-817F1637BF14}"/>
              </a:ext>
            </a:extLst>
          </p:cNvPr>
          <p:cNvSpPr>
            <a:spLocks noGrp="1"/>
          </p:cNvSpPr>
          <p:nvPr/>
        </p:nvSpPr>
        <p:spPr>
          <a:xfrm>
            <a:off x="361950" y="1381125"/>
            <a:ext cx="3257550" cy="2647950"/>
          </a:xfrm>
          <a:prstGeom prst="roundRect">
            <a:avLst>
              <a:gd name="adj" fmla="val 5396"/>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16" name="Rounded Rectangle 15">
            <a:extLst>
              <a:ext uri="{FF2B5EF4-FFF2-40B4-BE49-F238E27FC236}">
                <a16:creationId xmlns:a16="http://schemas.microsoft.com/office/drawing/2014/main" xmlns="" id="{04F0B4E5-E234-4F75-89BE-81254B96C107}"/>
              </a:ext>
            </a:extLst>
          </p:cNvPr>
          <p:cNvSpPr>
            <a:spLocks noGrp="1"/>
          </p:cNvSpPr>
          <p:nvPr/>
        </p:nvSpPr>
        <p:spPr>
          <a:xfrm>
            <a:off x="361950" y="1400175"/>
            <a:ext cx="47625" cy="2609850"/>
          </a:xfrm>
          <a:prstGeom prst="roundRect">
            <a:avLst>
              <a:gd name="adj" fmla="val 50000"/>
            </a:avLst>
          </a:prstGeom>
          <a:solidFill>
            <a:srgbClr val="168F89"/>
          </a:solidFill>
          <a:ln w="0">
            <a:noFill/>
            <a:prstDash val="solid"/>
          </a:ln>
        </p:spPr>
      </p:sp>
      <p:sp>
        <p:nvSpPr>
          <p:cNvPr id="17" name="Rounded Rectangle 16">
            <a:extLst>
              <a:ext uri="{FF2B5EF4-FFF2-40B4-BE49-F238E27FC236}">
                <a16:creationId xmlns:a16="http://schemas.microsoft.com/office/drawing/2014/main" xmlns="" id="{A8E52936-E557-4960-A842-92F9D34DCA98}"/>
              </a:ext>
            </a:extLst>
          </p:cNvPr>
          <p:cNvSpPr>
            <a:spLocks noGrp="1"/>
          </p:cNvSpPr>
          <p:nvPr/>
        </p:nvSpPr>
        <p:spPr>
          <a:xfrm>
            <a:off x="3790950" y="1381125"/>
            <a:ext cx="3333750" cy="2647950"/>
          </a:xfrm>
          <a:prstGeom prst="roundRect">
            <a:avLst>
              <a:gd name="adj" fmla="val 5396"/>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18" name="Rounded Rectangle 17">
            <a:extLst>
              <a:ext uri="{FF2B5EF4-FFF2-40B4-BE49-F238E27FC236}">
                <a16:creationId xmlns:a16="http://schemas.microsoft.com/office/drawing/2014/main" xmlns="" id="{40F7C6B7-9B6F-43DB-B764-FC38DB4C8DF7}"/>
              </a:ext>
            </a:extLst>
          </p:cNvPr>
          <p:cNvSpPr>
            <a:spLocks noGrp="1"/>
          </p:cNvSpPr>
          <p:nvPr/>
        </p:nvSpPr>
        <p:spPr>
          <a:xfrm>
            <a:off x="3790950" y="1400175"/>
            <a:ext cx="47625" cy="2609850"/>
          </a:xfrm>
          <a:prstGeom prst="roundRect">
            <a:avLst>
              <a:gd name="adj" fmla="val 50000"/>
            </a:avLst>
          </a:prstGeom>
          <a:solidFill>
            <a:srgbClr val="1598B7"/>
          </a:solidFill>
          <a:ln w="0">
            <a:noFill/>
            <a:prstDash val="solid"/>
          </a:ln>
        </p:spPr>
      </p:sp>
      <p:sp>
        <p:nvSpPr>
          <p:cNvPr id="19" name="Rounded Rectangle 18">
            <a:extLst>
              <a:ext uri="{FF2B5EF4-FFF2-40B4-BE49-F238E27FC236}">
                <a16:creationId xmlns:a16="http://schemas.microsoft.com/office/drawing/2014/main" xmlns="" id="{C91DBAEB-97F4-4A8E-BAD6-C6CA33F932BA}"/>
              </a:ext>
            </a:extLst>
          </p:cNvPr>
          <p:cNvSpPr>
            <a:spLocks noGrp="1"/>
          </p:cNvSpPr>
          <p:nvPr/>
        </p:nvSpPr>
        <p:spPr>
          <a:xfrm>
            <a:off x="1152525" y="4124325"/>
            <a:ext cx="5162550" cy="571500"/>
          </a:xfrm>
          <a:prstGeom prst="roundRect">
            <a:avLst>
              <a:gd name="adj" fmla="val 25000"/>
            </a:avLst>
          </a:prstGeom>
          <a:solidFill>
            <a:srgbClr val="E4F5F1"/>
          </a:solidFill>
          <a:ln w="9525">
            <a:solidFill>
              <a:srgbClr val="A6D7CF"/>
            </a:solidFill>
            <a:prstDash val="solid"/>
          </a:ln>
        </p:spPr>
      </p:sp>
      <p:sp>
        <p:nvSpPr>
          <p:cNvPr id="20" name="Rounded Rectangle 19">
            <a:extLst>
              <a:ext uri="{FF2B5EF4-FFF2-40B4-BE49-F238E27FC236}">
                <a16:creationId xmlns:a16="http://schemas.microsoft.com/office/drawing/2014/main" xmlns="" id="{9E0F5DBE-B993-4223-B9AC-45DECCBBE9FC}"/>
              </a:ext>
            </a:extLst>
          </p:cNvPr>
          <p:cNvSpPr>
            <a:spLocks noGrp="1"/>
          </p:cNvSpPr>
          <p:nvPr/>
        </p:nvSpPr>
        <p:spPr>
          <a:xfrm>
            <a:off x="1152525" y="4124325"/>
            <a:ext cx="57150" cy="571500"/>
          </a:xfrm>
          <a:prstGeom prst="roundRect">
            <a:avLst>
              <a:gd name="adj" fmla="val 50000"/>
            </a:avLst>
          </a:prstGeom>
          <a:solidFill>
            <a:srgbClr val="168F89"/>
          </a:solidFill>
          <a:ln w="0">
            <a:noFill/>
            <a:prstDash val="solid"/>
          </a:ln>
        </p:spPr>
      </p:sp>
      <p:sp>
        <p:nvSpPr>
          <p:cNvPr id="13" name="Rectangle 12">
            <a:extLst>
              <a:ext uri="{FF2B5EF4-FFF2-40B4-BE49-F238E27FC236}">
                <a16:creationId xmlns:a16="http://schemas.microsoft.com/office/drawing/2014/main" xmlns="" id="{D196989F-73A9-47E9-9F68-D0AABE51449A}"/>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Two data streams define the patient context</a:t>
            </a:r>
          </a:p>
        </p:txBody>
      </p:sp>
      <p:sp>
        <p:nvSpPr>
          <p:cNvPr id="2" name="Straight Connector 1">
            <a:extLst>
              <a:ext uri="{FF2B5EF4-FFF2-40B4-BE49-F238E27FC236}">
                <a16:creationId xmlns:a16="http://schemas.microsoft.com/office/drawing/2014/main" xmlns="" id="{AF8473A1-0DE1-453E-9EF7-DA1715A018BB}"/>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A6684B77-66F6-428E-BCF0-61DA957A0E31}"/>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Every seeded record and wearable reading in the repository is synthetic.</a:t>
            </a:r>
          </a:p>
        </p:txBody>
      </p:sp>
      <p:sp>
        <p:nvSpPr>
          <p:cNvPr id="4" name="Straight Connector 3">
            <a:extLst>
              <a:ext uri="{FF2B5EF4-FFF2-40B4-BE49-F238E27FC236}">
                <a16:creationId xmlns:a16="http://schemas.microsoft.com/office/drawing/2014/main" xmlns="" id="{DA7FD22A-F8D2-4CFB-98C1-7CBFECA8DA31}"/>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C64FFD0E-B421-4E51-9722-CE10AAB0CBE9}"/>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20FBFF29-2E35-4151-B8E0-A61E03BF882E}"/>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03</a:t>
            </a:r>
          </a:p>
        </p:txBody>
      </p:sp>
      <p:sp>
        <p:nvSpPr>
          <p:cNvPr id="7" name="Rectangle 6">
            <a:extLst>
              <a:ext uri="{FF2B5EF4-FFF2-40B4-BE49-F238E27FC236}">
                <a16:creationId xmlns:a16="http://schemas.microsoft.com/office/drawing/2014/main" xmlns="" id="{B367D360-EF33-45F4-9C25-3F5BEDF9D365}"/>
              </a:ext>
            </a:extLst>
          </p:cNvPr>
          <p:cNvSpPr>
            <a:spLocks noGrp="1"/>
          </p:cNvSpPr>
          <p:nvPr/>
        </p:nvSpPr>
        <p:spPr>
          <a:xfrm>
            <a:off x="552450" y="1466850"/>
            <a:ext cx="2838450" cy="304800"/>
          </a:xfrm>
          <a:prstGeom prst="rect">
            <a:avLst/>
          </a:prstGeom>
          <a:noFill/>
          <a:ln w="0">
            <a:noFill/>
            <a:prstDash val="solid"/>
          </a:ln>
        </p:spPr>
        <p:txBody>
          <a:bodyPr wrap="square" lIns="0" tIns="0" rIns="0" bIns="0" anchor="ctr">
            <a:normAutofit/>
          </a:bodyPr>
          <a:lstStyle>
            <a:defPPr algn="l">
              <a:defRPr sz="1200" b="1" i="0">
                <a:solidFill>
                  <a:srgbClr val="168F89"/>
                </a:solidFill>
                <a:latin typeface="Calibri"/>
                <a:ea typeface="Calibri"/>
                <a:cs typeface="Calibri"/>
              </a:defRPr>
            </a:defPPr>
            <a:lvl1pPr algn="l">
              <a:buNone/>
              <a:defRPr sz="1425" b="1" i="0">
                <a:solidFill>
                  <a:srgbClr val="0D6F73"/>
                </a:solidFill>
                <a:latin typeface="Calibri"/>
                <a:ea typeface="Calibri"/>
                <a:cs typeface="Calibri"/>
              </a:defRPr>
            </a:lvl1pPr>
            <a:lvl2pPr algn="l">
              <a:buNone/>
              <a:defRPr sz="1425" b="1" i="0">
                <a:solidFill>
                  <a:srgbClr val="0D6F73"/>
                </a:solidFill>
                <a:latin typeface="Calibri"/>
                <a:ea typeface="Calibri"/>
                <a:cs typeface="Calibri"/>
              </a:defRPr>
            </a:lvl2pPr>
            <a:lvl3pPr algn="l">
              <a:buNone/>
              <a:defRPr sz="1425" b="1" i="0">
                <a:solidFill>
                  <a:srgbClr val="0D6F73"/>
                </a:solidFill>
                <a:latin typeface="Calibri"/>
                <a:ea typeface="Calibri"/>
                <a:cs typeface="Calibri"/>
              </a:defRPr>
            </a:lvl3pPr>
            <a:lvl4pPr algn="l">
              <a:buNone/>
              <a:defRPr sz="1425" b="1" i="0">
                <a:solidFill>
                  <a:srgbClr val="0D6F73"/>
                </a:solidFill>
                <a:latin typeface="Calibri"/>
                <a:ea typeface="Calibri"/>
                <a:cs typeface="Calibri"/>
              </a:defRPr>
            </a:lvl4pPr>
            <a:lvl5pPr algn="l">
              <a:buNone/>
              <a:defRPr sz="1425" b="1" i="0">
                <a:solidFill>
                  <a:srgbClr val="0D6F73"/>
                </a:solidFill>
                <a:latin typeface="Calibri"/>
                <a:ea typeface="Calibri"/>
                <a:cs typeface="Calibri"/>
              </a:defRPr>
            </a:lvl5pPr>
            <a:lvl6pPr algn="l">
              <a:buNone/>
              <a:defRPr sz="1425" b="1" i="0">
                <a:solidFill>
                  <a:srgbClr val="0D6F73"/>
                </a:solidFill>
                <a:latin typeface="Calibri"/>
                <a:ea typeface="Calibri"/>
                <a:cs typeface="Calibri"/>
              </a:defRPr>
            </a:lvl6pPr>
            <a:lvl7pPr algn="l">
              <a:buNone/>
              <a:defRPr sz="1425" b="1" i="0">
                <a:solidFill>
                  <a:srgbClr val="0D6F73"/>
                </a:solidFill>
                <a:latin typeface="Calibri"/>
                <a:ea typeface="Calibri"/>
                <a:cs typeface="Calibri"/>
              </a:defRPr>
            </a:lvl7pPr>
            <a:lvl8pPr algn="l">
              <a:buNone/>
              <a:defRPr sz="1425" b="1" i="0">
                <a:solidFill>
                  <a:srgbClr val="0D6F73"/>
                </a:solidFill>
                <a:latin typeface="Calibri"/>
                <a:ea typeface="Calibri"/>
                <a:cs typeface="Calibri"/>
              </a:defRPr>
            </a:lvl8pPr>
            <a:lvl9pPr algn="l">
              <a:buNone/>
              <a:defRPr sz="1425" b="1" i="0">
                <a:solidFill>
                  <a:srgbClr val="0D6F73"/>
                </a:solidFill>
                <a:latin typeface="Calibri"/>
                <a:ea typeface="Calibri"/>
                <a:cs typeface="Calibri"/>
              </a:defRPr>
            </a:lvl9pPr>
          </a:lstStyle>
          <a:p>
            <a:pPr algn="l">
              <a:lnSpc>
                <a:spcPct val="108000"/>
              </a:lnSpc>
              <a:buNone/>
              <a:defRPr sz="1425" b="1" i="0">
                <a:solidFill>
                  <a:srgbClr val="0D6F73"/>
                </a:solidFill>
                <a:latin typeface="Calibri"/>
                <a:ea typeface="Calibri"/>
                <a:cs typeface="Calibri"/>
              </a:defRPr>
            </a:pPr>
            <a:r>
              <a:rPr sz="1200" b="1" i="0">
                <a:solidFill>
                  <a:srgbClr val="168F89"/>
                </a:solidFill>
                <a:latin typeface="Calibri"/>
                <a:ea typeface="Calibri"/>
                <a:cs typeface="Calibri"/>
              </a:rPr>
              <a:t>01  ·  Historical context</a:t>
            </a:r>
          </a:p>
        </p:txBody>
      </p:sp>
      <p:sp>
        <p:nvSpPr>
          <p:cNvPr id="8" name="Rectangle 7">
            <a:extLst>
              <a:ext uri="{FF2B5EF4-FFF2-40B4-BE49-F238E27FC236}">
                <a16:creationId xmlns:a16="http://schemas.microsoft.com/office/drawing/2014/main" xmlns="" id="{4E2E187B-2B16-434D-A52F-EB531529F72A}"/>
              </a:ext>
            </a:extLst>
          </p:cNvPr>
          <p:cNvSpPr>
            <a:spLocks noGrp="1"/>
          </p:cNvSpPr>
          <p:nvPr/>
        </p:nvSpPr>
        <p:spPr>
          <a:xfrm>
            <a:off x="552450" y="1895475"/>
            <a:ext cx="2800350" cy="1952625"/>
          </a:xfrm>
          <a:prstGeom prst="rect">
            <a:avLst/>
          </a:prstGeom>
          <a:noFill/>
          <a:ln w="0">
            <a:noFill/>
            <a:prstDash val="solid"/>
          </a:ln>
        </p:spPr>
        <p:txBody>
          <a:bodyPr wrap="square" lIns="0" tIns="0" rIns="0" bIns="0" anchor="t">
            <a:normAutofit fontScale="98833" lnSpcReduction="10000"/>
          </a:bodyPr>
          <a:lstStyle>
            <a:defPPr algn="l">
              <a:defRPr sz="1275" b="0" i="0">
                <a:solidFill>
                  <a:srgbClr val="304F5B"/>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Demographics</a:t>
            </a: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Age · sex · BMI</a:t>
            </a:r>
          </a:p>
          <a:p>
            <a:endParaRPr sz="1275" b="0" i="0">
              <a:solidFill>
                <a:srgbClr val="304F5B"/>
              </a:solidFill>
              <a:latin typeface="Calibri"/>
              <a:ea typeface="Calibri"/>
              <a:cs typeface="Calibri"/>
            </a:endParaRP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Risk factors</a:t>
            </a: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Smoking · diabetes · hypertension</a:t>
            </a:r>
          </a:p>
          <a:p>
            <a:endParaRPr sz="1275" b="0" i="0">
              <a:solidFill>
                <a:srgbClr val="304F5B"/>
              </a:solidFill>
              <a:latin typeface="Calibri"/>
              <a:ea typeface="Calibri"/>
              <a:cs typeface="Calibri"/>
            </a:endParaRP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History &amp; labs</a:t>
            </a: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Family history · total / HDL / LDL cholesterol</a:t>
            </a:r>
          </a:p>
        </p:txBody>
      </p:sp>
      <p:sp>
        <p:nvSpPr>
          <p:cNvPr id="9" name="Straight Connector 8">
            <a:extLst>
              <a:ext uri="{FF2B5EF4-FFF2-40B4-BE49-F238E27FC236}">
                <a16:creationId xmlns:a16="http://schemas.microsoft.com/office/drawing/2014/main" xmlns="" id="{7FB1006C-FAB6-480A-9C06-29BE5C44E49E}"/>
              </a:ext>
            </a:extLst>
          </p:cNvPr>
          <p:cNvSpPr>
            <a:spLocks noGrp="1"/>
          </p:cNvSpPr>
          <p:nvPr/>
        </p:nvSpPr>
        <p:spPr>
          <a:xfrm>
            <a:off x="3724275" y="1457325"/>
            <a:ext cx="4763" cy="2457450"/>
          </a:xfrm>
          <a:prstGeom prst="line">
            <a:avLst/>
          </a:prstGeom>
          <a:noFill/>
          <a:ln w="11430">
            <a:solidFill>
              <a:srgbClr val="C7D8D8"/>
            </a:solidFill>
            <a:prstDash val="solid"/>
          </a:ln>
        </p:spPr>
      </p:sp>
      <p:sp>
        <p:nvSpPr>
          <p:cNvPr id="10" name="Rectangle 9">
            <a:extLst>
              <a:ext uri="{FF2B5EF4-FFF2-40B4-BE49-F238E27FC236}">
                <a16:creationId xmlns:a16="http://schemas.microsoft.com/office/drawing/2014/main" xmlns="" id="{E1C4C3B3-8A1B-4130-BA14-B81BA1BE4FA6}"/>
              </a:ext>
            </a:extLst>
          </p:cNvPr>
          <p:cNvSpPr>
            <a:spLocks noGrp="1"/>
          </p:cNvSpPr>
          <p:nvPr/>
        </p:nvSpPr>
        <p:spPr>
          <a:xfrm>
            <a:off x="4057650" y="1466850"/>
            <a:ext cx="2952750" cy="304800"/>
          </a:xfrm>
          <a:prstGeom prst="rect">
            <a:avLst/>
          </a:prstGeom>
          <a:noFill/>
          <a:ln w="0">
            <a:noFill/>
            <a:prstDash val="solid"/>
          </a:ln>
        </p:spPr>
        <p:txBody>
          <a:bodyPr wrap="square" lIns="0" tIns="0" rIns="0" bIns="0" anchor="ctr">
            <a:normAutofit/>
          </a:bodyPr>
          <a:lstStyle>
            <a:defPPr algn="l">
              <a:defRPr sz="1200" b="1" i="0">
                <a:solidFill>
                  <a:srgbClr val="1598B7"/>
                </a:solidFill>
                <a:latin typeface="Calibri"/>
                <a:ea typeface="Calibri"/>
                <a:cs typeface="Calibri"/>
              </a:defRPr>
            </a:defPPr>
            <a:lvl1pPr algn="l">
              <a:buNone/>
              <a:defRPr sz="1425" b="1" i="0">
                <a:solidFill>
                  <a:srgbClr val="0D6F73"/>
                </a:solidFill>
                <a:latin typeface="Calibri"/>
                <a:ea typeface="Calibri"/>
                <a:cs typeface="Calibri"/>
              </a:defRPr>
            </a:lvl1pPr>
            <a:lvl2pPr algn="l">
              <a:buNone/>
              <a:defRPr sz="1425" b="1" i="0">
                <a:solidFill>
                  <a:srgbClr val="0D6F73"/>
                </a:solidFill>
                <a:latin typeface="Calibri"/>
                <a:ea typeface="Calibri"/>
                <a:cs typeface="Calibri"/>
              </a:defRPr>
            </a:lvl2pPr>
            <a:lvl3pPr algn="l">
              <a:buNone/>
              <a:defRPr sz="1425" b="1" i="0">
                <a:solidFill>
                  <a:srgbClr val="0D6F73"/>
                </a:solidFill>
                <a:latin typeface="Calibri"/>
                <a:ea typeface="Calibri"/>
                <a:cs typeface="Calibri"/>
              </a:defRPr>
            </a:lvl3pPr>
            <a:lvl4pPr algn="l">
              <a:buNone/>
              <a:defRPr sz="1425" b="1" i="0">
                <a:solidFill>
                  <a:srgbClr val="0D6F73"/>
                </a:solidFill>
                <a:latin typeface="Calibri"/>
                <a:ea typeface="Calibri"/>
                <a:cs typeface="Calibri"/>
              </a:defRPr>
            </a:lvl4pPr>
            <a:lvl5pPr algn="l">
              <a:buNone/>
              <a:defRPr sz="1425" b="1" i="0">
                <a:solidFill>
                  <a:srgbClr val="0D6F73"/>
                </a:solidFill>
                <a:latin typeface="Calibri"/>
                <a:ea typeface="Calibri"/>
                <a:cs typeface="Calibri"/>
              </a:defRPr>
            </a:lvl5pPr>
            <a:lvl6pPr algn="l">
              <a:buNone/>
              <a:defRPr sz="1425" b="1" i="0">
                <a:solidFill>
                  <a:srgbClr val="0D6F73"/>
                </a:solidFill>
                <a:latin typeface="Calibri"/>
                <a:ea typeface="Calibri"/>
                <a:cs typeface="Calibri"/>
              </a:defRPr>
            </a:lvl6pPr>
            <a:lvl7pPr algn="l">
              <a:buNone/>
              <a:defRPr sz="1425" b="1" i="0">
                <a:solidFill>
                  <a:srgbClr val="0D6F73"/>
                </a:solidFill>
                <a:latin typeface="Calibri"/>
                <a:ea typeface="Calibri"/>
                <a:cs typeface="Calibri"/>
              </a:defRPr>
            </a:lvl7pPr>
            <a:lvl8pPr algn="l">
              <a:buNone/>
              <a:defRPr sz="1425" b="1" i="0">
                <a:solidFill>
                  <a:srgbClr val="0D6F73"/>
                </a:solidFill>
                <a:latin typeface="Calibri"/>
                <a:ea typeface="Calibri"/>
                <a:cs typeface="Calibri"/>
              </a:defRPr>
            </a:lvl8pPr>
            <a:lvl9pPr algn="l">
              <a:buNone/>
              <a:defRPr sz="1425" b="1" i="0">
                <a:solidFill>
                  <a:srgbClr val="0D6F73"/>
                </a:solidFill>
                <a:latin typeface="Calibri"/>
                <a:ea typeface="Calibri"/>
                <a:cs typeface="Calibri"/>
              </a:defRPr>
            </a:lvl9pPr>
          </a:lstStyle>
          <a:p>
            <a:pPr algn="l">
              <a:lnSpc>
                <a:spcPct val="108000"/>
              </a:lnSpc>
              <a:buNone/>
              <a:defRPr sz="1425" b="1" i="0">
                <a:solidFill>
                  <a:srgbClr val="0D6F73"/>
                </a:solidFill>
                <a:latin typeface="Calibri"/>
                <a:ea typeface="Calibri"/>
                <a:cs typeface="Calibri"/>
              </a:defRPr>
            </a:pPr>
            <a:r>
              <a:rPr sz="1200" b="1" i="0">
                <a:solidFill>
                  <a:srgbClr val="1598B7"/>
                </a:solidFill>
                <a:latin typeface="Calibri"/>
                <a:ea typeface="Calibri"/>
                <a:cs typeface="Calibri"/>
              </a:rPr>
              <a:t>02  ·  Incoming telemetry</a:t>
            </a:r>
          </a:p>
        </p:txBody>
      </p:sp>
      <p:sp>
        <p:nvSpPr>
          <p:cNvPr id="11" name="Rectangle 10">
            <a:extLst>
              <a:ext uri="{FF2B5EF4-FFF2-40B4-BE49-F238E27FC236}">
                <a16:creationId xmlns:a16="http://schemas.microsoft.com/office/drawing/2014/main" xmlns="" id="{D2254630-85F8-478F-88E3-8164342D0075}"/>
              </a:ext>
            </a:extLst>
          </p:cNvPr>
          <p:cNvSpPr>
            <a:spLocks noGrp="1"/>
          </p:cNvSpPr>
          <p:nvPr/>
        </p:nvSpPr>
        <p:spPr>
          <a:xfrm>
            <a:off x="4057650" y="1895475"/>
            <a:ext cx="2952750" cy="1952625"/>
          </a:xfrm>
          <a:prstGeom prst="rect">
            <a:avLst/>
          </a:prstGeom>
          <a:noFill/>
          <a:ln w="0">
            <a:noFill/>
            <a:prstDash val="solid"/>
          </a:ln>
        </p:spPr>
        <p:txBody>
          <a:bodyPr wrap="square" lIns="0" tIns="0" rIns="0" bIns="0" anchor="t">
            <a:normAutofit fontScale="98833" lnSpcReduction="10000"/>
          </a:bodyPr>
          <a:lstStyle>
            <a:defPPr algn="l">
              <a:defRPr sz="1275" b="0" i="0">
                <a:solidFill>
                  <a:srgbClr val="304F5B"/>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Vitals</a:t>
            </a: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Heart rate · systolic / diastolic BP</a:t>
            </a: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Oxygen saturation</a:t>
            </a:r>
          </a:p>
          <a:p>
            <a:endParaRPr sz="1275" b="0" i="0">
              <a:solidFill>
                <a:srgbClr val="304F5B"/>
              </a:solidFill>
              <a:latin typeface="Calibri"/>
              <a:ea typeface="Calibri"/>
              <a:cs typeface="Calibri"/>
            </a:endParaRP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Rhythm signal</a:t>
            </a: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ECG rhythm label + quality</a:t>
            </a:r>
          </a:p>
          <a:p>
            <a:endParaRPr sz="1275" b="0" i="0">
              <a:solidFill>
                <a:srgbClr val="304F5B"/>
              </a:solidFill>
              <a:latin typeface="Calibri"/>
              <a:ea typeface="Calibri"/>
              <a:cs typeface="Calibri"/>
            </a:endParaRP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Context fields</a:t>
            </a:r>
          </a:p>
          <a:p>
            <a:pPr algn="l">
              <a:lnSpc>
                <a:spcPct val="115000"/>
              </a:lnSpc>
              <a:buNone/>
              <a:defRPr sz="1350" b="0" i="0">
                <a:solidFill>
                  <a:srgbClr val="263C45"/>
                </a:solidFill>
                <a:latin typeface="Calibri"/>
                <a:ea typeface="Calibri"/>
                <a:cs typeface="Calibri"/>
              </a:defRPr>
            </a:pPr>
            <a:r>
              <a:rPr sz="1275" b="0" i="0">
                <a:solidFill>
                  <a:srgbClr val="304F5B"/>
                </a:solidFill>
                <a:latin typeface="Calibri"/>
                <a:ea typeface="Calibri"/>
                <a:cs typeface="Calibri"/>
              </a:rPr>
              <a:t>Timestamp · source</a:t>
            </a:r>
          </a:p>
        </p:txBody>
      </p:sp>
      <p:sp>
        <p:nvSpPr>
          <p:cNvPr id="12" name="Rounded Rectangle 11">
            <a:extLst>
              <a:ext uri="{FF2B5EF4-FFF2-40B4-BE49-F238E27FC236}">
                <a16:creationId xmlns:a16="http://schemas.microsoft.com/office/drawing/2014/main" xmlns="" id="{5AAC89B5-D491-49BD-A75D-8AF1A6D2A5E3}"/>
              </a:ext>
            </a:extLst>
          </p:cNvPr>
          <p:cNvSpPr>
            <a:spLocks noGrp="1"/>
          </p:cNvSpPr>
          <p:nvPr/>
        </p:nvSpPr>
        <p:spPr>
          <a:xfrm>
            <a:off x="1285875" y="4171950"/>
            <a:ext cx="4895850" cy="457200"/>
          </a:xfrm>
          <a:prstGeom prst="roundRect">
            <a:avLst>
              <a:gd name="adj" fmla="val 16667"/>
            </a:avLst>
          </a:prstGeom>
          <a:solidFill>
            <a:srgbClr val="DDF2EF"/>
          </a:solidFill>
          <a:ln w="11430">
            <a:solidFill>
              <a:srgbClr val="BEDDDA"/>
            </a:solidFill>
            <a:prstDash val="solid"/>
          </a:ln>
        </p:spPr>
        <p:txBody>
          <a:bodyPr wrap="square" lIns="95250" tIns="76200" rIns="95250" bIns="76200" anchor="ctr">
            <a:normAutofit/>
          </a:bodyPr>
          <a:lstStyle>
            <a:defPPr algn="ctr">
              <a:defRPr sz="1275" b="1">
                <a:solidFill>
                  <a:srgbClr val="087E83"/>
                </a:solidFill>
                <a:latin typeface="Calibri"/>
                <a:ea typeface="Calibri"/>
                <a:cs typeface="Calibri"/>
              </a:defRPr>
            </a:defPPr>
            <a:lvl1pPr algn="ctr">
              <a:buNone/>
              <a:defRPr sz="1350" b="1">
                <a:solidFill>
                  <a:srgbClr val="123F50"/>
                </a:solidFill>
                <a:latin typeface="Calibri"/>
                <a:ea typeface="Calibri"/>
                <a:cs typeface="Calibri"/>
              </a:defRPr>
            </a:lvl1pPr>
            <a:lvl2pPr algn="ctr">
              <a:buNone/>
              <a:defRPr sz="1350" b="1">
                <a:solidFill>
                  <a:srgbClr val="123F50"/>
                </a:solidFill>
                <a:latin typeface="Calibri"/>
                <a:ea typeface="Calibri"/>
                <a:cs typeface="Calibri"/>
              </a:defRPr>
            </a:lvl2pPr>
            <a:lvl3pPr algn="ctr">
              <a:buNone/>
              <a:defRPr sz="1350" b="1">
                <a:solidFill>
                  <a:srgbClr val="123F50"/>
                </a:solidFill>
                <a:latin typeface="Calibri"/>
                <a:ea typeface="Calibri"/>
                <a:cs typeface="Calibri"/>
              </a:defRPr>
            </a:lvl3pPr>
            <a:lvl4pPr algn="ctr">
              <a:buNone/>
              <a:defRPr sz="1350" b="1">
                <a:solidFill>
                  <a:srgbClr val="123F50"/>
                </a:solidFill>
                <a:latin typeface="Calibri"/>
                <a:ea typeface="Calibri"/>
                <a:cs typeface="Calibri"/>
              </a:defRPr>
            </a:lvl4pPr>
            <a:lvl5pPr algn="ctr">
              <a:buNone/>
              <a:defRPr sz="1350" b="1">
                <a:solidFill>
                  <a:srgbClr val="123F50"/>
                </a:solidFill>
                <a:latin typeface="Calibri"/>
                <a:ea typeface="Calibri"/>
                <a:cs typeface="Calibri"/>
              </a:defRPr>
            </a:lvl5pPr>
            <a:lvl6pPr algn="ctr">
              <a:buNone/>
              <a:defRPr sz="1350" b="1">
                <a:solidFill>
                  <a:srgbClr val="123F50"/>
                </a:solidFill>
                <a:latin typeface="Calibri"/>
                <a:ea typeface="Calibri"/>
                <a:cs typeface="Calibri"/>
              </a:defRPr>
            </a:lvl6pPr>
            <a:lvl7pPr algn="ctr">
              <a:buNone/>
              <a:defRPr sz="1350" b="1">
                <a:solidFill>
                  <a:srgbClr val="123F50"/>
                </a:solidFill>
                <a:latin typeface="Calibri"/>
                <a:ea typeface="Calibri"/>
                <a:cs typeface="Calibri"/>
              </a:defRPr>
            </a:lvl7pPr>
            <a:lvl8pPr algn="ctr">
              <a:buNone/>
              <a:defRPr sz="1350" b="1">
                <a:solidFill>
                  <a:srgbClr val="123F50"/>
                </a:solidFill>
                <a:latin typeface="Calibri"/>
                <a:ea typeface="Calibri"/>
                <a:cs typeface="Calibri"/>
              </a:defRPr>
            </a:lvl8pPr>
            <a:lvl9pPr algn="ctr">
              <a:buNone/>
              <a:defRPr sz="1350" b="1">
                <a:solidFill>
                  <a:srgbClr val="123F50"/>
                </a:solidFill>
                <a:latin typeface="Calibri"/>
                <a:ea typeface="Calibri"/>
                <a:cs typeface="Calibri"/>
              </a:defRPr>
            </a:lvl9pPr>
          </a:lstStyle>
          <a:p>
            <a:pPr algn="ctr">
              <a:buNone/>
              <a:defRPr sz="1350" b="1">
                <a:solidFill>
                  <a:srgbClr val="123F50"/>
                </a:solidFill>
                <a:latin typeface="Calibri"/>
                <a:ea typeface="Calibri"/>
                <a:cs typeface="Calibri"/>
              </a:defRPr>
            </a:pPr>
            <a:r>
              <a:rPr sz="1275" b="1">
                <a:solidFill>
                  <a:srgbClr val="087E83"/>
                </a:solidFill>
                <a:latin typeface="Calibri"/>
                <a:ea typeface="Calibri"/>
                <a:cs typeface="Calibri"/>
              </a:rPr>
              <a:t>A shared patient timeline for the prediction and review flows</a:t>
            </a:r>
          </a:p>
        </p:txBody>
      </p:sp>
    </p:spTree>
    <p:extLst>
      <p:ext uri="{BB962C8B-B14F-4D97-AF65-F5344CB8AC3E}">
        <p14:creationId xmlns:p14="http://schemas.microsoft.com/office/powerpoint/2010/main" val="1991660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634F85C1-4B55-4906-81B9-03522E4C604F}"/>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12" name="Rounded Rectangle 11">
            <a:extLst>
              <a:ext uri="{FF2B5EF4-FFF2-40B4-BE49-F238E27FC236}">
                <a16:creationId xmlns:a16="http://schemas.microsoft.com/office/drawing/2014/main" xmlns="" id="{E285A4D1-D188-4F87-88FE-23F6F29B8CD4}"/>
              </a:ext>
            </a:extLst>
          </p:cNvPr>
          <p:cNvSpPr>
            <a:spLocks noGrp="1"/>
          </p:cNvSpPr>
          <p:nvPr/>
        </p:nvSpPr>
        <p:spPr>
          <a:xfrm>
            <a:off x="190500" y="1390650"/>
            <a:ext cx="4695825" cy="2809875"/>
          </a:xfrm>
          <a:prstGeom prst="roundRect">
            <a:avLst>
              <a:gd name="adj" fmla="val 5085"/>
            </a:avLst>
          </a:prstGeom>
          <a:solidFill>
            <a:srgbClr val="FFFFFF">
              <a:alpha val="93000"/>
            </a:srgbClr>
          </a:solidFill>
          <a:ln w="9525">
            <a:solidFill>
              <a:srgbClr val="CFE3DF"/>
            </a:solidFill>
            <a:prstDash val="solid"/>
          </a:ln>
        </p:spPr>
        <p:style>
          <a:lnRef idx="0">
            <a:scrgbClr r="0" g="0" b="0"/>
          </a:lnRef>
          <a:fillRef idx="0">
            <a:scrgbClr r="0" g="0" b="0"/>
          </a:fillRef>
          <a:effectRef idx="4">
            <a:scrgbClr r="0" g="0" b="0"/>
          </a:effectRef>
          <a:fontRef idx="major"/>
        </p:style>
      </p:sp>
      <p:sp>
        <p:nvSpPr>
          <p:cNvPr id="13" name="Rounded Rectangle 12">
            <a:extLst>
              <a:ext uri="{FF2B5EF4-FFF2-40B4-BE49-F238E27FC236}">
                <a16:creationId xmlns:a16="http://schemas.microsoft.com/office/drawing/2014/main" xmlns="" id="{F5D05235-A407-42C4-A9DE-4D434675BF4C}"/>
              </a:ext>
            </a:extLst>
          </p:cNvPr>
          <p:cNvSpPr>
            <a:spLocks noGrp="1"/>
          </p:cNvSpPr>
          <p:nvPr/>
        </p:nvSpPr>
        <p:spPr>
          <a:xfrm>
            <a:off x="4762500" y="1390650"/>
            <a:ext cx="2533650" cy="2809875"/>
          </a:xfrm>
          <a:prstGeom prst="roundRect">
            <a:avLst>
              <a:gd name="adj" fmla="val 5639"/>
            </a:avLst>
          </a:prstGeom>
          <a:solidFill>
            <a:srgbClr val="FFFFFF">
              <a:alpha val="93000"/>
            </a:srgbClr>
          </a:solidFill>
          <a:ln w="9525">
            <a:solidFill>
              <a:srgbClr val="CFE3DF"/>
            </a:solidFill>
            <a:prstDash val="solid"/>
          </a:ln>
        </p:spPr>
        <p:style>
          <a:lnRef idx="0">
            <a:scrgbClr r="0" g="0" b="0"/>
          </a:lnRef>
          <a:fillRef idx="0">
            <a:scrgbClr r="0" g="0" b="0"/>
          </a:fillRef>
          <a:effectRef idx="4">
            <a:scrgbClr r="0" g="0" b="0"/>
          </a:effectRef>
          <a:fontRef idx="major"/>
        </p:style>
      </p:sp>
      <p:sp>
        <p:nvSpPr>
          <p:cNvPr id="14" name="Rounded Rectangle 13">
            <a:extLst>
              <a:ext uri="{FF2B5EF4-FFF2-40B4-BE49-F238E27FC236}">
                <a16:creationId xmlns:a16="http://schemas.microsoft.com/office/drawing/2014/main" xmlns="" id="{06074BBD-6171-4027-8EDC-ECDA43F5963C}"/>
              </a:ext>
            </a:extLst>
          </p:cNvPr>
          <p:cNvSpPr>
            <a:spLocks noGrp="1"/>
          </p:cNvSpPr>
          <p:nvPr/>
        </p:nvSpPr>
        <p:spPr>
          <a:xfrm>
            <a:off x="190500" y="1390650"/>
            <a:ext cx="57150" cy="2809875"/>
          </a:xfrm>
          <a:prstGeom prst="roundRect">
            <a:avLst>
              <a:gd name="adj" fmla="val 50000"/>
            </a:avLst>
          </a:prstGeom>
          <a:solidFill>
            <a:srgbClr val="168F89"/>
          </a:solidFill>
          <a:ln w="0">
            <a:noFill/>
            <a:prstDash val="solid"/>
          </a:ln>
        </p:spPr>
      </p:sp>
      <p:sp>
        <p:nvSpPr>
          <p:cNvPr id="15" name="Rounded Rectangle 14">
            <a:extLst>
              <a:ext uri="{FF2B5EF4-FFF2-40B4-BE49-F238E27FC236}">
                <a16:creationId xmlns:a16="http://schemas.microsoft.com/office/drawing/2014/main" xmlns="" id="{333F6FAF-203C-48D6-8E7C-34AB05FD6F55}"/>
              </a:ext>
            </a:extLst>
          </p:cNvPr>
          <p:cNvSpPr>
            <a:spLocks noGrp="1"/>
          </p:cNvSpPr>
          <p:nvPr/>
        </p:nvSpPr>
        <p:spPr>
          <a:xfrm>
            <a:off x="4762500" y="1390650"/>
            <a:ext cx="57150" cy="2809875"/>
          </a:xfrm>
          <a:prstGeom prst="roundRect">
            <a:avLst>
              <a:gd name="adj" fmla="val 50000"/>
            </a:avLst>
          </a:prstGeom>
          <a:solidFill>
            <a:srgbClr val="1598B7"/>
          </a:solidFill>
          <a:ln w="0">
            <a:noFill/>
            <a:prstDash val="solid"/>
          </a:ln>
        </p:spPr>
      </p:sp>
      <p:sp>
        <p:nvSpPr>
          <p:cNvPr id="16" name="Rectangle 15">
            <a:extLst>
              <a:ext uri="{FF2B5EF4-FFF2-40B4-BE49-F238E27FC236}">
                <a16:creationId xmlns:a16="http://schemas.microsoft.com/office/drawing/2014/main" xmlns="" id="{BEE16243-E761-4D68-9617-218F3BB544A3}"/>
              </a:ext>
            </a:extLst>
          </p:cNvPr>
          <p:cNvSpPr>
            <a:spLocks noGrp="1"/>
          </p:cNvSpPr>
          <p:nvPr/>
        </p:nvSpPr>
        <p:spPr>
          <a:xfrm>
            <a:off x="428625" y="1476375"/>
            <a:ext cx="4000500" cy="180975"/>
          </a:xfrm>
          <a:prstGeom prst="rect">
            <a:avLst/>
          </a:prstGeom>
          <a:noFill/>
          <a:ln w="0">
            <a:noFill/>
            <a:prstDash val="solid"/>
          </a:ln>
        </p:spPr>
        <p:txBody>
          <a:bodyPr lIns="0" tIns="0" rIns="0" bIns="0"/>
          <a:lstStyle>
            <a:defPPr algn="l">
              <a:defRPr sz="825" b="1">
                <a:solidFill>
                  <a:srgbClr val="168F89"/>
                </a:solidFill>
              </a:defRPr>
            </a:defPPr>
            <a:lvl1pPr algn="l">
              <a:buNone/>
              <a:defRPr sz="825" b="1">
                <a:solidFill>
                  <a:srgbClr val="168F89"/>
                </a:solidFill>
              </a:defRPr>
            </a:lvl1pPr>
            <a:lvl2pPr algn="l">
              <a:buNone/>
              <a:defRPr sz="825" b="1">
                <a:solidFill>
                  <a:srgbClr val="168F89"/>
                </a:solidFill>
              </a:defRPr>
            </a:lvl2pPr>
            <a:lvl3pPr algn="l">
              <a:buNone/>
              <a:defRPr sz="825" b="1">
                <a:solidFill>
                  <a:srgbClr val="168F89"/>
                </a:solidFill>
              </a:defRPr>
            </a:lvl3pPr>
            <a:lvl4pPr algn="l">
              <a:buNone/>
              <a:defRPr sz="825" b="1">
                <a:solidFill>
                  <a:srgbClr val="168F89"/>
                </a:solidFill>
              </a:defRPr>
            </a:lvl4pPr>
            <a:lvl5pPr algn="l">
              <a:buNone/>
              <a:defRPr sz="825" b="1">
                <a:solidFill>
                  <a:srgbClr val="168F89"/>
                </a:solidFill>
              </a:defRPr>
            </a:lvl5pPr>
            <a:lvl6pPr algn="l">
              <a:buNone/>
              <a:defRPr sz="825" b="1">
                <a:solidFill>
                  <a:srgbClr val="168F89"/>
                </a:solidFill>
              </a:defRPr>
            </a:lvl6pPr>
            <a:lvl7pPr algn="l">
              <a:buNone/>
              <a:defRPr sz="825" b="1">
                <a:solidFill>
                  <a:srgbClr val="168F89"/>
                </a:solidFill>
              </a:defRPr>
            </a:lvl7pPr>
            <a:lvl8pPr algn="l">
              <a:buNone/>
              <a:defRPr sz="825" b="1">
                <a:solidFill>
                  <a:srgbClr val="168F89"/>
                </a:solidFill>
              </a:defRPr>
            </a:lvl8pPr>
            <a:lvl9pPr algn="l">
              <a:buNone/>
              <a:defRPr sz="825" b="1">
                <a:solidFill>
                  <a:srgbClr val="168F89"/>
                </a:solidFill>
              </a:defRPr>
            </a:lvl9pPr>
          </a:lstStyle>
          <a:p>
            <a:pPr algn="l">
              <a:buNone/>
              <a:defRPr sz="825" b="1">
                <a:solidFill>
                  <a:srgbClr val="168F89"/>
                </a:solidFill>
              </a:defRPr>
            </a:pPr>
            <a:r>
              <a:rPr sz="825" b="1">
                <a:solidFill>
                  <a:srgbClr val="168F89"/>
                </a:solidFill>
              </a:rPr>
              <a:t>ASSESS · EXPLAIN · SIMULATE</a:t>
            </a:r>
          </a:p>
        </p:txBody>
      </p:sp>
      <p:sp>
        <p:nvSpPr>
          <p:cNvPr id="17" name="Rectangle 16">
            <a:extLst>
              <a:ext uri="{FF2B5EF4-FFF2-40B4-BE49-F238E27FC236}">
                <a16:creationId xmlns:a16="http://schemas.microsoft.com/office/drawing/2014/main" xmlns="" id="{4195E7F3-EC36-454D-9B4C-D720D6A484B8}"/>
              </a:ext>
            </a:extLst>
          </p:cNvPr>
          <p:cNvSpPr>
            <a:spLocks noGrp="1"/>
          </p:cNvSpPr>
          <p:nvPr/>
        </p:nvSpPr>
        <p:spPr>
          <a:xfrm>
            <a:off x="5010150" y="1476375"/>
            <a:ext cx="1905000" cy="180975"/>
          </a:xfrm>
          <a:prstGeom prst="rect">
            <a:avLst/>
          </a:prstGeom>
          <a:noFill/>
          <a:ln w="0">
            <a:noFill/>
            <a:prstDash val="solid"/>
          </a:ln>
        </p:spPr>
        <p:txBody>
          <a:bodyPr lIns="0" tIns="0" rIns="0" bIns="0"/>
          <a:lstStyle>
            <a:defPPr algn="l">
              <a:defRPr sz="825" b="1">
                <a:solidFill>
                  <a:srgbClr val="1598B7"/>
                </a:solidFill>
              </a:defRPr>
            </a:defPPr>
            <a:lvl1pPr algn="l">
              <a:buNone/>
              <a:defRPr sz="825" b="1">
                <a:solidFill>
                  <a:srgbClr val="1598B7"/>
                </a:solidFill>
              </a:defRPr>
            </a:lvl1pPr>
            <a:lvl2pPr algn="l">
              <a:buNone/>
              <a:defRPr sz="825" b="1">
                <a:solidFill>
                  <a:srgbClr val="1598B7"/>
                </a:solidFill>
              </a:defRPr>
            </a:lvl2pPr>
            <a:lvl3pPr algn="l">
              <a:buNone/>
              <a:defRPr sz="825" b="1">
                <a:solidFill>
                  <a:srgbClr val="1598B7"/>
                </a:solidFill>
              </a:defRPr>
            </a:lvl3pPr>
            <a:lvl4pPr algn="l">
              <a:buNone/>
              <a:defRPr sz="825" b="1">
                <a:solidFill>
                  <a:srgbClr val="1598B7"/>
                </a:solidFill>
              </a:defRPr>
            </a:lvl4pPr>
            <a:lvl5pPr algn="l">
              <a:buNone/>
              <a:defRPr sz="825" b="1">
                <a:solidFill>
                  <a:srgbClr val="1598B7"/>
                </a:solidFill>
              </a:defRPr>
            </a:lvl5pPr>
            <a:lvl6pPr algn="l">
              <a:buNone/>
              <a:defRPr sz="825" b="1">
                <a:solidFill>
                  <a:srgbClr val="1598B7"/>
                </a:solidFill>
              </a:defRPr>
            </a:lvl6pPr>
            <a:lvl7pPr algn="l">
              <a:buNone/>
              <a:defRPr sz="825" b="1">
                <a:solidFill>
                  <a:srgbClr val="1598B7"/>
                </a:solidFill>
              </a:defRPr>
            </a:lvl7pPr>
            <a:lvl8pPr algn="l">
              <a:buNone/>
              <a:defRPr sz="825" b="1">
                <a:solidFill>
                  <a:srgbClr val="1598B7"/>
                </a:solidFill>
              </a:defRPr>
            </a:lvl8pPr>
            <a:lvl9pPr algn="l">
              <a:buNone/>
              <a:defRPr sz="825" b="1">
                <a:solidFill>
                  <a:srgbClr val="1598B7"/>
                </a:solidFill>
              </a:defRPr>
            </a:lvl9pPr>
          </a:lstStyle>
          <a:p>
            <a:pPr algn="l">
              <a:buNone/>
              <a:defRPr sz="825" b="1">
                <a:solidFill>
                  <a:srgbClr val="1598B7"/>
                </a:solidFill>
              </a:defRPr>
            </a:pPr>
            <a:r>
              <a:rPr sz="825" b="1">
                <a:solidFill>
                  <a:srgbClr val="1598B7"/>
                </a:solidFill>
              </a:rPr>
              <a:t>FAMILY ALERT</a:t>
            </a:r>
          </a:p>
        </p:txBody>
      </p:sp>
      <p:sp>
        <p:nvSpPr>
          <p:cNvPr id="10" name="Rectangle 9">
            <a:extLst>
              <a:ext uri="{FF2B5EF4-FFF2-40B4-BE49-F238E27FC236}">
                <a16:creationId xmlns:a16="http://schemas.microsoft.com/office/drawing/2014/main" xmlns="" id="{9A61E008-4C35-4A3F-93D6-6F0C67373083}"/>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Twin monitoring workflow</a:t>
            </a:r>
          </a:p>
        </p:txBody>
      </p:sp>
      <p:sp>
        <p:nvSpPr>
          <p:cNvPr id="2" name="Straight Connector 1">
            <a:extLst>
              <a:ext uri="{FF2B5EF4-FFF2-40B4-BE49-F238E27FC236}">
                <a16:creationId xmlns:a16="http://schemas.microsoft.com/office/drawing/2014/main" xmlns="" id="{D2694AA2-0DEC-4E6D-8491-AE7743562652}"/>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5F2B540A-7009-4F61-9DA1-B8E7B4F71B35}"/>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Two views of baseline comparison, Twin assessment, scenario review, and family alerting.</a:t>
            </a:r>
          </a:p>
        </p:txBody>
      </p:sp>
      <p:sp>
        <p:nvSpPr>
          <p:cNvPr id="4" name="Straight Connector 3">
            <a:extLst>
              <a:ext uri="{FF2B5EF4-FFF2-40B4-BE49-F238E27FC236}">
                <a16:creationId xmlns:a16="http://schemas.microsoft.com/office/drawing/2014/main" xmlns="" id="{37CE8B19-1B3D-416C-AAD1-11F2FC40CAC4}"/>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B402BC6D-F69D-492C-9095-C64F826D7A7F}"/>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21EA2E4D-9F06-4B4A-B157-5E7E4A79466C}"/>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04</a:t>
            </a:r>
          </a:p>
        </p:txBody>
      </p:sp>
      <p:sp>
        <p:nvSpPr>
          <p:cNvPr id="9" name="Rectangle 8">
            <a:extLst>
              <a:ext uri="{FF2B5EF4-FFF2-40B4-BE49-F238E27FC236}">
                <a16:creationId xmlns:a16="http://schemas.microsoft.com/office/drawing/2014/main" xmlns="" id="{25480AAF-FB22-4141-BDF4-9F8BA4ED4CBE}"/>
              </a:ext>
            </a:extLst>
          </p:cNvPr>
          <p:cNvSpPr>
            <a:spLocks noGrp="1"/>
          </p:cNvSpPr>
          <p:nvPr/>
        </p:nvSpPr>
        <p:spPr>
          <a:xfrm>
            <a:off x="666750" y="4391025"/>
            <a:ext cx="6143625" cy="238125"/>
          </a:xfrm>
          <a:prstGeom prst="rect">
            <a:avLst/>
          </a:prstGeom>
          <a:noFill/>
          <a:ln w="0">
            <a:noFill/>
            <a:prstDash val="solid"/>
          </a:ln>
        </p:spPr>
        <p:txBody>
          <a:bodyPr wrap="square" lIns="0" tIns="0" rIns="0" bIns="0" anchor="ctr">
            <a:normAutofit/>
          </a:bodyPr>
          <a:lstStyle>
            <a:defPPr algn="ctr">
              <a:defRPr sz="975" b="1" i="0">
                <a:solidFill>
                  <a:srgbClr val="BB6258"/>
                </a:solidFill>
                <a:latin typeface="Calibri"/>
                <a:ea typeface="Calibri"/>
                <a:cs typeface="Calibri"/>
              </a:defRPr>
            </a:defPPr>
            <a:lvl1pPr algn="ctr">
              <a:buNone/>
              <a:defRPr sz="938" b="0" i="0">
                <a:solidFill>
                  <a:srgbClr val="B94B4B"/>
                </a:solidFill>
                <a:latin typeface="Calibri"/>
                <a:ea typeface="Calibri"/>
                <a:cs typeface="Calibri"/>
              </a:defRPr>
            </a:lvl1pPr>
            <a:lvl2pPr algn="ctr">
              <a:buNone/>
              <a:defRPr sz="938" b="0" i="0">
                <a:solidFill>
                  <a:srgbClr val="B94B4B"/>
                </a:solidFill>
                <a:latin typeface="Calibri"/>
                <a:ea typeface="Calibri"/>
                <a:cs typeface="Calibri"/>
              </a:defRPr>
            </a:lvl2pPr>
            <a:lvl3pPr algn="ctr">
              <a:buNone/>
              <a:defRPr sz="938" b="0" i="0">
                <a:solidFill>
                  <a:srgbClr val="B94B4B"/>
                </a:solidFill>
                <a:latin typeface="Calibri"/>
                <a:ea typeface="Calibri"/>
                <a:cs typeface="Calibri"/>
              </a:defRPr>
            </a:lvl3pPr>
            <a:lvl4pPr algn="ctr">
              <a:buNone/>
              <a:defRPr sz="938" b="0" i="0">
                <a:solidFill>
                  <a:srgbClr val="B94B4B"/>
                </a:solidFill>
                <a:latin typeface="Calibri"/>
                <a:ea typeface="Calibri"/>
                <a:cs typeface="Calibri"/>
              </a:defRPr>
            </a:lvl4pPr>
            <a:lvl5pPr algn="ctr">
              <a:buNone/>
              <a:defRPr sz="938" b="0" i="0">
                <a:solidFill>
                  <a:srgbClr val="B94B4B"/>
                </a:solidFill>
                <a:latin typeface="Calibri"/>
                <a:ea typeface="Calibri"/>
                <a:cs typeface="Calibri"/>
              </a:defRPr>
            </a:lvl5pPr>
            <a:lvl6pPr algn="ctr">
              <a:buNone/>
              <a:defRPr sz="938" b="0" i="0">
                <a:solidFill>
                  <a:srgbClr val="B94B4B"/>
                </a:solidFill>
                <a:latin typeface="Calibri"/>
                <a:ea typeface="Calibri"/>
                <a:cs typeface="Calibri"/>
              </a:defRPr>
            </a:lvl6pPr>
            <a:lvl7pPr algn="ctr">
              <a:buNone/>
              <a:defRPr sz="938" b="0" i="0">
                <a:solidFill>
                  <a:srgbClr val="B94B4B"/>
                </a:solidFill>
                <a:latin typeface="Calibri"/>
                <a:ea typeface="Calibri"/>
                <a:cs typeface="Calibri"/>
              </a:defRPr>
            </a:lvl7pPr>
            <a:lvl8pPr algn="ctr">
              <a:buNone/>
              <a:defRPr sz="938" b="0" i="0">
                <a:solidFill>
                  <a:srgbClr val="B94B4B"/>
                </a:solidFill>
                <a:latin typeface="Calibri"/>
                <a:ea typeface="Calibri"/>
                <a:cs typeface="Calibri"/>
              </a:defRPr>
            </a:lvl8pPr>
            <a:lvl9pPr algn="ctr">
              <a:buNone/>
              <a:defRPr sz="938" b="0" i="0">
                <a:solidFill>
                  <a:srgbClr val="B94B4B"/>
                </a:solidFill>
                <a:latin typeface="Calibri"/>
                <a:ea typeface="Calibri"/>
                <a:cs typeface="Calibri"/>
              </a:defRPr>
            </a:lvl9pPr>
          </a:lstStyle>
          <a:p>
            <a:pPr algn="ctr">
              <a:lnSpc>
                <a:spcPct val="108000"/>
              </a:lnSpc>
              <a:buNone/>
              <a:defRPr sz="938" b="0" i="0">
                <a:solidFill>
                  <a:srgbClr val="B94B4B"/>
                </a:solidFill>
                <a:latin typeface="Calibri"/>
                <a:ea typeface="Calibri"/>
                <a:cs typeface="Calibri"/>
              </a:defRPr>
            </a:pPr>
            <a:endParaRPr sz="975" b="1" i="0" dirty="0">
              <a:solidFill>
                <a:srgbClr val="BB6258"/>
              </a:solidFill>
              <a:latin typeface="Calibri"/>
              <a:ea typeface="Calibri"/>
              <a:cs typeface="Calibri"/>
            </a:endParaRPr>
          </a:p>
        </p:txBody>
      </p:sp>
      <p:pic>
        <p:nvPicPr>
          <p:cNvPr id="7" name="Picture 6">
            <a:extLst>
              <a:ext uri="{FF2B5EF4-FFF2-40B4-BE49-F238E27FC236}">
                <a16:creationId xmlns:a16="http://schemas.microsoft.com/office/drawing/2014/main" xmlns="" id="{B49523CA-FCDD-44BB-9C95-3614E3A72054}"/>
              </a:ext>
            </a:extLst>
          </p:cNvPr>
          <p:cNvPicPr>
            <a:picLocks noChangeAspect="1"/>
          </p:cNvPicPr>
          <p:nvPr/>
        </p:nvPicPr>
        <p:blipFill>
          <a:blip r:embed="rId4"/>
          <a:stretch/>
        </p:blipFill>
        <p:spPr>
          <a:xfrm>
            <a:off x="304800" y="1743075"/>
            <a:ext cx="4457700" cy="1695450"/>
          </a:xfrm>
          <a:prstGeom prst="rect">
            <a:avLst/>
          </a:prstGeom>
        </p:spPr>
      </p:pic>
      <p:pic>
        <p:nvPicPr>
          <p:cNvPr id="8" name="Picture 7">
            <a:extLst>
              <a:ext uri="{FF2B5EF4-FFF2-40B4-BE49-F238E27FC236}">
                <a16:creationId xmlns:a16="http://schemas.microsoft.com/office/drawing/2014/main" xmlns="" id="{E3DC1589-BFFE-4C74-841B-F9A809AF1197}"/>
              </a:ext>
            </a:extLst>
          </p:cNvPr>
          <p:cNvPicPr>
            <a:picLocks noChangeAspect="1"/>
          </p:cNvPicPr>
          <p:nvPr/>
        </p:nvPicPr>
        <p:blipFill>
          <a:blip r:embed="rId5"/>
          <a:stretch/>
        </p:blipFill>
        <p:spPr>
          <a:xfrm>
            <a:off x="4895850" y="1714500"/>
            <a:ext cx="2266950" cy="2333625"/>
          </a:xfrm>
          <a:prstGeom prst="rect">
            <a:avLst/>
          </a:prstGeom>
        </p:spPr>
      </p:pic>
    </p:spTree>
    <p:extLst>
      <p:ext uri="{BB962C8B-B14F-4D97-AF65-F5344CB8AC3E}">
        <p14:creationId xmlns:p14="http://schemas.microsoft.com/office/powerpoint/2010/main" val="2681821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xmlns="" id="{EF3FD860-E9B1-43F9-A7FA-B51912C0B5FE}"/>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28" name="Rounded Rectangle 27">
            <a:extLst>
              <a:ext uri="{FF2B5EF4-FFF2-40B4-BE49-F238E27FC236}">
                <a16:creationId xmlns:a16="http://schemas.microsoft.com/office/drawing/2014/main" xmlns="" id="{2067258D-F40C-4622-9F44-892B8AED16F5}"/>
              </a:ext>
            </a:extLst>
          </p:cNvPr>
          <p:cNvSpPr>
            <a:spLocks noGrp="1"/>
          </p:cNvSpPr>
          <p:nvPr/>
        </p:nvSpPr>
        <p:spPr>
          <a:xfrm>
            <a:off x="314325" y="1390650"/>
            <a:ext cx="6838950" cy="504825"/>
          </a:xfrm>
          <a:prstGeom prst="roundRect">
            <a:avLst>
              <a:gd name="adj" fmla="val 28302"/>
            </a:avLst>
          </a:prstGeom>
          <a:solidFill>
            <a:srgbClr val="FFFFFF">
              <a:alpha val="94000"/>
            </a:srgbClr>
          </a:solidFill>
          <a:ln w="9525">
            <a:solidFill>
              <a:srgbClr val="D5E7E3"/>
            </a:solidFill>
            <a:prstDash val="solid"/>
          </a:ln>
        </p:spPr>
        <p:style>
          <a:lnRef idx="0">
            <a:scrgbClr r="0" g="0" b="0"/>
          </a:lnRef>
          <a:fillRef idx="0">
            <a:scrgbClr r="0" g="0" b="0"/>
          </a:fillRef>
          <a:effectRef idx="4">
            <a:scrgbClr r="0" g="0" b="0"/>
          </a:effectRef>
          <a:fontRef idx="major"/>
        </p:style>
      </p:sp>
      <p:sp>
        <p:nvSpPr>
          <p:cNvPr id="29" name="Rounded Rectangle 28">
            <a:extLst>
              <a:ext uri="{FF2B5EF4-FFF2-40B4-BE49-F238E27FC236}">
                <a16:creationId xmlns:a16="http://schemas.microsoft.com/office/drawing/2014/main" xmlns="" id="{E1FF0DF4-6A58-4288-BC37-F04B6718E090}"/>
              </a:ext>
            </a:extLst>
          </p:cNvPr>
          <p:cNvSpPr>
            <a:spLocks noGrp="1"/>
          </p:cNvSpPr>
          <p:nvPr/>
        </p:nvSpPr>
        <p:spPr>
          <a:xfrm>
            <a:off x="314325" y="1400175"/>
            <a:ext cx="47625" cy="485775"/>
          </a:xfrm>
          <a:prstGeom prst="roundRect">
            <a:avLst>
              <a:gd name="adj" fmla="val 50000"/>
            </a:avLst>
          </a:prstGeom>
          <a:solidFill>
            <a:srgbClr val="168F89"/>
          </a:solidFill>
          <a:ln w="0">
            <a:noFill/>
            <a:prstDash val="solid"/>
          </a:ln>
        </p:spPr>
      </p:sp>
      <p:sp>
        <p:nvSpPr>
          <p:cNvPr id="30" name="Oval 29">
            <a:extLst>
              <a:ext uri="{FF2B5EF4-FFF2-40B4-BE49-F238E27FC236}">
                <a16:creationId xmlns:a16="http://schemas.microsoft.com/office/drawing/2014/main" xmlns="" id="{DC4E5C81-E5DF-4D23-821E-B54C7EE01321}"/>
              </a:ext>
            </a:extLst>
          </p:cNvPr>
          <p:cNvSpPr>
            <a:spLocks noGrp="1"/>
          </p:cNvSpPr>
          <p:nvPr/>
        </p:nvSpPr>
        <p:spPr>
          <a:xfrm>
            <a:off x="457200" y="1485900"/>
            <a:ext cx="304800" cy="304800"/>
          </a:xfrm>
          <a:prstGeom prst="ellipse">
            <a:avLst/>
          </a:prstGeom>
          <a:solidFill>
            <a:srgbClr val="168F89"/>
          </a:solidFill>
          <a:ln w="9525">
            <a:solidFill>
              <a:srgbClr val="000000"/>
            </a:solidFill>
            <a:prstDash val="solid"/>
          </a:ln>
        </p:spPr>
        <p:txBody>
          <a:bodyPr lIns="0" tIns="0" rIns="0" bIns="0" anchor="ctr"/>
          <a:lstStyle>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a:pPr algn="ctr">
              <a:buNone/>
              <a:defRPr sz="900" b="1">
                <a:solidFill>
                  <a:srgbClr val="FFFFFF"/>
                </a:solidFill>
              </a:defRPr>
            </a:pPr>
            <a:r>
              <a:rPr sz="900" b="1">
                <a:solidFill>
                  <a:srgbClr val="FFFFFF"/>
                </a:solidFill>
              </a:rPr>
              <a:t>1</a:t>
            </a:r>
          </a:p>
        </p:txBody>
      </p:sp>
      <p:sp>
        <p:nvSpPr>
          <p:cNvPr id="31" name="Rounded Rectangle 30">
            <a:extLst>
              <a:ext uri="{FF2B5EF4-FFF2-40B4-BE49-F238E27FC236}">
                <a16:creationId xmlns:a16="http://schemas.microsoft.com/office/drawing/2014/main" xmlns="" id="{EA917F27-8F49-4931-8F01-EA6DDAD57782}"/>
              </a:ext>
            </a:extLst>
          </p:cNvPr>
          <p:cNvSpPr>
            <a:spLocks noGrp="1"/>
          </p:cNvSpPr>
          <p:nvPr/>
        </p:nvSpPr>
        <p:spPr>
          <a:xfrm>
            <a:off x="314325" y="1962150"/>
            <a:ext cx="6838950" cy="504825"/>
          </a:xfrm>
          <a:prstGeom prst="roundRect">
            <a:avLst>
              <a:gd name="adj" fmla="val 28302"/>
            </a:avLst>
          </a:prstGeom>
          <a:solidFill>
            <a:srgbClr val="FFFFFF">
              <a:alpha val="94000"/>
            </a:srgbClr>
          </a:solidFill>
          <a:ln w="9525">
            <a:solidFill>
              <a:srgbClr val="D5E7E3"/>
            </a:solidFill>
            <a:prstDash val="solid"/>
          </a:ln>
        </p:spPr>
        <p:style>
          <a:lnRef idx="0">
            <a:scrgbClr r="0" g="0" b="0"/>
          </a:lnRef>
          <a:fillRef idx="0">
            <a:scrgbClr r="0" g="0" b="0"/>
          </a:fillRef>
          <a:effectRef idx="4">
            <a:scrgbClr r="0" g="0" b="0"/>
          </a:effectRef>
          <a:fontRef idx="major"/>
        </p:style>
      </p:sp>
      <p:sp>
        <p:nvSpPr>
          <p:cNvPr id="32" name="Rounded Rectangle 31">
            <a:extLst>
              <a:ext uri="{FF2B5EF4-FFF2-40B4-BE49-F238E27FC236}">
                <a16:creationId xmlns:a16="http://schemas.microsoft.com/office/drawing/2014/main" xmlns="" id="{BEAADDEF-DF43-4D9F-AC12-22EE38A6420B}"/>
              </a:ext>
            </a:extLst>
          </p:cNvPr>
          <p:cNvSpPr>
            <a:spLocks noGrp="1"/>
          </p:cNvSpPr>
          <p:nvPr/>
        </p:nvSpPr>
        <p:spPr>
          <a:xfrm>
            <a:off x="314325" y="1971675"/>
            <a:ext cx="47625" cy="485775"/>
          </a:xfrm>
          <a:prstGeom prst="roundRect">
            <a:avLst>
              <a:gd name="adj" fmla="val 50000"/>
            </a:avLst>
          </a:prstGeom>
          <a:solidFill>
            <a:srgbClr val="168F89"/>
          </a:solidFill>
          <a:ln w="0">
            <a:noFill/>
            <a:prstDash val="solid"/>
          </a:ln>
        </p:spPr>
      </p:sp>
      <p:sp>
        <p:nvSpPr>
          <p:cNvPr id="33" name="Oval 32">
            <a:extLst>
              <a:ext uri="{FF2B5EF4-FFF2-40B4-BE49-F238E27FC236}">
                <a16:creationId xmlns:a16="http://schemas.microsoft.com/office/drawing/2014/main" xmlns="" id="{A606D65C-05ED-47A1-9D7F-0A281C7DF096}"/>
              </a:ext>
            </a:extLst>
          </p:cNvPr>
          <p:cNvSpPr>
            <a:spLocks noGrp="1"/>
          </p:cNvSpPr>
          <p:nvPr/>
        </p:nvSpPr>
        <p:spPr>
          <a:xfrm>
            <a:off x="457200" y="2057400"/>
            <a:ext cx="304800" cy="304800"/>
          </a:xfrm>
          <a:prstGeom prst="ellipse">
            <a:avLst/>
          </a:prstGeom>
          <a:solidFill>
            <a:srgbClr val="168F89"/>
          </a:solidFill>
          <a:ln w="9525">
            <a:solidFill>
              <a:srgbClr val="000000"/>
            </a:solidFill>
            <a:prstDash val="solid"/>
          </a:ln>
        </p:spPr>
        <p:txBody>
          <a:bodyPr lIns="0" tIns="0" rIns="0" bIns="0" anchor="ctr"/>
          <a:lstStyle>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a:pPr algn="ctr">
              <a:buNone/>
              <a:defRPr sz="900" b="1">
                <a:solidFill>
                  <a:srgbClr val="FFFFFF"/>
                </a:solidFill>
              </a:defRPr>
            </a:pPr>
            <a:r>
              <a:rPr sz="900" b="1">
                <a:solidFill>
                  <a:srgbClr val="FFFFFF"/>
                </a:solidFill>
              </a:rPr>
              <a:t>2</a:t>
            </a:r>
          </a:p>
        </p:txBody>
      </p:sp>
      <p:sp>
        <p:nvSpPr>
          <p:cNvPr id="34" name="Rounded Rectangle 33">
            <a:extLst>
              <a:ext uri="{FF2B5EF4-FFF2-40B4-BE49-F238E27FC236}">
                <a16:creationId xmlns:a16="http://schemas.microsoft.com/office/drawing/2014/main" xmlns="" id="{DDF47594-DD97-4FA9-B97C-433970B6E207}"/>
              </a:ext>
            </a:extLst>
          </p:cNvPr>
          <p:cNvSpPr>
            <a:spLocks noGrp="1"/>
          </p:cNvSpPr>
          <p:nvPr/>
        </p:nvSpPr>
        <p:spPr>
          <a:xfrm>
            <a:off x="314325" y="2533650"/>
            <a:ext cx="6838950" cy="504825"/>
          </a:xfrm>
          <a:prstGeom prst="roundRect">
            <a:avLst>
              <a:gd name="adj" fmla="val 28302"/>
            </a:avLst>
          </a:prstGeom>
          <a:solidFill>
            <a:srgbClr val="FFFFFF">
              <a:alpha val="94000"/>
            </a:srgbClr>
          </a:solidFill>
          <a:ln w="9525">
            <a:solidFill>
              <a:srgbClr val="D5E7E3"/>
            </a:solidFill>
            <a:prstDash val="solid"/>
          </a:ln>
        </p:spPr>
        <p:style>
          <a:lnRef idx="0">
            <a:scrgbClr r="0" g="0" b="0"/>
          </a:lnRef>
          <a:fillRef idx="0">
            <a:scrgbClr r="0" g="0" b="0"/>
          </a:fillRef>
          <a:effectRef idx="4">
            <a:scrgbClr r="0" g="0" b="0"/>
          </a:effectRef>
          <a:fontRef idx="major"/>
        </p:style>
      </p:sp>
      <p:sp>
        <p:nvSpPr>
          <p:cNvPr id="35" name="Rounded Rectangle 34">
            <a:extLst>
              <a:ext uri="{FF2B5EF4-FFF2-40B4-BE49-F238E27FC236}">
                <a16:creationId xmlns:a16="http://schemas.microsoft.com/office/drawing/2014/main" xmlns="" id="{51344C4C-B8F0-4F54-97A9-78938598FD31}"/>
              </a:ext>
            </a:extLst>
          </p:cNvPr>
          <p:cNvSpPr>
            <a:spLocks noGrp="1"/>
          </p:cNvSpPr>
          <p:nvPr/>
        </p:nvSpPr>
        <p:spPr>
          <a:xfrm>
            <a:off x="314325" y="2543175"/>
            <a:ext cx="47625" cy="485775"/>
          </a:xfrm>
          <a:prstGeom prst="roundRect">
            <a:avLst>
              <a:gd name="adj" fmla="val 50000"/>
            </a:avLst>
          </a:prstGeom>
          <a:solidFill>
            <a:srgbClr val="845FB5"/>
          </a:solidFill>
          <a:ln w="0">
            <a:noFill/>
            <a:prstDash val="solid"/>
          </a:ln>
        </p:spPr>
      </p:sp>
      <p:sp>
        <p:nvSpPr>
          <p:cNvPr id="36" name="Oval 35">
            <a:extLst>
              <a:ext uri="{FF2B5EF4-FFF2-40B4-BE49-F238E27FC236}">
                <a16:creationId xmlns:a16="http://schemas.microsoft.com/office/drawing/2014/main" xmlns="" id="{AE8255C4-3AE5-4E39-A065-29FA13C65430}"/>
              </a:ext>
            </a:extLst>
          </p:cNvPr>
          <p:cNvSpPr>
            <a:spLocks noGrp="1"/>
          </p:cNvSpPr>
          <p:nvPr/>
        </p:nvSpPr>
        <p:spPr>
          <a:xfrm>
            <a:off x="457200" y="2628900"/>
            <a:ext cx="304800" cy="304800"/>
          </a:xfrm>
          <a:prstGeom prst="ellipse">
            <a:avLst/>
          </a:prstGeom>
          <a:solidFill>
            <a:srgbClr val="845FB5"/>
          </a:solidFill>
          <a:ln w="9525">
            <a:solidFill>
              <a:srgbClr val="000000"/>
            </a:solidFill>
            <a:prstDash val="solid"/>
          </a:ln>
        </p:spPr>
        <p:txBody>
          <a:bodyPr lIns="0" tIns="0" rIns="0" bIns="0" anchor="ctr"/>
          <a:lstStyle>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a:pPr algn="ctr">
              <a:buNone/>
              <a:defRPr sz="900" b="1">
                <a:solidFill>
                  <a:srgbClr val="FFFFFF"/>
                </a:solidFill>
              </a:defRPr>
            </a:pPr>
            <a:r>
              <a:rPr sz="900" b="1">
                <a:solidFill>
                  <a:srgbClr val="FFFFFF"/>
                </a:solidFill>
              </a:rPr>
              <a:t>3</a:t>
            </a:r>
          </a:p>
        </p:txBody>
      </p:sp>
      <p:sp>
        <p:nvSpPr>
          <p:cNvPr id="37" name="Rounded Rectangle 36">
            <a:extLst>
              <a:ext uri="{FF2B5EF4-FFF2-40B4-BE49-F238E27FC236}">
                <a16:creationId xmlns:a16="http://schemas.microsoft.com/office/drawing/2014/main" xmlns="" id="{D6D9DF69-59F8-4462-A3AE-1FA6A9AFFAE5}"/>
              </a:ext>
            </a:extLst>
          </p:cNvPr>
          <p:cNvSpPr>
            <a:spLocks noGrp="1"/>
          </p:cNvSpPr>
          <p:nvPr/>
        </p:nvSpPr>
        <p:spPr>
          <a:xfrm>
            <a:off x="314325" y="3105150"/>
            <a:ext cx="6838950" cy="504825"/>
          </a:xfrm>
          <a:prstGeom prst="roundRect">
            <a:avLst>
              <a:gd name="adj" fmla="val 28302"/>
            </a:avLst>
          </a:prstGeom>
          <a:solidFill>
            <a:srgbClr val="FFFFFF">
              <a:alpha val="94000"/>
            </a:srgbClr>
          </a:solidFill>
          <a:ln w="9525">
            <a:solidFill>
              <a:srgbClr val="D5E7E3"/>
            </a:solidFill>
            <a:prstDash val="solid"/>
          </a:ln>
        </p:spPr>
        <p:style>
          <a:lnRef idx="0">
            <a:scrgbClr r="0" g="0" b="0"/>
          </a:lnRef>
          <a:fillRef idx="0">
            <a:scrgbClr r="0" g="0" b="0"/>
          </a:fillRef>
          <a:effectRef idx="4">
            <a:scrgbClr r="0" g="0" b="0"/>
          </a:effectRef>
          <a:fontRef idx="major"/>
        </p:style>
      </p:sp>
      <p:sp>
        <p:nvSpPr>
          <p:cNvPr id="38" name="Rounded Rectangle 37">
            <a:extLst>
              <a:ext uri="{FF2B5EF4-FFF2-40B4-BE49-F238E27FC236}">
                <a16:creationId xmlns:a16="http://schemas.microsoft.com/office/drawing/2014/main" xmlns="" id="{97B814DD-3544-47EA-B2BE-3A2834FE15E2}"/>
              </a:ext>
            </a:extLst>
          </p:cNvPr>
          <p:cNvSpPr>
            <a:spLocks noGrp="1"/>
          </p:cNvSpPr>
          <p:nvPr/>
        </p:nvSpPr>
        <p:spPr>
          <a:xfrm>
            <a:off x="314325" y="3114675"/>
            <a:ext cx="47625" cy="485775"/>
          </a:xfrm>
          <a:prstGeom prst="roundRect">
            <a:avLst>
              <a:gd name="adj" fmla="val 50000"/>
            </a:avLst>
          </a:prstGeom>
          <a:solidFill>
            <a:srgbClr val="D86E52"/>
          </a:solidFill>
          <a:ln w="0">
            <a:noFill/>
            <a:prstDash val="solid"/>
          </a:ln>
        </p:spPr>
      </p:sp>
      <p:sp>
        <p:nvSpPr>
          <p:cNvPr id="39" name="Oval 38">
            <a:extLst>
              <a:ext uri="{FF2B5EF4-FFF2-40B4-BE49-F238E27FC236}">
                <a16:creationId xmlns:a16="http://schemas.microsoft.com/office/drawing/2014/main" xmlns="" id="{E819144D-7F66-4D57-9315-24305FF05758}"/>
              </a:ext>
            </a:extLst>
          </p:cNvPr>
          <p:cNvSpPr>
            <a:spLocks noGrp="1"/>
          </p:cNvSpPr>
          <p:nvPr/>
        </p:nvSpPr>
        <p:spPr>
          <a:xfrm>
            <a:off x="457200" y="3200400"/>
            <a:ext cx="304800" cy="304800"/>
          </a:xfrm>
          <a:prstGeom prst="ellipse">
            <a:avLst/>
          </a:prstGeom>
          <a:solidFill>
            <a:srgbClr val="D86E52"/>
          </a:solidFill>
          <a:ln w="9525">
            <a:solidFill>
              <a:srgbClr val="000000"/>
            </a:solidFill>
            <a:prstDash val="solid"/>
          </a:ln>
        </p:spPr>
        <p:txBody>
          <a:bodyPr lIns="0" tIns="0" rIns="0" bIns="0" anchor="ctr"/>
          <a:lstStyle>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a:pPr algn="ctr">
              <a:buNone/>
              <a:defRPr sz="900" b="1">
                <a:solidFill>
                  <a:srgbClr val="FFFFFF"/>
                </a:solidFill>
              </a:defRPr>
            </a:pPr>
            <a:r>
              <a:rPr sz="900" b="1">
                <a:solidFill>
                  <a:srgbClr val="FFFFFF"/>
                </a:solidFill>
              </a:rPr>
              <a:t>4</a:t>
            </a:r>
          </a:p>
        </p:txBody>
      </p:sp>
      <p:sp>
        <p:nvSpPr>
          <p:cNvPr id="40" name="Rounded Rectangle 39">
            <a:extLst>
              <a:ext uri="{FF2B5EF4-FFF2-40B4-BE49-F238E27FC236}">
                <a16:creationId xmlns:a16="http://schemas.microsoft.com/office/drawing/2014/main" xmlns="" id="{AC9243A9-97BA-4C15-975A-28776EBFA1BD}"/>
              </a:ext>
            </a:extLst>
          </p:cNvPr>
          <p:cNvSpPr>
            <a:spLocks noGrp="1"/>
          </p:cNvSpPr>
          <p:nvPr/>
        </p:nvSpPr>
        <p:spPr>
          <a:xfrm>
            <a:off x="314325" y="3676650"/>
            <a:ext cx="6838950" cy="504825"/>
          </a:xfrm>
          <a:prstGeom prst="roundRect">
            <a:avLst>
              <a:gd name="adj" fmla="val 28302"/>
            </a:avLst>
          </a:prstGeom>
          <a:solidFill>
            <a:srgbClr val="FFFFFF">
              <a:alpha val="94000"/>
            </a:srgbClr>
          </a:solidFill>
          <a:ln w="9525">
            <a:solidFill>
              <a:srgbClr val="D5E7E3"/>
            </a:solidFill>
            <a:prstDash val="solid"/>
          </a:ln>
        </p:spPr>
        <p:style>
          <a:lnRef idx="0">
            <a:scrgbClr r="0" g="0" b="0"/>
          </a:lnRef>
          <a:fillRef idx="0">
            <a:scrgbClr r="0" g="0" b="0"/>
          </a:fillRef>
          <a:effectRef idx="4">
            <a:scrgbClr r="0" g="0" b="0"/>
          </a:effectRef>
          <a:fontRef idx="major"/>
        </p:style>
      </p:sp>
      <p:sp>
        <p:nvSpPr>
          <p:cNvPr id="41" name="Rounded Rectangle 40">
            <a:extLst>
              <a:ext uri="{FF2B5EF4-FFF2-40B4-BE49-F238E27FC236}">
                <a16:creationId xmlns:a16="http://schemas.microsoft.com/office/drawing/2014/main" xmlns="" id="{62DA4D32-9A22-4CAA-BF0B-D6DC9A22B263}"/>
              </a:ext>
            </a:extLst>
          </p:cNvPr>
          <p:cNvSpPr>
            <a:spLocks noGrp="1"/>
          </p:cNvSpPr>
          <p:nvPr/>
        </p:nvSpPr>
        <p:spPr>
          <a:xfrm>
            <a:off x="314325" y="3686175"/>
            <a:ext cx="47625" cy="485775"/>
          </a:xfrm>
          <a:prstGeom prst="roundRect">
            <a:avLst>
              <a:gd name="adj" fmla="val 50000"/>
            </a:avLst>
          </a:prstGeom>
          <a:solidFill>
            <a:srgbClr val="1598B7"/>
          </a:solidFill>
          <a:ln w="0">
            <a:noFill/>
            <a:prstDash val="solid"/>
          </a:ln>
        </p:spPr>
      </p:sp>
      <p:sp>
        <p:nvSpPr>
          <p:cNvPr id="42" name="Oval 41">
            <a:extLst>
              <a:ext uri="{FF2B5EF4-FFF2-40B4-BE49-F238E27FC236}">
                <a16:creationId xmlns:a16="http://schemas.microsoft.com/office/drawing/2014/main" xmlns="" id="{DCF51911-0CFF-4293-BBB5-BD9B6DF9D690}"/>
              </a:ext>
            </a:extLst>
          </p:cNvPr>
          <p:cNvSpPr>
            <a:spLocks noGrp="1"/>
          </p:cNvSpPr>
          <p:nvPr/>
        </p:nvSpPr>
        <p:spPr>
          <a:xfrm>
            <a:off x="457200" y="3771900"/>
            <a:ext cx="304800" cy="304800"/>
          </a:xfrm>
          <a:prstGeom prst="ellipse">
            <a:avLst/>
          </a:prstGeom>
          <a:solidFill>
            <a:srgbClr val="1598B7"/>
          </a:solidFill>
          <a:ln w="9525">
            <a:solidFill>
              <a:srgbClr val="000000"/>
            </a:solidFill>
            <a:prstDash val="solid"/>
          </a:ln>
        </p:spPr>
        <p:txBody>
          <a:bodyPr lIns="0" tIns="0" rIns="0" bIns="0" anchor="ctr"/>
          <a:lstStyle>
            <a:defPPr algn="ctr">
              <a:defRPr sz="900" b="1">
                <a:solidFill>
                  <a:srgbClr val="FFFFFF"/>
                </a:solidFill>
              </a:defRPr>
            </a:defPPr>
            <a:lvl1pPr algn="ctr">
              <a:buNone/>
              <a:defRPr sz="900" b="1">
                <a:solidFill>
                  <a:srgbClr val="FFFFFF"/>
                </a:solidFill>
              </a:defRPr>
            </a:lvl1pPr>
            <a:lvl2pPr algn="ctr">
              <a:buNone/>
              <a:defRPr sz="900" b="1">
                <a:solidFill>
                  <a:srgbClr val="FFFFFF"/>
                </a:solidFill>
              </a:defRPr>
            </a:lvl2pPr>
            <a:lvl3pPr algn="ctr">
              <a:buNone/>
              <a:defRPr sz="900" b="1">
                <a:solidFill>
                  <a:srgbClr val="FFFFFF"/>
                </a:solidFill>
              </a:defRPr>
            </a:lvl3pPr>
            <a:lvl4pPr algn="ctr">
              <a:buNone/>
              <a:defRPr sz="900" b="1">
                <a:solidFill>
                  <a:srgbClr val="FFFFFF"/>
                </a:solidFill>
              </a:defRPr>
            </a:lvl4pPr>
            <a:lvl5pPr algn="ctr">
              <a:buNone/>
              <a:defRPr sz="900" b="1">
                <a:solidFill>
                  <a:srgbClr val="FFFFFF"/>
                </a:solidFill>
              </a:defRPr>
            </a:lvl5pPr>
            <a:lvl6pPr algn="ctr">
              <a:buNone/>
              <a:defRPr sz="900" b="1">
                <a:solidFill>
                  <a:srgbClr val="FFFFFF"/>
                </a:solidFill>
              </a:defRPr>
            </a:lvl6pPr>
            <a:lvl7pPr algn="ctr">
              <a:buNone/>
              <a:defRPr sz="900" b="1">
                <a:solidFill>
                  <a:srgbClr val="FFFFFF"/>
                </a:solidFill>
              </a:defRPr>
            </a:lvl7pPr>
            <a:lvl8pPr algn="ctr">
              <a:buNone/>
              <a:defRPr sz="900" b="1">
                <a:solidFill>
                  <a:srgbClr val="FFFFFF"/>
                </a:solidFill>
              </a:defRPr>
            </a:lvl8pPr>
            <a:lvl9pPr algn="ctr">
              <a:buNone/>
              <a:defRPr sz="900" b="1">
                <a:solidFill>
                  <a:srgbClr val="FFFFFF"/>
                </a:solidFill>
              </a:defRPr>
            </a:lvl9pPr>
          </a:lstStyle>
          <a:p>
            <a:pPr algn="ctr">
              <a:buNone/>
              <a:defRPr sz="900" b="1">
                <a:solidFill>
                  <a:srgbClr val="FFFFFF"/>
                </a:solidFill>
              </a:defRPr>
            </a:pPr>
            <a:r>
              <a:rPr sz="900" b="1">
                <a:solidFill>
                  <a:srgbClr val="FFFFFF"/>
                </a:solidFill>
              </a:rPr>
              <a:t>5</a:t>
            </a:r>
          </a:p>
        </p:txBody>
      </p:sp>
      <p:sp>
        <p:nvSpPr>
          <p:cNvPr id="26" name="Rectangle 25">
            <a:extLst>
              <a:ext uri="{FF2B5EF4-FFF2-40B4-BE49-F238E27FC236}">
                <a16:creationId xmlns:a16="http://schemas.microsoft.com/office/drawing/2014/main" xmlns="" id="{DBA6BE65-7DA4-46C6-83FA-8D76EABC69C6}"/>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Backend API surface</a:t>
            </a:r>
          </a:p>
        </p:txBody>
      </p:sp>
      <p:sp>
        <p:nvSpPr>
          <p:cNvPr id="2" name="Straight Connector 1">
            <a:extLst>
              <a:ext uri="{FF2B5EF4-FFF2-40B4-BE49-F238E27FC236}">
                <a16:creationId xmlns:a16="http://schemas.microsoft.com/office/drawing/2014/main" xmlns="" id="{6B240581-577B-4AC7-B62E-50807C6A618A}"/>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0DD46858-2AFC-4E07-8E47-0F7180E19243}"/>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The documented contract covers patients, wearable readings, predictions, alerts, analytics, and streaming.</a:t>
            </a:r>
          </a:p>
        </p:txBody>
      </p:sp>
      <p:sp>
        <p:nvSpPr>
          <p:cNvPr id="4" name="Straight Connector 3">
            <a:extLst>
              <a:ext uri="{FF2B5EF4-FFF2-40B4-BE49-F238E27FC236}">
                <a16:creationId xmlns:a16="http://schemas.microsoft.com/office/drawing/2014/main" xmlns="" id="{9BA4A737-333B-481B-8631-F55C7F0BEAC1}"/>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BAA41CF8-E39E-413B-8EE1-57D645B46251}"/>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0A2F29D7-503E-4519-9E38-C85DF817418F}"/>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05</a:t>
            </a:r>
          </a:p>
        </p:txBody>
      </p:sp>
      <p:sp>
        <p:nvSpPr>
          <p:cNvPr id="7" name="Rectangle 6">
            <a:extLst>
              <a:ext uri="{FF2B5EF4-FFF2-40B4-BE49-F238E27FC236}">
                <a16:creationId xmlns:a16="http://schemas.microsoft.com/office/drawing/2014/main" xmlns="" id="{71C09794-7BF6-41CA-8D62-C333A9D5285A}"/>
              </a:ext>
            </a:extLst>
          </p:cNvPr>
          <p:cNvSpPr>
            <a:spLocks noGrp="1"/>
          </p:cNvSpPr>
          <p:nvPr/>
        </p:nvSpPr>
        <p:spPr>
          <a:xfrm>
            <a:off x="828675" y="1438275"/>
            <a:ext cx="904875" cy="209550"/>
          </a:xfrm>
          <a:prstGeom prst="rect">
            <a:avLst/>
          </a:prstGeom>
          <a:noFill/>
          <a:ln w="0">
            <a:noFill/>
            <a:prstDash val="solid"/>
          </a:ln>
        </p:spPr>
        <p:txBody>
          <a:bodyPr wrap="square" lIns="0" tIns="0" rIns="0" bIns="0" anchor="ctr">
            <a:normAutofit/>
          </a:bodyPr>
          <a:lstStyle>
            <a:defPPr algn="l">
              <a:defRPr sz="938" b="1" i="0">
                <a:solidFill>
                  <a:srgbClr val="168F89"/>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a:pPr algn="l">
              <a:lnSpc>
                <a:spcPct val="108000"/>
              </a:lnSpc>
              <a:buNone/>
              <a:defRPr sz="975" b="1" i="0">
                <a:solidFill>
                  <a:srgbClr val="0D6F73"/>
                </a:solidFill>
                <a:latin typeface="Calibri"/>
                <a:ea typeface="Calibri"/>
                <a:cs typeface="Calibri"/>
              </a:defRPr>
            </a:pPr>
            <a:r>
              <a:rPr sz="938" b="1" i="0">
                <a:solidFill>
                  <a:srgbClr val="168F89"/>
                </a:solidFill>
                <a:latin typeface="Calibri"/>
                <a:ea typeface="Calibri"/>
                <a:cs typeface="Calibri"/>
              </a:rPr>
              <a:t>PATIENTS</a:t>
            </a:r>
          </a:p>
        </p:txBody>
      </p:sp>
      <p:sp>
        <p:nvSpPr>
          <p:cNvPr id="8" name="Rectangle 7">
            <a:extLst>
              <a:ext uri="{FF2B5EF4-FFF2-40B4-BE49-F238E27FC236}">
                <a16:creationId xmlns:a16="http://schemas.microsoft.com/office/drawing/2014/main" xmlns="" id="{A23BA636-B683-4280-A318-4B2F973BE3FA}"/>
              </a:ext>
            </a:extLst>
          </p:cNvPr>
          <p:cNvSpPr>
            <a:spLocks noGrp="1"/>
          </p:cNvSpPr>
          <p:nvPr/>
        </p:nvSpPr>
        <p:spPr>
          <a:xfrm>
            <a:off x="1790700" y="1419225"/>
            <a:ext cx="3114675" cy="228600"/>
          </a:xfrm>
          <a:prstGeom prst="rect">
            <a:avLst/>
          </a:prstGeom>
          <a:noFill/>
          <a:ln w="0">
            <a:noFill/>
            <a:prstDash val="solid"/>
          </a:ln>
        </p:spPr>
        <p:txBody>
          <a:bodyPr wrap="square" lIns="0" tIns="0" rIns="0" bIns="0" anchor="ctr">
            <a:normAutofit/>
          </a:bodyPr>
          <a:lstStyle>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GET /api/patients</a:t>
            </a:r>
          </a:p>
        </p:txBody>
      </p:sp>
      <p:sp>
        <p:nvSpPr>
          <p:cNvPr id="9" name="Rectangle 8">
            <a:extLst>
              <a:ext uri="{FF2B5EF4-FFF2-40B4-BE49-F238E27FC236}">
                <a16:creationId xmlns:a16="http://schemas.microsoft.com/office/drawing/2014/main" xmlns="" id="{3A661F14-EE8D-45E1-803C-CD5D0A62E401}"/>
              </a:ext>
            </a:extLst>
          </p:cNvPr>
          <p:cNvSpPr>
            <a:spLocks noGrp="1"/>
          </p:cNvSpPr>
          <p:nvPr/>
        </p:nvSpPr>
        <p:spPr>
          <a:xfrm>
            <a:off x="1790700" y="1647825"/>
            <a:ext cx="4953000" cy="190500"/>
          </a:xfrm>
          <a:prstGeom prst="rect">
            <a:avLst/>
          </a:prstGeom>
          <a:noFill/>
          <a:ln w="0">
            <a:noFill/>
            <a:prstDash val="solid"/>
          </a:ln>
        </p:spPr>
        <p:txBody>
          <a:bodyPr wrap="square" lIns="0" tIns="0" rIns="0" bIns="0" anchor="ctr">
            <a:normAutofit/>
          </a:bodyPr>
          <a:lstStyle>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List seeded profiles</a:t>
            </a:r>
          </a:p>
        </p:txBody>
      </p:sp>
      <p:sp>
        <p:nvSpPr>
          <p:cNvPr id="11" name="Rectangle 10">
            <a:extLst>
              <a:ext uri="{FF2B5EF4-FFF2-40B4-BE49-F238E27FC236}">
                <a16:creationId xmlns:a16="http://schemas.microsoft.com/office/drawing/2014/main" xmlns="" id="{60D95D7E-D8B2-4A85-B3AB-4710F96A2524}"/>
              </a:ext>
            </a:extLst>
          </p:cNvPr>
          <p:cNvSpPr>
            <a:spLocks noGrp="1"/>
          </p:cNvSpPr>
          <p:nvPr/>
        </p:nvSpPr>
        <p:spPr>
          <a:xfrm>
            <a:off x="828675" y="2009775"/>
            <a:ext cx="904875" cy="209550"/>
          </a:xfrm>
          <a:prstGeom prst="rect">
            <a:avLst/>
          </a:prstGeom>
          <a:noFill/>
          <a:ln w="0">
            <a:noFill/>
            <a:prstDash val="solid"/>
          </a:ln>
        </p:spPr>
        <p:txBody>
          <a:bodyPr wrap="square" lIns="0" tIns="0" rIns="0" bIns="0" anchor="ctr">
            <a:normAutofit/>
          </a:bodyPr>
          <a:lstStyle>
            <a:defPPr algn="l">
              <a:defRPr sz="938" b="1" i="0">
                <a:solidFill>
                  <a:srgbClr val="168F89"/>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a:pPr algn="l">
              <a:lnSpc>
                <a:spcPct val="108000"/>
              </a:lnSpc>
              <a:buNone/>
              <a:defRPr sz="975" b="1" i="0">
                <a:solidFill>
                  <a:srgbClr val="0D6F73"/>
                </a:solidFill>
                <a:latin typeface="Calibri"/>
                <a:ea typeface="Calibri"/>
                <a:cs typeface="Calibri"/>
              </a:defRPr>
            </a:pPr>
            <a:r>
              <a:rPr sz="938" b="1" i="0">
                <a:solidFill>
                  <a:srgbClr val="168F89"/>
                </a:solidFill>
                <a:latin typeface="Calibri"/>
                <a:ea typeface="Calibri"/>
                <a:cs typeface="Calibri"/>
              </a:rPr>
              <a:t>VITALS</a:t>
            </a:r>
          </a:p>
        </p:txBody>
      </p:sp>
      <p:sp>
        <p:nvSpPr>
          <p:cNvPr id="12" name="Rectangle 11">
            <a:extLst>
              <a:ext uri="{FF2B5EF4-FFF2-40B4-BE49-F238E27FC236}">
                <a16:creationId xmlns:a16="http://schemas.microsoft.com/office/drawing/2014/main" xmlns="" id="{5681D1E1-D665-4E37-844C-0D8723904268}"/>
              </a:ext>
            </a:extLst>
          </p:cNvPr>
          <p:cNvSpPr>
            <a:spLocks noGrp="1"/>
          </p:cNvSpPr>
          <p:nvPr/>
        </p:nvSpPr>
        <p:spPr>
          <a:xfrm>
            <a:off x="1790700" y="1990725"/>
            <a:ext cx="3114675" cy="228600"/>
          </a:xfrm>
          <a:prstGeom prst="rect">
            <a:avLst/>
          </a:prstGeom>
          <a:noFill/>
          <a:ln w="0">
            <a:noFill/>
            <a:prstDash val="solid"/>
          </a:ln>
        </p:spPr>
        <p:txBody>
          <a:bodyPr wrap="square" lIns="0" tIns="0" rIns="0" bIns="0" anchor="ctr">
            <a:normAutofit/>
          </a:bodyPr>
          <a:lstStyle>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POST /api/patients/{id}/vitals</a:t>
            </a:r>
          </a:p>
        </p:txBody>
      </p:sp>
      <p:sp>
        <p:nvSpPr>
          <p:cNvPr id="13" name="Rectangle 12">
            <a:extLst>
              <a:ext uri="{FF2B5EF4-FFF2-40B4-BE49-F238E27FC236}">
                <a16:creationId xmlns:a16="http://schemas.microsoft.com/office/drawing/2014/main" xmlns="" id="{99C37728-554A-47CC-9E3A-636C037088A6}"/>
              </a:ext>
            </a:extLst>
          </p:cNvPr>
          <p:cNvSpPr>
            <a:spLocks noGrp="1"/>
          </p:cNvSpPr>
          <p:nvPr/>
        </p:nvSpPr>
        <p:spPr>
          <a:xfrm>
            <a:off x="1790700" y="2219325"/>
            <a:ext cx="4953000" cy="190500"/>
          </a:xfrm>
          <a:prstGeom prst="rect">
            <a:avLst/>
          </a:prstGeom>
          <a:noFill/>
          <a:ln w="0">
            <a:noFill/>
            <a:prstDash val="solid"/>
          </a:ln>
        </p:spPr>
        <p:txBody>
          <a:bodyPr wrap="square" lIns="0" tIns="0" rIns="0" bIns="0" anchor="ctr">
            <a:normAutofit/>
          </a:bodyPr>
          <a:lstStyle>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Submit a wearable reading</a:t>
            </a:r>
          </a:p>
        </p:txBody>
      </p:sp>
      <p:sp>
        <p:nvSpPr>
          <p:cNvPr id="15" name="Rectangle 14">
            <a:extLst>
              <a:ext uri="{FF2B5EF4-FFF2-40B4-BE49-F238E27FC236}">
                <a16:creationId xmlns:a16="http://schemas.microsoft.com/office/drawing/2014/main" xmlns="" id="{C3F363A6-62FC-4BB3-ADA9-EFC6D93DE2E1}"/>
              </a:ext>
            </a:extLst>
          </p:cNvPr>
          <p:cNvSpPr>
            <a:spLocks noGrp="1"/>
          </p:cNvSpPr>
          <p:nvPr/>
        </p:nvSpPr>
        <p:spPr>
          <a:xfrm>
            <a:off x="828675" y="2581275"/>
            <a:ext cx="904875" cy="209550"/>
          </a:xfrm>
          <a:prstGeom prst="rect">
            <a:avLst/>
          </a:prstGeom>
          <a:noFill/>
          <a:ln w="0">
            <a:noFill/>
            <a:prstDash val="solid"/>
          </a:ln>
        </p:spPr>
        <p:txBody>
          <a:bodyPr wrap="square" lIns="0" tIns="0" rIns="0" bIns="0" anchor="ctr">
            <a:normAutofit/>
          </a:bodyPr>
          <a:lstStyle>
            <a:defPPr algn="l">
              <a:defRPr sz="938" b="1" i="0">
                <a:solidFill>
                  <a:srgbClr val="845FB5"/>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a:pPr algn="l">
              <a:lnSpc>
                <a:spcPct val="108000"/>
              </a:lnSpc>
              <a:buNone/>
              <a:defRPr sz="975" b="1" i="0">
                <a:solidFill>
                  <a:srgbClr val="0D6F73"/>
                </a:solidFill>
                <a:latin typeface="Calibri"/>
                <a:ea typeface="Calibri"/>
                <a:cs typeface="Calibri"/>
              </a:defRPr>
            </a:pPr>
            <a:r>
              <a:rPr sz="938" b="1" i="0">
                <a:solidFill>
                  <a:srgbClr val="845FB5"/>
                </a:solidFill>
                <a:latin typeface="Calibri"/>
                <a:ea typeface="Calibri"/>
                <a:cs typeface="Calibri"/>
              </a:rPr>
              <a:t>PREDICTION</a:t>
            </a:r>
          </a:p>
        </p:txBody>
      </p:sp>
      <p:sp>
        <p:nvSpPr>
          <p:cNvPr id="16" name="Rectangle 15">
            <a:extLst>
              <a:ext uri="{FF2B5EF4-FFF2-40B4-BE49-F238E27FC236}">
                <a16:creationId xmlns:a16="http://schemas.microsoft.com/office/drawing/2014/main" xmlns="" id="{4614C8D0-5402-4978-9CD9-C5BEA3F0652A}"/>
              </a:ext>
            </a:extLst>
          </p:cNvPr>
          <p:cNvSpPr>
            <a:spLocks noGrp="1"/>
          </p:cNvSpPr>
          <p:nvPr/>
        </p:nvSpPr>
        <p:spPr>
          <a:xfrm>
            <a:off x="1790700" y="2562225"/>
            <a:ext cx="3114675" cy="228600"/>
          </a:xfrm>
          <a:prstGeom prst="rect">
            <a:avLst/>
          </a:prstGeom>
          <a:noFill/>
          <a:ln w="0">
            <a:noFill/>
            <a:prstDash val="solid"/>
          </a:ln>
        </p:spPr>
        <p:txBody>
          <a:bodyPr wrap="square" lIns="0" tIns="0" rIns="0" bIns="0" anchor="ctr">
            <a:normAutofit/>
          </a:bodyPr>
          <a:lstStyle>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POST /api/patients/{id}/predict/cardiac</a:t>
            </a:r>
          </a:p>
        </p:txBody>
      </p:sp>
      <p:sp>
        <p:nvSpPr>
          <p:cNvPr id="17" name="Rectangle 16">
            <a:extLst>
              <a:ext uri="{FF2B5EF4-FFF2-40B4-BE49-F238E27FC236}">
                <a16:creationId xmlns:a16="http://schemas.microsoft.com/office/drawing/2014/main" xmlns="" id="{D539A611-E2EC-4EAE-AC1A-BAFBADF1C691}"/>
              </a:ext>
            </a:extLst>
          </p:cNvPr>
          <p:cNvSpPr>
            <a:spLocks noGrp="1"/>
          </p:cNvSpPr>
          <p:nvPr/>
        </p:nvSpPr>
        <p:spPr>
          <a:xfrm>
            <a:off x="1790700" y="2790825"/>
            <a:ext cx="4953000" cy="190500"/>
          </a:xfrm>
          <a:prstGeom prst="rect">
            <a:avLst/>
          </a:prstGeom>
          <a:noFill/>
          <a:ln w="0">
            <a:noFill/>
            <a:prstDash val="solid"/>
          </a:ln>
        </p:spPr>
        <p:txBody>
          <a:bodyPr wrap="square" lIns="0" tIns="0" rIns="0" bIns="0" anchor="ctr">
            <a:normAutofit/>
          </a:bodyPr>
          <a:lstStyle>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Return score, rhythm, BP trend, actions</a:t>
            </a:r>
          </a:p>
        </p:txBody>
      </p:sp>
      <p:sp>
        <p:nvSpPr>
          <p:cNvPr id="19" name="Rectangle 18">
            <a:extLst>
              <a:ext uri="{FF2B5EF4-FFF2-40B4-BE49-F238E27FC236}">
                <a16:creationId xmlns:a16="http://schemas.microsoft.com/office/drawing/2014/main" xmlns="" id="{6601B325-E239-4B3F-BB14-5200A726FBD7}"/>
              </a:ext>
            </a:extLst>
          </p:cNvPr>
          <p:cNvSpPr>
            <a:spLocks noGrp="1"/>
          </p:cNvSpPr>
          <p:nvPr/>
        </p:nvSpPr>
        <p:spPr>
          <a:xfrm>
            <a:off x="828675" y="3152775"/>
            <a:ext cx="904875" cy="209550"/>
          </a:xfrm>
          <a:prstGeom prst="rect">
            <a:avLst/>
          </a:prstGeom>
          <a:noFill/>
          <a:ln w="0">
            <a:noFill/>
            <a:prstDash val="solid"/>
          </a:ln>
        </p:spPr>
        <p:txBody>
          <a:bodyPr wrap="square" lIns="0" tIns="0" rIns="0" bIns="0" anchor="ctr">
            <a:normAutofit/>
          </a:bodyPr>
          <a:lstStyle>
            <a:defPPr algn="l">
              <a:defRPr sz="938" b="1" i="0">
                <a:solidFill>
                  <a:srgbClr val="D86E52"/>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a:pPr algn="l">
              <a:lnSpc>
                <a:spcPct val="108000"/>
              </a:lnSpc>
              <a:buNone/>
              <a:defRPr sz="975" b="1" i="0">
                <a:solidFill>
                  <a:srgbClr val="0D6F73"/>
                </a:solidFill>
                <a:latin typeface="Calibri"/>
                <a:ea typeface="Calibri"/>
                <a:cs typeface="Calibri"/>
              </a:defRPr>
            </a:pPr>
            <a:r>
              <a:rPr sz="938" b="1" i="0">
                <a:solidFill>
                  <a:srgbClr val="D86E52"/>
                </a:solidFill>
                <a:latin typeface="Calibri"/>
                <a:ea typeface="Calibri"/>
                <a:cs typeface="Calibri"/>
              </a:rPr>
              <a:t>ALERTS</a:t>
            </a:r>
          </a:p>
        </p:txBody>
      </p:sp>
      <p:sp>
        <p:nvSpPr>
          <p:cNvPr id="20" name="Rectangle 19">
            <a:extLst>
              <a:ext uri="{FF2B5EF4-FFF2-40B4-BE49-F238E27FC236}">
                <a16:creationId xmlns:a16="http://schemas.microsoft.com/office/drawing/2014/main" xmlns="" id="{22970C82-8009-412D-A226-A2BF7ECF286C}"/>
              </a:ext>
            </a:extLst>
          </p:cNvPr>
          <p:cNvSpPr>
            <a:spLocks noGrp="1"/>
          </p:cNvSpPr>
          <p:nvPr/>
        </p:nvSpPr>
        <p:spPr>
          <a:xfrm>
            <a:off x="1790700" y="3133725"/>
            <a:ext cx="3114675" cy="228600"/>
          </a:xfrm>
          <a:prstGeom prst="rect">
            <a:avLst/>
          </a:prstGeom>
          <a:noFill/>
          <a:ln w="0">
            <a:noFill/>
            <a:prstDash val="solid"/>
          </a:ln>
        </p:spPr>
        <p:txBody>
          <a:bodyPr wrap="square" lIns="0" tIns="0" rIns="0" bIns="0" anchor="ctr">
            <a:normAutofit/>
          </a:bodyPr>
          <a:lstStyle>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GET /api/alerts · POST /api/alerts/{id}/acknowledge</a:t>
            </a:r>
          </a:p>
        </p:txBody>
      </p:sp>
      <p:sp>
        <p:nvSpPr>
          <p:cNvPr id="21" name="Rectangle 20">
            <a:extLst>
              <a:ext uri="{FF2B5EF4-FFF2-40B4-BE49-F238E27FC236}">
                <a16:creationId xmlns:a16="http://schemas.microsoft.com/office/drawing/2014/main" xmlns="" id="{91F79857-479B-4DD1-A001-0044CDC1A00A}"/>
              </a:ext>
            </a:extLst>
          </p:cNvPr>
          <p:cNvSpPr>
            <a:spLocks noGrp="1"/>
          </p:cNvSpPr>
          <p:nvPr/>
        </p:nvSpPr>
        <p:spPr>
          <a:xfrm>
            <a:off x="1790700" y="3362325"/>
            <a:ext cx="4953000" cy="190500"/>
          </a:xfrm>
          <a:prstGeom prst="rect">
            <a:avLst/>
          </a:prstGeom>
          <a:noFill/>
          <a:ln w="0">
            <a:noFill/>
            <a:prstDash val="solid"/>
          </a:ln>
        </p:spPr>
        <p:txBody>
          <a:bodyPr wrap="square" lIns="0" tIns="0" rIns="0" bIns="0" anchor="ctr">
            <a:normAutofit/>
          </a:bodyPr>
          <a:lstStyle>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Review and acknowledge alerts</a:t>
            </a:r>
          </a:p>
        </p:txBody>
      </p:sp>
      <p:sp>
        <p:nvSpPr>
          <p:cNvPr id="23" name="Rectangle 22">
            <a:extLst>
              <a:ext uri="{FF2B5EF4-FFF2-40B4-BE49-F238E27FC236}">
                <a16:creationId xmlns:a16="http://schemas.microsoft.com/office/drawing/2014/main" xmlns="" id="{A60144FB-C5FA-4B61-9EAA-BABA2A11D105}"/>
              </a:ext>
            </a:extLst>
          </p:cNvPr>
          <p:cNvSpPr>
            <a:spLocks noGrp="1"/>
          </p:cNvSpPr>
          <p:nvPr/>
        </p:nvSpPr>
        <p:spPr>
          <a:xfrm>
            <a:off x="828675" y="3724275"/>
            <a:ext cx="904875" cy="209550"/>
          </a:xfrm>
          <a:prstGeom prst="rect">
            <a:avLst/>
          </a:prstGeom>
          <a:noFill/>
          <a:ln w="0">
            <a:noFill/>
            <a:prstDash val="solid"/>
          </a:ln>
        </p:spPr>
        <p:txBody>
          <a:bodyPr wrap="square" lIns="0" tIns="0" rIns="0" bIns="0" anchor="ctr">
            <a:normAutofit/>
          </a:bodyPr>
          <a:lstStyle>
            <a:defPPr algn="l">
              <a:defRPr sz="938" b="1" i="0">
                <a:solidFill>
                  <a:srgbClr val="1598B7"/>
                </a:solidFill>
                <a:latin typeface="Calibri"/>
                <a:ea typeface="Calibri"/>
                <a:cs typeface="Calibri"/>
              </a:defRPr>
            </a:defPPr>
            <a:lvl1pPr algn="l">
              <a:buNone/>
              <a:defRPr sz="975" b="1" i="0">
                <a:solidFill>
                  <a:srgbClr val="0D6F73"/>
                </a:solidFill>
                <a:latin typeface="Calibri"/>
                <a:ea typeface="Calibri"/>
                <a:cs typeface="Calibri"/>
              </a:defRPr>
            </a:lvl1pPr>
            <a:lvl2pPr algn="l">
              <a:buNone/>
              <a:defRPr sz="975" b="1" i="0">
                <a:solidFill>
                  <a:srgbClr val="0D6F73"/>
                </a:solidFill>
                <a:latin typeface="Calibri"/>
                <a:ea typeface="Calibri"/>
                <a:cs typeface="Calibri"/>
              </a:defRPr>
            </a:lvl2pPr>
            <a:lvl3pPr algn="l">
              <a:buNone/>
              <a:defRPr sz="975" b="1" i="0">
                <a:solidFill>
                  <a:srgbClr val="0D6F73"/>
                </a:solidFill>
                <a:latin typeface="Calibri"/>
                <a:ea typeface="Calibri"/>
                <a:cs typeface="Calibri"/>
              </a:defRPr>
            </a:lvl3pPr>
            <a:lvl4pPr algn="l">
              <a:buNone/>
              <a:defRPr sz="975" b="1" i="0">
                <a:solidFill>
                  <a:srgbClr val="0D6F73"/>
                </a:solidFill>
                <a:latin typeface="Calibri"/>
                <a:ea typeface="Calibri"/>
                <a:cs typeface="Calibri"/>
              </a:defRPr>
            </a:lvl4pPr>
            <a:lvl5pPr algn="l">
              <a:buNone/>
              <a:defRPr sz="975" b="1" i="0">
                <a:solidFill>
                  <a:srgbClr val="0D6F73"/>
                </a:solidFill>
                <a:latin typeface="Calibri"/>
                <a:ea typeface="Calibri"/>
                <a:cs typeface="Calibri"/>
              </a:defRPr>
            </a:lvl5pPr>
            <a:lvl6pPr algn="l">
              <a:buNone/>
              <a:defRPr sz="975" b="1" i="0">
                <a:solidFill>
                  <a:srgbClr val="0D6F73"/>
                </a:solidFill>
                <a:latin typeface="Calibri"/>
                <a:ea typeface="Calibri"/>
                <a:cs typeface="Calibri"/>
              </a:defRPr>
            </a:lvl6pPr>
            <a:lvl7pPr algn="l">
              <a:buNone/>
              <a:defRPr sz="975" b="1" i="0">
                <a:solidFill>
                  <a:srgbClr val="0D6F73"/>
                </a:solidFill>
                <a:latin typeface="Calibri"/>
                <a:ea typeface="Calibri"/>
                <a:cs typeface="Calibri"/>
              </a:defRPr>
            </a:lvl7pPr>
            <a:lvl8pPr algn="l">
              <a:buNone/>
              <a:defRPr sz="975" b="1" i="0">
                <a:solidFill>
                  <a:srgbClr val="0D6F73"/>
                </a:solidFill>
                <a:latin typeface="Calibri"/>
                <a:ea typeface="Calibri"/>
                <a:cs typeface="Calibri"/>
              </a:defRPr>
            </a:lvl8pPr>
            <a:lvl9pPr algn="l">
              <a:buNone/>
              <a:defRPr sz="975" b="1" i="0">
                <a:solidFill>
                  <a:srgbClr val="0D6F73"/>
                </a:solidFill>
                <a:latin typeface="Calibri"/>
                <a:ea typeface="Calibri"/>
                <a:cs typeface="Calibri"/>
              </a:defRPr>
            </a:lvl9pPr>
          </a:lstStyle>
          <a:p>
            <a:pPr algn="l">
              <a:lnSpc>
                <a:spcPct val="108000"/>
              </a:lnSpc>
              <a:buNone/>
              <a:defRPr sz="975" b="1" i="0">
                <a:solidFill>
                  <a:srgbClr val="0D6F73"/>
                </a:solidFill>
                <a:latin typeface="Calibri"/>
                <a:ea typeface="Calibri"/>
                <a:cs typeface="Calibri"/>
              </a:defRPr>
            </a:pPr>
            <a:r>
              <a:rPr sz="938" b="1" i="0">
                <a:solidFill>
                  <a:srgbClr val="1598B7"/>
                </a:solidFill>
                <a:latin typeface="Calibri"/>
                <a:ea typeface="Calibri"/>
                <a:cs typeface="Calibri"/>
              </a:rPr>
              <a:t>STREAM</a:t>
            </a:r>
          </a:p>
        </p:txBody>
      </p:sp>
      <p:sp>
        <p:nvSpPr>
          <p:cNvPr id="24" name="Rectangle 23">
            <a:extLst>
              <a:ext uri="{FF2B5EF4-FFF2-40B4-BE49-F238E27FC236}">
                <a16:creationId xmlns:a16="http://schemas.microsoft.com/office/drawing/2014/main" xmlns="" id="{F6D74045-425E-41D9-8B2C-124918C3A72E}"/>
              </a:ext>
            </a:extLst>
          </p:cNvPr>
          <p:cNvSpPr>
            <a:spLocks noGrp="1"/>
          </p:cNvSpPr>
          <p:nvPr/>
        </p:nvSpPr>
        <p:spPr>
          <a:xfrm>
            <a:off x="1790700" y="3705225"/>
            <a:ext cx="3114675" cy="228600"/>
          </a:xfrm>
          <a:prstGeom prst="rect">
            <a:avLst/>
          </a:prstGeom>
          <a:noFill/>
          <a:ln w="0">
            <a:noFill/>
            <a:prstDash val="solid"/>
          </a:ln>
        </p:spPr>
        <p:txBody>
          <a:bodyPr wrap="square" lIns="0" tIns="0" rIns="0" bIns="0" anchor="ctr">
            <a:normAutofit/>
          </a:bodyPr>
          <a:lstStyle>
            <a:defPPr algn="l">
              <a:defRPr sz="1088" b="1" i="0">
                <a:solidFill>
                  <a:srgbClr val="123F50"/>
                </a:solidFill>
                <a:latin typeface="Calibri"/>
                <a:ea typeface="Calibri"/>
                <a:cs typeface="Calibri"/>
              </a:defRPr>
            </a:defPPr>
            <a:lvl1pPr algn="l">
              <a:buNone/>
              <a:defRPr sz="1125" b="1" i="0">
                <a:solidFill>
                  <a:srgbClr val="123F50"/>
                </a:solidFill>
                <a:latin typeface="Calibri"/>
                <a:ea typeface="Calibri"/>
                <a:cs typeface="Calibri"/>
              </a:defRPr>
            </a:lvl1pPr>
            <a:lvl2pPr algn="l">
              <a:buNone/>
              <a:defRPr sz="1125" b="1" i="0">
                <a:solidFill>
                  <a:srgbClr val="123F50"/>
                </a:solidFill>
                <a:latin typeface="Calibri"/>
                <a:ea typeface="Calibri"/>
                <a:cs typeface="Calibri"/>
              </a:defRPr>
            </a:lvl2pPr>
            <a:lvl3pPr algn="l">
              <a:buNone/>
              <a:defRPr sz="1125" b="1" i="0">
                <a:solidFill>
                  <a:srgbClr val="123F50"/>
                </a:solidFill>
                <a:latin typeface="Calibri"/>
                <a:ea typeface="Calibri"/>
                <a:cs typeface="Calibri"/>
              </a:defRPr>
            </a:lvl3pPr>
            <a:lvl4pPr algn="l">
              <a:buNone/>
              <a:defRPr sz="1125" b="1" i="0">
                <a:solidFill>
                  <a:srgbClr val="123F50"/>
                </a:solidFill>
                <a:latin typeface="Calibri"/>
                <a:ea typeface="Calibri"/>
                <a:cs typeface="Calibri"/>
              </a:defRPr>
            </a:lvl4pPr>
            <a:lvl5pPr algn="l">
              <a:buNone/>
              <a:defRPr sz="1125" b="1" i="0">
                <a:solidFill>
                  <a:srgbClr val="123F50"/>
                </a:solidFill>
                <a:latin typeface="Calibri"/>
                <a:ea typeface="Calibri"/>
                <a:cs typeface="Calibri"/>
              </a:defRPr>
            </a:lvl5pPr>
            <a:lvl6pPr algn="l">
              <a:buNone/>
              <a:defRPr sz="1125" b="1" i="0">
                <a:solidFill>
                  <a:srgbClr val="123F50"/>
                </a:solidFill>
                <a:latin typeface="Calibri"/>
                <a:ea typeface="Calibri"/>
                <a:cs typeface="Calibri"/>
              </a:defRPr>
            </a:lvl6pPr>
            <a:lvl7pPr algn="l">
              <a:buNone/>
              <a:defRPr sz="1125" b="1" i="0">
                <a:solidFill>
                  <a:srgbClr val="123F50"/>
                </a:solidFill>
                <a:latin typeface="Calibri"/>
                <a:ea typeface="Calibri"/>
                <a:cs typeface="Calibri"/>
              </a:defRPr>
            </a:lvl7pPr>
            <a:lvl8pPr algn="l">
              <a:buNone/>
              <a:defRPr sz="1125" b="1" i="0">
                <a:solidFill>
                  <a:srgbClr val="123F50"/>
                </a:solidFill>
                <a:latin typeface="Calibri"/>
                <a:ea typeface="Calibri"/>
                <a:cs typeface="Calibri"/>
              </a:defRPr>
            </a:lvl8pPr>
            <a:lvl9pPr algn="l">
              <a:buNone/>
              <a:defRPr sz="1125" b="1" i="0">
                <a:solidFill>
                  <a:srgbClr val="123F50"/>
                </a:solidFill>
                <a:latin typeface="Calibri"/>
                <a:ea typeface="Calibri"/>
                <a:cs typeface="Calibri"/>
              </a:defRPr>
            </a:lvl9pPr>
          </a:lstStyle>
          <a:p>
            <a:pPr algn="l">
              <a:lnSpc>
                <a:spcPct val="108000"/>
              </a:lnSpc>
              <a:buNone/>
              <a:defRPr sz="1125" b="1" i="0">
                <a:solidFill>
                  <a:srgbClr val="123F50"/>
                </a:solidFill>
                <a:latin typeface="Calibri"/>
                <a:ea typeface="Calibri"/>
                <a:cs typeface="Calibri"/>
              </a:defRPr>
            </a:pPr>
            <a:r>
              <a:rPr sz="1088" b="1" i="0">
                <a:solidFill>
                  <a:srgbClr val="123F50"/>
                </a:solidFill>
                <a:latin typeface="Calibri"/>
                <a:ea typeface="Calibri"/>
                <a:cs typeface="Calibri"/>
              </a:rPr>
              <a:t>WS /ws/patient/{id}</a:t>
            </a:r>
          </a:p>
        </p:txBody>
      </p:sp>
      <p:sp>
        <p:nvSpPr>
          <p:cNvPr id="25" name="Rectangle 24">
            <a:extLst>
              <a:ext uri="{FF2B5EF4-FFF2-40B4-BE49-F238E27FC236}">
                <a16:creationId xmlns:a16="http://schemas.microsoft.com/office/drawing/2014/main" xmlns="" id="{C38859AF-B8A6-47A3-9D3E-8F7BBAAC01A7}"/>
              </a:ext>
            </a:extLst>
          </p:cNvPr>
          <p:cNvSpPr>
            <a:spLocks noGrp="1"/>
          </p:cNvSpPr>
          <p:nvPr/>
        </p:nvSpPr>
        <p:spPr>
          <a:xfrm>
            <a:off x="1790700" y="3933825"/>
            <a:ext cx="4953000" cy="190500"/>
          </a:xfrm>
          <a:prstGeom prst="rect">
            <a:avLst/>
          </a:prstGeom>
          <a:noFill/>
          <a:ln w="0">
            <a:noFill/>
            <a:prstDash val="solid"/>
          </a:ln>
        </p:spPr>
        <p:txBody>
          <a:bodyPr wrap="square" lIns="0" tIns="0" rIns="0" bIns="0" anchor="ctr">
            <a:normAutofit/>
          </a:bodyPr>
          <a:lstStyle>
            <a:defPPr algn="l">
              <a:defRPr sz="938" b="0" i="0">
                <a:solidFill>
                  <a:srgbClr val="5E7279"/>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a:pPr algn="l">
              <a:lnSpc>
                <a:spcPct val="108000"/>
              </a:lnSpc>
              <a:buNone/>
              <a:defRPr sz="1088" b="0" i="0">
                <a:solidFill>
                  <a:srgbClr val="263C45"/>
                </a:solidFill>
                <a:latin typeface="Calibri"/>
                <a:ea typeface="Calibri"/>
                <a:cs typeface="Calibri"/>
              </a:defRPr>
            </a:pPr>
            <a:r>
              <a:rPr sz="938" b="0" i="0">
                <a:solidFill>
                  <a:srgbClr val="5E7279"/>
                </a:solidFill>
                <a:latin typeface="Calibri"/>
                <a:ea typeface="Calibri"/>
                <a:cs typeface="Calibri"/>
              </a:rPr>
              <a:t>Receive live telemetry and prediction updates</a:t>
            </a:r>
          </a:p>
        </p:txBody>
      </p:sp>
    </p:spTree>
    <p:extLst>
      <p:ext uri="{BB962C8B-B14F-4D97-AF65-F5344CB8AC3E}">
        <p14:creationId xmlns:p14="http://schemas.microsoft.com/office/powerpoint/2010/main" val="56411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xmlns="" id="{6979C192-081B-44DD-AD56-87F66B0D678B}"/>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24" name="Rounded Rectangle 23">
            <a:extLst>
              <a:ext uri="{FF2B5EF4-FFF2-40B4-BE49-F238E27FC236}">
                <a16:creationId xmlns:a16="http://schemas.microsoft.com/office/drawing/2014/main" xmlns="" id="{AC2DFE0F-A540-43A5-9E6C-85E14C69B0E0}"/>
              </a:ext>
            </a:extLst>
          </p:cNvPr>
          <p:cNvSpPr>
            <a:spLocks noGrp="1"/>
          </p:cNvSpPr>
          <p:nvPr/>
        </p:nvSpPr>
        <p:spPr>
          <a:xfrm>
            <a:off x="361950" y="1362075"/>
            <a:ext cx="2724150" cy="2476500"/>
          </a:xfrm>
          <a:prstGeom prst="roundRect">
            <a:avLst>
              <a:gd name="adj" fmla="val 5769"/>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25" name="Rounded Rectangle 24">
            <a:extLst>
              <a:ext uri="{FF2B5EF4-FFF2-40B4-BE49-F238E27FC236}">
                <a16:creationId xmlns:a16="http://schemas.microsoft.com/office/drawing/2014/main" xmlns="" id="{FD9BA333-7E89-41B0-B94E-2E6C52DFBDF7}"/>
              </a:ext>
            </a:extLst>
          </p:cNvPr>
          <p:cNvSpPr>
            <a:spLocks noGrp="1"/>
          </p:cNvSpPr>
          <p:nvPr/>
        </p:nvSpPr>
        <p:spPr>
          <a:xfrm>
            <a:off x="361950" y="1381125"/>
            <a:ext cx="47625" cy="2438400"/>
          </a:xfrm>
          <a:prstGeom prst="roundRect">
            <a:avLst>
              <a:gd name="adj" fmla="val 50000"/>
            </a:avLst>
          </a:prstGeom>
          <a:solidFill>
            <a:srgbClr val="168F89"/>
          </a:solidFill>
          <a:ln w="0">
            <a:noFill/>
            <a:prstDash val="solid"/>
          </a:ln>
        </p:spPr>
      </p:sp>
      <p:sp>
        <p:nvSpPr>
          <p:cNvPr id="26" name="Rounded Rectangle 25">
            <a:extLst>
              <a:ext uri="{FF2B5EF4-FFF2-40B4-BE49-F238E27FC236}">
                <a16:creationId xmlns:a16="http://schemas.microsoft.com/office/drawing/2014/main" xmlns="" id="{6CCB1A8A-FB01-46B9-B0EA-5FA33E129D53}"/>
              </a:ext>
            </a:extLst>
          </p:cNvPr>
          <p:cNvSpPr>
            <a:spLocks noGrp="1"/>
          </p:cNvSpPr>
          <p:nvPr/>
        </p:nvSpPr>
        <p:spPr>
          <a:xfrm>
            <a:off x="3238500" y="1362075"/>
            <a:ext cx="3876675" cy="1952625"/>
          </a:xfrm>
          <a:prstGeom prst="roundRect">
            <a:avLst>
              <a:gd name="adj" fmla="val 7317"/>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27" name="Rounded Rectangle 26">
            <a:extLst>
              <a:ext uri="{FF2B5EF4-FFF2-40B4-BE49-F238E27FC236}">
                <a16:creationId xmlns:a16="http://schemas.microsoft.com/office/drawing/2014/main" xmlns="" id="{BFD24D54-77B6-4573-9B19-BBA589DE2648}"/>
              </a:ext>
            </a:extLst>
          </p:cNvPr>
          <p:cNvSpPr>
            <a:spLocks noGrp="1"/>
          </p:cNvSpPr>
          <p:nvPr/>
        </p:nvSpPr>
        <p:spPr>
          <a:xfrm>
            <a:off x="3238500" y="1381125"/>
            <a:ext cx="47625" cy="1914525"/>
          </a:xfrm>
          <a:prstGeom prst="roundRect">
            <a:avLst>
              <a:gd name="adj" fmla="val 50000"/>
            </a:avLst>
          </a:prstGeom>
          <a:solidFill>
            <a:srgbClr val="1598B7"/>
          </a:solidFill>
          <a:ln w="0">
            <a:noFill/>
            <a:prstDash val="solid"/>
          </a:ln>
        </p:spPr>
      </p:sp>
      <p:sp>
        <p:nvSpPr>
          <p:cNvPr id="28" name="Rounded Rectangle 27">
            <a:extLst>
              <a:ext uri="{FF2B5EF4-FFF2-40B4-BE49-F238E27FC236}">
                <a16:creationId xmlns:a16="http://schemas.microsoft.com/office/drawing/2014/main" xmlns="" id="{9A16AAB1-59C2-4AAA-B7E7-B369D7C0077A}"/>
              </a:ext>
            </a:extLst>
          </p:cNvPr>
          <p:cNvSpPr>
            <a:spLocks noGrp="1"/>
          </p:cNvSpPr>
          <p:nvPr/>
        </p:nvSpPr>
        <p:spPr>
          <a:xfrm>
            <a:off x="1219200" y="3933825"/>
            <a:ext cx="5895975" cy="600075"/>
          </a:xfrm>
          <a:prstGeom prst="roundRect">
            <a:avLst>
              <a:gd name="adj" fmla="val 23810"/>
            </a:avLst>
          </a:prstGeom>
          <a:solidFill>
            <a:srgbClr val="FFF0ED"/>
          </a:solidFill>
          <a:ln w="9525">
            <a:solidFill>
              <a:srgbClr val="F1C6BC"/>
            </a:solidFill>
            <a:prstDash val="solid"/>
          </a:ln>
        </p:spPr>
      </p:sp>
      <p:sp>
        <p:nvSpPr>
          <p:cNvPr id="29" name="Rounded Rectangle 28">
            <a:extLst>
              <a:ext uri="{FF2B5EF4-FFF2-40B4-BE49-F238E27FC236}">
                <a16:creationId xmlns:a16="http://schemas.microsoft.com/office/drawing/2014/main" xmlns="" id="{BE6BC395-4169-4A8A-9786-A7BCE50EC8BA}"/>
              </a:ext>
            </a:extLst>
          </p:cNvPr>
          <p:cNvSpPr>
            <a:spLocks noGrp="1"/>
          </p:cNvSpPr>
          <p:nvPr/>
        </p:nvSpPr>
        <p:spPr>
          <a:xfrm>
            <a:off x="1219200" y="3933825"/>
            <a:ext cx="57150" cy="600075"/>
          </a:xfrm>
          <a:prstGeom prst="roundRect">
            <a:avLst>
              <a:gd name="adj" fmla="val 50000"/>
            </a:avLst>
          </a:prstGeom>
          <a:solidFill>
            <a:srgbClr val="D86E52"/>
          </a:solidFill>
          <a:ln w="0">
            <a:noFill/>
            <a:prstDash val="solid"/>
          </a:ln>
        </p:spPr>
      </p:sp>
      <p:cxnSp>
        <p:nvCxnSpPr>
          <p:cNvPr id="13" name="Straight Arrow Connector 12">
            <a:extLst>
              <a:ext uri="{FF2B5EF4-FFF2-40B4-BE49-F238E27FC236}">
                <a16:creationId xmlns:a16="http://schemas.microsoft.com/office/drawing/2014/main" xmlns="" id="{2B75EB71-AE07-49C4-A81B-E5EC0FC9130C}"/>
              </a:ext>
            </a:extLst>
          </p:cNvPr>
          <p:cNvCxnSpPr>
            <a:stCxn id="10" idx="3"/>
            <a:endCxn id="11" idx="1"/>
          </p:cNvCxnSpPr>
          <p:nvPr/>
        </p:nvCxnSpPr>
        <p:spPr>
          <a:xfrm>
            <a:off x="5810250" y="2019300"/>
            <a:ext cx="285750" cy="0"/>
          </a:xfrm>
          <a:prstGeom prst="straightConnector1">
            <a:avLst/>
          </a:prstGeom>
          <a:ln w="19050">
            <a:solidFill>
              <a:srgbClr val="248F8A"/>
            </a:solidFill>
            <a:prstDash val="solid"/>
          </a:ln>
        </p:spPr>
      </p:cxnSp>
      <p:cxnSp>
        <p:nvCxnSpPr>
          <p:cNvPr id="12" name="Straight Arrow Connector 11">
            <a:extLst>
              <a:ext uri="{FF2B5EF4-FFF2-40B4-BE49-F238E27FC236}">
                <a16:creationId xmlns:a16="http://schemas.microsoft.com/office/drawing/2014/main" xmlns="" id="{5CC0B484-CF3F-4EA5-99CB-379E2184E656}"/>
              </a:ext>
            </a:extLst>
          </p:cNvPr>
          <p:cNvCxnSpPr>
            <a:stCxn id="9" idx="3"/>
            <a:endCxn id="10" idx="1"/>
          </p:cNvCxnSpPr>
          <p:nvPr/>
        </p:nvCxnSpPr>
        <p:spPr>
          <a:xfrm>
            <a:off x="4524375" y="2019300"/>
            <a:ext cx="285750" cy="0"/>
          </a:xfrm>
          <a:prstGeom prst="straightConnector1">
            <a:avLst/>
          </a:prstGeom>
          <a:ln w="19050">
            <a:solidFill>
              <a:srgbClr val="248F8A"/>
            </a:solidFill>
            <a:prstDash val="solid"/>
          </a:ln>
        </p:spPr>
      </p:cxnSp>
      <p:sp>
        <p:nvSpPr>
          <p:cNvPr id="22" name="Rectangle 21">
            <a:extLst>
              <a:ext uri="{FF2B5EF4-FFF2-40B4-BE49-F238E27FC236}">
                <a16:creationId xmlns:a16="http://schemas.microsoft.com/office/drawing/2014/main" xmlns="" id="{7C78ACF3-C110-4079-AF10-45F7F1D77123}"/>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The live score is a simplified heuristic</a:t>
            </a:r>
          </a:p>
        </p:txBody>
      </p:sp>
      <p:sp>
        <p:nvSpPr>
          <p:cNvPr id="2" name="Straight Connector 1">
            <a:extLst>
              <a:ext uri="{FF2B5EF4-FFF2-40B4-BE49-F238E27FC236}">
                <a16:creationId xmlns:a16="http://schemas.microsoft.com/office/drawing/2014/main" xmlns="" id="{67F5AA67-BFE5-40BA-A498-94F33BCBE83E}"/>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73BEDC34-7557-47E2-A34B-B3339AD6A8D3}"/>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The API calls its output a probability; the implementation is not calibrated against real outcomes.</a:t>
            </a:r>
          </a:p>
        </p:txBody>
      </p:sp>
      <p:sp>
        <p:nvSpPr>
          <p:cNvPr id="4" name="Straight Connector 3">
            <a:extLst>
              <a:ext uri="{FF2B5EF4-FFF2-40B4-BE49-F238E27FC236}">
                <a16:creationId xmlns:a16="http://schemas.microsoft.com/office/drawing/2014/main" xmlns="" id="{A019D029-A432-40DC-BF1B-C8EBD84C6FFB}"/>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14374B3B-BE03-4C23-8BBD-AB3E2FC1CB8F}"/>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557B92F4-134D-43C5-9CE5-233E354719AD}"/>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06</a:t>
            </a:r>
          </a:p>
        </p:txBody>
      </p:sp>
      <p:sp>
        <p:nvSpPr>
          <p:cNvPr id="7" name="Rectangle 6">
            <a:extLst>
              <a:ext uri="{FF2B5EF4-FFF2-40B4-BE49-F238E27FC236}">
                <a16:creationId xmlns:a16="http://schemas.microsoft.com/office/drawing/2014/main" xmlns="" id="{276784A7-8BD5-4FAA-A3E4-187330ADC641}"/>
              </a:ext>
            </a:extLst>
          </p:cNvPr>
          <p:cNvSpPr>
            <a:spLocks noGrp="1"/>
          </p:cNvSpPr>
          <p:nvPr/>
        </p:nvSpPr>
        <p:spPr>
          <a:xfrm>
            <a:off x="523875" y="1438275"/>
            <a:ext cx="2476500" cy="266700"/>
          </a:xfrm>
          <a:prstGeom prst="rect">
            <a:avLst/>
          </a:prstGeom>
          <a:noFill/>
          <a:ln w="0">
            <a:noFill/>
            <a:prstDash val="solid"/>
          </a:ln>
        </p:spPr>
        <p:txBody>
          <a:bodyPr wrap="square" lIns="0" tIns="0" rIns="0" bIns="0" anchor="t">
            <a:normAutofit/>
          </a:bodyPr>
          <a:lstStyle>
            <a:defPPr algn="l">
              <a:defRPr sz="1425" b="1" i="0">
                <a:solidFill>
                  <a:srgbClr val="087E83"/>
                </a:solidFill>
                <a:latin typeface="Calibri"/>
                <a:ea typeface="Calibri"/>
                <a:cs typeface="Calibri"/>
              </a:defRPr>
            </a:defPPr>
            <a:lvl1pPr algn="l">
              <a:buNone/>
              <a:defRPr sz="1350" b="1" i="0">
                <a:solidFill>
                  <a:srgbClr val="0D6F73"/>
                </a:solidFill>
                <a:latin typeface="Calibri"/>
                <a:ea typeface="Calibri"/>
                <a:cs typeface="Calibri"/>
              </a:defRPr>
            </a:lvl1pPr>
            <a:lvl2pPr algn="l">
              <a:buNone/>
              <a:defRPr sz="1350" b="1" i="0">
                <a:solidFill>
                  <a:srgbClr val="0D6F73"/>
                </a:solidFill>
                <a:latin typeface="Calibri"/>
                <a:ea typeface="Calibri"/>
                <a:cs typeface="Calibri"/>
              </a:defRPr>
            </a:lvl2pPr>
            <a:lvl3pPr algn="l">
              <a:buNone/>
              <a:defRPr sz="1350" b="1" i="0">
                <a:solidFill>
                  <a:srgbClr val="0D6F73"/>
                </a:solidFill>
                <a:latin typeface="Calibri"/>
                <a:ea typeface="Calibri"/>
                <a:cs typeface="Calibri"/>
              </a:defRPr>
            </a:lvl3pPr>
            <a:lvl4pPr algn="l">
              <a:buNone/>
              <a:defRPr sz="1350" b="1" i="0">
                <a:solidFill>
                  <a:srgbClr val="0D6F73"/>
                </a:solidFill>
                <a:latin typeface="Calibri"/>
                <a:ea typeface="Calibri"/>
                <a:cs typeface="Calibri"/>
              </a:defRPr>
            </a:lvl4pPr>
            <a:lvl5pPr algn="l">
              <a:buNone/>
              <a:defRPr sz="1350" b="1" i="0">
                <a:solidFill>
                  <a:srgbClr val="0D6F73"/>
                </a:solidFill>
                <a:latin typeface="Calibri"/>
                <a:ea typeface="Calibri"/>
                <a:cs typeface="Calibri"/>
              </a:defRPr>
            </a:lvl5pPr>
            <a:lvl6pPr algn="l">
              <a:buNone/>
              <a:defRPr sz="1350" b="1" i="0">
                <a:solidFill>
                  <a:srgbClr val="0D6F73"/>
                </a:solidFill>
                <a:latin typeface="Calibri"/>
                <a:ea typeface="Calibri"/>
                <a:cs typeface="Calibri"/>
              </a:defRPr>
            </a:lvl6pPr>
            <a:lvl7pPr algn="l">
              <a:buNone/>
              <a:defRPr sz="1350" b="1" i="0">
                <a:solidFill>
                  <a:srgbClr val="0D6F73"/>
                </a:solidFill>
                <a:latin typeface="Calibri"/>
                <a:ea typeface="Calibri"/>
                <a:cs typeface="Calibri"/>
              </a:defRPr>
            </a:lvl7pPr>
            <a:lvl8pPr algn="l">
              <a:buNone/>
              <a:defRPr sz="1350" b="1" i="0">
                <a:solidFill>
                  <a:srgbClr val="0D6F73"/>
                </a:solidFill>
                <a:latin typeface="Calibri"/>
                <a:ea typeface="Calibri"/>
                <a:cs typeface="Calibri"/>
              </a:defRPr>
            </a:lvl8pPr>
            <a:lvl9pPr algn="l">
              <a:buNone/>
              <a:defRPr sz="1350" b="1" i="0">
                <a:solidFill>
                  <a:srgbClr val="0D6F73"/>
                </a:solidFill>
                <a:latin typeface="Calibri"/>
                <a:ea typeface="Calibri"/>
                <a:cs typeface="Calibri"/>
              </a:defRPr>
            </a:lvl9pPr>
          </a:lstStyle>
          <a:p>
            <a:pPr algn="l">
              <a:lnSpc>
                <a:spcPct val="108000"/>
              </a:lnSpc>
              <a:buNone/>
              <a:defRPr sz="1350" b="1" i="0">
                <a:solidFill>
                  <a:srgbClr val="0D6F73"/>
                </a:solidFill>
                <a:latin typeface="Calibri"/>
                <a:ea typeface="Calibri"/>
                <a:cs typeface="Calibri"/>
              </a:defRPr>
            </a:pPr>
            <a:r>
              <a:rPr sz="1425" b="1" i="0">
                <a:solidFill>
                  <a:srgbClr val="087E83"/>
                </a:solidFill>
                <a:latin typeface="Calibri"/>
                <a:ea typeface="Calibri"/>
                <a:cs typeface="Calibri"/>
              </a:rPr>
              <a:t>Inputs used by the active API</a:t>
            </a:r>
          </a:p>
        </p:txBody>
      </p:sp>
      <p:sp>
        <p:nvSpPr>
          <p:cNvPr id="8" name="Rectangle 7">
            <a:extLst>
              <a:ext uri="{FF2B5EF4-FFF2-40B4-BE49-F238E27FC236}">
                <a16:creationId xmlns:a16="http://schemas.microsoft.com/office/drawing/2014/main" xmlns="" id="{50F3EA56-3973-4A1D-8AE4-DE7572040109}"/>
              </a:ext>
            </a:extLst>
          </p:cNvPr>
          <p:cNvSpPr>
            <a:spLocks noGrp="1"/>
          </p:cNvSpPr>
          <p:nvPr/>
        </p:nvSpPr>
        <p:spPr>
          <a:xfrm>
            <a:off x="523875" y="1819275"/>
            <a:ext cx="2438400" cy="990600"/>
          </a:xfrm>
          <a:prstGeom prst="rect">
            <a:avLst/>
          </a:prstGeom>
          <a:noFill/>
          <a:ln w="0">
            <a:noFill/>
            <a:prstDash val="solid"/>
          </a:ln>
        </p:spPr>
        <p:txBody>
          <a:bodyPr wrap="square" lIns="0" tIns="0" rIns="0" bIns="0" anchor="t">
            <a:normAutofit/>
          </a:bodyPr>
          <a:lstStyle>
            <a:defPPr algn="l">
              <a:defRPr sz="1275" b="0" i="0">
                <a:solidFill>
                  <a:srgbClr val="294E5A"/>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a:pPr algn="l">
              <a:lnSpc>
                <a:spcPct val="120000"/>
              </a:lnSpc>
              <a:buNone/>
              <a:defRPr sz="1350" b="0" i="0">
                <a:solidFill>
                  <a:srgbClr val="263C45"/>
                </a:solidFill>
                <a:latin typeface="Calibri"/>
                <a:ea typeface="Calibri"/>
                <a:cs typeface="Calibri"/>
              </a:defRPr>
            </a:pPr>
            <a:r>
              <a:rPr sz="1275" b="0" i="0">
                <a:solidFill>
                  <a:srgbClr val="294E5A"/>
                </a:solidFill>
                <a:latin typeface="Calibri"/>
                <a:ea typeface="Calibri"/>
                <a:cs typeface="Calibri"/>
              </a:rPr>
              <a:t>Age · sex · smoking · diabetes</a:t>
            </a:r>
          </a:p>
          <a:p>
            <a:pPr algn="l">
              <a:lnSpc>
                <a:spcPct val="120000"/>
              </a:lnSpc>
              <a:buNone/>
              <a:defRPr sz="1350" b="0" i="0">
                <a:solidFill>
                  <a:srgbClr val="263C45"/>
                </a:solidFill>
                <a:latin typeface="Calibri"/>
                <a:ea typeface="Calibri"/>
                <a:cs typeface="Calibri"/>
              </a:defRPr>
            </a:pPr>
            <a:r>
              <a:rPr sz="1275" b="0" i="0">
                <a:solidFill>
                  <a:srgbClr val="294E5A"/>
                </a:solidFill>
                <a:latin typeface="Calibri"/>
                <a:ea typeface="Calibri"/>
                <a:cs typeface="Calibri"/>
              </a:rPr>
              <a:t>Systolic BP · total cholesterol</a:t>
            </a:r>
          </a:p>
          <a:p>
            <a:pPr algn="l">
              <a:lnSpc>
                <a:spcPct val="120000"/>
              </a:lnSpc>
              <a:buNone/>
              <a:defRPr sz="1350" b="0" i="0">
                <a:solidFill>
                  <a:srgbClr val="263C45"/>
                </a:solidFill>
                <a:latin typeface="Calibri"/>
                <a:ea typeface="Calibri"/>
                <a:cs typeface="Calibri"/>
              </a:defRPr>
            </a:pPr>
            <a:r>
              <a:rPr sz="1275" b="0" i="0">
                <a:solidFill>
                  <a:srgbClr val="294E5A"/>
                </a:solidFill>
                <a:latin typeface="Calibri"/>
                <a:ea typeface="Calibri"/>
                <a:cs typeface="Calibri"/>
              </a:rPr>
              <a:t>HDL cholesterol</a:t>
            </a:r>
          </a:p>
        </p:txBody>
      </p:sp>
      <p:sp>
        <p:nvSpPr>
          <p:cNvPr id="9" name="Rounded Rectangle 8">
            <a:extLst>
              <a:ext uri="{FF2B5EF4-FFF2-40B4-BE49-F238E27FC236}">
                <a16:creationId xmlns:a16="http://schemas.microsoft.com/office/drawing/2014/main" xmlns="" id="{57B11B08-42A2-4BBF-AD7C-EDB45944992A}"/>
              </a:ext>
            </a:extLst>
          </p:cNvPr>
          <p:cNvSpPr>
            <a:spLocks noGrp="1"/>
          </p:cNvSpPr>
          <p:nvPr/>
        </p:nvSpPr>
        <p:spPr>
          <a:xfrm>
            <a:off x="3371850" y="1590675"/>
            <a:ext cx="1152525" cy="857250"/>
          </a:xfrm>
          <a:prstGeom prst="roundRect">
            <a:avLst>
              <a:gd name="adj" fmla="val 8889"/>
            </a:avLst>
          </a:prstGeom>
          <a:solidFill>
            <a:srgbClr val="E5F2F1"/>
          </a:solidFill>
          <a:ln w="11430">
            <a:solidFill>
              <a:srgbClr val="BDD8D6"/>
            </a:solidFill>
            <a:prstDash val="solid"/>
          </a:ln>
        </p:spPr>
        <p:txBody>
          <a:bodyPr wrap="square" lIns="95250" tIns="76200" rIns="95250" bIns="76200" anchor="ctr">
            <a:normAutofit/>
          </a:bodyPr>
          <a:lstStyle>
            <a:defPPr algn="ctr">
              <a:defRPr sz="1238" b="1">
                <a:solidFill>
                  <a:srgbClr val="123F50"/>
                </a:solidFill>
                <a:latin typeface="Calibri"/>
                <a:ea typeface="Calibri"/>
                <a:cs typeface="Calibri"/>
              </a:defRPr>
            </a:defPPr>
            <a:lvl1pPr algn="ctr">
              <a:buNone/>
              <a:defRPr sz="1275" b="1">
                <a:solidFill>
                  <a:srgbClr val="123F50"/>
                </a:solidFill>
                <a:latin typeface="Calibri"/>
                <a:ea typeface="Calibri"/>
                <a:cs typeface="Calibri"/>
              </a:defRPr>
            </a:lvl1pPr>
            <a:lvl2pPr algn="ctr">
              <a:buNone/>
              <a:defRPr sz="1275" b="1">
                <a:solidFill>
                  <a:srgbClr val="123F50"/>
                </a:solidFill>
                <a:latin typeface="Calibri"/>
                <a:ea typeface="Calibri"/>
                <a:cs typeface="Calibri"/>
              </a:defRPr>
            </a:lvl2pPr>
            <a:lvl3pPr algn="ctr">
              <a:buNone/>
              <a:defRPr sz="1275" b="1">
                <a:solidFill>
                  <a:srgbClr val="123F50"/>
                </a:solidFill>
                <a:latin typeface="Calibri"/>
                <a:ea typeface="Calibri"/>
                <a:cs typeface="Calibri"/>
              </a:defRPr>
            </a:lvl3pPr>
            <a:lvl4pPr algn="ctr">
              <a:buNone/>
              <a:defRPr sz="1275" b="1">
                <a:solidFill>
                  <a:srgbClr val="123F50"/>
                </a:solidFill>
                <a:latin typeface="Calibri"/>
                <a:ea typeface="Calibri"/>
                <a:cs typeface="Calibri"/>
              </a:defRPr>
            </a:lvl4pPr>
            <a:lvl5pPr algn="ctr">
              <a:buNone/>
              <a:defRPr sz="1275" b="1">
                <a:solidFill>
                  <a:srgbClr val="123F50"/>
                </a:solidFill>
                <a:latin typeface="Calibri"/>
                <a:ea typeface="Calibri"/>
                <a:cs typeface="Calibri"/>
              </a:defRPr>
            </a:lvl5pPr>
            <a:lvl6pPr algn="ctr">
              <a:buNone/>
              <a:defRPr sz="1275" b="1">
                <a:solidFill>
                  <a:srgbClr val="123F50"/>
                </a:solidFill>
                <a:latin typeface="Calibri"/>
                <a:ea typeface="Calibri"/>
                <a:cs typeface="Calibri"/>
              </a:defRPr>
            </a:lvl6pPr>
            <a:lvl7pPr algn="ctr">
              <a:buNone/>
              <a:defRPr sz="1275" b="1">
                <a:solidFill>
                  <a:srgbClr val="123F50"/>
                </a:solidFill>
                <a:latin typeface="Calibri"/>
                <a:ea typeface="Calibri"/>
                <a:cs typeface="Calibri"/>
              </a:defRPr>
            </a:lvl7pPr>
            <a:lvl8pPr algn="ctr">
              <a:buNone/>
              <a:defRPr sz="1275" b="1">
                <a:solidFill>
                  <a:srgbClr val="123F50"/>
                </a:solidFill>
                <a:latin typeface="Calibri"/>
                <a:ea typeface="Calibri"/>
                <a:cs typeface="Calibri"/>
              </a:defRPr>
            </a:lvl8pPr>
            <a:lvl9pPr algn="ctr">
              <a:buNone/>
              <a:defRPr sz="1275" b="1">
                <a:solidFill>
                  <a:srgbClr val="123F50"/>
                </a:solidFill>
                <a:latin typeface="Calibri"/>
                <a:ea typeface="Calibri"/>
                <a:cs typeface="Calibri"/>
              </a:defRPr>
            </a:lvl9pPr>
          </a:lstStyle>
          <a:p>
            <a:pPr algn="ctr">
              <a:buNone/>
              <a:defRPr sz="1275" b="1">
                <a:solidFill>
                  <a:srgbClr val="123F50"/>
                </a:solidFill>
                <a:latin typeface="Calibri"/>
                <a:ea typeface="Calibri"/>
                <a:cs typeface="Calibri"/>
              </a:defRPr>
            </a:pPr>
            <a:r>
              <a:rPr sz="1238" b="1">
                <a:solidFill>
                  <a:srgbClr val="123F50"/>
                </a:solidFill>
                <a:latin typeface="Calibri"/>
                <a:ea typeface="Calibri"/>
                <a:cs typeface="Calibri"/>
              </a:rPr>
              <a:t>Banded</a:t>
            </a:r>
          </a:p>
          <a:p>
            <a:pPr algn="ctr">
              <a:buNone/>
              <a:defRPr sz="1275" b="1">
                <a:solidFill>
                  <a:srgbClr val="123F50"/>
                </a:solidFill>
                <a:latin typeface="Calibri"/>
                <a:ea typeface="Calibri"/>
                <a:cs typeface="Calibri"/>
              </a:defRPr>
            </a:pPr>
            <a:r>
              <a:rPr sz="1238" b="1">
                <a:solidFill>
                  <a:srgbClr val="123F50"/>
                </a:solidFill>
                <a:latin typeface="Calibri"/>
                <a:ea typeface="Calibri"/>
                <a:cs typeface="Calibri"/>
              </a:rPr>
              <a:t>point rules</a:t>
            </a:r>
          </a:p>
        </p:txBody>
      </p:sp>
      <p:sp>
        <p:nvSpPr>
          <p:cNvPr id="10" name="Rounded Rectangle 9">
            <a:extLst>
              <a:ext uri="{FF2B5EF4-FFF2-40B4-BE49-F238E27FC236}">
                <a16:creationId xmlns:a16="http://schemas.microsoft.com/office/drawing/2014/main" xmlns="" id="{EB7D51CE-8AFD-4DD3-848B-FC6FCECC5BF1}"/>
              </a:ext>
            </a:extLst>
          </p:cNvPr>
          <p:cNvSpPr>
            <a:spLocks noGrp="1"/>
          </p:cNvSpPr>
          <p:nvPr/>
        </p:nvSpPr>
        <p:spPr>
          <a:xfrm>
            <a:off x="4810125" y="1590675"/>
            <a:ext cx="1000125" cy="857250"/>
          </a:xfrm>
          <a:prstGeom prst="roundRect">
            <a:avLst>
              <a:gd name="adj" fmla="val 8889"/>
            </a:avLst>
          </a:prstGeom>
          <a:solidFill>
            <a:srgbClr val="E5F2F1"/>
          </a:solidFill>
          <a:ln w="11430">
            <a:solidFill>
              <a:srgbClr val="BDD8D6"/>
            </a:solidFill>
            <a:prstDash val="solid"/>
          </a:ln>
        </p:spPr>
        <p:txBody>
          <a:bodyPr wrap="square" lIns="95250" tIns="76200" rIns="95250" bIns="76200" anchor="ctr">
            <a:normAutofit/>
          </a:bodyPr>
          <a:lstStyle>
            <a:defPPr algn="ctr">
              <a:defRPr sz="1238" b="1">
                <a:solidFill>
                  <a:srgbClr val="123F50"/>
                </a:solidFill>
                <a:latin typeface="Calibri"/>
                <a:ea typeface="Calibri"/>
                <a:cs typeface="Calibri"/>
              </a:defRPr>
            </a:defPPr>
            <a:lvl1pPr algn="ctr">
              <a:buNone/>
              <a:defRPr sz="1275" b="1">
                <a:solidFill>
                  <a:srgbClr val="123F50"/>
                </a:solidFill>
                <a:latin typeface="Calibri"/>
                <a:ea typeface="Calibri"/>
                <a:cs typeface="Calibri"/>
              </a:defRPr>
            </a:lvl1pPr>
            <a:lvl2pPr algn="ctr">
              <a:buNone/>
              <a:defRPr sz="1275" b="1">
                <a:solidFill>
                  <a:srgbClr val="123F50"/>
                </a:solidFill>
                <a:latin typeface="Calibri"/>
                <a:ea typeface="Calibri"/>
                <a:cs typeface="Calibri"/>
              </a:defRPr>
            </a:lvl2pPr>
            <a:lvl3pPr algn="ctr">
              <a:buNone/>
              <a:defRPr sz="1275" b="1">
                <a:solidFill>
                  <a:srgbClr val="123F50"/>
                </a:solidFill>
                <a:latin typeface="Calibri"/>
                <a:ea typeface="Calibri"/>
                <a:cs typeface="Calibri"/>
              </a:defRPr>
            </a:lvl3pPr>
            <a:lvl4pPr algn="ctr">
              <a:buNone/>
              <a:defRPr sz="1275" b="1">
                <a:solidFill>
                  <a:srgbClr val="123F50"/>
                </a:solidFill>
                <a:latin typeface="Calibri"/>
                <a:ea typeface="Calibri"/>
                <a:cs typeface="Calibri"/>
              </a:defRPr>
            </a:lvl4pPr>
            <a:lvl5pPr algn="ctr">
              <a:buNone/>
              <a:defRPr sz="1275" b="1">
                <a:solidFill>
                  <a:srgbClr val="123F50"/>
                </a:solidFill>
                <a:latin typeface="Calibri"/>
                <a:ea typeface="Calibri"/>
                <a:cs typeface="Calibri"/>
              </a:defRPr>
            </a:lvl5pPr>
            <a:lvl6pPr algn="ctr">
              <a:buNone/>
              <a:defRPr sz="1275" b="1">
                <a:solidFill>
                  <a:srgbClr val="123F50"/>
                </a:solidFill>
                <a:latin typeface="Calibri"/>
                <a:ea typeface="Calibri"/>
                <a:cs typeface="Calibri"/>
              </a:defRPr>
            </a:lvl6pPr>
            <a:lvl7pPr algn="ctr">
              <a:buNone/>
              <a:defRPr sz="1275" b="1">
                <a:solidFill>
                  <a:srgbClr val="123F50"/>
                </a:solidFill>
                <a:latin typeface="Calibri"/>
                <a:ea typeface="Calibri"/>
                <a:cs typeface="Calibri"/>
              </a:defRPr>
            </a:lvl7pPr>
            <a:lvl8pPr algn="ctr">
              <a:buNone/>
              <a:defRPr sz="1275" b="1">
                <a:solidFill>
                  <a:srgbClr val="123F50"/>
                </a:solidFill>
                <a:latin typeface="Calibri"/>
                <a:ea typeface="Calibri"/>
                <a:cs typeface="Calibri"/>
              </a:defRPr>
            </a:lvl8pPr>
            <a:lvl9pPr algn="ctr">
              <a:buNone/>
              <a:defRPr sz="1275" b="1">
                <a:solidFill>
                  <a:srgbClr val="123F50"/>
                </a:solidFill>
                <a:latin typeface="Calibri"/>
                <a:ea typeface="Calibri"/>
                <a:cs typeface="Calibri"/>
              </a:defRPr>
            </a:lvl9pPr>
          </a:lstStyle>
          <a:p>
            <a:pPr algn="ctr">
              <a:buNone/>
              <a:defRPr sz="1275" b="1">
                <a:solidFill>
                  <a:srgbClr val="123F50"/>
                </a:solidFill>
                <a:latin typeface="Calibri"/>
                <a:ea typeface="Calibri"/>
                <a:cs typeface="Calibri"/>
              </a:defRPr>
            </a:pPr>
            <a:r>
              <a:rPr sz="1238" b="1">
                <a:solidFill>
                  <a:srgbClr val="123F50"/>
                </a:solidFill>
                <a:latin typeface="Calibri"/>
                <a:ea typeface="Calibri"/>
                <a:cs typeface="Calibri"/>
              </a:rPr>
              <a:t>Score ÷ 45</a:t>
            </a:r>
          </a:p>
        </p:txBody>
      </p:sp>
      <p:sp>
        <p:nvSpPr>
          <p:cNvPr id="11" name="Rounded Rectangle 10">
            <a:extLst>
              <a:ext uri="{FF2B5EF4-FFF2-40B4-BE49-F238E27FC236}">
                <a16:creationId xmlns:a16="http://schemas.microsoft.com/office/drawing/2014/main" xmlns="" id="{3F2007B6-3BFE-49C1-B5FB-48A975E0182B}"/>
              </a:ext>
            </a:extLst>
          </p:cNvPr>
          <p:cNvSpPr>
            <a:spLocks noGrp="1"/>
          </p:cNvSpPr>
          <p:nvPr/>
        </p:nvSpPr>
        <p:spPr>
          <a:xfrm>
            <a:off x="6096000" y="1590675"/>
            <a:ext cx="952500" cy="857250"/>
          </a:xfrm>
          <a:prstGeom prst="roundRect">
            <a:avLst>
              <a:gd name="adj" fmla="val 8889"/>
            </a:avLst>
          </a:prstGeom>
          <a:solidFill>
            <a:srgbClr val="123F50"/>
          </a:solidFill>
          <a:ln w="11430">
            <a:solidFill>
              <a:srgbClr val="123F50"/>
            </a:solidFill>
            <a:prstDash val="solid"/>
          </a:ln>
        </p:spPr>
        <p:txBody>
          <a:bodyPr wrap="square" lIns="95250" tIns="76200" rIns="95250" bIns="76200" anchor="ctr">
            <a:normAutofit/>
          </a:bodyPr>
          <a:lstStyle>
            <a:defPPr algn="ctr">
              <a:defRPr sz="1238" b="1">
                <a:solidFill>
                  <a:srgbClr val="FFFFFF"/>
                </a:solidFill>
                <a:latin typeface="Calibri"/>
                <a:ea typeface="Calibri"/>
                <a:cs typeface="Calibri"/>
              </a:defRPr>
            </a:defPPr>
            <a:lvl1pPr algn="ctr">
              <a:buNone/>
              <a:defRPr sz="1275" b="1">
                <a:solidFill>
                  <a:srgbClr val="FFFFFF"/>
                </a:solidFill>
                <a:latin typeface="Calibri"/>
                <a:ea typeface="Calibri"/>
                <a:cs typeface="Calibri"/>
              </a:defRPr>
            </a:lvl1pPr>
            <a:lvl2pPr algn="ctr">
              <a:buNone/>
              <a:defRPr sz="1275" b="1">
                <a:solidFill>
                  <a:srgbClr val="FFFFFF"/>
                </a:solidFill>
                <a:latin typeface="Calibri"/>
                <a:ea typeface="Calibri"/>
                <a:cs typeface="Calibri"/>
              </a:defRPr>
            </a:lvl2pPr>
            <a:lvl3pPr algn="ctr">
              <a:buNone/>
              <a:defRPr sz="1275" b="1">
                <a:solidFill>
                  <a:srgbClr val="FFFFFF"/>
                </a:solidFill>
                <a:latin typeface="Calibri"/>
                <a:ea typeface="Calibri"/>
                <a:cs typeface="Calibri"/>
              </a:defRPr>
            </a:lvl3pPr>
            <a:lvl4pPr algn="ctr">
              <a:buNone/>
              <a:defRPr sz="1275" b="1">
                <a:solidFill>
                  <a:srgbClr val="FFFFFF"/>
                </a:solidFill>
                <a:latin typeface="Calibri"/>
                <a:ea typeface="Calibri"/>
                <a:cs typeface="Calibri"/>
              </a:defRPr>
            </a:lvl4pPr>
            <a:lvl5pPr algn="ctr">
              <a:buNone/>
              <a:defRPr sz="1275" b="1">
                <a:solidFill>
                  <a:srgbClr val="FFFFFF"/>
                </a:solidFill>
                <a:latin typeface="Calibri"/>
                <a:ea typeface="Calibri"/>
                <a:cs typeface="Calibri"/>
              </a:defRPr>
            </a:lvl5pPr>
            <a:lvl6pPr algn="ctr">
              <a:buNone/>
              <a:defRPr sz="1275" b="1">
                <a:solidFill>
                  <a:srgbClr val="FFFFFF"/>
                </a:solidFill>
                <a:latin typeface="Calibri"/>
                <a:ea typeface="Calibri"/>
                <a:cs typeface="Calibri"/>
              </a:defRPr>
            </a:lvl6pPr>
            <a:lvl7pPr algn="ctr">
              <a:buNone/>
              <a:defRPr sz="1275" b="1">
                <a:solidFill>
                  <a:srgbClr val="FFFFFF"/>
                </a:solidFill>
                <a:latin typeface="Calibri"/>
                <a:ea typeface="Calibri"/>
                <a:cs typeface="Calibri"/>
              </a:defRPr>
            </a:lvl7pPr>
            <a:lvl8pPr algn="ctr">
              <a:buNone/>
              <a:defRPr sz="1275" b="1">
                <a:solidFill>
                  <a:srgbClr val="FFFFFF"/>
                </a:solidFill>
                <a:latin typeface="Calibri"/>
                <a:ea typeface="Calibri"/>
                <a:cs typeface="Calibri"/>
              </a:defRPr>
            </a:lvl8pPr>
            <a:lvl9pPr algn="ctr">
              <a:buNone/>
              <a:defRPr sz="1275" b="1">
                <a:solidFill>
                  <a:srgbClr val="FFFFFF"/>
                </a:solidFill>
                <a:latin typeface="Calibri"/>
                <a:ea typeface="Calibri"/>
                <a:cs typeface="Calibri"/>
              </a:defRPr>
            </a:lvl9pPr>
          </a:lstStyle>
          <a:p>
            <a:pPr algn="ctr">
              <a:buNone/>
              <a:defRPr sz="1275" b="1">
                <a:solidFill>
                  <a:srgbClr val="FFFFFF"/>
                </a:solidFill>
                <a:latin typeface="Calibri"/>
                <a:ea typeface="Calibri"/>
                <a:cs typeface="Calibri"/>
              </a:defRPr>
            </a:pPr>
            <a:r>
              <a:rPr sz="1238" b="1">
                <a:solidFill>
                  <a:srgbClr val="FFFFFF"/>
                </a:solidFill>
                <a:latin typeface="Calibri"/>
                <a:ea typeface="Calibri"/>
                <a:cs typeface="Calibri"/>
              </a:rPr>
              <a:t>Risk band</a:t>
            </a:r>
          </a:p>
        </p:txBody>
      </p:sp>
      <p:sp>
        <p:nvSpPr>
          <p:cNvPr id="14" name="Rectangle 13">
            <a:extLst>
              <a:ext uri="{FF2B5EF4-FFF2-40B4-BE49-F238E27FC236}">
                <a16:creationId xmlns:a16="http://schemas.microsoft.com/office/drawing/2014/main" xmlns="" id="{3C239912-2BED-4FA0-8A34-2E22DB04D674}"/>
              </a:ext>
            </a:extLst>
          </p:cNvPr>
          <p:cNvSpPr>
            <a:spLocks noGrp="1"/>
          </p:cNvSpPr>
          <p:nvPr/>
        </p:nvSpPr>
        <p:spPr>
          <a:xfrm>
            <a:off x="4438650" y="1866900"/>
            <a:ext cx="361950" cy="285750"/>
          </a:xfrm>
          <a:prstGeom prst="rect">
            <a:avLst/>
          </a:prstGeom>
          <a:noFill/>
          <a:ln w="0">
            <a:noFill/>
            <a:prstDash val="solid"/>
          </a:ln>
        </p:spPr>
        <p:txBody>
          <a:bodyPr wrap="square" lIns="0" tIns="0" rIns="0" bIns="0" anchor="ctr">
            <a:normAutofit fontScale="96451"/>
          </a:bodyPr>
          <a:lstStyle>
            <a:defPPr algn="ctr">
              <a:defRPr sz="1800" b="1" i="0">
                <a:solidFill>
                  <a:srgbClr val="0D6F73"/>
                </a:solidFill>
                <a:latin typeface="Calibri"/>
                <a:ea typeface="Calibri"/>
                <a:cs typeface="Calibri"/>
              </a:defRPr>
            </a:defPPr>
            <a:lvl1pPr algn="ctr">
              <a:buNone/>
              <a:defRPr sz="1800" b="1" i="0">
                <a:solidFill>
                  <a:srgbClr val="0D6F73"/>
                </a:solidFill>
                <a:latin typeface="Calibri"/>
                <a:ea typeface="Calibri"/>
                <a:cs typeface="Calibri"/>
              </a:defRPr>
            </a:lvl1pPr>
            <a:lvl2pPr algn="ctr">
              <a:buNone/>
              <a:defRPr sz="1800" b="1" i="0">
                <a:solidFill>
                  <a:srgbClr val="0D6F73"/>
                </a:solidFill>
                <a:latin typeface="Calibri"/>
                <a:ea typeface="Calibri"/>
                <a:cs typeface="Calibri"/>
              </a:defRPr>
            </a:lvl2pPr>
            <a:lvl3pPr algn="ctr">
              <a:buNone/>
              <a:defRPr sz="1800" b="1" i="0">
                <a:solidFill>
                  <a:srgbClr val="0D6F73"/>
                </a:solidFill>
                <a:latin typeface="Calibri"/>
                <a:ea typeface="Calibri"/>
                <a:cs typeface="Calibri"/>
              </a:defRPr>
            </a:lvl3pPr>
            <a:lvl4pPr algn="ctr">
              <a:buNone/>
              <a:defRPr sz="1800" b="1" i="0">
                <a:solidFill>
                  <a:srgbClr val="0D6F73"/>
                </a:solidFill>
                <a:latin typeface="Calibri"/>
                <a:ea typeface="Calibri"/>
                <a:cs typeface="Calibri"/>
              </a:defRPr>
            </a:lvl4pPr>
            <a:lvl5pPr algn="ctr">
              <a:buNone/>
              <a:defRPr sz="1800" b="1" i="0">
                <a:solidFill>
                  <a:srgbClr val="0D6F73"/>
                </a:solidFill>
                <a:latin typeface="Calibri"/>
                <a:ea typeface="Calibri"/>
                <a:cs typeface="Calibri"/>
              </a:defRPr>
            </a:lvl5pPr>
            <a:lvl6pPr algn="ctr">
              <a:buNone/>
              <a:defRPr sz="1800" b="1" i="0">
                <a:solidFill>
                  <a:srgbClr val="0D6F73"/>
                </a:solidFill>
                <a:latin typeface="Calibri"/>
                <a:ea typeface="Calibri"/>
                <a:cs typeface="Calibri"/>
              </a:defRPr>
            </a:lvl6pPr>
            <a:lvl7pPr algn="ctr">
              <a:buNone/>
              <a:defRPr sz="1800" b="1" i="0">
                <a:solidFill>
                  <a:srgbClr val="0D6F73"/>
                </a:solidFill>
                <a:latin typeface="Calibri"/>
                <a:ea typeface="Calibri"/>
                <a:cs typeface="Calibri"/>
              </a:defRPr>
            </a:lvl7pPr>
            <a:lvl8pPr algn="ctr">
              <a:buNone/>
              <a:defRPr sz="1800" b="1" i="0">
                <a:solidFill>
                  <a:srgbClr val="0D6F73"/>
                </a:solidFill>
                <a:latin typeface="Calibri"/>
                <a:ea typeface="Calibri"/>
                <a:cs typeface="Calibri"/>
              </a:defRPr>
            </a:lvl8pPr>
            <a:lvl9pPr algn="ctr">
              <a:buNone/>
              <a:defRPr sz="1800" b="1" i="0">
                <a:solidFill>
                  <a:srgbClr val="0D6F73"/>
                </a:solidFill>
                <a:latin typeface="Calibri"/>
                <a:ea typeface="Calibri"/>
                <a:cs typeface="Calibri"/>
              </a:defRPr>
            </a:lvl9pPr>
          </a:lstStyle>
          <a:p>
            <a:pPr algn="ctr">
              <a:lnSpc>
                <a:spcPct val="108000"/>
              </a:lnSpc>
              <a:buNone/>
              <a:defRPr sz="1800" b="1" i="0">
                <a:solidFill>
                  <a:srgbClr val="0D6F73"/>
                </a:solidFill>
                <a:latin typeface="Calibri"/>
                <a:ea typeface="Calibri"/>
                <a:cs typeface="Calibri"/>
              </a:defRPr>
            </a:pPr>
            <a:r>
              <a:rPr sz="1800" b="1" i="0">
                <a:solidFill>
                  <a:srgbClr val="0D6F73"/>
                </a:solidFill>
                <a:latin typeface="Calibri"/>
                <a:ea typeface="Calibri"/>
                <a:cs typeface="Calibri"/>
              </a:rPr>
              <a:t>→</a:t>
            </a:r>
          </a:p>
        </p:txBody>
      </p:sp>
      <p:sp>
        <p:nvSpPr>
          <p:cNvPr id="15" name="Rectangle 14">
            <a:extLst>
              <a:ext uri="{FF2B5EF4-FFF2-40B4-BE49-F238E27FC236}">
                <a16:creationId xmlns:a16="http://schemas.microsoft.com/office/drawing/2014/main" xmlns="" id="{AF8C1A64-9ECC-4F37-81DD-45FC862885DE}"/>
              </a:ext>
            </a:extLst>
          </p:cNvPr>
          <p:cNvSpPr>
            <a:spLocks noGrp="1"/>
          </p:cNvSpPr>
          <p:nvPr/>
        </p:nvSpPr>
        <p:spPr>
          <a:xfrm>
            <a:off x="5762625" y="1866900"/>
            <a:ext cx="314325" cy="285750"/>
          </a:xfrm>
          <a:prstGeom prst="rect">
            <a:avLst/>
          </a:prstGeom>
          <a:noFill/>
          <a:ln w="0">
            <a:noFill/>
            <a:prstDash val="solid"/>
          </a:ln>
        </p:spPr>
        <p:txBody>
          <a:bodyPr wrap="square" lIns="0" tIns="0" rIns="0" bIns="0" anchor="ctr">
            <a:normAutofit fontScale="96451"/>
          </a:bodyPr>
          <a:lstStyle>
            <a:defPPr algn="ctr">
              <a:defRPr sz="1800" b="1" i="0">
                <a:solidFill>
                  <a:srgbClr val="0D6F73"/>
                </a:solidFill>
                <a:latin typeface="Calibri"/>
                <a:ea typeface="Calibri"/>
                <a:cs typeface="Calibri"/>
              </a:defRPr>
            </a:defPPr>
            <a:lvl1pPr algn="ctr">
              <a:buNone/>
              <a:defRPr sz="1800" b="1" i="0">
                <a:solidFill>
                  <a:srgbClr val="0D6F73"/>
                </a:solidFill>
                <a:latin typeface="Calibri"/>
                <a:ea typeface="Calibri"/>
                <a:cs typeface="Calibri"/>
              </a:defRPr>
            </a:lvl1pPr>
            <a:lvl2pPr algn="ctr">
              <a:buNone/>
              <a:defRPr sz="1800" b="1" i="0">
                <a:solidFill>
                  <a:srgbClr val="0D6F73"/>
                </a:solidFill>
                <a:latin typeface="Calibri"/>
                <a:ea typeface="Calibri"/>
                <a:cs typeface="Calibri"/>
              </a:defRPr>
            </a:lvl2pPr>
            <a:lvl3pPr algn="ctr">
              <a:buNone/>
              <a:defRPr sz="1800" b="1" i="0">
                <a:solidFill>
                  <a:srgbClr val="0D6F73"/>
                </a:solidFill>
                <a:latin typeface="Calibri"/>
                <a:ea typeface="Calibri"/>
                <a:cs typeface="Calibri"/>
              </a:defRPr>
            </a:lvl3pPr>
            <a:lvl4pPr algn="ctr">
              <a:buNone/>
              <a:defRPr sz="1800" b="1" i="0">
                <a:solidFill>
                  <a:srgbClr val="0D6F73"/>
                </a:solidFill>
                <a:latin typeface="Calibri"/>
                <a:ea typeface="Calibri"/>
                <a:cs typeface="Calibri"/>
              </a:defRPr>
            </a:lvl4pPr>
            <a:lvl5pPr algn="ctr">
              <a:buNone/>
              <a:defRPr sz="1800" b="1" i="0">
                <a:solidFill>
                  <a:srgbClr val="0D6F73"/>
                </a:solidFill>
                <a:latin typeface="Calibri"/>
                <a:ea typeface="Calibri"/>
                <a:cs typeface="Calibri"/>
              </a:defRPr>
            </a:lvl5pPr>
            <a:lvl6pPr algn="ctr">
              <a:buNone/>
              <a:defRPr sz="1800" b="1" i="0">
                <a:solidFill>
                  <a:srgbClr val="0D6F73"/>
                </a:solidFill>
                <a:latin typeface="Calibri"/>
                <a:ea typeface="Calibri"/>
                <a:cs typeface="Calibri"/>
              </a:defRPr>
            </a:lvl6pPr>
            <a:lvl7pPr algn="ctr">
              <a:buNone/>
              <a:defRPr sz="1800" b="1" i="0">
                <a:solidFill>
                  <a:srgbClr val="0D6F73"/>
                </a:solidFill>
                <a:latin typeface="Calibri"/>
                <a:ea typeface="Calibri"/>
                <a:cs typeface="Calibri"/>
              </a:defRPr>
            </a:lvl7pPr>
            <a:lvl8pPr algn="ctr">
              <a:buNone/>
              <a:defRPr sz="1800" b="1" i="0">
                <a:solidFill>
                  <a:srgbClr val="0D6F73"/>
                </a:solidFill>
                <a:latin typeface="Calibri"/>
                <a:ea typeface="Calibri"/>
                <a:cs typeface="Calibri"/>
              </a:defRPr>
            </a:lvl8pPr>
            <a:lvl9pPr algn="ctr">
              <a:buNone/>
              <a:defRPr sz="1800" b="1" i="0">
                <a:solidFill>
                  <a:srgbClr val="0D6F73"/>
                </a:solidFill>
                <a:latin typeface="Calibri"/>
                <a:ea typeface="Calibri"/>
                <a:cs typeface="Calibri"/>
              </a:defRPr>
            </a:lvl9pPr>
          </a:lstStyle>
          <a:p>
            <a:pPr algn="ctr">
              <a:lnSpc>
                <a:spcPct val="108000"/>
              </a:lnSpc>
              <a:buNone/>
              <a:defRPr sz="1800" b="1" i="0">
                <a:solidFill>
                  <a:srgbClr val="0D6F73"/>
                </a:solidFill>
                <a:latin typeface="Calibri"/>
                <a:ea typeface="Calibri"/>
                <a:cs typeface="Calibri"/>
              </a:defRPr>
            </a:pPr>
            <a:r>
              <a:rPr sz="1800" b="1" i="0">
                <a:solidFill>
                  <a:srgbClr val="0D6F73"/>
                </a:solidFill>
                <a:latin typeface="Calibri"/>
                <a:ea typeface="Calibri"/>
                <a:cs typeface="Calibri"/>
              </a:rPr>
              <a:t>→</a:t>
            </a:r>
          </a:p>
        </p:txBody>
      </p:sp>
      <p:sp>
        <p:nvSpPr>
          <p:cNvPr id="16" name="Rectangle 15">
            <a:extLst>
              <a:ext uri="{FF2B5EF4-FFF2-40B4-BE49-F238E27FC236}">
                <a16:creationId xmlns:a16="http://schemas.microsoft.com/office/drawing/2014/main" xmlns="" id="{B51ADEFF-B30A-4382-89A9-BC26758BB0BC}"/>
              </a:ext>
            </a:extLst>
          </p:cNvPr>
          <p:cNvSpPr>
            <a:spLocks noGrp="1"/>
          </p:cNvSpPr>
          <p:nvPr/>
        </p:nvSpPr>
        <p:spPr>
          <a:xfrm>
            <a:off x="3371850" y="2638425"/>
            <a:ext cx="3676650" cy="466725"/>
          </a:xfrm>
          <a:prstGeom prst="rect">
            <a:avLst/>
          </a:prstGeom>
          <a:noFill/>
          <a:ln w="0">
            <a:noFill/>
            <a:prstDash val="solid"/>
          </a:ln>
        </p:spPr>
        <p:txBody>
          <a:bodyPr wrap="square" lIns="0" tIns="0" rIns="0" bIns="0" anchor="ctr">
            <a:normAutofit/>
          </a:bodyPr>
          <a:lstStyle>
            <a:defPPr algn="ctr">
              <a:defRPr sz="1125" b="0" i="0">
                <a:solidFill>
                  <a:srgbClr val="263C45"/>
                </a:solidFill>
                <a:latin typeface="Calibri"/>
                <a:ea typeface="Calibri"/>
                <a:cs typeface="Calibri"/>
              </a:defRPr>
            </a:defPPr>
            <a:lvl1pPr algn="ctr">
              <a:buNone/>
              <a:defRPr sz="1125" b="0" i="0">
                <a:solidFill>
                  <a:srgbClr val="263C45"/>
                </a:solidFill>
                <a:latin typeface="Calibri"/>
                <a:ea typeface="Calibri"/>
                <a:cs typeface="Calibri"/>
              </a:defRPr>
            </a:lvl1pPr>
            <a:lvl2pPr algn="ctr">
              <a:buNone/>
              <a:defRPr sz="1125" b="0" i="0">
                <a:solidFill>
                  <a:srgbClr val="263C45"/>
                </a:solidFill>
                <a:latin typeface="Calibri"/>
                <a:ea typeface="Calibri"/>
                <a:cs typeface="Calibri"/>
              </a:defRPr>
            </a:lvl2pPr>
            <a:lvl3pPr algn="ctr">
              <a:buNone/>
              <a:defRPr sz="1125" b="0" i="0">
                <a:solidFill>
                  <a:srgbClr val="263C45"/>
                </a:solidFill>
                <a:latin typeface="Calibri"/>
                <a:ea typeface="Calibri"/>
                <a:cs typeface="Calibri"/>
              </a:defRPr>
            </a:lvl3pPr>
            <a:lvl4pPr algn="ctr">
              <a:buNone/>
              <a:defRPr sz="1125" b="0" i="0">
                <a:solidFill>
                  <a:srgbClr val="263C45"/>
                </a:solidFill>
                <a:latin typeface="Calibri"/>
                <a:ea typeface="Calibri"/>
                <a:cs typeface="Calibri"/>
              </a:defRPr>
            </a:lvl4pPr>
            <a:lvl5pPr algn="ctr">
              <a:buNone/>
              <a:defRPr sz="1125" b="0" i="0">
                <a:solidFill>
                  <a:srgbClr val="263C45"/>
                </a:solidFill>
                <a:latin typeface="Calibri"/>
                <a:ea typeface="Calibri"/>
                <a:cs typeface="Calibri"/>
              </a:defRPr>
            </a:lvl5pPr>
            <a:lvl6pPr algn="ctr">
              <a:buNone/>
              <a:defRPr sz="1125" b="0" i="0">
                <a:solidFill>
                  <a:srgbClr val="263C45"/>
                </a:solidFill>
                <a:latin typeface="Calibri"/>
                <a:ea typeface="Calibri"/>
                <a:cs typeface="Calibri"/>
              </a:defRPr>
            </a:lvl6pPr>
            <a:lvl7pPr algn="ctr">
              <a:buNone/>
              <a:defRPr sz="1125" b="0" i="0">
                <a:solidFill>
                  <a:srgbClr val="263C45"/>
                </a:solidFill>
                <a:latin typeface="Calibri"/>
                <a:ea typeface="Calibri"/>
                <a:cs typeface="Calibri"/>
              </a:defRPr>
            </a:lvl7pPr>
            <a:lvl8pPr algn="ctr">
              <a:buNone/>
              <a:defRPr sz="1125" b="0" i="0">
                <a:solidFill>
                  <a:srgbClr val="263C45"/>
                </a:solidFill>
                <a:latin typeface="Calibri"/>
                <a:ea typeface="Calibri"/>
                <a:cs typeface="Calibri"/>
              </a:defRPr>
            </a:lvl8pPr>
            <a:lvl9pPr algn="ctr">
              <a:buNone/>
              <a:defRPr sz="1125" b="0" i="0">
                <a:solidFill>
                  <a:srgbClr val="263C45"/>
                </a:solidFill>
                <a:latin typeface="Calibri"/>
                <a:ea typeface="Calibri"/>
                <a:cs typeface="Calibri"/>
              </a:defRPr>
            </a:lvl9pPr>
          </a:lstStyle>
          <a:p>
            <a:pPr algn="ctr">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Overall risk also considers rhythm severity and a rule-based blood-pressure trend.</a:t>
            </a:r>
          </a:p>
        </p:txBody>
      </p:sp>
      <p:sp>
        <p:nvSpPr>
          <p:cNvPr id="17" name="Rounded Rectangle 16">
            <a:extLst>
              <a:ext uri="{FF2B5EF4-FFF2-40B4-BE49-F238E27FC236}">
                <a16:creationId xmlns:a16="http://schemas.microsoft.com/office/drawing/2014/main" xmlns="" id="{9646A9A8-CF52-40BC-A3D2-B2CBD2BFF7F2}"/>
              </a:ext>
            </a:extLst>
          </p:cNvPr>
          <p:cNvSpPr>
            <a:spLocks noGrp="1"/>
          </p:cNvSpPr>
          <p:nvPr/>
        </p:nvSpPr>
        <p:spPr>
          <a:xfrm>
            <a:off x="3381375" y="3400425"/>
            <a:ext cx="857250" cy="333375"/>
          </a:xfrm>
          <a:prstGeom prst="roundRect">
            <a:avLst>
              <a:gd name="adj" fmla="val 17143"/>
            </a:avLst>
          </a:prstGeom>
          <a:solidFill>
            <a:srgbClr val="4D8A68"/>
          </a:solidFill>
          <a:ln w="11430">
            <a:solidFill>
              <a:srgbClr val="4D8A68"/>
            </a:solidFill>
            <a:prstDash val="solid"/>
          </a:ln>
        </p:spPr>
        <p:txBody>
          <a:bodyPr wrap="square" lIns="95250" tIns="76200" rIns="95250" bIns="76200" anchor="ctr">
            <a:normAutofit fontScale="92174" lnSpcReduction="10000"/>
          </a:bodyPr>
          <a:lstStyle>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LOW</a:t>
            </a:r>
          </a:p>
        </p:txBody>
      </p:sp>
      <p:sp>
        <p:nvSpPr>
          <p:cNvPr id="18" name="Rounded Rectangle 17">
            <a:extLst>
              <a:ext uri="{FF2B5EF4-FFF2-40B4-BE49-F238E27FC236}">
                <a16:creationId xmlns:a16="http://schemas.microsoft.com/office/drawing/2014/main" xmlns="" id="{4FC36598-BB2F-4CAC-9E55-665312CF554D}"/>
              </a:ext>
            </a:extLst>
          </p:cNvPr>
          <p:cNvSpPr>
            <a:spLocks noGrp="1"/>
          </p:cNvSpPr>
          <p:nvPr/>
        </p:nvSpPr>
        <p:spPr>
          <a:xfrm>
            <a:off x="4314825" y="3400425"/>
            <a:ext cx="857250" cy="333375"/>
          </a:xfrm>
          <a:prstGeom prst="roundRect">
            <a:avLst>
              <a:gd name="adj" fmla="val 17143"/>
            </a:avLst>
          </a:prstGeom>
          <a:solidFill>
            <a:srgbClr val="D99A37"/>
          </a:solidFill>
          <a:ln w="11430">
            <a:solidFill>
              <a:srgbClr val="D99A37"/>
            </a:solidFill>
            <a:prstDash val="solid"/>
          </a:ln>
        </p:spPr>
        <p:txBody>
          <a:bodyPr wrap="square" lIns="95250" tIns="76200" rIns="95250" bIns="76200" anchor="ctr">
            <a:normAutofit fontScale="92174" lnSpcReduction="10000"/>
          </a:bodyPr>
          <a:lstStyle>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MODERATE</a:t>
            </a:r>
          </a:p>
        </p:txBody>
      </p:sp>
      <p:sp>
        <p:nvSpPr>
          <p:cNvPr id="19" name="Rounded Rectangle 18">
            <a:extLst>
              <a:ext uri="{FF2B5EF4-FFF2-40B4-BE49-F238E27FC236}">
                <a16:creationId xmlns:a16="http://schemas.microsoft.com/office/drawing/2014/main" xmlns="" id="{B79BCAA0-EA1E-4EC0-97AA-EE327D0C5C4C}"/>
              </a:ext>
            </a:extLst>
          </p:cNvPr>
          <p:cNvSpPr>
            <a:spLocks noGrp="1"/>
          </p:cNvSpPr>
          <p:nvPr/>
        </p:nvSpPr>
        <p:spPr>
          <a:xfrm>
            <a:off x="5248275" y="3400425"/>
            <a:ext cx="857250" cy="333375"/>
          </a:xfrm>
          <a:prstGeom prst="roundRect">
            <a:avLst>
              <a:gd name="adj" fmla="val 17143"/>
            </a:avLst>
          </a:prstGeom>
          <a:solidFill>
            <a:srgbClr val="D86F42"/>
          </a:solidFill>
          <a:ln w="11430">
            <a:solidFill>
              <a:srgbClr val="D86F42"/>
            </a:solidFill>
            <a:prstDash val="solid"/>
          </a:ln>
        </p:spPr>
        <p:txBody>
          <a:bodyPr wrap="square" lIns="95250" tIns="76200" rIns="95250" bIns="76200" anchor="ctr">
            <a:normAutofit fontScale="92174" lnSpcReduction="10000"/>
          </a:bodyPr>
          <a:lstStyle>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HIGH</a:t>
            </a:r>
          </a:p>
        </p:txBody>
      </p:sp>
      <p:sp>
        <p:nvSpPr>
          <p:cNvPr id="20" name="Rounded Rectangle 19">
            <a:extLst>
              <a:ext uri="{FF2B5EF4-FFF2-40B4-BE49-F238E27FC236}">
                <a16:creationId xmlns:a16="http://schemas.microsoft.com/office/drawing/2014/main" xmlns="" id="{C59B1DAC-FC48-48DF-B779-8ABA61EC1D39}"/>
              </a:ext>
            </a:extLst>
          </p:cNvPr>
          <p:cNvSpPr>
            <a:spLocks noGrp="1"/>
          </p:cNvSpPr>
          <p:nvPr/>
        </p:nvSpPr>
        <p:spPr>
          <a:xfrm>
            <a:off x="6181725" y="3400425"/>
            <a:ext cx="857250" cy="333375"/>
          </a:xfrm>
          <a:prstGeom prst="roundRect">
            <a:avLst>
              <a:gd name="adj" fmla="val 17143"/>
            </a:avLst>
          </a:prstGeom>
          <a:solidFill>
            <a:srgbClr val="B94B4B"/>
          </a:solidFill>
          <a:ln w="11430">
            <a:solidFill>
              <a:srgbClr val="B94B4B"/>
            </a:solidFill>
            <a:prstDash val="solid"/>
          </a:ln>
        </p:spPr>
        <p:txBody>
          <a:bodyPr wrap="square" lIns="95250" tIns="76200" rIns="95250" bIns="76200" anchor="ctr">
            <a:normAutofit fontScale="92174" lnSpcReduction="10000"/>
          </a:bodyPr>
          <a:lstStyle>
            <a:defPPr algn="ctr">
              <a:defRPr sz="1050" b="1">
                <a:solidFill>
                  <a:srgbClr val="FFFFFF"/>
                </a:solidFill>
                <a:latin typeface="Calibri"/>
                <a:ea typeface="Calibri"/>
                <a:cs typeface="Calibri"/>
              </a:defRPr>
            </a:defPPr>
            <a:lvl1pPr algn="ctr">
              <a:buNone/>
              <a:defRPr sz="975" b="1">
                <a:solidFill>
                  <a:srgbClr val="FFFFFF"/>
                </a:solidFill>
                <a:latin typeface="Calibri"/>
                <a:ea typeface="Calibri"/>
                <a:cs typeface="Calibri"/>
              </a:defRPr>
            </a:lvl1pPr>
            <a:lvl2pPr algn="ctr">
              <a:buNone/>
              <a:defRPr sz="975" b="1">
                <a:solidFill>
                  <a:srgbClr val="FFFFFF"/>
                </a:solidFill>
                <a:latin typeface="Calibri"/>
                <a:ea typeface="Calibri"/>
                <a:cs typeface="Calibri"/>
              </a:defRPr>
            </a:lvl2pPr>
            <a:lvl3pPr algn="ctr">
              <a:buNone/>
              <a:defRPr sz="975" b="1">
                <a:solidFill>
                  <a:srgbClr val="FFFFFF"/>
                </a:solidFill>
                <a:latin typeface="Calibri"/>
                <a:ea typeface="Calibri"/>
                <a:cs typeface="Calibri"/>
              </a:defRPr>
            </a:lvl3pPr>
            <a:lvl4pPr algn="ctr">
              <a:buNone/>
              <a:defRPr sz="975" b="1">
                <a:solidFill>
                  <a:srgbClr val="FFFFFF"/>
                </a:solidFill>
                <a:latin typeface="Calibri"/>
                <a:ea typeface="Calibri"/>
                <a:cs typeface="Calibri"/>
              </a:defRPr>
            </a:lvl4pPr>
            <a:lvl5pPr algn="ctr">
              <a:buNone/>
              <a:defRPr sz="975" b="1">
                <a:solidFill>
                  <a:srgbClr val="FFFFFF"/>
                </a:solidFill>
                <a:latin typeface="Calibri"/>
                <a:ea typeface="Calibri"/>
                <a:cs typeface="Calibri"/>
              </a:defRPr>
            </a:lvl5pPr>
            <a:lvl6pPr algn="ctr">
              <a:buNone/>
              <a:defRPr sz="975" b="1">
                <a:solidFill>
                  <a:srgbClr val="FFFFFF"/>
                </a:solidFill>
                <a:latin typeface="Calibri"/>
                <a:ea typeface="Calibri"/>
                <a:cs typeface="Calibri"/>
              </a:defRPr>
            </a:lvl6pPr>
            <a:lvl7pPr algn="ctr">
              <a:buNone/>
              <a:defRPr sz="975" b="1">
                <a:solidFill>
                  <a:srgbClr val="FFFFFF"/>
                </a:solidFill>
                <a:latin typeface="Calibri"/>
                <a:ea typeface="Calibri"/>
                <a:cs typeface="Calibri"/>
              </a:defRPr>
            </a:lvl7pPr>
            <a:lvl8pPr algn="ctr">
              <a:buNone/>
              <a:defRPr sz="975" b="1">
                <a:solidFill>
                  <a:srgbClr val="FFFFFF"/>
                </a:solidFill>
                <a:latin typeface="Calibri"/>
                <a:ea typeface="Calibri"/>
                <a:cs typeface="Calibri"/>
              </a:defRPr>
            </a:lvl8pPr>
            <a:lvl9pPr algn="ctr">
              <a:buNone/>
              <a:defRPr sz="975" b="1">
                <a:solidFill>
                  <a:srgbClr val="FFFFFF"/>
                </a:solidFill>
                <a:latin typeface="Calibri"/>
                <a:ea typeface="Calibri"/>
                <a:cs typeface="Calibri"/>
              </a:defRPr>
            </a:lvl9pPr>
          </a:lstStyle>
          <a:p>
            <a:pPr algn="ctr">
              <a:buNone/>
              <a:defRPr sz="975" b="1">
                <a:solidFill>
                  <a:srgbClr val="FFFFFF"/>
                </a:solidFill>
                <a:latin typeface="Calibri"/>
                <a:ea typeface="Calibri"/>
                <a:cs typeface="Calibri"/>
              </a:defRPr>
            </a:pPr>
            <a:r>
              <a:rPr sz="1050" b="1">
                <a:solidFill>
                  <a:srgbClr val="FFFFFF"/>
                </a:solidFill>
                <a:latin typeface="Calibri"/>
                <a:ea typeface="Calibri"/>
                <a:cs typeface="Calibri"/>
              </a:rPr>
              <a:t>CRITICAL</a:t>
            </a:r>
          </a:p>
        </p:txBody>
      </p:sp>
      <p:sp>
        <p:nvSpPr>
          <p:cNvPr id="21" name="Rectangle 20">
            <a:extLst>
              <a:ext uri="{FF2B5EF4-FFF2-40B4-BE49-F238E27FC236}">
                <a16:creationId xmlns:a16="http://schemas.microsoft.com/office/drawing/2014/main" xmlns="" id="{5D07034D-B205-4236-A0FF-A820B9859699}"/>
              </a:ext>
            </a:extLst>
          </p:cNvPr>
          <p:cNvSpPr>
            <a:spLocks noGrp="1"/>
          </p:cNvSpPr>
          <p:nvPr/>
        </p:nvSpPr>
        <p:spPr>
          <a:xfrm>
            <a:off x="971550" y="4105275"/>
            <a:ext cx="5553075" cy="304800"/>
          </a:xfrm>
          <a:prstGeom prst="rect">
            <a:avLst/>
          </a:prstGeom>
          <a:noFill/>
          <a:ln w="0">
            <a:noFill/>
            <a:prstDash val="solid"/>
          </a:ln>
        </p:spPr>
        <p:txBody>
          <a:bodyPr wrap="square" lIns="0" tIns="0" rIns="0" bIns="0" anchor="ctr">
            <a:normAutofit/>
          </a:bodyPr>
          <a:lstStyle>
            <a:defPPr algn="ctr">
              <a:defRPr sz="1350" b="1" i="0">
                <a:solidFill>
                  <a:srgbClr val="B8404A"/>
                </a:solidFill>
                <a:latin typeface="Calibri"/>
                <a:ea typeface="Calibri"/>
                <a:cs typeface="Calibri"/>
              </a:defRPr>
            </a:defPPr>
            <a:lvl1pPr algn="ctr">
              <a:buNone/>
              <a:defRPr sz="1425" b="1" i="0">
                <a:solidFill>
                  <a:srgbClr val="B94B4B"/>
                </a:solidFill>
                <a:latin typeface="Calibri"/>
                <a:ea typeface="Calibri"/>
                <a:cs typeface="Calibri"/>
              </a:defRPr>
            </a:lvl1pPr>
            <a:lvl2pPr algn="ctr">
              <a:buNone/>
              <a:defRPr sz="1425" b="1" i="0">
                <a:solidFill>
                  <a:srgbClr val="B94B4B"/>
                </a:solidFill>
                <a:latin typeface="Calibri"/>
                <a:ea typeface="Calibri"/>
                <a:cs typeface="Calibri"/>
              </a:defRPr>
            </a:lvl2pPr>
            <a:lvl3pPr algn="ctr">
              <a:buNone/>
              <a:defRPr sz="1425" b="1" i="0">
                <a:solidFill>
                  <a:srgbClr val="B94B4B"/>
                </a:solidFill>
                <a:latin typeface="Calibri"/>
                <a:ea typeface="Calibri"/>
                <a:cs typeface="Calibri"/>
              </a:defRPr>
            </a:lvl3pPr>
            <a:lvl4pPr algn="ctr">
              <a:buNone/>
              <a:defRPr sz="1425" b="1" i="0">
                <a:solidFill>
                  <a:srgbClr val="B94B4B"/>
                </a:solidFill>
                <a:latin typeface="Calibri"/>
                <a:ea typeface="Calibri"/>
                <a:cs typeface="Calibri"/>
              </a:defRPr>
            </a:lvl4pPr>
            <a:lvl5pPr algn="ctr">
              <a:buNone/>
              <a:defRPr sz="1425" b="1" i="0">
                <a:solidFill>
                  <a:srgbClr val="B94B4B"/>
                </a:solidFill>
                <a:latin typeface="Calibri"/>
                <a:ea typeface="Calibri"/>
                <a:cs typeface="Calibri"/>
              </a:defRPr>
            </a:lvl5pPr>
            <a:lvl6pPr algn="ctr">
              <a:buNone/>
              <a:defRPr sz="1425" b="1" i="0">
                <a:solidFill>
                  <a:srgbClr val="B94B4B"/>
                </a:solidFill>
                <a:latin typeface="Calibri"/>
                <a:ea typeface="Calibri"/>
                <a:cs typeface="Calibri"/>
              </a:defRPr>
            </a:lvl6pPr>
            <a:lvl7pPr algn="ctr">
              <a:buNone/>
              <a:defRPr sz="1425" b="1" i="0">
                <a:solidFill>
                  <a:srgbClr val="B94B4B"/>
                </a:solidFill>
                <a:latin typeface="Calibri"/>
                <a:ea typeface="Calibri"/>
                <a:cs typeface="Calibri"/>
              </a:defRPr>
            </a:lvl7pPr>
            <a:lvl8pPr algn="ctr">
              <a:buNone/>
              <a:defRPr sz="1425" b="1" i="0">
                <a:solidFill>
                  <a:srgbClr val="B94B4B"/>
                </a:solidFill>
                <a:latin typeface="Calibri"/>
                <a:ea typeface="Calibri"/>
                <a:cs typeface="Calibri"/>
              </a:defRPr>
            </a:lvl8pPr>
            <a:lvl9pPr algn="ctr">
              <a:buNone/>
              <a:defRPr sz="1425" b="1" i="0">
                <a:solidFill>
                  <a:srgbClr val="B94B4B"/>
                </a:solidFill>
                <a:latin typeface="Calibri"/>
                <a:ea typeface="Calibri"/>
                <a:cs typeface="Calibri"/>
              </a:defRPr>
            </a:lvl9pPr>
          </a:lstStyle>
          <a:p>
            <a:pPr algn="ctr">
              <a:lnSpc>
                <a:spcPct val="108000"/>
              </a:lnSpc>
              <a:buNone/>
              <a:defRPr sz="1425" b="1" i="0">
                <a:solidFill>
                  <a:srgbClr val="B94B4B"/>
                </a:solidFill>
                <a:latin typeface="Calibri"/>
                <a:ea typeface="Calibri"/>
                <a:cs typeface="Calibri"/>
              </a:defRPr>
            </a:pPr>
            <a:r>
              <a:rPr sz="1350" b="1" i="0">
                <a:solidFill>
                  <a:srgbClr val="B8404A"/>
                </a:solidFill>
                <a:latin typeface="Calibri"/>
                <a:ea typeface="Calibri"/>
                <a:cs typeface="Calibri"/>
              </a:rPr>
              <a:t>A rule score is not a clinically validated event probability.</a:t>
            </a:r>
          </a:p>
        </p:txBody>
      </p:sp>
    </p:spTree>
    <p:extLst>
      <p:ext uri="{BB962C8B-B14F-4D97-AF65-F5344CB8AC3E}">
        <p14:creationId xmlns:p14="http://schemas.microsoft.com/office/powerpoint/2010/main" val="6731065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31" name="Shared deck background" descr="Shared CardioTwin theme background">
            <a:extLst>
              <a:ext uri="{FF2B5EF4-FFF2-40B4-BE49-F238E27FC236}">
                <a16:creationId xmlns:a16="http://schemas.microsoft.com/office/drawing/2014/main" xmlns="" id="{AB9EA1AE-0768-4013-99B1-A824EEB2F0DE}"/>
              </a:ext>
            </a:extLst>
          </p:cNvPr>
          <p:cNvPicPr>
            <a:picLocks noChangeAspect="1"/>
          </p:cNvPicPr>
          <p:nvPr/>
        </p:nvPicPr>
        <p:blipFill>
          <a:blip r:embed="rId3"/>
          <a:srcRect t="1932" b="1932"/>
          <a:stretch>
            <a:fillRect/>
          </a:stretch>
        </p:blipFill>
        <p:spPr>
          <a:xfrm>
            <a:off x="0" y="0"/>
            <a:ext cx="7477125" cy="5391150"/>
          </a:xfrm>
          <a:prstGeom prst="rect">
            <a:avLst/>
          </a:prstGeom>
        </p:spPr>
      </p:pic>
      <p:pic>
        <p:nvPicPr>
          <p:cNvPr id="30" name="User supplied tech stack image" descr="Tech Stack and Connections diagram supplied by the user"/>
          <p:cNvPicPr/>
          <p:nvPr/>
        </p:nvPicPr>
        <p:blipFill>
          <a:blip r:embed="rId4"/>
          <a:stretch>
            <a:fillRect/>
          </a:stretch>
        </p:blipFill>
        <p:spPr>
          <a:xfrm>
            <a:off x="1356191" y="0"/>
            <a:ext cx="4764742" cy="5391150"/>
          </a:xfrm>
          <a:prstGeom prst="rect">
            <a:avLst/>
          </a:prstGeom>
        </p:spPr>
      </p:pic>
    </p:spTree>
    <p:extLst>
      <p:ext uri="{BB962C8B-B14F-4D97-AF65-F5344CB8AC3E}">
        <p14:creationId xmlns:p14="http://schemas.microsoft.com/office/powerpoint/2010/main" val="6378451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xmlns="" id="{88FF98B8-AD26-4517-BB4A-2BA2C57AD20E}"/>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15" name="Rounded Rectangle 14">
            <a:extLst>
              <a:ext uri="{FF2B5EF4-FFF2-40B4-BE49-F238E27FC236}">
                <a16:creationId xmlns:a16="http://schemas.microsoft.com/office/drawing/2014/main" xmlns="" id="{9D897124-6B8E-4CC0-9A21-C0CABC2B4540}"/>
              </a:ext>
            </a:extLst>
          </p:cNvPr>
          <p:cNvSpPr>
            <a:spLocks noGrp="1"/>
          </p:cNvSpPr>
          <p:nvPr/>
        </p:nvSpPr>
        <p:spPr>
          <a:xfrm>
            <a:off x="361950" y="1381125"/>
            <a:ext cx="3257550" cy="2333625"/>
          </a:xfrm>
          <a:prstGeom prst="roundRect">
            <a:avLst>
              <a:gd name="adj" fmla="val 6122"/>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16" name="Rounded Rectangle 15">
            <a:extLst>
              <a:ext uri="{FF2B5EF4-FFF2-40B4-BE49-F238E27FC236}">
                <a16:creationId xmlns:a16="http://schemas.microsoft.com/office/drawing/2014/main" xmlns="" id="{25FC2AE5-46AD-40F7-9561-154E5DDBC3D0}"/>
              </a:ext>
            </a:extLst>
          </p:cNvPr>
          <p:cNvSpPr>
            <a:spLocks noGrp="1"/>
          </p:cNvSpPr>
          <p:nvPr/>
        </p:nvSpPr>
        <p:spPr>
          <a:xfrm>
            <a:off x="361950" y="1400175"/>
            <a:ext cx="47625" cy="2295525"/>
          </a:xfrm>
          <a:prstGeom prst="roundRect">
            <a:avLst>
              <a:gd name="adj" fmla="val 50000"/>
            </a:avLst>
          </a:prstGeom>
          <a:solidFill>
            <a:srgbClr val="168F89"/>
          </a:solidFill>
          <a:ln w="0">
            <a:noFill/>
            <a:prstDash val="solid"/>
          </a:ln>
        </p:spPr>
      </p:sp>
      <p:sp>
        <p:nvSpPr>
          <p:cNvPr id="17" name="Rounded Rectangle 16">
            <a:extLst>
              <a:ext uri="{FF2B5EF4-FFF2-40B4-BE49-F238E27FC236}">
                <a16:creationId xmlns:a16="http://schemas.microsoft.com/office/drawing/2014/main" xmlns="" id="{7B4FF9CC-2C82-49BC-B11F-8DB33D13B109}"/>
              </a:ext>
            </a:extLst>
          </p:cNvPr>
          <p:cNvSpPr>
            <a:spLocks noGrp="1"/>
          </p:cNvSpPr>
          <p:nvPr/>
        </p:nvSpPr>
        <p:spPr>
          <a:xfrm>
            <a:off x="3829050" y="1381125"/>
            <a:ext cx="3286125" cy="2333625"/>
          </a:xfrm>
          <a:prstGeom prst="roundRect">
            <a:avLst>
              <a:gd name="adj" fmla="val 6122"/>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18" name="Rounded Rectangle 17">
            <a:extLst>
              <a:ext uri="{FF2B5EF4-FFF2-40B4-BE49-F238E27FC236}">
                <a16:creationId xmlns:a16="http://schemas.microsoft.com/office/drawing/2014/main" xmlns="" id="{95269C15-7DB7-4453-90A4-92652A8735AA}"/>
              </a:ext>
            </a:extLst>
          </p:cNvPr>
          <p:cNvSpPr>
            <a:spLocks noGrp="1"/>
          </p:cNvSpPr>
          <p:nvPr/>
        </p:nvSpPr>
        <p:spPr>
          <a:xfrm>
            <a:off x="3829050" y="1400175"/>
            <a:ext cx="47625" cy="2295525"/>
          </a:xfrm>
          <a:prstGeom prst="roundRect">
            <a:avLst>
              <a:gd name="adj" fmla="val 50000"/>
            </a:avLst>
          </a:prstGeom>
          <a:solidFill>
            <a:srgbClr val="C78A26"/>
          </a:solidFill>
          <a:ln w="0">
            <a:noFill/>
            <a:prstDash val="solid"/>
          </a:ln>
        </p:spPr>
      </p:sp>
      <p:sp>
        <p:nvSpPr>
          <p:cNvPr id="19" name="Rounded Rectangle 18">
            <a:extLst>
              <a:ext uri="{FF2B5EF4-FFF2-40B4-BE49-F238E27FC236}">
                <a16:creationId xmlns:a16="http://schemas.microsoft.com/office/drawing/2014/main" xmlns="" id="{D8FEE5E5-5F47-4F35-B5B4-AAD5A4FACC92}"/>
              </a:ext>
            </a:extLst>
          </p:cNvPr>
          <p:cNvSpPr>
            <a:spLocks noGrp="1"/>
          </p:cNvSpPr>
          <p:nvPr/>
        </p:nvSpPr>
        <p:spPr>
          <a:xfrm>
            <a:off x="714375" y="3943350"/>
            <a:ext cx="6076950" cy="647700"/>
          </a:xfrm>
          <a:prstGeom prst="roundRect">
            <a:avLst>
              <a:gd name="adj" fmla="val 22059"/>
            </a:avLst>
          </a:prstGeom>
          <a:solidFill>
            <a:srgbClr val="FFF0ED"/>
          </a:solidFill>
          <a:ln w="9525">
            <a:solidFill>
              <a:srgbClr val="F1C6BC"/>
            </a:solidFill>
            <a:prstDash val="solid"/>
          </a:ln>
        </p:spPr>
      </p:sp>
      <p:sp>
        <p:nvSpPr>
          <p:cNvPr id="20" name="Rounded Rectangle 19">
            <a:extLst>
              <a:ext uri="{FF2B5EF4-FFF2-40B4-BE49-F238E27FC236}">
                <a16:creationId xmlns:a16="http://schemas.microsoft.com/office/drawing/2014/main" xmlns="" id="{9B0F97BC-04AE-417E-9FAC-FA4F5FD7931A}"/>
              </a:ext>
            </a:extLst>
          </p:cNvPr>
          <p:cNvSpPr>
            <a:spLocks noGrp="1"/>
          </p:cNvSpPr>
          <p:nvPr/>
        </p:nvSpPr>
        <p:spPr>
          <a:xfrm>
            <a:off x="714375" y="3943350"/>
            <a:ext cx="57150" cy="647700"/>
          </a:xfrm>
          <a:prstGeom prst="roundRect">
            <a:avLst>
              <a:gd name="adj" fmla="val 50000"/>
            </a:avLst>
          </a:prstGeom>
          <a:solidFill>
            <a:srgbClr val="D86E52"/>
          </a:solidFill>
          <a:ln w="0">
            <a:noFill/>
            <a:prstDash val="solid"/>
          </a:ln>
        </p:spPr>
      </p:sp>
      <p:sp>
        <p:nvSpPr>
          <p:cNvPr id="13" name="Rectangle 12">
            <a:extLst>
              <a:ext uri="{FF2B5EF4-FFF2-40B4-BE49-F238E27FC236}">
                <a16:creationId xmlns:a16="http://schemas.microsoft.com/office/drawing/2014/main" xmlns="" id="{00462F96-89C9-4FFE-80FF-872190535A0B}"/>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The ML trainer is separate from the live API</a:t>
            </a:r>
          </a:p>
        </p:txBody>
      </p:sp>
      <p:sp>
        <p:nvSpPr>
          <p:cNvPr id="2" name="Straight Connector 1">
            <a:extLst>
              <a:ext uri="{FF2B5EF4-FFF2-40B4-BE49-F238E27FC236}">
                <a16:creationId xmlns:a16="http://schemas.microsoft.com/office/drawing/2014/main" xmlns="" id="{B01DB060-2379-4732-BDDD-D608DE908BF8}"/>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BED530C4-DFCF-43E7-95BC-3515581919F0}"/>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This distinction matters when describing model capability and validation.</a:t>
            </a:r>
          </a:p>
        </p:txBody>
      </p:sp>
      <p:sp>
        <p:nvSpPr>
          <p:cNvPr id="4" name="Straight Connector 3">
            <a:extLst>
              <a:ext uri="{FF2B5EF4-FFF2-40B4-BE49-F238E27FC236}">
                <a16:creationId xmlns:a16="http://schemas.microsoft.com/office/drawing/2014/main" xmlns="" id="{1536D76E-CEE6-48CD-9179-B7FA718DD884}"/>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412C3F19-176A-4082-88C2-29648149350D}"/>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F8F81D1E-F208-4DEE-A5AB-0482B4E15F5B}"/>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07</a:t>
            </a:r>
          </a:p>
        </p:txBody>
      </p:sp>
      <p:sp>
        <p:nvSpPr>
          <p:cNvPr id="7" name="Rectangle 6">
            <a:extLst>
              <a:ext uri="{FF2B5EF4-FFF2-40B4-BE49-F238E27FC236}">
                <a16:creationId xmlns:a16="http://schemas.microsoft.com/office/drawing/2014/main" xmlns="" id="{486FBCC4-D365-4CCF-BD0B-C4A37E89EB4F}"/>
              </a:ext>
            </a:extLst>
          </p:cNvPr>
          <p:cNvSpPr>
            <a:spLocks noGrp="1"/>
          </p:cNvSpPr>
          <p:nvPr/>
        </p:nvSpPr>
        <p:spPr>
          <a:xfrm>
            <a:off x="533400" y="1438275"/>
            <a:ext cx="2857500" cy="247650"/>
          </a:xfrm>
          <a:prstGeom prst="rect">
            <a:avLst/>
          </a:prstGeom>
          <a:noFill/>
          <a:ln w="0">
            <a:noFill/>
            <a:prstDash val="solid"/>
          </a:ln>
        </p:spPr>
        <p:txBody>
          <a:bodyPr wrap="square" lIns="0" tIns="0" rIns="0" bIns="0" anchor="t">
            <a:normAutofit/>
          </a:bodyPr>
          <a:lstStyle>
            <a:defPPr algn="l">
              <a:defRPr sz="1125" b="1" i="0">
                <a:solidFill>
                  <a:srgbClr val="087E83"/>
                </a:solidFill>
                <a:latin typeface="Calibri"/>
                <a:ea typeface="Calibri"/>
                <a:cs typeface="Calibri"/>
              </a:defRPr>
            </a:defPPr>
            <a:lvl1pPr algn="l">
              <a:buNone/>
              <a:defRPr sz="1050" b="1" i="0">
                <a:solidFill>
                  <a:srgbClr val="0D6F73"/>
                </a:solidFill>
                <a:latin typeface="Calibri"/>
                <a:ea typeface="Calibri"/>
                <a:cs typeface="Calibri"/>
              </a:defRPr>
            </a:lvl1pPr>
            <a:lvl2pPr algn="l">
              <a:buNone/>
              <a:defRPr sz="1050" b="1" i="0">
                <a:solidFill>
                  <a:srgbClr val="0D6F73"/>
                </a:solidFill>
                <a:latin typeface="Calibri"/>
                <a:ea typeface="Calibri"/>
                <a:cs typeface="Calibri"/>
              </a:defRPr>
            </a:lvl2pPr>
            <a:lvl3pPr algn="l">
              <a:buNone/>
              <a:defRPr sz="1050" b="1" i="0">
                <a:solidFill>
                  <a:srgbClr val="0D6F73"/>
                </a:solidFill>
                <a:latin typeface="Calibri"/>
                <a:ea typeface="Calibri"/>
                <a:cs typeface="Calibri"/>
              </a:defRPr>
            </a:lvl3pPr>
            <a:lvl4pPr algn="l">
              <a:buNone/>
              <a:defRPr sz="1050" b="1" i="0">
                <a:solidFill>
                  <a:srgbClr val="0D6F73"/>
                </a:solidFill>
                <a:latin typeface="Calibri"/>
                <a:ea typeface="Calibri"/>
                <a:cs typeface="Calibri"/>
              </a:defRPr>
            </a:lvl4pPr>
            <a:lvl5pPr algn="l">
              <a:buNone/>
              <a:defRPr sz="1050" b="1" i="0">
                <a:solidFill>
                  <a:srgbClr val="0D6F73"/>
                </a:solidFill>
                <a:latin typeface="Calibri"/>
                <a:ea typeface="Calibri"/>
                <a:cs typeface="Calibri"/>
              </a:defRPr>
            </a:lvl5pPr>
            <a:lvl6pPr algn="l">
              <a:buNone/>
              <a:defRPr sz="1050" b="1" i="0">
                <a:solidFill>
                  <a:srgbClr val="0D6F73"/>
                </a:solidFill>
                <a:latin typeface="Calibri"/>
                <a:ea typeface="Calibri"/>
                <a:cs typeface="Calibri"/>
              </a:defRPr>
            </a:lvl6pPr>
            <a:lvl7pPr algn="l">
              <a:buNone/>
              <a:defRPr sz="1050" b="1" i="0">
                <a:solidFill>
                  <a:srgbClr val="0D6F73"/>
                </a:solidFill>
                <a:latin typeface="Calibri"/>
                <a:ea typeface="Calibri"/>
                <a:cs typeface="Calibri"/>
              </a:defRPr>
            </a:lvl7pPr>
            <a:lvl8pPr algn="l">
              <a:buNone/>
              <a:defRPr sz="1050" b="1" i="0">
                <a:solidFill>
                  <a:srgbClr val="0D6F73"/>
                </a:solidFill>
                <a:latin typeface="Calibri"/>
                <a:ea typeface="Calibri"/>
                <a:cs typeface="Calibri"/>
              </a:defRPr>
            </a:lvl8pPr>
            <a:lvl9pPr algn="l">
              <a:buNone/>
              <a:defRPr sz="1050" b="1" i="0">
                <a:solidFill>
                  <a:srgbClr val="0D6F73"/>
                </a:solidFill>
                <a:latin typeface="Calibri"/>
                <a:ea typeface="Calibri"/>
                <a:cs typeface="Calibri"/>
              </a:defRPr>
            </a:lvl9pPr>
          </a:lstStyle>
          <a:p>
            <a:pPr algn="l">
              <a:lnSpc>
                <a:spcPct val="108000"/>
              </a:lnSpc>
              <a:buNone/>
              <a:defRPr sz="1050" b="1" i="0">
                <a:solidFill>
                  <a:srgbClr val="0D6F73"/>
                </a:solidFill>
                <a:latin typeface="Calibri"/>
                <a:ea typeface="Calibri"/>
                <a:cs typeface="Calibri"/>
              </a:defRPr>
            </a:pPr>
            <a:r>
              <a:rPr sz="1125" b="1" i="0">
                <a:solidFill>
                  <a:srgbClr val="087E83"/>
                </a:solidFill>
                <a:latin typeface="Calibri"/>
                <a:ea typeface="Calibri"/>
                <a:cs typeface="Calibri"/>
              </a:rPr>
              <a:t>LIVE API PATH</a:t>
            </a:r>
          </a:p>
        </p:txBody>
      </p:sp>
      <p:sp>
        <p:nvSpPr>
          <p:cNvPr id="8" name="Rectangle 7">
            <a:extLst>
              <a:ext uri="{FF2B5EF4-FFF2-40B4-BE49-F238E27FC236}">
                <a16:creationId xmlns:a16="http://schemas.microsoft.com/office/drawing/2014/main" xmlns="" id="{A7FF200C-5646-46FF-BC5E-D32F0AB36316}"/>
              </a:ext>
            </a:extLst>
          </p:cNvPr>
          <p:cNvSpPr>
            <a:spLocks noGrp="1"/>
          </p:cNvSpPr>
          <p:nvPr/>
        </p:nvSpPr>
        <p:spPr>
          <a:xfrm>
            <a:off x="533400" y="1828800"/>
            <a:ext cx="2838450" cy="1447800"/>
          </a:xfrm>
          <a:prstGeom prst="rect">
            <a:avLst/>
          </a:prstGeom>
          <a:noFill/>
          <a:ln w="0">
            <a:noFill/>
            <a:prstDash val="solid"/>
          </a:ln>
        </p:spPr>
        <p:txBody>
          <a:bodyPr wrap="square" lIns="0" tIns="0" rIns="0" bIns="0" anchor="t">
            <a:normAutofit/>
          </a:bodyPr>
          <a:lstStyle>
            <a:defPPr algn="l">
              <a:defRPr sz="1350" b="0" i="0">
                <a:solidFill>
                  <a:srgbClr val="234D59"/>
                </a:solidFill>
                <a:latin typeface="Calibri"/>
                <a:ea typeface="Calibri"/>
                <a:cs typeface="Calibri"/>
              </a:defRPr>
            </a:defPPr>
            <a:lvl1pPr algn="l">
              <a:buNone/>
              <a:defRPr sz="1350" b="0" i="0">
                <a:solidFill>
                  <a:srgbClr val="263C45"/>
                </a:solidFill>
                <a:latin typeface="Calibri"/>
                <a:ea typeface="Calibri"/>
                <a:cs typeface="Calibri"/>
              </a:defRPr>
            </a:lvl1pPr>
            <a:lvl2pPr algn="l">
              <a:buNone/>
              <a:defRPr sz="1350" b="0" i="0">
                <a:solidFill>
                  <a:srgbClr val="263C45"/>
                </a:solidFill>
                <a:latin typeface="Calibri"/>
                <a:ea typeface="Calibri"/>
                <a:cs typeface="Calibri"/>
              </a:defRPr>
            </a:lvl2pPr>
            <a:lvl3pPr algn="l">
              <a:buNone/>
              <a:defRPr sz="1350" b="0" i="0">
                <a:solidFill>
                  <a:srgbClr val="263C45"/>
                </a:solidFill>
                <a:latin typeface="Calibri"/>
                <a:ea typeface="Calibri"/>
                <a:cs typeface="Calibri"/>
              </a:defRPr>
            </a:lvl3pPr>
            <a:lvl4pPr algn="l">
              <a:buNone/>
              <a:defRPr sz="1350" b="0" i="0">
                <a:solidFill>
                  <a:srgbClr val="263C45"/>
                </a:solidFill>
                <a:latin typeface="Calibri"/>
                <a:ea typeface="Calibri"/>
                <a:cs typeface="Calibri"/>
              </a:defRPr>
            </a:lvl4pPr>
            <a:lvl5pPr algn="l">
              <a:buNone/>
              <a:defRPr sz="1350" b="0" i="0">
                <a:solidFill>
                  <a:srgbClr val="263C45"/>
                </a:solidFill>
                <a:latin typeface="Calibri"/>
                <a:ea typeface="Calibri"/>
                <a:cs typeface="Calibri"/>
              </a:defRPr>
            </a:lvl5pPr>
            <a:lvl6pPr algn="l">
              <a:buNone/>
              <a:defRPr sz="1350" b="0" i="0">
                <a:solidFill>
                  <a:srgbClr val="263C45"/>
                </a:solidFill>
                <a:latin typeface="Calibri"/>
                <a:ea typeface="Calibri"/>
                <a:cs typeface="Calibri"/>
              </a:defRPr>
            </a:lvl6pPr>
            <a:lvl7pPr algn="l">
              <a:buNone/>
              <a:defRPr sz="1350" b="0" i="0">
                <a:solidFill>
                  <a:srgbClr val="263C45"/>
                </a:solidFill>
                <a:latin typeface="Calibri"/>
                <a:ea typeface="Calibri"/>
                <a:cs typeface="Calibri"/>
              </a:defRPr>
            </a:lvl7pPr>
            <a:lvl8pPr algn="l">
              <a:buNone/>
              <a:defRPr sz="1350" b="0" i="0">
                <a:solidFill>
                  <a:srgbClr val="263C45"/>
                </a:solidFill>
                <a:latin typeface="Calibri"/>
                <a:ea typeface="Calibri"/>
                <a:cs typeface="Calibri"/>
              </a:defRPr>
            </a:lvl8pPr>
            <a:lvl9pPr algn="l">
              <a:buNone/>
              <a:defRPr sz="1350" b="0" i="0">
                <a:solidFill>
                  <a:srgbClr val="263C45"/>
                </a:solidFill>
                <a:latin typeface="Calibri"/>
                <a:ea typeface="Calibri"/>
                <a:cs typeface="Calibri"/>
              </a:defRPr>
            </a:lvl9pPr>
          </a:lstStyle>
          <a:p>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Banded risk points</a:t>
            </a:r>
          </a:p>
          <a:p>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Heart-rate / ECG labels</a:t>
            </a:r>
          </a:p>
          <a:p>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Blood-pressure trend thresholds</a:t>
            </a:r>
          </a:p>
          <a:p>
            <a:pPr algn="l">
              <a:lnSpc>
                <a:spcPct val="120000"/>
              </a:lnSpc>
              <a:buNone/>
              <a:defRPr sz="1350" b="0" i="0">
                <a:solidFill>
                  <a:srgbClr val="263C45"/>
                </a:solidFill>
                <a:latin typeface="Calibri"/>
                <a:ea typeface="Calibri"/>
                <a:cs typeface="Calibri"/>
              </a:defRPr>
            </a:pPr>
            <a:r>
              <a:rPr sz="1350" b="0" i="0">
                <a:solidFill>
                  <a:srgbClr val="234D59"/>
                </a:solidFill>
                <a:latin typeface="Calibri"/>
                <a:ea typeface="Calibri"/>
                <a:cs typeface="Calibri"/>
              </a:rPr>
              <a:t>Immediate vital-sign alert rules</a:t>
            </a:r>
          </a:p>
        </p:txBody>
      </p:sp>
      <p:sp>
        <p:nvSpPr>
          <p:cNvPr id="9" name="Straight Connector 8">
            <a:extLst>
              <a:ext uri="{FF2B5EF4-FFF2-40B4-BE49-F238E27FC236}">
                <a16:creationId xmlns:a16="http://schemas.microsoft.com/office/drawing/2014/main" xmlns="" id="{56E23DA9-E368-4995-8256-A45C4947BD83}"/>
              </a:ext>
            </a:extLst>
          </p:cNvPr>
          <p:cNvSpPr>
            <a:spLocks noGrp="1"/>
          </p:cNvSpPr>
          <p:nvPr/>
        </p:nvSpPr>
        <p:spPr>
          <a:xfrm>
            <a:off x="3733800" y="1447800"/>
            <a:ext cx="4763" cy="2466975"/>
          </a:xfrm>
          <a:prstGeom prst="line">
            <a:avLst/>
          </a:prstGeom>
          <a:noFill/>
          <a:ln w="11430">
            <a:solidFill>
              <a:srgbClr val="C7D8D8"/>
            </a:solidFill>
            <a:prstDash val="solid"/>
          </a:ln>
        </p:spPr>
      </p:sp>
      <p:sp>
        <p:nvSpPr>
          <p:cNvPr id="10" name="Rectangle 9">
            <a:extLst>
              <a:ext uri="{FF2B5EF4-FFF2-40B4-BE49-F238E27FC236}">
                <a16:creationId xmlns:a16="http://schemas.microsoft.com/office/drawing/2014/main" xmlns="" id="{F7D8D3C3-401A-4219-AF72-CC5C545B2FA7}"/>
              </a:ext>
            </a:extLst>
          </p:cNvPr>
          <p:cNvSpPr>
            <a:spLocks noGrp="1"/>
          </p:cNvSpPr>
          <p:nvPr/>
        </p:nvSpPr>
        <p:spPr>
          <a:xfrm>
            <a:off x="4057650" y="1438275"/>
            <a:ext cx="2952750" cy="247650"/>
          </a:xfrm>
          <a:prstGeom prst="rect">
            <a:avLst/>
          </a:prstGeom>
          <a:noFill/>
          <a:ln w="0">
            <a:noFill/>
            <a:prstDash val="solid"/>
          </a:ln>
        </p:spPr>
        <p:txBody>
          <a:bodyPr wrap="square" lIns="0" tIns="0" rIns="0" bIns="0" anchor="t">
            <a:normAutofit/>
          </a:bodyPr>
          <a:lstStyle>
            <a:defPPr algn="l">
              <a:defRPr sz="1125" b="1" i="0">
                <a:solidFill>
                  <a:srgbClr val="BD7B25"/>
                </a:solidFill>
                <a:latin typeface="Calibri"/>
                <a:ea typeface="Calibri"/>
                <a:cs typeface="Calibri"/>
              </a:defRPr>
            </a:defPPr>
            <a:lvl1pPr algn="l">
              <a:buNone/>
              <a:defRPr sz="1050" b="1" i="0">
                <a:solidFill>
                  <a:srgbClr val="0D6F73"/>
                </a:solidFill>
                <a:latin typeface="Calibri"/>
                <a:ea typeface="Calibri"/>
                <a:cs typeface="Calibri"/>
              </a:defRPr>
            </a:lvl1pPr>
            <a:lvl2pPr algn="l">
              <a:buNone/>
              <a:defRPr sz="1050" b="1" i="0">
                <a:solidFill>
                  <a:srgbClr val="0D6F73"/>
                </a:solidFill>
                <a:latin typeface="Calibri"/>
                <a:ea typeface="Calibri"/>
                <a:cs typeface="Calibri"/>
              </a:defRPr>
            </a:lvl2pPr>
            <a:lvl3pPr algn="l">
              <a:buNone/>
              <a:defRPr sz="1050" b="1" i="0">
                <a:solidFill>
                  <a:srgbClr val="0D6F73"/>
                </a:solidFill>
                <a:latin typeface="Calibri"/>
                <a:ea typeface="Calibri"/>
                <a:cs typeface="Calibri"/>
              </a:defRPr>
            </a:lvl3pPr>
            <a:lvl4pPr algn="l">
              <a:buNone/>
              <a:defRPr sz="1050" b="1" i="0">
                <a:solidFill>
                  <a:srgbClr val="0D6F73"/>
                </a:solidFill>
                <a:latin typeface="Calibri"/>
                <a:ea typeface="Calibri"/>
                <a:cs typeface="Calibri"/>
              </a:defRPr>
            </a:lvl4pPr>
            <a:lvl5pPr algn="l">
              <a:buNone/>
              <a:defRPr sz="1050" b="1" i="0">
                <a:solidFill>
                  <a:srgbClr val="0D6F73"/>
                </a:solidFill>
                <a:latin typeface="Calibri"/>
                <a:ea typeface="Calibri"/>
                <a:cs typeface="Calibri"/>
              </a:defRPr>
            </a:lvl5pPr>
            <a:lvl6pPr algn="l">
              <a:buNone/>
              <a:defRPr sz="1050" b="1" i="0">
                <a:solidFill>
                  <a:srgbClr val="0D6F73"/>
                </a:solidFill>
                <a:latin typeface="Calibri"/>
                <a:ea typeface="Calibri"/>
                <a:cs typeface="Calibri"/>
              </a:defRPr>
            </a:lvl6pPr>
            <a:lvl7pPr algn="l">
              <a:buNone/>
              <a:defRPr sz="1050" b="1" i="0">
                <a:solidFill>
                  <a:srgbClr val="0D6F73"/>
                </a:solidFill>
                <a:latin typeface="Calibri"/>
                <a:ea typeface="Calibri"/>
                <a:cs typeface="Calibri"/>
              </a:defRPr>
            </a:lvl7pPr>
            <a:lvl8pPr algn="l">
              <a:buNone/>
              <a:defRPr sz="1050" b="1" i="0">
                <a:solidFill>
                  <a:srgbClr val="0D6F73"/>
                </a:solidFill>
                <a:latin typeface="Calibri"/>
                <a:ea typeface="Calibri"/>
                <a:cs typeface="Calibri"/>
              </a:defRPr>
            </a:lvl8pPr>
            <a:lvl9pPr algn="l">
              <a:buNone/>
              <a:defRPr sz="1050" b="1" i="0">
                <a:solidFill>
                  <a:srgbClr val="0D6F73"/>
                </a:solidFill>
                <a:latin typeface="Calibri"/>
                <a:ea typeface="Calibri"/>
                <a:cs typeface="Calibri"/>
              </a:defRPr>
            </a:lvl9pPr>
          </a:lstStyle>
          <a:p>
            <a:pPr algn="l">
              <a:lnSpc>
                <a:spcPct val="108000"/>
              </a:lnSpc>
              <a:buNone/>
              <a:defRPr sz="1050" b="1" i="0">
                <a:solidFill>
                  <a:srgbClr val="0D6F73"/>
                </a:solidFill>
                <a:latin typeface="Calibri"/>
                <a:ea typeface="Calibri"/>
                <a:cs typeface="Calibri"/>
              </a:defRPr>
            </a:pPr>
            <a:r>
              <a:rPr sz="1125" b="1" i="0">
                <a:solidFill>
                  <a:srgbClr val="BD7B25"/>
                </a:solidFill>
                <a:latin typeface="Calibri"/>
                <a:ea typeface="Calibri"/>
                <a:cs typeface="Calibri"/>
              </a:rPr>
              <a:t>OPTIONAL TRAINING UTILITIES</a:t>
            </a:r>
          </a:p>
        </p:txBody>
      </p:sp>
      <p:sp>
        <p:nvSpPr>
          <p:cNvPr id="11" name="Rectangle 10">
            <a:extLst>
              <a:ext uri="{FF2B5EF4-FFF2-40B4-BE49-F238E27FC236}">
                <a16:creationId xmlns:a16="http://schemas.microsoft.com/office/drawing/2014/main" xmlns="" id="{20699F9F-EB45-4FEE-A779-CE980584E744}"/>
              </a:ext>
            </a:extLst>
          </p:cNvPr>
          <p:cNvSpPr>
            <a:spLocks noGrp="1"/>
          </p:cNvSpPr>
          <p:nvPr/>
        </p:nvSpPr>
        <p:spPr>
          <a:xfrm>
            <a:off x="4057650" y="1828800"/>
            <a:ext cx="2924175" cy="1533525"/>
          </a:xfrm>
          <a:prstGeom prst="rect">
            <a:avLst/>
          </a:prstGeom>
          <a:noFill/>
          <a:ln w="0">
            <a:noFill/>
            <a:prstDash val="solid"/>
          </a:ln>
        </p:spPr>
        <p:txBody>
          <a:bodyPr wrap="square" lIns="0" tIns="0" rIns="0" bIns="0" anchor="t">
            <a:normAutofit/>
          </a:bodyPr>
          <a:lstStyle>
            <a:defPPr algn="l">
              <a:defRPr sz="1238" b="0" i="0">
                <a:solidFill>
                  <a:srgbClr val="425E67"/>
                </a:solidFill>
                <a:latin typeface="Calibri"/>
                <a:ea typeface="Calibri"/>
                <a:cs typeface="Calibri"/>
              </a:defRPr>
            </a:defPPr>
            <a:lvl1pPr algn="l">
              <a:buNone/>
              <a:defRPr sz="1275" b="0" i="0">
                <a:solidFill>
                  <a:srgbClr val="263C45"/>
                </a:solidFill>
                <a:latin typeface="Calibri"/>
                <a:ea typeface="Calibri"/>
                <a:cs typeface="Calibri"/>
              </a:defRPr>
            </a:lvl1pPr>
            <a:lvl2pPr algn="l">
              <a:buNone/>
              <a:defRPr sz="1275" b="0" i="0">
                <a:solidFill>
                  <a:srgbClr val="263C45"/>
                </a:solidFill>
                <a:latin typeface="Calibri"/>
                <a:ea typeface="Calibri"/>
                <a:cs typeface="Calibri"/>
              </a:defRPr>
            </a:lvl2pPr>
            <a:lvl3pPr algn="l">
              <a:buNone/>
              <a:defRPr sz="1275" b="0" i="0">
                <a:solidFill>
                  <a:srgbClr val="263C45"/>
                </a:solidFill>
                <a:latin typeface="Calibri"/>
                <a:ea typeface="Calibri"/>
                <a:cs typeface="Calibri"/>
              </a:defRPr>
            </a:lvl3pPr>
            <a:lvl4pPr algn="l">
              <a:buNone/>
              <a:defRPr sz="1275" b="0" i="0">
                <a:solidFill>
                  <a:srgbClr val="263C45"/>
                </a:solidFill>
                <a:latin typeface="Calibri"/>
                <a:ea typeface="Calibri"/>
                <a:cs typeface="Calibri"/>
              </a:defRPr>
            </a:lvl4pPr>
            <a:lvl5pPr algn="l">
              <a:buNone/>
              <a:defRPr sz="1275" b="0" i="0">
                <a:solidFill>
                  <a:srgbClr val="263C45"/>
                </a:solidFill>
                <a:latin typeface="Calibri"/>
                <a:ea typeface="Calibri"/>
                <a:cs typeface="Calibri"/>
              </a:defRPr>
            </a:lvl5pPr>
            <a:lvl6pPr algn="l">
              <a:buNone/>
              <a:defRPr sz="1275" b="0" i="0">
                <a:solidFill>
                  <a:srgbClr val="263C45"/>
                </a:solidFill>
                <a:latin typeface="Calibri"/>
                <a:ea typeface="Calibri"/>
                <a:cs typeface="Calibri"/>
              </a:defRPr>
            </a:lvl6pPr>
            <a:lvl7pPr algn="l">
              <a:buNone/>
              <a:defRPr sz="1275" b="0" i="0">
                <a:solidFill>
                  <a:srgbClr val="263C45"/>
                </a:solidFill>
                <a:latin typeface="Calibri"/>
                <a:ea typeface="Calibri"/>
                <a:cs typeface="Calibri"/>
              </a:defRPr>
            </a:lvl7pPr>
            <a:lvl8pPr algn="l">
              <a:buNone/>
              <a:defRPr sz="1275" b="0" i="0">
                <a:solidFill>
                  <a:srgbClr val="263C45"/>
                </a:solidFill>
                <a:latin typeface="Calibri"/>
                <a:ea typeface="Calibri"/>
                <a:cs typeface="Calibri"/>
              </a:defRPr>
            </a:lvl8pPr>
            <a:lvl9pPr algn="l">
              <a:buNone/>
              <a:defRPr sz="1275" b="0" i="0">
                <a:solidFill>
                  <a:srgbClr val="263C45"/>
                </a:solidFill>
                <a:latin typeface="Calibri"/>
                <a:ea typeface="Calibri"/>
                <a:cs typeface="Calibri"/>
              </a:defRPr>
            </a:lvl9pPr>
          </a:lstStyle>
          <a:p>
            <a:pPr algn="l">
              <a:lnSpc>
                <a:spcPct val="116000"/>
              </a:lnSpc>
              <a:buNone/>
              <a:defRPr sz="1275" b="0" i="0">
                <a:solidFill>
                  <a:srgbClr val="263C45"/>
                </a:solidFill>
                <a:latin typeface="Calibri"/>
                <a:ea typeface="Calibri"/>
                <a:cs typeface="Calibri"/>
              </a:defRPr>
            </a:pPr>
            <a:r>
              <a:rPr sz="1238" b="0" i="0">
                <a:solidFill>
                  <a:srgbClr val="425E67"/>
                </a:solidFill>
                <a:latin typeface="Calibri"/>
                <a:ea typeface="Calibri"/>
                <a:cs typeface="Calibri"/>
              </a:rPr>
              <a:t>Gradient Boosting is trained by a separate utility on generated patient labels. The labels are derived from simplified score / condition rules; the service does not load this model in its active prediction path.</a:t>
            </a:r>
          </a:p>
        </p:txBody>
      </p:sp>
      <p:sp>
        <p:nvSpPr>
          <p:cNvPr id="12" name="Rounded Rectangle 11">
            <a:extLst>
              <a:ext uri="{FF2B5EF4-FFF2-40B4-BE49-F238E27FC236}">
                <a16:creationId xmlns:a16="http://schemas.microsoft.com/office/drawing/2014/main" xmlns="" id="{BE9E6CEA-8D44-4082-B1B1-2E5B2F1B2D96}"/>
              </a:ext>
            </a:extLst>
          </p:cNvPr>
          <p:cNvSpPr>
            <a:spLocks noGrp="1"/>
          </p:cNvSpPr>
          <p:nvPr/>
        </p:nvSpPr>
        <p:spPr>
          <a:xfrm>
            <a:off x="762000" y="4057650"/>
            <a:ext cx="5953125" cy="523875"/>
          </a:xfrm>
          <a:prstGeom prst="roundRect">
            <a:avLst>
              <a:gd name="adj" fmla="val 14545"/>
            </a:avLst>
          </a:prstGeom>
          <a:solidFill>
            <a:srgbClr val="F7EDE2"/>
          </a:solidFill>
          <a:ln w="11430">
            <a:solidFill>
              <a:srgbClr val="E7C9A8"/>
            </a:solidFill>
            <a:prstDash val="solid"/>
          </a:ln>
        </p:spPr>
        <p:txBody>
          <a:bodyPr wrap="square" lIns="95250" tIns="76200" rIns="95250" bIns="76200" anchor="ctr">
            <a:normAutofit fontScale="95844"/>
          </a:bodyPr>
          <a:lstStyle>
            <a:defPPr algn="ctr">
              <a:defRPr sz="1275" b="1">
                <a:solidFill>
                  <a:srgbClr val="B8404A"/>
                </a:solidFill>
                <a:latin typeface="Calibri"/>
                <a:ea typeface="Calibri"/>
                <a:cs typeface="Calibri"/>
              </a:defRPr>
            </a:defPPr>
            <a:lvl1pPr algn="ctr">
              <a:buNone/>
              <a:defRPr sz="1275" b="1">
                <a:solidFill>
                  <a:srgbClr val="70491E"/>
                </a:solidFill>
                <a:latin typeface="Calibri"/>
                <a:ea typeface="Calibri"/>
                <a:cs typeface="Calibri"/>
              </a:defRPr>
            </a:lvl1pPr>
            <a:lvl2pPr algn="ctr">
              <a:buNone/>
              <a:defRPr sz="1275" b="1">
                <a:solidFill>
                  <a:srgbClr val="70491E"/>
                </a:solidFill>
                <a:latin typeface="Calibri"/>
                <a:ea typeface="Calibri"/>
                <a:cs typeface="Calibri"/>
              </a:defRPr>
            </a:lvl2pPr>
            <a:lvl3pPr algn="ctr">
              <a:buNone/>
              <a:defRPr sz="1275" b="1">
                <a:solidFill>
                  <a:srgbClr val="70491E"/>
                </a:solidFill>
                <a:latin typeface="Calibri"/>
                <a:ea typeface="Calibri"/>
                <a:cs typeface="Calibri"/>
              </a:defRPr>
            </a:lvl3pPr>
            <a:lvl4pPr algn="ctr">
              <a:buNone/>
              <a:defRPr sz="1275" b="1">
                <a:solidFill>
                  <a:srgbClr val="70491E"/>
                </a:solidFill>
                <a:latin typeface="Calibri"/>
                <a:ea typeface="Calibri"/>
                <a:cs typeface="Calibri"/>
              </a:defRPr>
            </a:lvl4pPr>
            <a:lvl5pPr algn="ctr">
              <a:buNone/>
              <a:defRPr sz="1275" b="1">
                <a:solidFill>
                  <a:srgbClr val="70491E"/>
                </a:solidFill>
                <a:latin typeface="Calibri"/>
                <a:ea typeface="Calibri"/>
                <a:cs typeface="Calibri"/>
              </a:defRPr>
            </a:lvl5pPr>
            <a:lvl6pPr algn="ctr">
              <a:buNone/>
              <a:defRPr sz="1275" b="1">
                <a:solidFill>
                  <a:srgbClr val="70491E"/>
                </a:solidFill>
                <a:latin typeface="Calibri"/>
                <a:ea typeface="Calibri"/>
                <a:cs typeface="Calibri"/>
              </a:defRPr>
            </a:lvl6pPr>
            <a:lvl7pPr algn="ctr">
              <a:buNone/>
              <a:defRPr sz="1275" b="1">
                <a:solidFill>
                  <a:srgbClr val="70491E"/>
                </a:solidFill>
                <a:latin typeface="Calibri"/>
                <a:ea typeface="Calibri"/>
                <a:cs typeface="Calibri"/>
              </a:defRPr>
            </a:lvl7pPr>
            <a:lvl8pPr algn="ctr">
              <a:buNone/>
              <a:defRPr sz="1275" b="1">
                <a:solidFill>
                  <a:srgbClr val="70491E"/>
                </a:solidFill>
                <a:latin typeface="Calibri"/>
                <a:ea typeface="Calibri"/>
                <a:cs typeface="Calibri"/>
              </a:defRPr>
            </a:lvl8pPr>
            <a:lvl9pPr algn="ctr">
              <a:buNone/>
              <a:defRPr sz="1275" b="1">
                <a:solidFill>
                  <a:srgbClr val="70491E"/>
                </a:solidFill>
                <a:latin typeface="Calibri"/>
                <a:ea typeface="Calibri"/>
                <a:cs typeface="Calibri"/>
              </a:defRPr>
            </a:lvl9pPr>
          </a:lstStyle>
          <a:p>
            <a:pPr algn="ctr">
              <a:buNone/>
              <a:defRPr sz="1275" b="1">
                <a:solidFill>
                  <a:srgbClr val="70491E"/>
                </a:solidFill>
                <a:latin typeface="Calibri"/>
                <a:ea typeface="Calibri"/>
                <a:cs typeface="Calibri"/>
              </a:defRPr>
            </a:pPr>
            <a:r>
              <a:rPr sz="1275" b="1">
                <a:solidFill>
                  <a:srgbClr val="B8404A"/>
                </a:solidFill>
                <a:latin typeface="Calibri"/>
                <a:ea typeface="Calibri"/>
                <a:cs typeface="Calibri"/>
              </a:rPr>
              <a:t>Synthetic labels + no independent clinical validation = demo logic, not medical prediction</a:t>
            </a:r>
          </a:p>
        </p:txBody>
      </p:sp>
    </p:spTree>
    <p:extLst>
      <p:ext uri="{BB962C8B-B14F-4D97-AF65-F5344CB8AC3E}">
        <p14:creationId xmlns:p14="http://schemas.microsoft.com/office/powerpoint/2010/main" val="670384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xmlns="" id="{55840141-FC9E-4D5B-AB2B-076AA8F157E0}"/>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18" name="Oval 17">
            <a:extLst>
              <a:ext uri="{FF2B5EF4-FFF2-40B4-BE49-F238E27FC236}">
                <a16:creationId xmlns:a16="http://schemas.microsoft.com/office/drawing/2014/main" xmlns="" id="{0B8BFD69-D5AA-4E36-9AFF-4352DC55D1F4}"/>
              </a:ext>
            </a:extLst>
          </p:cNvPr>
          <p:cNvSpPr>
            <a:spLocks noGrp="1"/>
          </p:cNvSpPr>
          <p:nvPr/>
        </p:nvSpPr>
        <p:spPr>
          <a:xfrm>
            <a:off x="561975" y="1495425"/>
            <a:ext cx="342900" cy="342900"/>
          </a:xfrm>
          <a:prstGeom prst="ellipse">
            <a:avLst/>
          </a:prstGeom>
          <a:solidFill>
            <a:srgbClr val="168F89"/>
          </a:solidFill>
          <a:ln w="9525">
            <a:solidFill>
              <a:srgbClr val="000000"/>
            </a:solidFill>
            <a:prstDash val="solid"/>
          </a:ln>
        </p:spPr>
        <p:txBody>
          <a:bodyPr lIns="0" tIns="0" rIns="0" bIns="0"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1</a:t>
            </a:r>
          </a:p>
        </p:txBody>
      </p:sp>
      <p:sp>
        <p:nvSpPr>
          <p:cNvPr id="19" name="Right Arrow 18">
            <a:extLst>
              <a:ext uri="{FF2B5EF4-FFF2-40B4-BE49-F238E27FC236}">
                <a16:creationId xmlns:a16="http://schemas.microsoft.com/office/drawing/2014/main" xmlns="" id="{7D5CFCBD-2C13-41B9-8EDC-44074D3A7512}"/>
              </a:ext>
            </a:extLst>
          </p:cNvPr>
          <p:cNvSpPr>
            <a:spLocks noGrp="1"/>
          </p:cNvSpPr>
          <p:nvPr/>
        </p:nvSpPr>
        <p:spPr>
          <a:xfrm>
            <a:off x="1866900" y="2009775"/>
            <a:ext cx="314325" cy="171450"/>
          </a:xfrm>
          <a:prstGeom prst="rightArrow">
            <a:avLst/>
          </a:prstGeom>
          <a:solidFill>
            <a:srgbClr val="168F89"/>
          </a:solidFill>
          <a:ln w="0">
            <a:noFill/>
            <a:prstDash val="solid"/>
          </a:ln>
        </p:spPr>
      </p:sp>
      <p:sp>
        <p:nvSpPr>
          <p:cNvPr id="20" name="Oval 19">
            <a:extLst>
              <a:ext uri="{FF2B5EF4-FFF2-40B4-BE49-F238E27FC236}">
                <a16:creationId xmlns:a16="http://schemas.microsoft.com/office/drawing/2014/main" xmlns="" id="{589C95BA-9324-4D2D-A2EC-5B8C0364D9A4}"/>
              </a:ext>
            </a:extLst>
          </p:cNvPr>
          <p:cNvSpPr>
            <a:spLocks noGrp="1"/>
          </p:cNvSpPr>
          <p:nvPr/>
        </p:nvSpPr>
        <p:spPr>
          <a:xfrm>
            <a:off x="2286000" y="1495425"/>
            <a:ext cx="342900" cy="342900"/>
          </a:xfrm>
          <a:prstGeom prst="ellipse">
            <a:avLst/>
          </a:prstGeom>
          <a:solidFill>
            <a:srgbClr val="1598B7"/>
          </a:solidFill>
          <a:ln w="9525">
            <a:solidFill>
              <a:srgbClr val="000000"/>
            </a:solidFill>
            <a:prstDash val="solid"/>
          </a:ln>
        </p:spPr>
        <p:txBody>
          <a:bodyPr lIns="0" tIns="0" rIns="0" bIns="0"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2</a:t>
            </a:r>
          </a:p>
        </p:txBody>
      </p:sp>
      <p:sp>
        <p:nvSpPr>
          <p:cNvPr id="21" name="Right Arrow 20">
            <a:extLst>
              <a:ext uri="{FF2B5EF4-FFF2-40B4-BE49-F238E27FC236}">
                <a16:creationId xmlns:a16="http://schemas.microsoft.com/office/drawing/2014/main" xmlns="" id="{2BE87281-9829-4DF0-846D-50C0E0720B56}"/>
              </a:ext>
            </a:extLst>
          </p:cNvPr>
          <p:cNvSpPr>
            <a:spLocks noGrp="1"/>
          </p:cNvSpPr>
          <p:nvPr/>
        </p:nvSpPr>
        <p:spPr>
          <a:xfrm>
            <a:off x="3590925" y="2009775"/>
            <a:ext cx="314325" cy="171450"/>
          </a:xfrm>
          <a:prstGeom prst="rightArrow">
            <a:avLst/>
          </a:prstGeom>
          <a:solidFill>
            <a:srgbClr val="1598B7"/>
          </a:solidFill>
          <a:ln w="0">
            <a:noFill/>
            <a:prstDash val="solid"/>
          </a:ln>
        </p:spPr>
      </p:sp>
      <p:sp>
        <p:nvSpPr>
          <p:cNvPr id="22" name="Oval 21">
            <a:extLst>
              <a:ext uri="{FF2B5EF4-FFF2-40B4-BE49-F238E27FC236}">
                <a16:creationId xmlns:a16="http://schemas.microsoft.com/office/drawing/2014/main" xmlns="" id="{320E9481-57C0-4C44-B3B2-B5214F432CCD}"/>
              </a:ext>
            </a:extLst>
          </p:cNvPr>
          <p:cNvSpPr>
            <a:spLocks noGrp="1"/>
          </p:cNvSpPr>
          <p:nvPr/>
        </p:nvSpPr>
        <p:spPr>
          <a:xfrm>
            <a:off x="4076700" y="1495425"/>
            <a:ext cx="342900" cy="342900"/>
          </a:xfrm>
          <a:prstGeom prst="ellipse">
            <a:avLst/>
          </a:prstGeom>
          <a:solidFill>
            <a:srgbClr val="845FB5"/>
          </a:solidFill>
          <a:ln w="9525">
            <a:solidFill>
              <a:srgbClr val="000000"/>
            </a:solidFill>
            <a:prstDash val="solid"/>
          </a:ln>
        </p:spPr>
        <p:txBody>
          <a:bodyPr lIns="0" tIns="0" rIns="0" bIns="0"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3</a:t>
            </a:r>
          </a:p>
        </p:txBody>
      </p:sp>
      <p:sp>
        <p:nvSpPr>
          <p:cNvPr id="23" name="Right Arrow 22">
            <a:extLst>
              <a:ext uri="{FF2B5EF4-FFF2-40B4-BE49-F238E27FC236}">
                <a16:creationId xmlns:a16="http://schemas.microsoft.com/office/drawing/2014/main" xmlns="" id="{9A651B18-3B62-4BCB-8677-2342EC767DE0}"/>
              </a:ext>
            </a:extLst>
          </p:cNvPr>
          <p:cNvSpPr>
            <a:spLocks noGrp="1"/>
          </p:cNvSpPr>
          <p:nvPr/>
        </p:nvSpPr>
        <p:spPr>
          <a:xfrm>
            <a:off x="5381625" y="2009775"/>
            <a:ext cx="314325" cy="171450"/>
          </a:xfrm>
          <a:prstGeom prst="rightArrow">
            <a:avLst/>
          </a:prstGeom>
          <a:solidFill>
            <a:srgbClr val="845FB5"/>
          </a:solidFill>
          <a:ln w="0">
            <a:noFill/>
            <a:prstDash val="solid"/>
          </a:ln>
        </p:spPr>
      </p:sp>
      <p:sp>
        <p:nvSpPr>
          <p:cNvPr id="24" name="Oval 23">
            <a:extLst>
              <a:ext uri="{FF2B5EF4-FFF2-40B4-BE49-F238E27FC236}">
                <a16:creationId xmlns:a16="http://schemas.microsoft.com/office/drawing/2014/main" xmlns="" id="{6546C1CB-8388-4D44-B996-2B9FC5DE8CB8}"/>
              </a:ext>
            </a:extLst>
          </p:cNvPr>
          <p:cNvSpPr>
            <a:spLocks noGrp="1"/>
          </p:cNvSpPr>
          <p:nvPr/>
        </p:nvSpPr>
        <p:spPr>
          <a:xfrm>
            <a:off x="5895975" y="1495425"/>
            <a:ext cx="342900" cy="342900"/>
          </a:xfrm>
          <a:prstGeom prst="ellipse">
            <a:avLst/>
          </a:prstGeom>
          <a:solidFill>
            <a:srgbClr val="D86E52"/>
          </a:solidFill>
          <a:ln w="9525">
            <a:solidFill>
              <a:srgbClr val="000000"/>
            </a:solidFill>
            <a:prstDash val="solid"/>
          </a:ln>
        </p:spPr>
        <p:txBody>
          <a:bodyPr lIns="0" tIns="0" rIns="0" bIns="0" anchor="ctr"/>
          <a:lstStyle>
            <a:defPPr algn="ctr">
              <a:defRPr sz="975" b="1">
                <a:solidFill>
                  <a:srgbClr val="FFFFFF"/>
                </a:solidFill>
              </a:defRPr>
            </a:defPPr>
            <a:lvl1pPr algn="ctr">
              <a:buNone/>
              <a:defRPr sz="975" b="1">
                <a:solidFill>
                  <a:srgbClr val="FFFFFF"/>
                </a:solidFill>
              </a:defRPr>
            </a:lvl1pPr>
            <a:lvl2pPr algn="ctr">
              <a:buNone/>
              <a:defRPr sz="975" b="1">
                <a:solidFill>
                  <a:srgbClr val="FFFFFF"/>
                </a:solidFill>
              </a:defRPr>
            </a:lvl2pPr>
            <a:lvl3pPr algn="ctr">
              <a:buNone/>
              <a:defRPr sz="975" b="1">
                <a:solidFill>
                  <a:srgbClr val="FFFFFF"/>
                </a:solidFill>
              </a:defRPr>
            </a:lvl3pPr>
            <a:lvl4pPr algn="ctr">
              <a:buNone/>
              <a:defRPr sz="975" b="1">
                <a:solidFill>
                  <a:srgbClr val="FFFFFF"/>
                </a:solidFill>
              </a:defRPr>
            </a:lvl4pPr>
            <a:lvl5pPr algn="ctr">
              <a:buNone/>
              <a:defRPr sz="975" b="1">
                <a:solidFill>
                  <a:srgbClr val="FFFFFF"/>
                </a:solidFill>
              </a:defRPr>
            </a:lvl5pPr>
            <a:lvl6pPr algn="ctr">
              <a:buNone/>
              <a:defRPr sz="975" b="1">
                <a:solidFill>
                  <a:srgbClr val="FFFFFF"/>
                </a:solidFill>
              </a:defRPr>
            </a:lvl6pPr>
            <a:lvl7pPr algn="ctr">
              <a:buNone/>
              <a:defRPr sz="975" b="1">
                <a:solidFill>
                  <a:srgbClr val="FFFFFF"/>
                </a:solidFill>
              </a:defRPr>
            </a:lvl7pPr>
            <a:lvl8pPr algn="ctr">
              <a:buNone/>
              <a:defRPr sz="975" b="1">
                <a:solidFill>
                  <a:srgbClr val="FFFFFF"/>
                </a:solidFill>
              </a:defRPr>
            </a:lvl8pPr>
            <a:lvl9pPr algn="ctr">
              <a:buNone/>
              <a:defRPr sz="975" b="1">
                <a:solidFill>
                  <a:srgbClr val="FFFFFF"/>
                </a:solidFill>
              </a:defRPr>
            </a:lvl9pPr>
          </a:lstStyle>
          <a:p>
            <a:pPr algn="ctr">
              <a:buNone/>
              <a:defRPr sz="975" b="1">
                <a:solidFill>
                  <a:srgbClr val="FFFFFF"/>
                </a:solidFill>
              </a:defRPr>
            </a:pPr>
            <a:r>
              <a:rPr sz="975" b="1">
                <a:solidFill>
                  <a:srgbClr val="FFFFFF"/>
                </a:solidFill>
              </a:rPr>
              <a:t>4</a:t>
            </a:r>
          </a:p>
        </p:txBody>
      </p:sp>
      <p:sp>
        <p:nvSpPr>
          <p:cNvPr id="25" name="Rounded Rectangle 24">
            <a:extLst>
              <a:ext uri="{FF2B5EF4-FFF2-40B4-BE49-F238E27FC236}">
                <a16:creationId xmlns:a16="http://schemas.microsoft.com/office/drawing/2014/main" xmlns="" id="{494DB2BC-7B60-4474-A7BD-7F653F4C4321}"/>
              </a:ext>
            </a:extLst>
          </p:cNvPr>
          <p:cNvSpPr>
            <a:spLocks noGrp="1"/>
          </p:cNvSpPr>
          <p:nvPr/>
        </p:nvSpPr>
        <p:spPr>
          <a:xfrm>
            <a:off x="428625" y="3114675"/>
            <a:ext cx="6619875" cy="1438275"/>
          </a:xfrm>
          <a:prstGeom prst="roundRect">
            <a:avLst>
              <a:gd name="adj" fmla="val 9934"/>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26" name="Rounded Rectangle 25">
            <a:extLst>
              <a:ext uri="{FF2B5EF4-FFF2-40B4-BE49-F238E27FC236}">
                <a16:creationId xmlns:a16="http://schemas.microsoft.com/office/drawing/2014/main" xmlns="" id="{37591A33-2173-44B0-9B3C-8BD9FE580555}"/>
              </a:ext>
            </a:extLst>
          </p:cNvPr>
          <p:cNvSpPr>
            <a:spLocks noGrp="1"/>
          </p:cNvSpPr>
          <p:nvPr/>
        </p:nvSpPr>
        <p:spPr>
          <a:xfrm>
            <a:off x="428625" y="3133725"/>
            <a:ext cx="47625" cy="1400175"/>
          </a:xfrm>
          <a:prstGeom prst="roundRect">
            <a:avLst>
              <a:gd name="adj" fmla="val 50000"/>
            </a:avLst>
          </a:prstGeom>
          <a:solidFill>
            <a:srgbClr val="168F89"/>
          </a:solidFill>
          <a:ln w="0">
            <a:noFill/>
            <a:prstDash val="solid"/>
          </a:ln>
        </p:spPr>
      </p:sp>
      <p:cxnSp>
        <p:nvCxnSpPr>
          <p:cNvPr id="13" name="Straight Arrow Connector 12">
            <a:extLst>
              <a:ext uri="{FF2B5EF4-FFF2-40B4-BE49-F238E27FC236}">
                <a16:creationId xmlns:a16="http://schemas.microsoft.com/office/drawing/2014/main" xmlns="" id="{53DDB10F-A6A6-4518-A392-08895D7055F4}"/>
              </a:ext>
            </a:extLst>
          </p:cNvPr>
          <p:cNvCxnSpPr>
            <a:stCxn id="9" idx="3"/>
            <a:endCxn id="10" idx="1"/>
          </p:cNvCxnSpPr>
          <p:nvPr/>
        </p:nvCxnSpPr>
        <p:spPr>
          <a:xfrm>
            <a:off x="5448300" y="2290763"/>
            <a:ext cx="371475" cy="0"/>
          </a:xfrm>
          <a:prstGeom prst="straightConnector1">
            <a:avLst/>
          </a:prstGeom>
          <a:ln w="19050">
            <a:solidFill>
              <a:srgbClr val="248F8A"/>
            </a:solidFill>
            <a:prstDash val="solid"/>
          </a:ln>
        </p:spPr>
      </p:cxnSp>
      <p:cxnSp>
        <p:nvCxnSpPr>
          <p:cNvPr id="12" name="Straight Arrow Connector 11">
            <a:extLst>
              <a:ext uri="{FF2B5EF4-FFF2-40B4-BE49-F238E27FC236}">
                <a16:creationId xmlns:a16="http://schemas.microsoft.com/office/drawing/2014/main" xmlns="" id="{056EC90C-7BF1-4E3C-8384-428C2F898892}"/>
              </a:ext>
            </a:extLst>
          </p:cNvPr>
          <p:cNvCxnSpPr>
            <a:stCxn id="8" idx="3"/>
            <a:endCxn id="9" idx="1"/>
          </p:cNvCxnSpPr>
          <p:nvPr/>
        </p:nvCxnSpPr>
        <p:spPr>
          <a:xfrm>
            <a:off x="3657600" y="2290763"/>
            <a:ext cx="342900" cy="0"/>
          </a:xfrm>
          <a:prstGeom prst="straightConnector1">
            <a:avLst/>
          </a:prstGeom>
          <a:ln w="19050">
            <a:solidFill>
              <a:srgbClr val="248F8A"/>
            </a:solidFill>
            <a:prstDash val="solid"/>
          </a:ln>
        </p:spPr>
      </p:cxnSp>
      <p:cxnSp>
        <p:nvCxnSpPr>
          <p:cNvPr id="11" name="Straight Arrow Connector 10">
            <a:extLst>
              <a:ext uri="{FF2B5EF4-FFF2-40B4-BE49-F238E27FC236}">
                <a16:creationId xmlns:a16="http://schemas.microsoft.com/office/drawing/2014/main" xmlns="" id="{4D32B612-44CA-4845-B948-4A3EBCF90662}"/>
              </a:ext>
            </a:extLst>
          </p:cNvPr>
          <p:cNvCxnSpPr>
            <a:stCxn id="7" idx="3"/>
            <a:endCxn id="8" idx="1"/>
          </p:cNvCxnSpPr>
          <p:nvPr/>
        </p:nvCxnSpPr>
        <p:spPr>
          <a:xfrm>
            <a:off x="1857375" y="2290763"/>
            <a:ext cx="352425" cy="0"/>
          </a:xfrm>
          <a:prstGeom prst="straightConnector1">
            <a:avLst/>
          </a:prstGeom>
          <a:ln w="19050">
            <a:solidFill>
              <a:srgbClr val="248F8A"/>
            </a:solidFill>
            <a:prstDash val="solid"/>
          </a:ln>
        </p:spPr>
      </p:cxnSp>
      <p:sp>
        <p:nvSpPr>
          <p:cNvPr id="16" name="Rectangle 15">
            <a:extLst>
              <a:ext uri="{FF2B5EF4-FFF2-40B4-BE49-F238E27FC236}">
                <a16:creationId xmlns:a16="http://schemas.microsoft.com/office/drawing/2014/main" xmlns="" id="{62258555-8D28-4F91-B12F-2F4A06478C3C}"/>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fontScale="97705"/>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Streaming moves readings through one review loop</a:t>
            </a:r>
          </a:p>
        </p:txBody>
      </p:sp>
      <p:sp>
        <p:nvSpPr>
          <p:cNvPr id="2" name="Straight Connector 1">
            <a:extLst>
              <a:ext uri="{FF2B5EF4-FFF2-40B4-BE49-F238E27FC236}">
                <a16:creationId xmlns:a16="http://schemas.microsoft.com/office/drawing/2014/main" xmlns="" id="{BDBFF12F-11A1-4B8B-B1E5-5ED05743E591}"/>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271ED0B7-322E-4596-B913-359D7050CFE1}"/>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REST and WebSocket paths both support demo telemetry ingestion.</a:t>
            </a:r>
          </a:p>
        </p:txBody>
      </p:sp>
      <p:sp>
        <p:nvSpPr>
          <p:cNvPr id="4" name="Straight Connector 3">
            <a:extLst>
              <a:ext uri="{FF2B5EF4-FFF2-40B4-BE49-F238E27FC236}">
                <a16:creationId xmlns:a16="http://schemas.microsoft.com/office/drawing/2014/main" xmlns="" id="{34784D3E-1F70-4CF6-929E-7278BF704E32}"/>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09504DC5-EACB-4E81-BA59-5B350EB50F45}"/>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9C4D19EC-CC8D-45DC-8FA6-0C332BBEB562}"/>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08</a:t>
            </a:r>
          </a:p>
        </p:txBody>
      </p:sp>
      <p:sp>
        <p:nvSpPr>
          <p:cNvPr id="7" name="Rounded Rectangle 6">
            <a:extLst>
              <a:ext uri="{FF2B5EF4-FFF2-40B4-BE49-F238E27FC236}">
                <a16:creationId xmlns:a16="http://schemas.microsoft.com/office/drawing/2014/main" xmlns="" id="{39DB790F-B1B6-4322-9EDC-B29B982F508F}"/>
              </a:ext>
            </a:extLst>
          </p:cNvPr>
          <p:cNvSpPr>
            <a:spLocks noGrp="1"/>
          </p:cNvSpPr>
          <p:nvPr/>
        </p:nvSpPr>
        <p:spPr>
          <a:xfrm>
            <a:off x="476250" y="1895475"/>
            <a:ext cx="1381125" cy="790575"/>
          </a:xfrm>
          <a:prstGeom prst="roundRect">
            <a:avLst>
              <a:gd name="adj" fmla="val 9639"/>
            </a:avLst>
          </a:prstGeom>
          <a:solidFill>
            <a:srgbClr val="E7F1F5"/>
          </a:solidFill>
          <a:ln w="11430">
            <a:solidFill>
              <a:srgbClr val="C0D5DD"/>
            </a:solidFill>
            <a:prstDash val="solid"/>
          </a:ln>
        </p:spPr>
        <p:txBody>
          <a:bodyPr wrap="square" lIns="95250" tIns="76200" rIns="95250" bIns="76200" anchor="ctr">
            <a:normAutofit/>
          </a:bodyPr>
          <a:lstStyle>
            <a:defPPr algn="ctr">
              <a:defRPr sz="1238" b="1">
                <a:solidFill>
                  <a:srgbClr val="168F89"/>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a:pPr algn="ctr">
              <a:buNone/>
              <a:defRPr sz="1125" b="1">
                <a:solidFill>
                  <a:srgbClr val="263C45"/>
                </a:solidFill>
                <a:latin typeface="Calibri"/>
                <a:ea typeface="Calibri"/>
                <a:cs typeface="Calibri"/>
              </a:defRPr>
            </a:pPr>
            <a:r>
              <a:rPr sz="1238" b="1">
                <a:solidFill>
                  <a:srgbClr val="168F89"/>
                </a:solidFill>
                <a:latin typeface="Calibri"/>
                <a:ea typeface="Calibri"/>
                <a:cs typeface="Calibri"/>
              </a:rPr>
              <a:t>1  ·  Send</a:t>
            </a:r>
          </a:p>
          <a:p>
            <a:pPr algn="ctr">
              <a:buNone/>
              <a:defRPr sz="1125" b="1">
                <a:solidFill>
                  <a:srgbClr val="263C45"/>
                </a:solidFill>
                <a:latin typeface="Calibri"/>
                <a:ea typeface="Calibri"/>
                <a:cs typeface="Calibri"/>
              </a:defRPr>
            </a:pPr>
            <a:r>
              <a:rPr sz="1238" b="1">
                <a:solidFill>
                  <a:srgbClr val="168F89"/>
                </a:solidFill>
                <a:latin typeface="Calibri"/>
                <a:ea typeface="Calibri"/>
                <a:cs typeface="Calibri"/>
              </a:rPr>
              <a:t>POST vital or WS event</a:t>
            </a:r>
          </a:p>
        </p:txBody>
      </p:sp>
      <p:sp>
        <p:nvSpPr>
          <p:cNvPr id="8" name="Rounded Rectangle 7">
            <a:extLst>
              <a:ext uri="{FF2B5EF4-FFF2-40B4-BE49-F238E27FC236}">
                <a16:creationId xmlns:a16="http://schemas.microsoft.com/office/drawing/2014/main" xmlns="" id="{029AFC15-E330-4829-8BBB-E9C54F5CFB06}"/>
              </a:ext>
            </a:extLst>
          </p:cNvPr>
          <p:cNvSpPr>
            <a:spLocks noGrp="1"/>
          </p:cNvSpPr>
          <p:nvPr/>
        </p:nvSpPr>
        <p:spPr>
          <a:xfrm>
            <a:off x="2209800" y="1895475"/>
            <a:ext cx="1447800" cy="790575"/>
          </a:xfrm>
          <a:prstGeom prst="roundRect">
            <a:avLst>
              <a:gd name="adj" fmla="val 9639"/>
            </a:avLst>
          </a:prstGeom>
          <a:solidFill>
            <a:srgbClr val="E6F3EF"/>
          </a:solidFill>
          <a:ln w="11430">
            <a:solidFill>
              <a:srgbClr val="C2DCD2"/>
            </a:solidFill>
            <a:prstDash val="solid"/>
          </a:ln>
        </p:spPr>
        <p:txBody>
          <a:bodyPr wrap="square" lIns="95250" tIns="76200" rIns="95250" bIns="76200" anchor="ctr">
            <a:normAutofit/>
          </a:bodyPr>
          <a:lstStyle>
            <a:defPPr algn="ctr">
              <a:defRPr sz="1238" b="1">
                <a:solidFill>
                  <a:srgbClr val="2997AE"/>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a:pPr algn="ctr">
              <a:buNone/>
              <a:defRPr sz="1125" b="1">
                <a:solidFill>
                  <a:srgbClr val="263C45"/>
                </a:solidFill>
                <a:latin typeface="Calibri"/>
                <a:ea typeface="Calibri"/>
                <a:cs typeface="Calibri"/>
              </a:defRPr>
            </a:pPr>
            <a:r>
              <a:rPr sz="1238" b="1">
                <a:solidFill>
                  <a:srgbClr val="2997AE"/>
                </a:solidFill>
                <a:latin typeface="Calibri"/>
                <a:ea typeface="Calibri"/>
                <a:cs typeface="Calibri"/>
              </a:rPr>
              <a:t>2  ·  Store</a:t>
            </a:r>
          </a:p>
          <a:p>
            <a:pPr algn="ctr">
              <a:buNone/>
              <a:defRPr sz="1125" b="1">
                <a:solidFill>
                  <a:srgbClr val="263C45"/>
                </a:solidFill>
                <a:latin typeface="Calibri"/>
                <a:ea typeface="Calibri"/>
                <a:cs typeface="Calibri"/>
              </a:defRPr>
            </a:pPr>
            <a:r>
              <a:rPr sz="1238" b="1">
                <a:solidFill>
                  <a:srgbClr val="2997AE"/>
                </a:solidFill>
                <a:latin typeface="Calibri"/>
                <a:ea typeface="Calibri"/>
                <a:cs typeface="Calibri"/>
              </a:rPr>
              <a:t>Append to patient history</a:t>
            </a:r>
          </a:p>
        </p:txBody>
      </p:sp>
      <p:sp>
        <p:nvSpPr>
          <p:cNvPr id="9" name="Rounded Rectangle 8">
            <a:extLst>
              <a:ext uri="{FF2B5EF4-FFF2-40B4-BE49-F238E27FC236}">
                <a16:creationId xmlns:a16="http://schemas.microsoft.com/office/drawing/2014/main" xmlns="" id="{D9FC28AF-B333-406E-9CFD-DF30D6FBF505}"/>
              </a:ext>
            </a:extLst>
          </p:cNvPr>
          <p:cNvSpPr>
            <a:spLocks noGrp="1"/>
          </p:cNvSpPr>
          <p:nvPr/>
        </p:nvSpPr>
        <p:spPr>
          <a:xfrm>
            <a:off x="4000500" y="1895475"/>
            <a:ext cx="1447800" cy="790575"/>
          </a:xfrm>
          <a:prstGeom prst="roundRect">
            <a:avLst>
              <a:gd name="adj" fmla="val 9639"/>
            </a:avLst>
          </a:prstGeom>
          <a:solidFill>
            <a:srgbClr val="E5F2F1"/>
          </a:solidFill>
          <a:ln w="11430">
            <a:solidFill>
              <a:srgbClr val="BDD8D6"/>
            </a:solidFill>
            <a:prstDash val="solid"/>
          </a:ln>
        </p:spPr>
        <p:txBody>
          <a:bodyPr wrap="square" lIns="95250" tIns="76200" rIns="95250" bIns="76200" anchor="ctr">
            <a:normAutofit/>
          </a:bodyPr>
          <a:lstStyle>
            <a:defPPr algn="ctr">
              <a:defRPr sz="1238" b="1">
                <a:solidFill>
                  <a:srgbClr val="7A59B5"/>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a:pPr algn="ctr">
              <a:buNone/>
              <a:defRPr sz="1125" b="1">
                <a:solidFill>
                  <a:srgbClr val="263C45"/>
                </a:solidFill>
                <a:latin typeface="Calibri"/>
                <a:ea typeface="Calibri"/>
                <a:cs typeface="Calibri"/>
              </a:defRPr>
            </a:pPr>
            <a:r>
              <a:rPr sz="1238" b="1">
                <a:solidFill>
                  <a:srgbClr val="7A59B5"/>
                </a:solidFill>
                <a:latin typeface="Calibri"/>
                <a:ea typeface="Calibri"/>
                <a:cs typeface="Calibri"/>
              </a:rPr>
              <a:t>3  ·  Evaluate</a:t>
            </a:r>
          </a:p>
          <a:p>
            <a:pPr algn="ctr">
              <a:buNone/>
              <a:defRPr sz="1125" b="1">
                <a:solidFill>
                  <a:srgbClr val="263C45"/>
                </a:solidFill>
                <a:latin typeface="Calibri"/>
                <a:ea typeface="Calibri"/>
                <a:cs typeface="Calibri"/>
              </a:defRPr>
            </a:pPr>
            <a:r>
              <a:rPr sz="1238" b="1">
                <a:solidFill>
                  <a:srgbClr val="7A59B5"/>
                </a:solidFill>
                <a:latin typeface="Calibri"/>
                <a:ea typeface="Calibri"/>
                <a:cs typeface="Calibri"/>
              </a:rPr>
              <a:t>Risk + threshold checks</a:t>
            </a:r>
          </a:p>
        </p:txBody>
      </p:sp>
      <p:sp>
        <p:nvSpPr>
          <p:cNvPr id="10" name="Rounded Rectangle 9">
            <a:extLst>
              <a:ext uri="{FF2B5EF4-FFF2-40B4-BE49-F238E27FC236}">
                <a16:creationId xmlns:a16="http://schemas.microsoft.com/office/drawing/2014/main" xmlns="" id="{6C8BFC44-DB79-4ADA-8A5F-770A5148337D}"/>
              </a:ext>
            </a:extLst>
          </p:cNvPr>
          <p:cNvSpPr>
            <a:spLocks noGrp="1"/>
          </p:cNvSpPr>
          <p:nvPr/>
        </p:nvSpPr>
        <p:spPr>
          <a:xfrm>
            <a:off x="5819775" y="1895475"/>
            <a:ext cx="1200150" cy="790575"/>
          </a:xfrm>
          <a:prstGeom prst="roundRect">
            <a:avLst>
              <a:gd name="adj" fmla="val 9639"/>
            </a:avLst>
          </a:prstGeom>
          <a:solidFill>
            <a:srgbClr val="F7EDE2"/>
          </a:solidFill>
          <a:ln w="11430">
            <a:solidFill>
              <a:srgbClr val="EAD1B6"/>
            </a:solidFill>
            <a:prstDash val="solid"/>
          </a:ln>
        </p:spPr>
        <p:txBody>
          <a:bodyPr wrap="square" lIns="95250" tIns="76200" rIns="95250" bIns="76200" anchor="ctr">
            <a:normAutofit/>
          </a:bodyPr>
          <a:lstStyle>
            <a:defPPr algn="ctr">
              <a:defRPr sz="1238" b="1">
                <a:solidFill>
                  <a:srgbClr val="D57943"/>
                </a:solidFill>
                <a:latin typeface="Calibri"/>
                <a:ea typeface="Calibri"/>
                <a:cs typeface="Calibri"/>
              </a:defRPr>
            </a:defPPr>
            <a:lvl1pPr algn="ctr">
              <a:buNone/>
              <a:defRPr sz="1125" b="1">
                <a:solidFill>
                  <a:srgbClr val="263C45"/>
                </a:solidFill>
                <a:latin typeface="Calibri"/>
                <a:ea typeface="Calibri"/>
                <a:cs typeface="Calibri"/>
              </a:defRPr>
            </a:lvl1pPr>
            <a:lvl2pPr algn="ctr">
              <a:buNone/>
              <a:defRPr sz="1125" b="1">
                <a:solidFill>
                  <a:srgbClr val="263C45"/>
                </a:solidFill>
                <a:latin typeface="Calibri"/>
                <a:ea typeface="Calibri"/>
                <a:cs typeface="Calibri"/>
              </a:defRPr>
            </a:lvl2pPr>
            <a:lvl3pPr algn="ctr">
              <a:buNone/>
              <a:defRPr sz="1125" b="1">
                <a:solidFill>
                  <a:srgbClr val="263C45"/>
                </a:solidFill>
                <a:latin typeface="Calibri"/>
                <a:ea typeface="Calibri"/>
                <a:cs typeface="Calibri"/>
              </a:defRPr>
            </a:lvl3pPr>
            <a:lvl4pPr algn="ctr">
              <a:buNone/>
              <a:defRPr sz="1125" b="1">
                <a:solidFill>
                  <a:srgbClr val="263C45"/>
                </a:solidFill>
                <a:latin typeface="Calibri"/>
                <a:ea typeface="Calibri"/>
                <a:cs typeface="Calibri"/>
              </a:defRPr>
            </a:lvl4pPr>
            <a:lvl5pPr algn="ctr">
              <a:buNone/>
              <a:defRPr sz="1125" b="1">
                <a:solidFill>
                  <a:srgbClr val="263C45"/>
                </a:solidFill>
                <a:latin typeface="Calibri"/>
                <a:ea typeface="Calibri"/>
                <a:cs typeface="Calibri"/>
              </a:defRPr>
            </a:lvl5pPr>
            <a:lvl6pPr algn="ctr">
              <a:buNone/>
              <a:defRPr sz="1125" b="1">
                <a:solidFill>
                  <a:srgbClr val="263C45"/>
                </a:solidFill>
                <a:latin typeface="Calibri"/>
                <a:ea typeface="Calibri"/>
                <a:cs typeface="Calibri"/>
              </a:defRPr>
            </a:lvl6pPr>
            <a:lvl7pPr algn="ctr">
              <a:buNone/>
              <a:defRPr sz="1125" b="1">
                <a:solidFill>
                  <a:srgbClr val="263C45"/>
                </a:solidFill>
                <a:latin typeface="Calibri"/>
                <a:ea typeface="Calibri"/>
                <a:cs typeface="Calibri"/>
              </a:defRPr>
            </a:lvl7pPr>
            <a:lvl8pPr algn="ctr">
              <a:buNone/>
              <a:defRPr sz="1125" b="1">
                <a:solidFill>
                  <a:srgbClr val="263C45"/>
                </a:solidFill>
                <a:latin typeface="Calibri"/>
                <a:ea typeface="Calibri"/>
                <a:cs typeface="Calibri"/>
              </a:defRPr>
            </a:lvl8pPr>
            <a:lvl9pPr algn="ctr">
              <a:buNone/>
              <a:defRPr sz="1125" b="1">
                <a:solidFill>
                  <a:srgbClr val="263C45"/>
                </a:solidFill>
                <a:latin typeface="Calibri"/>
                <a:ea typeface="Calibri"/>
                <a:cs typeface="Calibri"/>
              </a:defRPr>
            </a:lvl9pPr>
          </a:lstStyle>
          <a:p>
            <a:pPr algn="ctr">
              <a:buNone/>
              <a:defRPr sz="1125" b="1">
                <a:solidFill>
                  <a:srgbClr val="263C45"/>
                </a:solidFill>
                <a:latin typeface="Calibri"/>
                <a:ea typeface="Calibri"/>
                <a:cs typeface="Calibri"/>
              </a:defRPr>
            </a:pPr>
            <a:r>
              <a:rPr sz="1238" b="1">
                <a:solidFill>
                  <a:srgbClr val="D57943"/>
                </a:solidFill>
                <a:latin typeface="Calibri"/>
                <a:ea typeface="Calibri"/>
                <a:cs typeface="Calibri"/>
              </a:rPr>
              <a:t>4  ·  Update</a:t>
            </a:r>
          </a:p>
          <a:p>
            <a:pPr algn="ctr">
              <a:buNone/>
              <a:defRPr sz="1125" b="1">
                <a:solidFill>
                  <a:srgbClr val="263C45"/>
                </a:solidFill>
                <a:latin typeface="Calibri"/>
                <a:ea typeface="Calibri"/>
                <a:cs typeface="Calibri"/>
              </a:defRPr>
            </a:pPr>
            <a:r>
              <a:rPr sz="1238" b="1">
                <a:solidFill>
                  <a:srgbClr val="D57943"/>
                </a:solidFill>
                <a:latin typeface="Calibri"/>
                <a:ea typeface="Calibri"/>
                <a:cs typeface="Calibri"/>
              </a:rPr>
              <a:t>Alert + client view</a:t>
            </a:r>
          </a:p>
        </p:txBody>
      </p:sp>
      <p:sp>
        <p:nvSpPr>
          <p:cNvPr id="14" name="Rectangle 13">
            <a:extLst>
              <a:ext uri="{FF2B5EF4-FFF2-40B4-BE49-F238E27FC236}">
                <a16:creationId xmlns:a16="http://schemas.microsoft.com/office/drawing/2014/main" xmlns="" id="{70EF341D-B6D9-443F-BF63-E1DBEF82AB6A}"/>
              </a:ext>
            </a:extLst>
          </p:cNvPr>
          <p:cNvSpPr>
            <a:spLocks noGrp="1"/>
          </p:cNvSpPr>
          <p:nvPr/>
        </p:nvSpPr>
        <p:spPr>
          <a:xfrm>
            <a:off x="571500" y="3228975"/>
            <a:ext cx="2143125" cy="247650"/>
          </a:xfrm>
          <a:prstGeom prst="rect">
            <a:avLst/>
          </a:prstGeom>
          <a:noFill/>
          <a:ln w="0">
            <a:noFill/>
            <a:prstDash val="solid"/>
          </a:ln>
        </p:spPr>
        <p:txBody>
          <a:bodyPr wrap="square" lIns="0" tIns="0" rIns="0" bIns="0" anchor="t">
            <a:normAutofit/>
          </a:bodyPr>
          <a:lstStyle>
            <a:defPPr algn="l">
              <a:defRPr sz="1425" b="1" i="0">
                <a:solidFill>
                  <a:srgbClr val="087E83"/>
                </a:solidFill>
                <a:latin typeface="Calibri"/>
                <a:ea typeface="Calibri"/>
                <a:cs typeface="Calibri"/>
              </a:defRPr>
            </a:defPPr>
            <a:lvl1pPr algn="l">
              <a:buNone/>
              <a:defRPr sz="1350" b="1" i="0">
                <a:solidFill>
                  <a:srgbClr val="0D6F73"/>
                </a:solidFill>
                <a:latin typeface="Calibri"/>
                <a:ea typeface="Calibri"/>
                <a:cs typeface="Calibri"/>
              </a:defRPr>
            </a:lvl1pPr>
            <a:lvl2pPr algn="l">
              <a:buNone/>
              <a:defRPr sz="1350" b="1" i="0">
                <a:solidFill>
                  <a:srgbClr val="0D6F73"/>
                </a:solidFill>
                <a:latin typeface="Calibri"/>
                <a:ea typeface="Calibri"/>
                <a:cs typeface="Calibri"/>
              </a:defRPr>
            </a:lvl2pPr>
            <a:lvl3pPr algn="l">
              <a:buNone/>
              <a:defRPr sz="1350" b="1" i="0">
                <a:solidFill>
                  <a:srgbClr val="0D6F73"/>
                </a:solidFill>
                <a:latin typeface="Calibri"/>
                <a:ea typeface="Calibri"/>
                <a:cs typeface="Calibri"/>
              </a:defRPr>
            </a:lvl3pPr>
            <a:lvl4pPr algn="l">
              <a:buNone/>
              <a:defRPr sz="1350" b="1" i="0">
                <a:solidFill>
                  <a:srgbClr val="0D6F73"/>
                </a:solidFill>
                <a:latin typeface="Calibri"/>
                <a:ea typeface="Calibri"/>
                <a:cs typeface="Calibri"/>
              </a:defRPr>
            </a:lvl4pPr>
            <a:lvl5pPr algn="l">
              <a:buNone/>
              <a:defRPr sz="1350" b="1" i="0">
                <a:solidFill>
                  <a:srgbClr val="0D6F73"/>
                </a:solidFill>
                <a:latin typeface="Calibri"/>
                <a:ea typeface="Calibri"/>
                <a:cs typeface="Calibri"/>
              </a:defRPr>
            </a:lvl5pPr>
            <a:lvl6pPr algn="l">
              <a:buNone/>
              <a:defRPr sz="1350" b="1" i="0">
                <a:solidFill>
                  <a:srgbClr val="0D6F73"/>
                </a:solidFill>
                <a:latin typeface="Calibri"/>
                <a:ea typeface="Calibri"/>
                <a:cs typeface="Calibri"/>
              </a:defRPr>
            </a:lvl6pPr>
            <a:lvl7pPr algn="l">
              <a:buNone/>
              <a:defRPr sz="1350" b="1" i="0">
                <a:solidFill>
                  <a:srgbClr val="0D6F73"/>
                </a:solidFill>
                <a:latin typeface="Calibri"/>
                <a:ea typeface="Calibri"/>
                <a:cs typeface="Calibri"/>
              </a:defRPr>
            </a:lvl7pPr>
            <a:lvl8pPr algn="l">
              <a:buNone/>
              <a:defRPr sz="1350" b="1" i="0">
                <a:solidFill>
                  <a:srgbClr val="0D6F73"/>
                </a:solidFill>
                <a:latin typeface="Calibri"/>
                <a:ea typeface="Calibri"/>
                <a:cs typeface="Calibri"/>
              </a:defRPr>
            </a:lvl8pPr>
            <a:lvl9pPr algn="l">
              <a:buNone/>
              <a:defRPr sz="1350" b="1" i="0">
                <a:solidFill>
                  <a:srgbClr val="0D6F73"/>
                </a:solidFill>
                <a:latin typeface="Calibri"/>
                <a:ea typeface="Calibri"/>
                <a:cs typeface="Calibri"/>
              </a:defRPr>
            </a:lvl9pPr>
          </a:lstStyle>
          <a:p>
            <a:pPr algn="l">
              <a:lnSpc>
                <a:spcPct val="108000"/>
              </a:lnSpc>
              <a:buNone/>
              <a:defRPr sz="1350" b="1" i="0">
                <a:solidFill>
                  <a:srgbClr val="0D6F73"/>
                </a:solidFill>
                <a:latin typeface="Calibri"/>
                <a:ea typeface="Calibri"/>
                <a:cs typeface="Calibri"/>
              </a:defRPr>
            </a:pPr>
            <a:r>
              <a:rPr sz="1425" b="1" i="0">
                <a:solidFill>
                  <a:srgbClr val="087E83"/>
                </a:solidFill>
                <a:latin typeface="Calibri"/>
                <a:ea typeface="Calibri"/>
                <a:cs typeface="Calibri"/>
              </a:rPr>
              <a:t>WebSocket event types</a:t>
            </a:r>
          </a:p>
        </p:txBody>
      </p:sp>
      <p:sp>
        <p:nvSpPr>
          <p:cNvPr id="15" name="Rectangle 14">
            <a:extLst>
              <a:ext uri="{FF2B5EF4-FFF2-40B4-BE49-F238E27FC236}">
                <a16:creationId xmlns:a16="http://schemas.microsoft.com/office/drawing/2014/main" xmlns="" id="{1A08787D-FCF5-427A-A20B-97B1DE4D7291}"/>
              </a:ext>
            </a:extLst>
          </p:cNvPr>
          <p:cNvSpPr>
            <a:spLocks noGrp="1"/>
          </p:cNvSpPr>
          <p:nvPr/>
        </p:nvSpPr>
        <p:spPr>
          <a:xfrm>
            <a:off x="571500" y="3581400"/>
            <a:ext cx="6143625" cy="781050"/>
          </a:xfrm>
          <a:prstGeom prst="rect">
            <a:avLst/>
          </a:prstGeom>
          <a:noFill/>
          <a:ln w="0">
            <a:noFill/>
            <a:prstDash val="solid"/>
          </a:ln>
        </p:spPr>
        <p:txBody>
          <a:bodyPr wrap="square" lIns="0" tIns="0" rIns="0" bIns="0" anchor="t">
            <a:normAutofit/>
          </a:bodyPr>
          <a:lstStyle>
            <a:defPPr algn="l">
              <a:defRPr sz="1275" b="0" i="0">
                <a:solidFill>
                  <a:srgbClr val="2E4E59"/>
                </a:solidFill>
                <a:latin typeface="Calibri"/>
                <a:ea typeface="Calibri"/>
                <a:cs typeface="Calibri"/>
              </a:defRPr>
            </a:defPPr>
            <a:lvl1pPr algn="l">
              <a:buNone/>
              <a:defRPr sz="1275" b="0" i="0">
                <a:solidFill>
                  <a:srgbClr val="263C45"/>
                </a:solidFill>
                <a:latin typeface="Calibri"/>
                <a:ea typeface="Calibri"/>
                <a:cs typeface="Calibri"/>
              </a:defRPr>
            </a:lvl1pPr>
            <a:lvl2pPr algn="l">
              <a:buNone/>
              <a:defRPr sz="1275" b="0" i="0">
                <a:solidFill>
                  <a:srgbClr val="263C45"/>
                </a:solidFill>
                <a:latin typeface="Calibri"/>
                <a:ea typeface="Calibri"/>
                <a:cs typeface="Calibri"/>
              </a:defRPr>
            </a:lvl2pPr>
            <a:lvl3pPr algn="l">
              <a:buNone/>
              <a:defRPr sz="1275" b="0" i="0">
                <a:solidFill>
                  <a:srgbClr val="263C45"/>
                </a:solidFill>
                <a:latin typeface="Calibri"/>
                <a:ea typeface="Calibri"/>
                <a:cs typeface="Calibri"/>
              </a:defRPr>
            </a:lvl3pPr>
            <a:lvl4pPr algn="l">
              <a:buNone/>
              <a:defRPr sz="1275" b="0" i="0">
                <a:solidFill>
                  <a:srgbClr val="263C45"/>
                </a:solidFill>
                <a:latin typeface="Calibri"/>
                <a:ea typeface="Calibri"/>
                <a:cs typeface="Calibri"/>
              </a:defRPr>
            </a:lvl4pPr>
            <a:lvl5pPr algn="l">
              <a:buNone/>
              <a:defRPr sz="1275" b="0" i="0">
                <a:solidFill>
                  <a:srgbClr val="263C45"/>
                </a:solidFill>
                <a:latin typeface="Calibri"/>
                <a:ea typeface="Calibri"/>
                <a:cs typeface="Calibri"/>
              </a:defRPr>
            </a:lvl5pPr>
            <a:lvl6pPr algn="l">
              <a:buNone/>
              <a:defRPr sz="1275" b="0" i="0">
                <a:solidFill>
                  <a:srgbClr val="263C45"/>
                </a:solidFill>
                <a:latin typeface="Calibri"/>
                <a:ea typeface="Calibri"/>
                <a:cs typeface="Calibri"/>
              </a:defRPr>
            </a:lvl6pPr>
            <a:lvl7pPr algn="l">
              <a:buNone/>
              <a:defRPr sz="1275" b="0" i="0">
                <a:solidFill>
                  <a:srgbClr val="263C45"/>
                </a:solidFill>
                <a:latin typeface="Calibri"/>
                <a:ea typeface="Calibri"/>
                <a:cs typeface="Calibri"/>
              </a:defRPr>
            </a:lvl7pPr>
            <a:lvl8pPr algn="l">
              <a:buNone/>
              <a:defRPr sz="1275" b="0" i="0">
                <a:solidFill>
                  <a:srgbClr val="263C45"/>
                </a:solidFill>
                <a:latin typeface="Calibri"/>
                <a:ea typeface="Calibri"/>
                <a:cs typeface="Calibri"/>
              </a:defRPr>
            </a:lvl8pPr>
            <a:lvl9pPr algn="l">
              <a:buNone/>
              <a:defRPr sz="1275" b="0" i="0">
                <a:solidFill>
                  <a:srgbClr val="263C45"/>
                </a:solidFill>
                <a:latin typeface="Calibri"/>
                <a:ea typeface="Calibri"/>
                <a:cs typeface="Calibri"/>
              </a:defRPr>
            </a:lvl9pPr>
          </a:lstStyle>
          <a:p>
            <a:pPr algn="l">
              <a:lnSpc>
                <a:spcPct val="118000"/>
              </a:lnSpc>
              <a:buNone/>
              <a:defRPr sz="1275" b="0" i="0">
                <a:solidFill>
                  <a:srgbClr val="263C45"/>
                </a:solidFill>
                <a:latin typeface="Calibri"/>
                <a:ea typeface="Calibri"/>
                <a:cs typeface="Calibri"/>
              </a:defRPr>
            </a:pPr>
            <a:r>
              <a:rPr sz="1275" b="0" i="0">
                <a:solidFill>
                  <a:srgbClr val="2E4E59"/>
                </a:solidFill>
                <a:latin typeface="Calibri"/>
                <a:ea typeface="Calibri"/>
                <a:cs typeface="Calibri"/>
              </a:rPr>
              <a:t>subscribe  →  register interest</a:t>
            </a:r>
          </a:p>
          <a:p>
            <a:pPr algn="l">
              <a:lnSpc>
                <a:spcPct val="118000"/>
              </a:lnSpc>
              <a:buNone/>
              <a:defRPr sz="1275" b="0" i="0">
                <a:solidFill>
                  <a:srgbClr val="263C45"/>
                </a:solidFill>
                <a:latin typeface="Calibri"/>
                <a:ea typeface="Calibri"/>
                <a:cs typeface="Calibri"/>
              </a:defRPr>
            </a:pPr>
            <a:r>
              <a:rPr sz="1275" b="0" i="0">
                <a:solidFill>
                  <a:srgbClr val="2E4E59"/>
                </a:solidFill>
                <a:latin typeface="Calibri"/>
                <a:ea typeface="Calibri"/>
                <a:cs typeface="Calibri"/>
              </a:rPr>
              <a:t>vitals  →  ingest a reading</a:t>
            </a:r>
          </a:p>
          <a:p>
            <a:pPr algn="l">
              <a:lnSpc>
                <a:spcPct val="118000"/>
              </a:lnSpc>
              <a:buNone/>
              <a:defRPr sz="1275" b="0" i="0">
                <a:solidFill>
                  <a:srgbClr val="263C45"/>
                </a:solidFill>
                <a:latin typeface="Calibri"/>
                <a:ea typeface="Calibri"/>
                <a:cs typeface="Calibri"/>
              </a:defRPr>
            </a:pPr>
            <a:r>
              <a:rPr sz="1275" b="0" i="0">
                <a:solidFill>
                  <a:srgbClr val="2E4E59"/>
                </a:solidFill>
                <a:latin typeface="Calibri"/>
                <a:ea typeface="Calibri"/>
                <a:cs typeface="Calibri"/>
              </a:rPr>
              <a:t>alert / prediction_update  →  push results</a:t>
            </a:r>
          </a:p>
        </p:txBody>
      </p:sp>
    </p:spTree>
    <p:extLst>
      <p:ext uri="{BB962C8B-B14F-4D97-AF65-F5344CB8AC3E}">
        <p14:creationId xmlns:p14="http://schemas.microsoft.com/office/powerpoint/2010/main" val="318136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xmlns="" id="{C4C37908-337A-481E-9B3D-AAEC52BF7D21}"/>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29" name="Rounded Rectangle 28">
            <a:extLst>
              <a:ext uri="{FF2B5EF4-FFF2-40B4-BE49-F238E27FC236}">
                <a16:creationId xmlns:a16="http://schemas.microsoft.com/office/drawing/2014/main" xmlns="" id="{A2E87AA2-3D91-4FA1-892D-0351FDE2DA48}"/>
              </a:ext>
            </a:extLst>
          </p:cNvPr>
          <p:cNvSpPr>
            <a:spLocks noGrp="1"/>
          </p:cNvSpPr>
          <p:nvPr/>
        </p:nvSpPr>
        <p:spPr>
          <a:xfrm>
            <a:off x="390525" y="1781175"/>
            <a:ext cx="6734175" cy="504825"/>
          </a:xfrm>
          <a:prstGeom prst="roundRect">
            <a:avLst>
              <a:gd name="adj" fmla="val 28302"/>
            </a:avLst>
          </a:prstGeom>
          <a:solidFill>
            <a:srgbClr val="FFFFFF">
              <a:alpha val="95000"/>
            </a:srgbClr>
          </a:solidFill>
          <a:ln w="9525">
            <a:solidFill>
              <a:srgbClr val="D7E7E4"/>
            </a:solidFill>
            <a:prstDash val="solid"/>
          </a:ln>
        </p:spPr>
      </p:sp>
      <p:sp>
        <p:nvSpPr>
          <p:cNvPr id="30" name="Rounded Rectangle 29">
            <a:extLst>
              <a:ext uri="{FF2B5EF4-FFF2-40B4-BE49-F238E27FC236}">
                <a16:creationId xmlns:a16="http://schemas.microsoft.com/office/drawing/2014/main" xmlns="" id="{954CF19D-6131-466E-BB50-274C3C5F977E}"/>
              </a:ext>
            </a:extLst>
          </p:cNvPr>
          <p:cNvSpPr>
            <a:spLocks noGrp="1"/>
          </p:cNvSpPr>
          <p:nvPr/>
        </p:nvSpPr>
        <p:spPr>
          <a:xfrm>
            <a:off x="390525" y="1790700"/>
            <a:ext cx="47625" cy="485775"/>
          </a:xfrm>
          <a:prstGeom prst="roundRect">
            <a:avLst>
              <a:gd name="adj" fmla="val 50000"/>
            </a:avLst>
          </a:prstGeom>
          <a:solidFill>
            <a:srgbClr val="D86E52"/>
          </a:solidFill>
          <a:ln w="0">
            <a:noFill/>
            <a:prstDash val="solid"/>
          </a:ln>
        </p:spPr>
      </p:sp>
      <p:sp>
        <p:nvSpPr>
          <p:cNvPr id="31" name="Rounded Rectangle 30">
            <a:extLst>
              <a:ext uri="{FF2B5EF4-FFF2-40B4-BE49-F238E27FC236}">
                <a16:creationId xmlns:a16="http://schemas.microsoft.com/office/drawing/2014/main" xmlns="" id="{736C5774-97F0-4C47-9E72-FBE6E8FFCDDB}"/>
              </a:ext>
            </a:extLst>
          </p:cNvPr>
          <p:cNvSpPr>
            <a:spLocks noGrp="1"/>
          </p:cNvSpPr>
          <p:nvPr/>
        </p:nvSpPr>
        <p:spPr>
          <a:xfrm>
            <a:off x="390525" y="2352675"/>
            <a:ext cx="6734175" cy="504825"/>
          </a:xfrm>
          <a:prstGeom prst="roundRect">
            <a:avLst>
              <a:gd name="adj" fmla="val 28302"/>
            </a:avLst>
          </a:prstGeom>
          <a:solidFill>
            <a:srgbClr val="FFFFFF">
              <a:alpha val="95000"/>
            </a:srgbClr>
          </a:solidFill>
          <a:ln w="9525">
            <a:solidFill>
              <a:srgbClr val="D7E7E4"/>
            </a:solidFill>
            <a:prstDash val="solid"/>
          </a:ln>
        </p:spPr>
      </p:sp>
      <p:sp>
        <p:nvSpPr>
          <p:cNvPr id="32" name="Rounded Rectangle 31">
            <a:extLst>
              <a:ext uri="{FF2B5EF4-FFF2-40B4-BE49-F238E27FC236}">
                <a16:creationId xmlns:a16="http://schemas.microsoft.com/office/drawing/2014/main" xmlns="" id="{1B2956C5-EF96-4510-A2E2-6011BD129462}"/>
              </a:ext>
            </a:extLst>
          </p:cNvPr>
          <p:cNvSpPr>
            <a:spLocks noGrp="1"/>
          </p:cNvSpPr>
          <p:nvPr/>
        </p:nvSpPr>
        <p:spPr>
          <a:xfrm>
            <a:off x="390525" y="2362200"/>
            <a:ext cx="47625" cy="485775"/>
          </a:xfrm>
          <a:prstGeom prst="roundRect">
            <a:avLst>
              <a:gd name="adj" fmla="val 50000"/>
            </a:avLst>
          </a:prstGeom>
          <a:solidFill>
            <a:srgbClr val="C78A26"/>
          </a:solidFill>
          <a:ln w="0">
            <a:noFill/>
            <a:prstDash val="solid"/>
          </a:ln>
        </p:spPr>
      </p:sp>
      <p:sp>
        <p:nvSpPr>
          <p:cNvPr id="33" name="Rounded Rectangle 32">
            <a:extLst>
              <a:ext uri="{FF2B5EF4-FFF2-40B4-BE49-F238E27FC236}">
                <a16:creationId xmlns:a16="http://schemas.microsoft.com/office/drawing/2014/main" xmlns="" id="{FE3B8CFB-D195-4B0D-B145-A9F48879E1A0}"/>
              </a:ext>
            </a:extLst>
          </p:cNvPr>
          <p:cNvSpPr>
            <a:spLocks noGrp="1"/>
          </p:cNvSpPr>
          <p:nvPr/>
        </p:nvSpPr>
        <p:spPr>
          <a:xfrm>
            <a:off x="390525" y="2924175"/>
            <a:ext cx="6734175" cy="504825"/>
          </a:xfrm>
          <a:prstGeom prst="roundRect">
            <a:avLst>
              <a:gd name="adj" fmla="val 28302"/>
            </a:avLst>
          </a:prstGeom>
          <a:solidFill>
            <a:srgbClr val="FFFFFF">
              <a:alpha val="95000"/>
            </a:srgbClr>
          </a:solidFill>
          <a:ln w="9525">
            <a:solidFill>
              <a:srgbClr val="D7E7E4"/>
            </a:solidFill>
            <a:prstDash val="solid"/>
          </a:ln>
        </p:spPr>
      </p:sp>
      <p:sp>
        <p:nvSpPr>
          <p:cNvPr id="34" name="Rounded Rectangle 33">
            <a:extLst>
              <a:ext uri="{FF2B5EF4-FFF2-40B4-BE49-F238E27FC236}">
                <a16:creationId xmlns:a16="http://schemas.microsoft.com/office/drawing/2014/main" xmlns="" id="{9C093B29-4D1C-4EE7-8385-3544E7617B3E}"/>
              </a:ext>
            </a:extLst>
          </p:cNvPr>
          <p:cNvSpPr>
            <a:spLocks noGrp="1"/>
          </p:cNvSpPr>
          <p:nvPr/>
        </p:nvSpPr>
        <p:spPr>
          <a:xfrm>
            <a:off x="390525" y="2933700"/>
            <a:ext cx="47625" cy="485775"/>
          </a:xfrm>
          <a:prstGeom prst="roundRect">
            <a:avLst>
              <a:gd name="adj" fmla="val 50000"/>
            </a:avLst>
          </a:prstGeom>
          <a:solidFill>
            <a:srgbClr val="1598B7"/>
          </a:solidFill>
          <a:ln w="0">
            <a:noFill/>
            <a:prstDash val="solid"/>
          </a:ln>
        </p:spPr>
      </p:sp>
      <p:sp>
        <p:nvSpPr>
          <p:cNvPr id="35" name="Rounded Rectangle 34">
            <a:extLst>
              <a:ext uri="{FF2B5EF4-FFF2-40B4-BE49-F238E27FC236}">
                <a16:creationId xmlns:a16="http://schemas.microsoft.com/office/drawing/2014/main" xmlns="" id="{9713C875-CE65-4D48-9658-A46BB1DFFE31}"/>
              </a:ext>
            </a:extLst>
          </p:cNvPr>
          <p:cNvSpPr>
            <a:spLocks noGrp="1"/>
          </p:cNvSpPr>
          <p:nvPr/>
        </p:nvSpPr>
        <p:spPr>
          <a:xfrm>
            <a:off x="390525" y="3495675"/>
            <a:ext cx="6734175" cy="504825"/>
          </a:xfrm>
          <a:prstGeom prst="roundRect">
            <a:avLst>
              <a:gd name="adj" fmla="val 28302"/>
            </a:avLst>
          </a:prstGeom>
          <a:solidFill>
            <a:srgbClr val="FFFFFF">
              <a:alpha val="95000"/>
            </a:srgbClr>
          </a:solidFill>
          <a:ln w="9525">
            <a:solidFill>
              <a:srgbClr val="D7E7E4"/>
            </a:solidFill>
            <a:prstDash val="solid"/>
          </a:ln>
        </p:spPr>
      </p:sp>
      <p:sp>
        <p:nvSpPr>
          <p:cNvPr id="36" name="Rounded Rectangle 35">
            <a:extLst>
              <a:ext uri="{FF2B5EF4-FFF2-40B4-BE49-F238E27FC236}">
                <a16:creationId xmlns:a16="http://schemas.microsoft.com/office/drawing/2014/main" xmlns="" id="{64A5D663-9571-42C7-AC57-D9BDAA78C562}"/>
              </a:ext>
            </a:extLst>
          </p:cNvPr>
          <p:cNvSpPr>
            <a:spLocks noGrp="1"/>
          </p:cNvSpPr>
          <p:nvPr/>
        </p:nvSpPr>
        <p:spPr>
          <a:xfrm>
            <a:off x="390525" y="3505200"/>
            <a:ext cx="47625" cy="485775"/>
          </a:xfrm>
          <a:prstGeom prst="roundRect">
            <a:avLst>
              <a:gd name="adj" fmla="val 50000"/>
            </a:avLst>
          </a:prstGeom>
          <a:solidFill>
            <a:srgbClr val="845FB5"/>
          </a:solidFill>
          <a:ln w="0">
            <a:noFill/>
            <a:prstDash val="solid"/>
          </a:ln>
        </p:spPr>
      </p:sp>
      <p:sp>
        <p:nvSpPr>
          <p:cNvPr id="37" name="Rounded Rectangle 36">
            <a:extLst>
              <a:ext uri="{FF2B5EF4-FFF2-40B4-BE49-F238E27FC236}">
                <a16:creationId xmlns:a16="http://schemas.microsoft.com/office/drawing/2014/main" xmlns="" id="{8CA0AFB2-99DC-4D39-8CE3-0168D19BFE21}"/>
              </a:ext>
            </a:extLst>
          </p:cNvPr>
          <p:cNvSpPr>
            <a:spLocks noGrp="1"/>
          </p:cNvSpPr>
          <p:nvPr/>
        </p:nvSpPr>
        <p:spPr>
          <a:xfrm>
            <a:off x="704850" y="4181475"/>
            <a:ext cx="6076950" cy="533400"/>
          </a:xfrm>
          <a:prstGeom prst="roundRect">
            <a:avLst>
              <a:gd name="adj" fmla="val 26786"/>
            </a:avLst>
          </a:prstGeom>
          <a:solidFill>
            <a:srgbClr val="F1F8F7"/>
          </a:solidFill>
          <a:ln w="9525">
            <a:solidFill>
              <a:srgbClr val="D4E6E2"/>
            </a:solidFill>
            <a:prstDash val="solid"/>
          </a:ln>
        </p:spPr>
      </p:sp>
      <p:sp>
        <p:nvSpPr>
          <p:cNvPr id="38" name="Rounded Rectangle 37">
            <a:extLst>
              <a:ext uri="{FF2B5EF4-FFF2-40B4-BE49-F238E27FC236}">
                <a16:creationId xmlns:a16="http://schemas.microsoft.com/office/drawing/2014/main" xmlns="" id="{04CB5ACF-FFBC-4028-81F4-6F47FF1E78C0}"/>
              </a:ext>
            </a:extLst>
          </p:cNvPr>
          <p:cNvSpPr>
            <a:spLocks noGrp="1"/>
          </p:cNvSpPr>
          <p:nvPr/>
        </p:nvSpPr>
        <p:spPr>
          <a:xfrm>
            <a:off x="704850" y="4181475"/>
            <a:ext cx="47625" cy="533400"/>
          </a:xfrm>
          <a:prstGeom prst="roundRect">
            <a:avLst>
              <a:gd name="adj" fmla="val 50000"/>
            </a:avLst>
          </a:prstGeom>
          <a:solidFill>
            <a:srgbClr val="168F89"/>
          </a:solidFill>
          <a:ln w="0">
            <a:noFill/>
            <a:prstDash val="solid"/>
          </a:ln>
        </p:spPr>
      </p:sp>
      <p:sp>
        <p:nvSpPr>
          <p:cNvPr id="27" name="Rectangle 26">
            <a:extLst>
              <a:ext uri="{FF2B5EF4-FFF2-40B4-BE49-F238E27FC236}">
                <a16:creationId xmlns:a16="http://schemas.microsoft.com/office/drawing/2014/main" xmlns="" id="{BB2483AC-5DA5-45DC-B7BC-1EAD27C59F2F}"/>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Alerts flag threshold events for review</a:t>
            </a:r>
          </a:p>
        </p:txBody>
      </p:sp>
      <p:sp>
        <p:nvSpPr>
          <p:cNvPr id="2" name="Straight Connector 1">
            <a:extLst>
              <a:ext uri="{FF2B5EF4-FFF2-40B4-BE49-F238E27FC236}">
                <a16:creationId xmlns:a16="http://schemas.microsoft.com/office/drawing/2014/main" xmlns="" id="{1192610B-7E65-4432-B99F-EFBD269BC3C4}"/>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0A057B0B-0E18-4E24-AE22-6BA312C79348}"/>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Thresholds are code rules, not a calibrated multi-signal clinical alarm system.</a:t>
            </a:r>
          </a:p>
        </p:txBody>
      </p:sp>
      <p:sp>
        <p:nvSpPr>
          <p:cNvPr id="4" name="Straight Connector 3">
            <a:extLst>
              <a:ext uri="{FF2B5EF4-FFF2-40B4-BE49-F238E27FC236}">
                <a16:creationId xmlns:a16="http://schemas.microsoft.com/office/drawing/2014/main" xmlns="" id="{145DD0C4-FA7C-403C-A306-D42624DF7B50}"/>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9514E920-AF11-419E-80AF-460446FA6BAE}"/>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4C10495F-1C66-4201-A2A4-E46DE3E535D2}"/>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09</a:t>
            </a:r>
          </a:p>
        </p:txBody>
      </p:sp>
      <p:sp>
        <p:nvSpPr>
          <p:cNvPr id="7" name="Rectangle 6">
            <a:extLst>
              <a:ext uri="{FF2B5EF4-FFF2-40B4-BE49-F238E27FC236}">
                <a16:creationId xmlns:a16="http://schemas.microsoft.com/office/drawing/2014/main" xmlns="" id="{F35A6453-14DD-45B0-82F4-819A4ED58170}"/>
              </a:ext>
            </a:extLst>
          </p:cNvPr>
          <p:cNvSpPr>
            <a:spLocks noGrp="1"/>
          </p:cNvSpPr>
          <p:nvPr/>
        </p:nvSpPr>
        <p:spPr>
          <a:xfrm>
            <a:off x="552450" y="1457325"/>
            <a:ext cx="1714500" cy="238125"/>
          </a:xfrm>
          <a:prstGeom prst="rect">
            <a:avLst/>
          </a:prstGeom>
          <a:noFill/>
          <a:ln w="0">
            <a:noFill/>
            <a:prstDash val="solid"/>
          </a:ln>
        </p:spPr>
        <p:txBody>
          <a:bodyPr wrap="square" lIns="0" tIns="0" rIns="0" bIns="0" anchor="ctr">
            <a:normAutofit/>
          </a:bodyPr>
          <a:lstStyle>
            <a:defPPr algn="l">
              <a:defRPr sz="975" b="1" i="0">
                <a:solidFill>
                  <a:srgbClr val="647781"/>
                </a:solidFill>
                <a:latin typeface="Calibri"/>
                <a:ea typeface="Calibri"/>
                <a:cs typeface="Calibri"/>
              </a:defRPr>
            </a:defPPr>
            <a:lvl1pPr algn="l">
              <a:buNone/>
              <a:defRPr sz="975" b="1" i="0">
                <a:solidFill>
                  <a:srgbClr val="647781"/>
                </a:solidFill>
                <a:latin typeface="Calibri"/>
                <a:ea typeface="Calibri"/>
                <a:cs typeface="Calibri"/>
              </a:defRPr>
            </a:lvl1pPr>
            <a:lvl2pPr algn="l">
              <a:buNone/>
              <a:defRPr sz="975" b="1" i="0">
                <a:solidFill>
                  <a:srgbClr val="647781"/>
                </a:solidFill>
                <a:latin typeface="Calibri"/>
                <a:ea typeface="Calibri"/>
                <a:cs typeface="Calibri"/>
              </a:defRPr>
            </a:lvl2pPr>
            <a:lvl3pPr algn="l">
              <a:buNone/>
              <a:defRPr sz="975" b="1" i="0">
                <a:solidFill>
                  <a:srgbClr val="647781"/>
                </a:solidFill>
                <a:latin typeface="Calibri"/>
                <a:ea typeface="Calibri"/>
                <a:cs typeface="Calibri"/>
              </a:defRPr>
            </a:lvl3pPr>
            <a:lvl4pPr algn="l">
              <a:buNone/>
              <a:defRPr sz="975" b="1" i="0">
                <a:solidFill>
                  <a:srgbClr val="647781"/>
                </a:solidFill>
                <a:latin typeface="Calibri"/>
                <a:ea typeface="Calibri"/>
                <a:cs typeface="Calibri"/>
              </a:defRPr>
            </a:lvl4pPr>
            <a:lvl5pPr algn="l">
              <a:buNone/>
              <a:defRPr sz="975" b="1" i="0">
                <a:solidFill>
                  <a:srgbClr val="647781"/>
                </a:solidFill>
                <a:latin typeface="Calibri"/>
                <a:ea typeface="Calibri"/>
                <a:cs typeface="Calibri"/>
              </a:defRPr>
            </a:lvl5pPr>
            <a:lvl6pPr algn="l">
              <a:buNone/>
              <a:defRPr sz="975" b="1" i="0">
                <a:solidFill>
                  <a:srgbClr val="647781"/>
                </a:solidFill>
                <a:latin typeface="Calibri"/>
                <a:ea typeface="Calibri"/>
                <a:cs typeface="Calibri"/>
              </a:defRPr>
            </a:lvl6pPr>
            <a:lvl7pPr algn="l">
              <a:buNone/>
              <a:defRPr sz="975" b="1" i="0">
                <a:solidFill>
                  <a:srgbClr val="647781"/>
                </a:solidFill>
                <a:latin typeface="Calibri"/>
                <a:ea typeface="Calibri"/>
                <a:cs typeface="Calibri"/>
              </a:defRPr>
            </a:lvl7pPr>
            <a:lvl8pPr algn="l">
              <a:buNone/>
              <a:defRPr sz="975" b="1" i="0">
                <a:solidFill>
                  <a:srgbClr val="647781"/>
                </a:solidFill>
                <a:latin typeface="Calibri"/>
                <a:ea typeface="Calibri"/>
                <a:cs typeface="Calibri"/>
              </a:defRPr>
            </a:lvl8pPr>
            <a:lvl9pPr algn="l">
              <a:buNone/>
              <a:defRPr sz="975" b="1" i="0">
                <a:solidFill>
                  <a:srgbClr val="647781"/>
                </a:solidFill>
                <a:latin typeface="Calibri"/>
                <a:ea typeface="Calibri"/>
                <a:cs typeface="Calibri"/>
              </a:defRPr>
            </a:lvl9pPr>
          </a:lstStyle>
          <a:p>
            <a:pPr algn="l">
              <a:lnSpc>
                <a:spcPct val="108000"/>
              </a:lnSpc>
              <a:buNone/>
              <a:defRPr sz="975" b="1" i="0">
                <a:solidFill>
                  <a:srgbClr val="647781"/>
                </a:solidFill>
                <a:latin typeface="Calibri"/>
                <a:ea typeface="Calibri"/>
                <a:cs typeface="Calibri"/>
              </a:defRPr>
            </a:pPr>
            <a:r>
              <a:rPr sz="975" b="1" i="0">
                <a:solidFill>
                  <a:srgbClr val="647781"/>
                </a:solidFill>
                <a:latin typeface="Calibri"/>
                <a:ea typeface="Calibri"/>
                <a:cs typeface="Calibri"/>
              </a:rPr>
              <a:t>SIGNAL CHECK</a:t>
            </a:r>
          </a:p>
        </p:txBody>
      </p:sp>
      <p:sp>
        <p:nvSpPr>
          <p:cNvPr id="8" name="Rectangle 7">
            <a:extLst>
              <a:ext uri="{FF2B5EF4-FFF2-40B4-BE49-F238E27FC236}">
                <a16:creationId xmlns:a16="http://schemas.microsoft.com/office/drawing/2014/main" xmlns="" id="{75C9EDD9-CC0F-4348-8289-1149FD9016B3}"/>
              </a:ext>
            </a:extLst>
          </p:cNvPr>
          <p:cNvSpPr>
            <a:spLocks noGrp="1"/>
          </p:cNvSpPr>
          <p:nvPr/>
        </p:nvSpPr>
        <p:spPr>
          <a:xfrm>
            <a:off x="2381250" y="1457325"/>
            <a:ext cx="3095625" cy="238125"/>
          </a:xfrm>
          <a:prstGeom prst="rect">
            <a:avLst/>
          </a:prstGeom>
          <a:noFill/>
          <a:ln w="0">
            <a:noFill/>
            <a:prstDash val="solid"/>
          </a:ln>
        </p:spPr>
        <p:txBody>
          <a:bodyPr wrap="square" lIns="0" tIns="0" rIns="0" bIns="0" anchor="ctr">
            <a:normAutofit/>
          </a:bodyPr>
          <a:lstStyle>
            <a:defPPr algn="l">
              <a:defRPr sz="975" b="1" i="0">
                <a:solidFill>
                  <a:srgbClr val="647781"/>
                </a:solidFill>
                <a:latin typeface="Calibri"/>
                <a:ea typeface="Calibri"/>
                <a:cs typeface="Calibri"/>
              </a:defRPr>
            </a:defPPr>
            <a:lvl1pPr algn="l">
              <a:buNone/>
              <a:defRPr sz="975" b="1" i="0">
                <a:solidFill>
                  <a:srgbClr val="647781"/>
                </a:solidFill>
                <a:latin typeface="Calibri"/>
                <a:ea typeface="Calibri"/>
                <a:cs typeface="Calibri"/>
              </a:defRPr>
            </a:lvl1pPr>
            <a:lvl2pPr algn="l">
              <a:buNone/>
              <a:defRPr sz="975" b="1" i="0">
                <a:solidFill>
                  <a:srgbClr val="647781"/>
                </a:solidFill>
                <a:latin typeface="Calibri"/>
                <a:ea typeface="Calibri"/>
                <a:cs typeface="Calibri"/>
              </a:defRPr>
            </a:lvl2pPr>
            <a:lvl3pPr algn="l">
              <a:buNone/>
              <a:defRPr sz="975" b="1" i="0">
                <a:solidFill>
                  <a:srgbClr val="647781"/>
                </a:solidFill>
                <a:latin typeface="Calibri"/>
                <a:ea typeface="Calibri"/>
                <a:cs typeface="Calibri"/>
              </a:defRPr>
            </a:lvl3pPr>
            <a:lvl4pPr algn="l">
              <a:buNone/>
              <a:defRPr sz="975" b="1" i="0">
                <a:solidFill>
                  <a:srgbClr val="647781"/>
                </a:solidFill>
                <a:latin typeface="Calibri"/>
                <a:ea typeface="Calibri"/>
                <a:cs typeface="Calibri"/>
              </a:defRPr>
            </a:lvl4pPr>
            <a:lvl5pPr algn="l">
              <a:buNone/>
              <a:defRPr sz="975" b="1" i="0">
                <a:solidFill>
                  <a:srgbClr val="647781"/>
                </a:solidFill>
                <a:latin typeface="Calibri"/>
                <a:ea typeface="Calibri"/>
                <a:cs typeface="Calibri"/>
              </a:defRPr>
            </a:lvl5pPr>
            <a:lvl6pPr algn="l">
              <a:buNone/>
              <a:defRPr sz="975" b="1" i="0">
                <a:solidFill>
                  <a:srgbClr val="647781"/>
                </a:solidFill>
                <a:latin typeface="Calibri"/>
                <a:ea typeface="Calibri"/>
                <a:cs typeface="Calibri"/>
              </a:defRPr>
            </a:lvl6pPr>
            <a:lvl7pPr algn="l">
              <a:buNone/>
              <a:defRPr sz="975" b="1" i="0">
                <a:solidFill>
                  <a:srgbClr val="647781"/>
                </a:solidFill>
                <a:latin typeface="Calibri"/>
                <a:ea typeface="Calibri"/>
                <a:cs typeface="Calibri"/>
              </a:defRPr>
            </a:lvl7pPr>
            <a:lvl8pPr algn="l">
              <a:buNone/>
              <a:defRPr sz="975" b="1" i="0">
                <a:solidFill>
                  <a:srgbClr val="647781"/>
                </a:solidFill>
                <a:latin typeface="Calibri"/>
                <a:ea typeface="Calibri"/>
                <a:cs typeface="Calibri"/>
              </a:defRPr>
            </a:lvl8pPr>
            <a:lvl9pPr algn="l">
              <a:buNone/>
              <a:defRPr sz="975" b="1" i="0">
                <a:solidFill>
                  <a:srgbClr val="647781"/>
                </a:solidFill>
                <a:latin typeface="Calibri"/>
                <a:ea typeface="Calibri"/>
                <a:cs typeface="Calibri"/>
              </a:defRPr>
            </a:lvl9pPr>
          </a:lstStyle>
          <a:p>
            <a:pPr algn="l">
              <a:lnSpc>
                <a:spcPct val="108000"/>
              </a:lnSpc>
              <a:buNone/>
              <a:defRPr sz="975" b="1" i="0">
                <a:solidFill>
                  <a:srgbClr val="647781"/>
                </a:solidFill>
                <a:latin typeface="Calibri"/>
                <a:ea typeface="Calibri"/>
                <a:cs typeface="Calibri"/>
              </a:defRPr>
            </a:pPr>
            <a:r>
              <a:rPr sz="975" b="1" i="0">
                <a:solidFill>
                  <a:srgbClr val="647781"/>
                </a:solidFill>
                <a:latin typeface="Calibri"/>
                <a:ea typeface="Calibri"/>
                <a:cs typeface="Calibri"/>
              </a:rPr>
              <a:t>EXAMPLE RULE IN CODE</a:t>
            </a:r>
          </a:p>
        </p:txBody>
      </p:sp>
      <p:sp>
        <p:nvSpPr>
          <p:cNvPr id="9" name="Rectangle 8">
            <a:extLst>
              <a:ext uri="{FF2B5EF4-FFF2-40B4-BE49-F238E27FC236}">
                <a16:creationId xmlns:a16="http://schemas.microsoft.com/office/drawing/2014/main" xmlns="" id="{A03E4ADC-B62A-4B0D-BCC3-BEC914E1982A}"/>
              </a:ext>
            </a:extLst>
          </p:cNvPr>
          <p:cNvSpPr>
            <a:spLocks noGrp="1"/>
          </p:cNvSpPr>
          <p:nvPr/>
        </p:nvSpPr>
        <p:spPr>
          <a:xfrm>
            <a:off x="5676900" y="1457325"/>
            <a:ext cx="1333500" cy="238125"/>
          </a:xfrm>
          <a:prstGeom prst="rect">
            <a:avLst/>
          </a:prstGeom>
          <a:noFill/>
          <a:ln w="0">
            <a:noFill/>
            <a:prstDash val="solid"/>
          </a:ln>
        </p:spPr>
        <p:txBody>
          <a:bodyPr wrap="square" lIns="0" tIns="0" rIns="0" bIns="0" anchor="ctr">
            <a:normAutofit/>
          </a:bodyPr>
          <a:lstStyle>
            <a:defPPr algn="l">
              <a:defRPr sz="975" b="1" i="0">
                <a:solidFill>
                  <a:srgbClr val="647781"/>
                </a:solidFill>
                <a:latin typeface="Calibri"/>
                <a:ea typeface="Calibri"/>
                <a:cs typeface="Calibri"/>
              </a:defRPr>
            </a:defPPr>
            <a:lvl1pPr algn="l">
              <a:buNone/>
              <a:defRPr sz="975" b="1" i="0">
                <a:solidFill>
                  <a:srgbClr val="647781"/>
                </a:solidFill>
                <a:latin typeface="Calibri"/>
                <a:ea typeface="Calibri"/>
                <a:cs typeface="Calibri"/>
              </a:defRPr>
            </a:lvl1pPr>
            <a:lvl2pPr algn="l">
              <a:buNone/>
              <a:defRPr sz="975" b="1" i="0">
                <a:solidFill>
                  <a:srgbClr val="647781"/>
                </a:solidFill>
                <a:latin typeface="Calibri"/>
                <a:ea typeface="Calibri"/>
                <a:cs typeface="Calibri"/>
              </a:defRPr>
            </a:lvl2pPr>
            <a:lvl3pPr algn="l">
              <a:buNone/>
              <a:defRPr sz="975" b="1" i="0">
                <a:solidFill>
                  <a:srgbClr val="647781"/>
                </a:solidFill>
                <a:latin typeface="Calibri"/>
                <a:ea typeface="Calibri"/>
                <a:cs typeface="Calibri"/>
              </a:defRPr>
            </a:lvl3pPr>
            <a:lvl4pPr algn="l">
              <a:buNone/>
              <a:defRPr sz="975" b="1" i="0">
                <a:solidFill>
                  <a:srgbClr val="647781"/>
                </a:solidFill>
                <a:latin typeface="Calibri"/>
                <a:ea typeface="Calibri"/>
                <a:cs typeface="Calibri"/>
              </a:defRPr>
            </a:lvl4pPr>
            <a:lvl5pPr algn="l">
              <a:buNone/>
              <a:defRPr sz="975" b="1" i="0">
                <a:solidFill>
                  <a:srgbClr val="647781"/>
                </a:solidFill>
                <a:latin typeface="Calibri"/>
                <a:ea typeface="Calibri"/>
                <a:cs typeface="Calibri"/>
              </a:defRPr>
            </a:lvl5pPr>
            <a:lvl6pPr algn="l">
              <a:buNone/>
              <a:defRPr sz="975" b="1" i="0">
                <a:solidFill>
                  <a:srgbClr val="647781"/>
                </a:solidFill>
                <a:latin typeface="Calibri"/>
                <a:ea typeface="Calibri"/>
                <a:cs typeface="Calibri"/>
              </a:defRPr>
            </a:lvl6pPr>
            <a:lvl7pPr algn="l">
              <a:buNone/>
              <a:defRPr sz="975" b="1" i="0">
                <a:solidFill>
                  <a:srgbClr val="647781"/>
                </a:solidFill>
                <a:latin typeface="Calibri"/>
                <a:ea typeface="Calibri"/>
                <a:cs typeface="Calibri"/>
              </a:defRPr>
            </a:lvl7pPr>
            <a:lvl8pPr algn="l">
              <a:buNone/>
              <a:defRPr sz="975" b="1" i="0">
                <a:solidFill>
                  <a:srgbClr val="647781"/>
                </a:solidFill>
                <a:latin typeface="Calibri"/>
                <a:ea typeface="Calibri"/>
                <a:cs typeface="Calibri"/>
              </a:defRPr>
            </a:lvl8pPr>
            <a:lvl9pPr algn="l">
              <a:buNone/>
              <a:defRPr sz="975" b="1" i="0">
                <a:solidFill>
                  <a:srgbClr val="647781"/>
                </a:solidFill>
                <a:latin typeface="Calibri"/>
                <a:ea typeface="Calibri"/>
                <a:cs typeface="Calibri"/>
              </a:defRPr>
            </a:lvl9pPr>
          </a:lstStyle>
          <a:p>
            <a:pPr algn="l">
              <a:lnSpc>
                <a:spcPct val="108000"/>
              </a:lnSpc>
              <a:buNone/>
              <a:defRPr sz="975" b="1" i="0">
                <a:solidFill>
                  <a:srgbClr val="647781"/>
                </a:solidFill>
                <a:latin typeface="Calibri"/>
                <a:ea typeface="Calibri"/>
                <a:cs typeface="Calibri"/>
              </a:defRPr>
            </a:pPr>
            <a:r>
              <a:rPr sz="975" b="1" i="0">
                <a:solidFill>
                  <a:srgbClr val="647781"/>
                </a:solidFill>
                <a:latin typeface="Calibri"/>
                <a:ea typeface="Calibri"/>
                <a:cs typeface="Calibri"/>
              </a:rPr>
              <a:t>FOLLOW-UP IN APP</a:t>
            </a:r>
          </a:p>
        </p:txBody>
      </p:sp>
      <p:sp>
        <p:nvSpPr>
          <p:cNvPr id="10" name="Rectangle 9">
            <a:extLst>
              <a:ext uri="{FF2B5EF4-FFF2-40B4-BE49-F238E27FC236}">
                <a16:creationId xmlns:a16="http://schemas.microsoft.com/office/drawing/2014/main" xmlns="" id="{00868F52-60AD-4721-B202-793E789A496E}"/>
              </a:ext>
            </a:extLst>
          </p:cNvPr>
          <p:cNvSpPr>
            <a:spLocks noGrp="1"/>
          </p:cNvSpPr>
          <p:nvPr/>
        </p:nvSpPr>
        <p:spPr>
          <a:xfrm>
            <a:off x="552450" y="1847850"/>
            <a:ext cx="1714500" cy="381000"/>
          </a:xfrm>
          <a:prstGeom prst="rect">
            <a:avLst/>
          </a:prstGeom>
          <a:noFill/>
          <a:ln w="0">
            <a:noFill/>
            <a:prstDash val="solid"/>
          </a:ln>
        </p:spPr>
        <p:txBody>
          <a:bodyPr wrap="square" lIns="0" tIns="0" rIns="0" bIns="0" anchor="ctr">
            <a:normAutofit/>
          </a:bodyPr>
          <a:lstStyle>
            <a:defPPr algn="l">
              <a:defRPr sz="1313" b="1" i="0">
                <a:solidFill>
                  <a:srgbClr val="D76A55"/>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a:pPr algn="l">
              <a:lnSpc>
                <a:spcPct val="108000"/>
              </a:lnSpc>
              <a:buNone/>
              <a:defRPr sz="1275" b="1" i="0">
                <a:solidFill>
                  <a:srgbClr val="123F50"/>
                </a:solidFill>
                <a:latin typeface="Calibri"/>
                <a:ea typeface="Calibri"/>
                <a:cs typeface="Calibri"/>
              </a:defRPr>
            </a:pPr>
            <a:r>
              <a:rPr sz="1313" b="1" i="0">
                <a:solidFill>
                  <a:srgbClr val="D76A55"/>
                </a:solidFill>
                <a:latin typeface="Calibri"/>
                <a:ea typeface="Calibri"/>
                <a:cs typeface="Calibri"/>
              </a:rPr>
              <a:t>Heart rate</a:t>
            </a:r>
          </a:p>
        </p:txBody>
      </p:sp>
      <p:sp>
        <p:nvSpPr>
          <p:cNvPr id="11" name="Rectangle 10">
            <a:extLst>
              <a:ext uri="{FF2B5EF4-FFF2-40B4-BE49-F238E27FC236}">
                <a16:creationId xmlns:a16="http://schemas.microsoft.com/office/drawing/2014/main" xmlns="" id="{04CED08C-597A-4D77-8552-83B8B339DFB8}"/>
              </a:ext>
            </a:extLst>
          </p:cNvPr>
          <p:cNvSpPr>
            <a:spLocks noGrp="1"/>
          </p:cNvSpPr>
          <p:nvPr/>
        </p:nvSpPr>
        <p:spPr>
          <a:xfrm>
            <a:off x="2381250" y="1847850"/>
            <a:ext cx="3095625" cy="476250"/>
          </a:xfrm>
          <a:prstGeom prst="rect">
            <a:avLst/>
          </a:prstGeom>
          <a:noFill/>
          <a:ln w="0">
            <a:noFill/>
            <a:prstDash val="solid"/>
          </a:ln>
        </p:spPr>
        <p:txBody>
          <a:bodyPr wrap="square" lIns="0" tIns="0" rIns="0" bIns="0" anchor="ctr">
            <a:normAutofit/>
          </a:bodyPr>
          <a:lstStyle>
            <a:defPPr algn="l">
              <a:defRPr sz="1125" b="0" i="0">
                <a:solidFill>
                  <a:srgbClr val="304F5B"/>
                </a:solidFill>
                <a:latin typeface="Calibri"/>
                <a:ea typeface="Calibri"/>
                <a:cs typeface="Calibri"/>
              </a:defRPr>
            </a:defPPr>
            <a:lvl1pPr algn="l">
              <a:buNone/>
              <a:defRPr sz="1163" b="0" i="0">
                <a:solidFill>
                  <a:srgbClr val="263C45"/>
                </a:solidFill>
                <a:latin typeface="Calibri"/>
                <a:ea typeface="Calibri"/>
                <a:cs typeface="Calibri"/>
              </a:defRPr>
            </a:lvl1pPr>
            <a:lvl2pPr algn="l">
              <a:buNone/>
              <a:defRPr sz="1163" b="0" i="0">
                <a:solidFill>
                  <a:srgbClr val="263C45"/>
                </a:solidFill>
                <a:latin typeface="Calibri"/>
                <a:ea typeface="Calibri"/>
                <a:cs typeface="Calibri"/>
              </a:defRPr>
            </a:lvl2pPr>
            <a:lvl3pPr algn="l">
              <a:buNone/>
              <a:defRPr sz="1163" b="0" i="0">
                <a:solidFill>
                  <a:srgbClr val="263C45"/>
                </a:solidFill>
                <a:latin typeface="Calibri"/>
                <a:ea typeface="Calibri"/>
                <a:cs typeface="Calibri"/>
              </a:defRPr>
            </a:lvl3pPr>
            <a:lvl4pPr algn="l">
              <a:buNone/>
              <a:defRPr sz="1163" b="0" i="0">
                <a:solidFill>
                  <a:srgbClr val="263C45"/>
                </a:solidFill>
                <a:latin typeface="Calibri"/>
                <a:ea typeface="Calibri"/>
                <a:cs typeface="Calibri"/>
              </a:defRPr>
            </a:lvl4pPr>
            <a:lvl5pPr algn="l">
              <a:buNone/>
              <a:defRPr sz="1163" b="0" i="0">
                <a:solidFill>
                  <a:srgbClr val="263C45"/>
                </a:solidFill>
                <a:latin typeface="Calibri"/>
                <a:ea typeface="Calibri"/>
                <a:cs typeface="Calibri"/>
              </a:defRPr>
            </a:lvl5pPr>
            <a:lvl6pPr algn="l">
              <a:buNone/>
              <a:defRPr sz="1163" b="0" i="0">
                <a:solidFill>
                  <a:srgbClr val="263C45"/>
                </a:solidFill>
                <a:latin typeface="Calibri"/>
                <a:ea typeface="Calibri"/>
                <a:cs typeface="Calibri"/>
              </a:defRPr>
            </a:lvl6pPr>
            <a:lvl7pPr algn="l">
              <a:buNone/>
              <a:defRPr sz="1163" b="0" i="0">
                <a:solidFill>
                  <a:srgbClr val="263C45"/>
                </a:solidFill>
                <a:latin typeface="Calibri"/>
                <a:ea typeface="Calibri"/>
                <a:cs typeface="Calibri"/>
              </a:defRPr>
            </a:lvl7pPr>
            <a:lvl8pPr algn="l">
              <a:buNone/>
              <a:defRPr sz="1163" b="0" i="0">
                <a:solidFill>
                  <a:srgbClr val="263C45"/>
                </a:solidFill>
                <a:latin typeface="Calibri"/>
                <a:ea typeface="Calibri"/>
                <a:cs typeface="Calibri"/>
              </a:defRPr>
            </a:lvl8pPr>
            <a:lvl9pPr algn="l">
              <a:buNone/>
              <a:defRPr sz="1163" b="0" i="0">
                <a:solidFill>
                  <a:srgbClr val="263C45"/>
                </a:solidFill>
                <a:latin typeface="Calibri"/>
                <a:ea typeface="Calibri"/>
                <a:cs typeface="Calibri"/>
              </a:defRPr>
            </a:lvl9pPr>
          </a:lstStyle>
          <a:p>
            <a:pPr algn="l">
              <a:lnSpc>
                <a:spcPct val="108000"/>
              </a:lnSpc>
              <a:buNone/>
              <a:defRPr sz="1163" b="0" i="0">
                <a:solidFill>
                  <a:srgbClr val="263C45"/>
                </a:solidFill>
                <a:latin typeface="Calibri"/>
                <a:ea typeface="Calibri"/>
                <a:cs typeface="Calibri"/>
              </a:defRPr>
            </a:pPr>
            <a:r>
              <a:rPr sz="1125" b="0" i="0">
                <a:solidFill>
                  <a:srgbClr val="304F5B"/>
                </a:solidFill>
                <a:latin typeface="Calibri"/>
                <a:ea typeface="Calibri"/>
                <a:cs typeface="Calibri"/>
              </a:rPr>
              <a:t>&gt;120 or &lt;50 bpm → HIGH; &gt;100 → MEDIUM</a:t>
            </a:r>
          </a:p>
        </p:txBody>
      </p:sp>
      <p:sp>
        <p:nvSpPr>
          <p:cNvPr id="12" name="Rectangle 11">
            <a:extLst>
              <a:ext uri="{FF2B5EF4-FFF2-40B4-BE49-F238E27FC236}">
                <a16:creationId xmlns:a16="http://schemas.microsoft.com/office/drawing/2014/main" xmlns="" id="{67E33EB2-12BB-43A9-A955-98753ECB5180}"/>
              </a:ext>
            </a:extLst>
          </p:cNvPr>
          <p:cNvSpPr>
            <a:spLocks noGrp="1"/>
          </p:cNvSpPr>
          <p:nvPr/>
        </p:nvSpPr>
        <p:spPr>
          <a:xfrm>
            <a:off x="5676900" y="1847850"/>
            <a:ext cx="1333500" cy="381000"/>
          </a:xfrm>
          <a:prstGeom prst="rect">
            <a:avLst/>
          </a:prstGeom>
          <a:noFill/>
          <a:ln w="0">
            <a:noFill/>
            <a:prstDash val="solid"/>
          </a:ln>
        </p:spPr>
        <p:txBody>
          <a:bodyPr wrap="square" lIns="0" tIns="0" rIns="0" bIns="0" anchor="ctr">
            <a:normAutofit/>
          </a:bodyPr>
          <a:lstStyle>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13" name="Straight Connector 12">
            <a:extLst>
              <a:ext uri="{FF2B5EF4-FFF2-40B4-BE49-F238E27FC236}">
                <a16:creationId xmlns:a16="http://schemas.microsoft.com/office/drawing/2014/main" xmlns="" id="{8F1C1970-DDC9-4310-ABB9-443AE6FFFCD9}"/>
              </a:ext>
            </a:extLst>
          </p:cNvPr>
          <p:cNvSpPr>
            <a:spLocks noGrp="1"/>
          </p:cNvSpPr>
          <p:nvPr/>
        </p:nvSpPr>
        <p:spPr>
          <a:xfrm>
            <a:off x="552450" y="2352675"/>
            <a:ext cx="6457950" cy="4763"/>
          </a:xfrm>
          <a:prstGeom prst="line">
            <a:avLst/>
          </a:prstGeom>
          <a:noFill/>
          <a:ln w="9525">
            <a:solidFill>
              <a:srgbClr val="DDE7E6"/>
            </a:solidFill>
            <a:prstDash val="solid"/>
          </a:ln>
        </p:spPr>
      </p:sp>
      <p:sp>
        <p:nvSpPr>
          <p:cNvPr id="14" name="Rectangle 13">
            <a:extLst>
              <a:ext uri="{FF2B5EF4-FFF2-40B4-BE49-F238E27FC236}">
                <a16:creationId xmlns:a16="http://schemas.microsoft.com/office/drawing/2014/main" xmlns="" id="{61AC4CAA-66C0-41C3-8088-E021664E0016}"/>
              </a:ext>
            </a:extLst>
          </p:cNvPr>
          <p:cNvSpPr>
            <a:spLocks noGrp="1"/>
          </p:cNvSpPr>
          <p:nvPr/>
        </p:nvSpPr>
        <p:spPr>
          <a:xfrm>
            <a:off x="552450" y="2419350"/>
            <a:ext cx="1714500" cy="381000"/>
          </a:xfrm>
          <a:prstGeom prst="rect">
            <a:avLst/>
          </a:prstGeom>
          <a:noFill/>
          <a:ln w="0">
            <a:noFill/>
            <a:prstDash val="solid"/>
          </a:ln>
        </p:spPr>
        <p:txBody>
          <a:bodyPr wrap="square" lIns="0" tIns="0" rIns="0" bIns="0" anchor="ctr">
            <a:normAutofit/>
          </a:bodyPr>
          <a:lstStyle>
            <a:defPPr algn="l">
              <a:defRPr sz="1313" b="1" i="0">
                <a:solidFill>
                  <a:srgbClr val="C88625"/>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a:pPr algn="l">
              <a:lnSpc>
                <a:spcPct val="108000"/>
              </a:lnSpc>
              <a:buNone/>
              <a:defRPr sz="1275" b="1" i="0">
                <a:solidFill>
                  <a:srgbClr val="123F50"/>
                </a:solidFill>
                <a:latin typeface="Calibri"/>
                <a:ea typeface="Calibri"/>
                <a:cs typeface="Calibri"/>
              </a:defRPr>
            </a:pPr>
            <a:r>
              <a:rPr sz="1313" b="1" i="0">
                <a:solidFill>
                  <a:srgbClr val="C88625"/>
                </a:solidFill>
                <a:latin typeface="Calibri"/>
                <a:ea typeface="Calibri"/>
                <a:cs typeface="Calibri"/>
              </a:rPr>
              <a:t>Blood pressure</a:t>
            </a:r>
          </a:p>
        </p:txBody>
      </p:sp>
      <p:sp>
        <p:nvSpPr>
          <p:cNvPr id="15" name="Rectangle 14">
            <a:extLst>
              <a:ext uri="{FF2B5EF4-FFF2-40B4-BE49-F238E27FC236}">
                <a16:creationId xmlns:a16="http://schemas.microsoft.com/office/drawing/2014/main" xmlns="" id="{F0B0EC37-E183-47DD-AE0B-A2601EE88F08}"/>
              </a:ext>
            </a:extLst>
          </p:cNvPr>
          <p:cNvSpPr>
            <a:spLocks noGrp="1"/>
          </p:cNvSpPr>
          <p:nvPr/>
        </p:nvSpPr>
        <p:spPr>
          <a:xfrm>
            <a:off x="2381250" y="2419350"/>
            <a:ext cx="3095625" cy="476250"/>
          </a:xfrm>
          <a:prstGeom prst="rect">
            <a:avLst/>
          </a:prstGeom>
          <a:noFill/>
          <a:ln w="0">
            <a:noFill/>
            <a:prstDash val="solid"/>
          </a:ln>
        </p:spPr>
        <p:txBody>
          <a:bodyPr wrap="square" lIns="0" tIns="0" rIns="0" bIns="0" anchor="ctr">
            <a:normAutofit/>
          </a:bodyPr>
          <a:lstStyle>
            <a:defPPr algn="l">
              <a:defRPr sz="1013" b="0" i="0">
                <a:solidFill>
                  <a:srgbClr val="304F5B"/>
                </a:solidFill>
                <a:latin typeface="Calibri"/>
                <a:ea typeface="Calibri"/>
                <a:cs typeface="Calibri"/>
              </a:defRPr>
            </a:defPPr>
            <a:lvl1pPr algn="l">
              <a:buNone/>
              <a:defRPr sz="1013" b="0" i="0">
                <a:solidFill>
                  <a:srgbClr val="263C45"/>
                </a:solidFill>
                <a:latin typeface="Calibri"/>
                <a:ea typeface="Calibri"/>
                <a:cs typeface="Calibri"/>
              </a:defRPr>
            </a:lvl1pPr>
            <a:lvl2pPr algn="l">
              <a:buNone/>
              <a:defRPr sz="1013" b="0" i="0">
                <a:solidFill>
                  <a:srgbClr val="263C45"/>
                </a:solidFill>
                <a:latin typeface="Calibri"/>
                <a:ea typeface="Calibri"/>
                <a:cs typeface="Calibri"/>
              </a:defRPr>
            </a:lvl2pPr>
            <a:lvl3pPr algn="l">
              <a:buNone/>
              <a:defRPr sz="1013" b="0" i="0">
                <a:solidFill>
                  <a:srgbClr val="263C45"/>
                </a:solidFill>
                <a:latin typeface="Calibri"/>
                <a:ea typeface="Calibri"/>
                <a:cs typeface="Calibri"/>
              </a:defRPr>
            </a:lvl3pPr>
            <a:lvl4pPr algn="l">
              <a:buNone/>
              <a:defRPr sz="1013" b="0" i="0">
                <a:solidFill>
                  <a:srgbClr val="263C45"/>
                </a:solidFill>
                <a:latin typeface="Calibri"/>
                <a:ea typeface="Calibri"/>
                <a:cs typeface="Calibri"/>
              </a:defRPr>
            </a:lvl4pPr>
            <a:lvl5pPr algn="l">
              <a:buNone/>
              <a:defRPr sz="1013" b="0" i="0">
                <a:solidFill>
                  <a:srgbClr val="263C45"/>
                </a:solidFill>
                <a:latin typeface="Calibri"/>
                <a:ea typeface="Calibri"/>
                <a:cs typeface="Calibri"/>
              </a:defRPr>
            </a:lvl5pPr>
            <a:lvl6pPr algn="l">
              <a:buNone/>
              <a:defRPr sz="1013" b="0" i="0">
                <a:solidFill>
                  <a:srgbClr val="263C45"/>
                </a:solidFill>
                <a:latin typeface="Calibri"/>
                <a:ea typeface="Calibri"/>
                <a:cs typeface="Calibri"/>
              </a:defRPr>
            </a:lvl6pPr>
            <a:lvl7pPr algn="l">
              <a:buNone/>
              <a:defRPr sz="1013" b="0" i="0">
                <a:solidFill>
                  <a:srgbClr val="263C45"/>
                </a:solidFill>
                <a:latin typeface="Calibri"/>
                <a:ea typeface="Calibri"/>
                <a:cs typeface="Calibri"/>
              </a:defRPr>
            </a:lvl7pPr>
            <a:lvl8pPr algn="l">
              <a:buNone/>
              <a:defRPr sz="1013" b="0" i="0">
                <a:solidFill>
                  <a:srgbClr val="263C45"/>
                </a:solidFill>
                <a:latin typeface="Calibri"/>
                <a:ea typeface="Calibri"/>
                <a:cs typeface="Calibri"/>
              </a:defRPr>
            </a:lvl8pPr>
            <a:lvl9pPr algn="l">
              <a:buNone/>
              <a:defRPr sz="1013" b="0" i="0">
                <a:solidFill>
                  <a:srgbClr val="263C45"/>
                </a:solidFill>
                <a:latin typeface="Calibri"/>
                <a:ea typeface="Calibri"/>
                <a:cs typeface="Calibri"/>
              </a:defRPr>
            </a:lvl9pPr>
          </a:lstStyle>
          <a:p>
            <a:pPr algn="l">
              <a:lnSpc>
                <a:spcPct val="108000"/>
              </a:lnSpc>
              <a:buNone/>
              <a:defRPr sz="1013" b="0" i="0">
                <a:solidFill>
                  <a:srgbClr val="263C45"/>
                </a:solidFill>
                <a:latin typeface="Calibri"/>
                <a:ea typeface="Calibri"/>
                <a:cs typeface="Calibri"/>
              </a:defRPr>
            </a:pPr>
            <a:r>
              <a:rPr sz="1013" b="0" i="0">
                <a:solidFill>
                  <a:srgbClr val="304F5B"/>
                </a:solidFill>
                <a:latin typeface="Calibri"/>
                <a:ea typeface="Calibri"/>
                <a:cs typeface="Calibri"/>
              </a:rPr>
              <a:t>SBP ≥180 or DBP ≥120 → CRITICAL; SBP ≥160 or DBP ≥100 → HIGH; SBP ≥140 or DBP ≥90 → MEDIUM</a:t>
            </a:r>
          </a:p>
        </p:txBody>
      </p:sp>
      <p:sp>
        <p:nvSpPr>
          <p:cNvPr id="16" name="Rectangle 15">
            <a:extLst>
              <a:ext uri="{FF2B5EF4-FFF2-40B4-BE49-F238E27FC236}">
                <a16:creationId xmlns:a16="http://schemas.microsoft.com/office/drawing/2014/main" xmlns="" id="{81C848CA-D81C-4DA5-8B5D-A5E0248F0B35}"/>
              </a:ext>
            </a:extLst>
          </p:cNvPr>
          <p:cNvSpPr>
            <a:spLocks noGrp="1"/>
          </p:cNvSpPr>
          <p:nvPr/>
        </p:nvSpPr>
        <p:spPr>
          <a:xfrm>
            <a:off x="5676900" y="2419350"/>
            <a:ext cx="1333500" cy="381000"/>
          </a:xfrm>
          <a:prstGeom prst="rect">
            <a:avLst/>
          </a:prstGeom>
          <a:noFill/>
          <a:ln w="0">
            <a:noFill/>
            <a:prstDash val="solid"/>
          </a:ln>
        </p:spPr>
        <p:txBody>
          <a:bodyPr wrap="square" lIns="0" tIns="0" rIns="0" bIns="0" anchor="ctr">
            <a:normAutofit/>
          </a:bodyPr>
          <a:lstStyle>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17" name="Straight Connector 16">
            <a:extLst>
              <a:ext uri="{FF2B5EF4-FFF2-40B4-BE49-F238E27FC236}">
                <a16:creationId xmlns:a16="http://schemas.microsoft.com/office/drawing/2014/main" xmlns="" id="{EB77416B-731A-4C34-94D2-D55E1C84F98E}"/>
              </a:ext>
            </a:extLst>
          </p:cNvPr>
          <p:cNvSpPr>
            <a:spLocks noGrp="1"/>
          </p:cNvSpPr>
          <p:nvPr/>
        </p:nvSpPr>
        <p:spPr>
          <a:xfrm>
            <a:off x="552450" y="2924175"/>
            <a:ext cx="6457950" cy="4763"/>
          </a:xfrm>
          <a:prstGeom prst="line">
            <a:avLst/>
          </a:prstGeom>
          <a:noFill/>
          <a:ln w="9525">
            <a:solidFill>
              <a:srgbClr val="DDE7E6"/>
            </a:solidFill>
            <a:prstDash val="solid"/>
          </a:ln>
        </p:spPr>
      </p:sp>
      <p:sp>
        <p:nvSpPr>
          <p:cNvPr id="18" name="Rectangle 17">
            <a:extLst>
              <a:ext uri="{FF2B5EF4-FFF2-40B4-BE49-F238E27FC236}">
                <a16:creationId xmlns:a16="http://schemas.microsoft.com/office/drawing/2014/main" xmlns="" id="{7D06D34C-72B2-48C0-B84B-93E3CF5170F1}"/>
              </a:ext>
            </a:extLst>
          </p:cNvPr>
          <p:cNvSpPr>
            <a:spLocks noGrp="1"/>
          </p:cNvSpPr>
          <p:nvPr/>
        </p:nvSpPr>
        <p:spPr>
          <a:xfrm>
            <a:off x="552450" y="2990850"/>
            <a:ext cx="1714500" cy="381000"/>
          </a:xfrm>
          <a:prstGeom prst="rect">
            <a:avLst/>
          </a:prstGeom>
          <a:noFill/>
          <a:ln w="0">
            <a:noFill/>
            <a:prstDash val="solid"/>
          </a:ln>
        </p:spPr>
        <p:txBody>
          <a:bodyPr wrap="square" lIns="0" tIns="0" rIns="0" bIns="0" anchor="ctr">
            <a:normAutofit/>
          </a:bodyPr>
          <a:lstStyle>
            <a:defPPr algn="l">
              <a:defRPr sz="1313" b="1" i="0">
                <a:solidFill>
                  <a:srgbClr val="258FB1"/>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a:pPr algn="l">
              <a:lnSpc>
                <a:spcPct val="108000"/>
              </a:lnSpc>
              <a:buNone/>
              <a:defRPr sz="1275" b="1" i="0">
                <a:solidFill>
                  <a:srgbClr val="123F50"/>
                </a:solidFill>
                <a:latin typeface="Calibri"/>
                <a:ea typeface="Calibri"/>
                <a:cs typeface="Calibri"/>
              </a:defRPr>
            </a:pPr>
            <a:r>
              <a:rPr sz="1313" b="1" i="0">
                <a:solidFill>
                  <a:srgbClr val="258FB1"/>
                </a:solidFill>
                <a:latin typeface="Calibri"/>
                <a:ea typeface="Calibri"/>
                <a:cs typeface="Calibri"/>
              </a:rPr>
              <a:t>Oxygen</a:t>
            </a:r>
          </a:p>
        </p:txBody>
      </p:sp>
      <p:sp>
        <p:nvSpPr>
          <p:cNvPr id="19" name="Rectangle 18">
            <a:extLst>
              <a:ext uri="{FF2B5EF4-FFF2-40B4-BE49-F238E27FC236}">
                <a16:creationId xmlns:a16="http://schemas.microsoft.com/office/drawing/2014/main" xmlns="" id="{7CD31BB3-5185-4A99-A352-44F1EEFA0D9F}"/>
              </a:ext>
            </a:extLst>
          </p:cNvPr>
          <p:cNvSpPr>
            <a:spLocks noGrp="1"/>
          </p:cNvSpPr>
          <p:nvPr/>
        </p:nvSpPr>
        <p:spPr>
          <a:xfrm>
            <a:off x="2381250" y="2990850"/>
            <a:ext cx="3095625" cy="476250"/>
          </a:xfrm>
          <a:prstGeom prst="rect">
            <a:avLst/>
          </a:prstGeom>
          <a:noFill/>
          <a:ln w="0">
            <a:noFill/>
            <a:prstDash val="solid"/>
          </a:ln>
        </p:spPr>
        <p:txBody>
          <a:bodyPr wrap="square" lIns="0" tIns="0" rIns="0" bIns="0" anchor="ctr">
            <a:normAutofit/>
          </a:bodyPr>
          <a:lstStyle>
            <a:defPPr algn="l">
              <a:defRPr sz="1125" b="0" i="0">
                <a:solidFill>
                  <a:srgbClr val="304F5B"/>
                </a:solidFill>
                <a:latin typeface="Calibri"/>
                <a:ea typeface="Calibri"/>
                <a:cs typeface="Calibri"/>
              </a:defRPr>
            </a:defPPr>
            <a:lvl1pPr algn="l">
              <a:buNone/>
              <a:defRPr sz="1163" b="0" i="0">
                <a:solidFill>
                  <a:srgbClr val="263C45"/>
                </a:solidFill>
                <a:latin typeface="Calibri"/>
                <a:ea typeface="Calibri"/>
                <a:cs typeface="Calibri"/>
              </a:defRPr>
            </a:lvl1pPr>
            <a:lvl2pPr algn="l">
              <a:buNone/>
              <a:defRPr sz="1163" b="0" i="0">
                <a:solidFill>
                  <a:srgbClr val="263C45"/>
                </a:solidFill>
                <a:latin typeface="Calibri"/>
                <a:ea typeface="Calibri"/>
                <a:cs typeface="Calibri"/>
              </a:defRPr>
            </a:lvl2pPr>
            <a:lvl3pPr algn="l">
              <a:buNone/>
              <a:defRPr sz="1163" b="0" i="0">
                <a:solidFill>
                  <a:srgbClr val="263C45"/>
                </a:solidFill>
                <a:latin typeface="Calibri"/>
                <a:ea typeface="Calibri"/>
                <a:cs typeface="Calibri"/>
              </a:defRPr>
            </a:lvl3pPr>
            <a:lvl4pPr algn="l">
              <a:buNone/>
              <a:defRPr sz="1163" b="0" i="0">
                <a:solidFill>
                  <a:srgbClr val="263C45"/>
                </a:solidFill>
                <a:latin typeface="Calibri"/>
                <a:ea typeface="Calibri"/>
                <a:cs typeface="Calibri"/>
              </a:defRPr>
            </a:lvl4pPr>
            <a:lvl5pPr algn="l">
              <a:buNone/>
              <a:defRPr sz="1163" b="0" i="0">
                <a:solidFill>
                  <a:srgbClr val="263C45"/>
                </a:solidFill>
                <a:latin typeface="Calibri"/>
                <a:ea typeface="Calibri"/>
                <a:cs typeface="Calibri"/>
              </a:defRPr>
            </a:lvl5pPr>
            <a:lvl6pPr algn="l">
              <a:buNone/>
              <a:defRPr sz="1163" b="0" i="0">
                <a:solidFill>
                  <a:srgbClr val="263C45"/>
                </a:solidFill>
                <a:latin typeface="Calibri"/>
                <a:ea typeface="Calibri"/>
                <a:cs typeface="Calibri"/>
              </a:defRPr>
            </a:lvl6pPr>
            <a:lvl7pPr algn="l">
              <a:buNone/>
              <a:defRPr sz="1163" b="0" i="0">
                <a:solidFill>
                  <a:srgbClr val="263C45"/>
                </a:solidFill>
                <a:latin typeface="Calibri"/>
                <a:ea typeface="Calibri"/>
                <a:cs typeface="Calibri"/>
              </a:defRPr>
            </a:lvl7pPr>
            <a:lvl8pPr algn="l">
              <a:buNone/>
              <a:defRPr sz="1163" b="0" i="0">
                <a:solidFill>
                  <a:srgbClr val="263C45"/>
                </a:solidFill>
                <a:latin typeface="Calibri"/>
                <a:ea typeface="Calibri"/>
                <a:cs typeface="Calibri"/>
              </a:defRPr>
            </a:lvl8pPr>
            <a:lvl9pPr algn="l">
              <a:buNone/>
              <a:defRPr sz="1163" b="0" i="0">
                <a:solidFill>
                  <a:srgbClr val="263C45"/>
                </a:solidFill>
                <a:latin typeface="Calibri"/>
                <a:ea typeface="Calibri"/>
                <a:cs typeface="Calibri"/>
              </a:defRPr>
            </a:lvl9pPr>
          </a:lstStyle>
          <a:p>
            <a:pPr algn="l">
              <a:lnSpc>
                <a:spcPct val="108000"/>
              </a:lnSpc>
              <a:buNone/>
              <a:defRPr sz="1163" b="0" i="0">
                <a:solidFill>
                  <a:srgbClr val="263C45"/>
                </a:solidFill>
                <a:latin typeface="Calibri"/>
                <a:ea typeface="Calibri"/>
                <a:cs typeface="Calibri"/>
              </a:defRPr>
            </a:pPr>
            <a:r>
              <a:rPr sz="1125" b="0" i="0">
                <a:solidFill>
                  <a:srgbClr val="304F5B"/>
                </a:solidFill>
                <a:latin typeface="Calibri"/>
                <a:ea typeface="Calibri"/>
                <a:cs typeface="Calibri"/>
              </a:rPr>
              <a:t>SpO₂ &lt;90% → HIGH</a:t>
            </a:r>
          </a:p>
        </p:txBody>
      </p:sp>
      <p:sp>
        <p:nvSpPr>
          <p:cNvPr id="20" name="Rectangle 19">
            <a:extLst>
              <a:ext uri="{FF2B5EF4-FFF2-40B4-BE49-F238E27FC236}">
                <a16:creationId xmlns:a16="http://schemas.microsoft.com/office/drawing/2014/main" xmlns="" id="{B72F1D39-22EF-4A35-8477-62751C21E0FC}"/>
              </a:ext>
            </a:extLst>
          </p:cNvPr>
          <p:cNvSpPr>
            <a:spLocks noGrp="1"/>
          </p:cNvSpPr>
          <p:nvPr/>
        </p:nvSpPr>
        <p:spPr>
          <a:xfrm>
            <a:off x="5676900" y="2990850"/>
            <a:ext cx="1333500" cy="381000"/>
          </a:xfrm>
          <a:prstGeom prst="rect">
            <a:avLst/>
          </a:prstGeom>
          <a:noFill/>
          <a:ln w="0">
            <a:noFill/>
            <a:prstDash val="solid"/>
          </a:ln>
        </p:spPr>
        <p:txBody>
          <a:bodyPr wrap="square" lIns="0" tIns="0" rIns="0" bIns="0" anchor="ctr">
            <a:normAutofit/>
          </a:bodyPr>
          <a:lstStyle>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21" name="Straight Connector 20">
            <a:extLst>
              <a:ext uri="{FF2B5EF4-FFF2-40B4-BE49-F238E27FC236}">
                <a16:creationId xmlns:a16="http://schemas.microsoft.com/office/drawing/2014/main" xmlns="" id="{408B9436-D31E-4744-A0ED-A25C90FB3437}"/>
              </a:ext>
            </a:extLst>
          </p:cNvPr>
          <p:cNvSpPr>
            <a:spLocks noGrp="1"/>
          </p:cNvSpPr>
          <p:nvPr/>
        </p:nvSpPr>
        <p:spPr>
          <a:xfrm>
            <a:off x="552450" y="3495675"/>
            <a:ext cx="6457950" cy="4763"/>
          </a:xfrm>
          <a:prstGeom prst="line">
            <a:avLst/>
          </a:prstGeom>
          <a:noFill/>
          <a:ln w="9525">
            <a:solidFill>
              <a:srgbClr val="DDE7E6"/>
            </a:solidFill>
            <a:prstDash val="solid"/>
          </a:ln>
        </p:spPr>
      </p:sp>
      <p:sp>
        <p:nvSpPr>
          <p:cNvPr id="22" name="Rectangle 21">
            <a:extLst>
              <a:ext uri="{FF2B5EF4-FFF2-40B4-BE49-F238E27FC236}">
                <a16:creationId xmlns:a16="http://schemas.microsoft.com/office/drawing/2014/main" xmlns="" id="{396914B5-F2DD-457A-8834-AA2313575EBB}"/>
              </a:ext>
            </a:extLst>
          </p:cNvPr>
          <p:cNvSpPr>
            <a:spLocks noGrp="1"/>
          </p:cNvSpPr>
          <p:nvPr/>
        </p:nvSpPr>
        <p:spPr>
          <a:xfrm>
            <a:off x="552450" y="3562350"/>
            <a:ext cx="1714500" cy="381000"/>
          </a:xfrm>
          <a:prstGeom prst="rect">
            <a:avLst/>
          </a:prstGeom>
          <a:noFill/>
          <a:ln w="0">
            <a:noFill/>
            <a:prstDash val="solid"/>
          </a:ln>
        </p:spPr>
        <p:txBody>
          <a:bodyPr wrap="square" lIns="0" tIns="0" rIns="0" bIns="0" anchor="ctr">
            <a:normAutofit/>
          </a:bodyPr>
          <a:lstStyle>
            <a:defPPr algn="l">
              <a:defRPr sz="1313" b="1" i="0">
                <a:solidFill>
                  <a:srgbClr val="825FB4"/>
                </a:solidFill>
                <a:latin typeface="Calibri"/>
                <a:ea typeface="Calibri"/>
                <a:cs typeface="Calibri"/>
              </a:defRPr>
            </a:defPPr>
            <a:lvl1pPr algn="l">
              <a:buNone/>
              <a:defRPr sz="1275" b="1" i="0">
                <a:solidFill>
                  <a:srgbClr val="123F50"/>
                </a:solidFill>
                <a:latin typeface="Calibri"/>
                <a:ea typeface="Calibri"/>
                <a:cs typeface="Calibri"/>
              </a:defRPr>
            </a:lvl1pPr>
            <a:lvl2pPr algn="l">
              <a:buNone/>
              <a:defRPr sz="1275" b="1" i="0">
                <a:solidFill>
                  <a:srgbClr val="123F50"/>
                </a:solidFill>
                <a:latin typeface="Calibri"/>
                <a:ea typeface="Calibri"/>
                <a:cs typeface="Calibri"/>
              </a:defRPr>
            </a:lvl2pPr>
            <a:lvl3pPr algn="l">
              <a:buNone/>
              <a:defRPr sz="1275" b="1" i="0">
                <a:solidFill>
                  <a:srgbClr val="123F50"/>
                </a:solidFill>
                <a:latin typeface="Calibri"/>
                <a:ea typeface="Calibri"/>
                <a:cs typeface="Calibri"/>
              </a:defRPr>
            </a:lvl3pPr>
            <a:lvl4pPr algn="l">
              <a:buNone/>
              <a:defRPr sz="1275" b="1" i="0">
                <a:solidFill>
                  <a:srgbClr val="123F50"/>
                </a:solidFill>
                <a:latin typeface="Calibri"/>
                <a:ea typeface="Calibri"/>
                <a:cs typeface="Calibri"/>
              </a:defRPr>
            </a:lvl4pPr>
            <a:lvl5pPr algn="l">
              <a:buNone/>
              <a:defRPr sz="1275" b="1" i="0">
                <a:solidFill>
                  <a:srgbClr val="123F50"/>
                </a:solidFill>
                <a:latin typeface="Calibri"/>
                <a:ea typeface="Calibri"/>
                <a:cs typeface="Calibri"/>
              </a:defRPr>
            </a:lvl5pPr>
            <a:lvl6pPr algn="l">
              <a:buNone/>
              <a:defRPr sz="1275" b="1" i="0">
                <a:solidFill>
                  <a:srgbClr val="123F50"/>
                </a:solidFill>
                <a:latin typeface="Calibri"/>
                <a:ea typeface="Calibri"/>
                <a:cs typeface="Calibri"/>
              </a:defRPr>
            </a:lvl6pPr>
            <a:lvl7pPr algn="l">
              <a:buNone/>
              <a:defRPr sz="1275" b="1" i="0">
                <a:solidFill>
                  <a:srgbClr val="123F50"/>
                </a:solidFill>
                <a:latin typeface="Calibri"/>
                <a:ea typeface="Calibri"/>
                <a:cs typeface="Calibri"/>
              </a:defRPr>
            </a:lvl7pPr>
            <a:lvl8pPr algn="l">
              <a:buNone/>
              <a:defRPr sz="1275" b="1" i="0">
                <a:solidFill>
                  <a:srgbClr val="123F50"/>
                </a:solidFill>
                <a:latin typeface="Calibri"/>
                <a:ea typeface="Calibri"/>
                <a:cs typeface="Calibri"/>
              </a:defRPr>
            </a:lvl8pPr>
            <a:lvl9pPr algn="l">
              <a:buNone/>
              <a:defRPr sz="1275" b="1" i="0">
                <a:solidFill>
                  <a:srgbClr val="123F50"/>
                </a:solidFill>
                <a:latin typeface="Calibri"/>
                <a:ea typeface="Calibri"/>
                <a:cs typeface="Calibri"/>
              </a:defRPr>
            </a:lvl9pPr>
          </a:lstStyle>
          <a:p>
            <a:pPr algn="l">
              <a:lnSpc>
                <a:spcPct val="108000"/>
              </a:lnSpc>
              <a:buNone/>
              <a:defRPr sz="1275" b="1" i="0">
                <a:solidFill>
                  <a:srgbClr val="123F50"/>
                </a:solidFill>
                <a:latin typeface="Calibri"/>
                <a:ea typeface="Calibri"/>
                <a:cs typeface="Calibri"/>
              </a:defRPr>
            </a:pPr>
            <a:r>
              <a:rPr sz="1313" b="1" i="0">
                <a:solidFill>
                  <a:srgbClr val="825FB4"/>
                </a:solidFill>
                <a:latin typeface="Calibri"/>
                <a:ea typeface="Calibri"/>
                <a:cs typeface="Calibri"/>
              </a:rPr>
              <a:t>ECG label</a:t>
            </a:r>
          </a:p>
        </p:txBody>
      </p:sp>
      <p:sp>
        <p:nvSpPr>
          <p:cNvPr id="23" name="Rectangle 22">
            <a:extLst>
              <a:ext uri="{FF2B5EF4-FFF2-40B4-BE49-F238E27FC236}">
                <a16:creationId xmlns:a16="http://schemas.microsoft.com/office/drawing/2014/main" xmlns="" id="{CAC3E99B-9B90-475E-A869-F779805EF9D1}"/>
              </a:ext>
            </a:extLst>
          </p:cNvPr>
          <p:cNvSpPr>
            <a:spLocks noGrp="1"/>
          </p:cNvSpPr>
          <p:nvPr/>
        </p:nvSpPr>
        <p:spPr>
          <a:xfrm>
            <a:off x="2381250" y="3562350"/>
            <a:ext cx="3095625" cy="476250"/>
          </a:xfrm>
          <a:prstGeom prst="rect">
            <a:avLst/>
          </a:prstGeom>
          <a:noFill/>
          <a:ln w="0">
            <a:noFill/>
            <a:prstDash val="solid"/>
          </a:ln>
        </p:spPr>
        <p:txBody>
          <a:bodyPr wrap="square" lIns="0" tIns="0" rIns="0" bIns="0" anchor="ctr">
            <a:normAutofit/>
          </a:bodyPr>
          <a:lstStyle>
            <a:defPPr algn="l">
              <a:defRPr sz="1125" b="0" i="0">
                <a:solidFill>
                  <a:srgbClr val="304F5B"/>
                </a:solidFill>
                <a:latin typeface="Calibri"/>
                <a:ea typeface="Calibri"/>
                <a:cs typeface="Calibri"/>
              </a:defRPr>
            </a:defPPr>
            <a:lvl1pPr algn="l">
              <a:buNone/>
              <a:defRPr sz="1163" b="0" i="0">
                <a:solidFill>
                  <a:srgbClr val="263C45"/>
                </a:solidFill>
                <a:latin typeface="Calibri"/>
                <a:ea typeface="Calibri"/>
                <a:cs typeface="Calibri"/>
              </a:defRPr>
            </a:lvl1pPr>
            <a:lvl2pPr algn="l">
              <a:buNone/>
              <a:defRPr sz="1163" b="0" i="0">
                <a:solidFill>
                  <a:srgbClr val="263C45"/>
                </a:solidFill>
                <a:latin typeface="Calibri"/>
                <a:ea typeface="Calibri"/>
                <a:cs typeface="Calibri"/>
              </a:defRPr>
            </a:lvl2pPr>
            <a:lvl3pPr algn="l">
              <a:buNone/>
              <a:defRPr sz="1163" b="0" i="0">
                <a:solidFill>
                  <a:srgbClr val="263C45"/>
                </a:solidFill>
                <a:latin typeface="Calibri"/>
                <a:ea typeface="Calibri"/>
                <a:cs typeface="Calibri"/>
              </a:defRPr>
            </a:lvl3pPr>
            <a:lvl4pPr algn="l">
              <a:buNone/>
              <a:defRPr sz="1163" b="0" i="0">
                <a:solidFill>
                  <a:srgbClr val="263C45"/>
                </a:solidFill>
                <a:latin typeface="Calibri"/>
                <a:ea typeface="Calibri"/>
                <a:cs typeface="Calibri"/>
              </a:defRPr>
            </a:lvl4pPr>
            <a:lvl5pPr algn="l">
              <a:buNone/>
              <a:defRPr sz="1163" b="0" i="0">
                <a:solidFill>
                  <a:srgbClr val="263C45"/>
                </a:solidFill>
                <a:latin typeface="Calibri"/>
                <a:ea typeface="Calibri"/>
                <a:cs typeface="Calibri"/>
              </a:defRPr>
            </a:lvl5pPr>
            <a:lvl6pPr algn="l">
              <a:buNone/>
              <a:defRPr sz="1163" b="0" i="0">
                <a:solidFill>
                  <a:srgbClr val="263C45"/>
                </a:solidFill>
                <a:latin typeface="Calibri"/>
                <a:ea typeface="Calibri"/>
                <a:cs typeface="Calibri"/>
              </a:defRPr>
            </a:lvl6pPr>
            <a:lvl7pPr algn="l">
              <a:buNone/>
              <a:defRPr sz="1163" b="0" i="0">
                <a:solidFill>
                  <a:srgbClr val="263C45"/>
                </a:solidFill>
                <a:latin typeface="Calibri"/>
                <a:ea typeface="Calibri"/>
                <a:cs typeface="Calibri"/>
              </a:defRPr>
            </a:lvl7pPr>
            <a:lvl8pPr algn="l">
              <a:buNone/>
              <a:defRPr sz="1163" b="0" i="0">
                <a:solidFill>
                  <a:srgbClr val="263C45"/>
                </a:solidFill>
                <a:latin typeface="Calibri"/>
                <a:ea typeface="Calibri"/>
                <a:cs typeface="Calibri"/>
              </a:defRPr>
            </a:lvl8pPr>
            <a:lvl9pPr algn="l">
              <a:buNone/>
              <a:defRPr sz="1163" b="0" i="0">
                <a:solidFill>
                  <a:srgbClr val="263C45"/>
                </a:solidFill>
                <a:latin typeface="Calibri"/>
                <a:ea typeface="Calibri"/>
                <a:cs typeface="Calibri"/>
              </a:defRPr>
            </a:lvl9pPr>
          </a:lstStyle>
          <a:p>
            <a:pPr algn="l">
              <a:lnSpc>
                <a:spcPct val="108000"/>
              </a:lnSpc>
              <a:buNone/>
              <a:defRPr sz="1163" b="0" i="0">
                <a:solidFill>
                  <a:srgbClr val="263C45"/>
                </a:solidFill>
                <a:latin typeface="Calibri"/>
                <a:ea typeface="Calibri"/>
                <a:cs typeface="Calibri"/>
              </a:defRPr>
            </a:pPr>
            <a:r>
              <a:rPr sz="1125" b="0" i="0">
                <a:solidFill>
                  <a:srgbClr val="304F5B"/>
                </a:solidFill>
                <a:latin typeface="Calibri"/>
                <a:ea typeface="Calibri"/>
                <a:cs typeface="Calibri"/>
              </a:rPr>
              <a:t>AFib / PVC / ST elevation / T-wave inversion → HIGH</a:t>
            </a:r>
          </a:p>
        </p:txBody>
      </p:sp>
      <p:sp>
        <p:nvSpPr>
          <p:cNvPr id="24" name="Rectangle 23">
            <a:extLst>
              <a:ext uri="{FF2B5EF4-FFF2-40B4-BE49-F238E27FC236}">
                <a16:creationId xmlns:a16="http://schemas.microsoft.com/office/drawing/2014/main" xmlns="" id="{3B87E684-7123-4434-96B2-B1A6E7382415}"/>
              </a:ext>
            </a:extLst>
          </p:cNvPr>
          <p:cNvSpPr>
            <a:spLocks noGrp="1"/>
          </p:cNvSpPr>
          <p:nvPr/>
        </p:nvSpPr>
        <p:spPr>
          <a:xfrm>
            <a:off x="5676900" y="3562350"/>
            <a:ext cx="1333500" cy="381000"/>
          </a:xfrm>
          <a:prstGeom prst="rect">
            <a:avLst/>
          </a:prstGeom>
          <a:noFill/>
          <a:ln w="0">
            <a:noFill/>
            <a:prstDash val="solid"/>
          </a:ln>
        </p:spPr>
        <p:txBody>
          <a:bodyPr wrap="square" lIns="0" tIns="0" rIns="0" bIns="0" anchor="ctr">
            <a:normAutofit/>
          </a:bodyPr>
          <a:lstStyle>
            <a:defPPr algn="l">
              <a:defRPr sz="1163" b="1" i="0">
                <a:solidFill>
                  <a:srgbClr val="087E83"/>
                </a:solidFill>
                <a:latin typeface="Calibri"/>
                <a:ea typeface="Calibri"/>
                <a:cs typeface="Calibri"/>
              </a:defRPr>
            </a:defPPr>
            <a:lvl1pPr algn="l">
              <a:buNone/>
              <a:defRPr sz="1163" b="1" i="0">
                <a:solidFill>
                  <a:srgbClr val="0D6F73"/>
                </a:solidFill>
                <a:latin typeface="Calibri"/>
                <a:ea typeface="Calibri"/>
                <a:cs typeface="Calibri"/>
              </a:defRPr>
            </a:lvl1pPr>
            <a:lvl2pPr algn="l">
              <a:buNone/>
              <a:defRPr sz="1163" b="1" i="0">
                <a:solidFill>
                  <a:srgbClr val="0D6F73"/>
                </a:solidFill>
                <a:latin typeface="Calibri"/>
                <a:ea typeface="Calibri"/>
                <a:cs typeface="Calibri"/>
              </a:defRPr>
            </a:lvl2pPr>
            <a:lvl3pPr algn="l">
              <a:buNone/>
              <a:defRPr sz="1163" b="1" i="0">
                <a:solidFill>
                  <a:srgbClr val="0D6F73"/>
                </a:solidFill>
                <a:latin typeface="Calibri"/>
                <a:ea typeface="Calibri"/>
                <a:cs typeface="Calibri"/>
              </a:defRPr>
            </a:lvl3pPr>
            <a:lvl4pPr algn="l">
              <a:buNone/>
              <a:defRPr sz="1163" b="1" i="0">
                <a:solidFill>
                  <a:srgbClr val="0D6F73"/>
                </a:solidFill>
                <a:latin typeface="Calibri"/>
                <a:ea typeface="Calibri"/>
                <a:cs typeface="Calibri"/>
              </a:defRPr>
            </a:lvl4pPr>
            <a:lvl5pPr algn="l">
              <a:buNone/>
              <a:defRPr sz="1163" b="1" i="0">
                <a:solidFill>
                  <a:srgbClr val="0D6F73"/>
                </a:solidFill>
                <a:latin typeface="Calibri"/>
                <a:ea typeface="Calibri"/>
                <a:cs typeface="Calibri"/>
              </a:defRPr>
            </a:lvl5pPr>
            <a:lvl6pPr algn="l">
              <a:buNone/>
              <a:defRPr sz="1163" b="1" i="0">
                <a:solidFill>
                  <a:srgbClr val="0D6F73"/>
                </a:solidFill>
                <a:latin typeface="Calibri"/>
                <a:ea typeface="Calibri"/>
                <a:cs typeface="Calibri"/>
              </a:defRPr>
            </a:lvl6pPr>
            <a:lvl7pPr algn="l">
              <a:buNone/>
              <a:defRPr sz="1163" b="1" i="0">
                <a:solidFill>
                  <a:srgbClr val="0D6F73"/>
                </a:solidFill>
                <a:latin typeface="Calibri"/>
                <a:ea typeface="Calibri"/>
                <a:cs typeface="Calibri"/>
              </a:defRPr>
            </a:lvl7pPr>
            <a:lvl8pPr algn="l">
              <a:buNone/>
              <a:defRPr sz="1163" b="1" i="0">
                <a:solidFill>
                  <a:srgbClr val="0D6F73"/>
                </a:solidFill>
                <a:latin typeface="Calibri"/>
                <a:ea typeface="Calibri"/>
                <a:cs typeface="Calibri"/>
              </a:defRPr>
            </a:lvl8pPr>
            <a:lvl9pPr algn="l">
              <a:buNone/>
              <a:defRPr sz="1163" b="1" i="0">
                <a:solidFill>
                  <a:srgbClr val="0D6F73"/>
                </a:solidFill>
                <a:latin typeface="Calibri"/>
                <a:ea typeface="Calibri"/>
                <a:cs typeface="Calibri"/>
              </a:defRPr>
            </a:lvl9pPr>
          </a:lstStyle>
          <a:p>
            <a:pPr algn="l">
              <a:lnSpc>
                <a:spcPct val="108000"/>
              </a:lnSpc>
              <a:buNone/>
              <a:defRPr sz="1163" b="1" i="0">
                <a:solidFill>
                  <a:srgbClr val="0D6F73"/>
                </a:solidFill>
                <a:latin typeface="Calibri"/>
                <a:ea typeface="Calibri"/>
                <a:cs typeface="Calibri"/>
              </a:defRPr>
            </a:pPr>
            <a:r>
              <a:rPr sz="1163" b="1" i="0">
                <a:solidFill>
                  <a:srgbClr val="087E83"/>
                </a:solidFill>
                <a:latin typeface="Calibri"/>
                <a:ea typeface="Calibri"/>
                <a:cs typeface="Calibri"/>
              </a:rPr>
              <a:t>Alert queue</a:t>
            </a:r>
          </a:p>
        </p:txBody>
      </p:sp>
      <p:sp>
        <p:nvSpPr>
          <p:cNvPr id="25" name="Straight Connector 24">
            <a:extLst>
              <a:ext uri="{FF2B5EF4-FFF2-40B4-BE49-F238E27FC236}">
                <a16:creationId xmlns:a16="http://schemas.microsoft.com/office/drawing/2014/main" xmlns="" id="{A4D27ED1-ECAD-4778-8811-27C2F12326D7}"/>
              </a:ext>
            </a:extLst>
          </p:cNvPr>
          <p:cNvSpPr>
            <a:spLocks noGrp="1"/>
          </p:cNvSpPr>
          <p:nvPr/>
        </p:nvSpPr>
        <p:spPr>
          <a:xfrm>
            <a:off x="552450" y="4067175"/>
            <a:ext cx="6457950" cy="4763"/>
          </a:xfrm>
          <a:prstGeom prst="line">
            <a:avLst/>
          </a:prstGeom>
          <a:noFill/>
          <a:ln w="9525">
            <a:solidFill>
              <a:srgbClr val="DDE7E6"/>
            </a:solidFill>
            <a:prstDash val="solid"/>
          </a:ln>
        </p:spPr>
      </p:sp>
      <p:sp>
        <p:nvSpPr>
          <p:cNvPr id="26" name="Rounded Rectangle 25">
            <a:extLst>
              <a:ext uri="{FF2B5EF4-FFF2-40B4-BE49-F238E27FC236}">
                <a16:creationId xmlns:a16="http://schemas.microsoft.com/office/drawing/2014/main" xmlns="" id="{5A7C1ACE-EBA0-4722-A236-5A2E1F00BBF7}"/>
              </a:ext>
            </a:extLst>
          </p:cNvPr>
          <p:cNvSpPr>
            <a:spLocks noGrp="1"/>
          </p:cNvSpPr>
          <p:nvPr/>
        </p:nvSpPr>
        <p:spPr>
          <a:xfrm>
            <a:off x="742950" y="4238625"/>
            <a:ext cx="6010275" cy="466725"/>
          </a:xfrm>
          <a:prstGeom prst="roundRect">
            <a:avLst>
              <a:gd name="adj" fmla="val 16327"/>
            </a:avLst>
          </a:prstGeom>
          <a:solidFill>
            <a:srgbClr val="DDF2EF"/>
          </a:solidFill>
          <a:ln w="11430">
            <a:solidFill>
              <a:srgbClr val="BEDDDA"/>
            </a:solidFill>
            <a:prstDash val="solid"/>
          </a:ln>
        </p:spPr>
        <p:txBody>
          <a:bodyPr wrap="square" lIns="95250" tIns="76200" rIns="95250" bIns="76200" anchor="ctr">
            <a:normAutofit/>
          </a:bodyPr>
          <a:lstStyle>
            <a:defPPr algn="ctr">
              <a:defRPr sz="1088" b="1">
                <a:solidFill>
                  <a:srgbClr val="8B5C54"/>
                </a:solidFill>
                <a:latin typeface="Calibri"/>
                <a:ea typeface="Calibri"/>
                <a:cs typeface="Calibri"/>
              </a:defRPr>
            </a:defPPr>
            <a:lvl1pPr algn="ctr">
              <a:buNone/>
              <a:defRPr sz="1125" b="1">
                <a:solidFill>
                  <a:srgbClr val="123F50"/>
                </a:solidFill>
                <a:latin typeface="Calibri"/>
                <a:ea typeface="Calibri"/>
                <a:cs typeface="Calibri"/>
              </a:defRPr>
            </a:lvl1pPr>
            <a:lvl2pPr algn="ctr">
              <a:buNone/>
              <a:defRPr sz="1125" b="1">
                <a:solidFill>
                  <a:srgbClr val="123F50"/>
                </a:solidFill>
                <a:latin typeface="Calibri"/>
                <a:ea typeface="Calibri"/>
                <a:cs typeface="Calibri"/>
              </a:defRPr>
            </a:lvl2pPr>
            <a:lvl3pPr algn="ctr">
              <a:buNone/>
              <a:defRPr sz="1125" b="1">
                <a:solidFill>
                  <a:srgbClr val="123F50"/>
                </a:solidFill>
                <a:latin typeface="Calibri"/>
                <a:ea typeface="Calibri"/>
                <a:cs typeface="Calibri"/>
              </a:defRPr>
            </a:lvl3pPr>
            <a:lvl4pPr algn="ctr">
              <a:buNone/>
              <a:defRPr sz="1125" b="1">
                <a:solidFill>
                  <a:srgbClr val="123F50"/>
                </a:solidFill>
                <a:latin typeface="Calibri"/>
                <a:ea typeface="Calibri"/>
                <a:cs typeface="Calibri"/>
              </a:defRPr>
            </a:lvl4pPr>
            <a:lvl5pPr algn="ctr">
              <a:buNone/>
              <a:defRPr sz="1125" b="1">
                <a:solidFill>
                  <a:srgbClr val="123F50"/>
                </a:solidFill>
                <a:latin typeface="Calibri"/>
                <a:ea typeface="Calibri"/>
                <a:cs typeface="Calibri"/>
              </a:defRPr>
            </a:lvl5pPr>
            <a:lvl6pPr algn="ctr">
              <a:buNone/>
              <a:defRPr sz="1125" b="1">
                <a:solidFill>
                  <a:srgbClr val="123F50"/>
                </a:solidFill>
                <a:latin typeface="Calibri"/>
                <a:ea typeface="Calibri"/>
                <a:cs typeface="Calibri"/>
              </a:defRPr>
            </a:lvl6pPr>
            <a:lvl7pPr algn="ctr">
              <a:buNone/>
              <a:defRPr sz="1125" b="1">
                <a:solidFill>
                  <a:srgbClr val="123F50"/>
                </a:solidFill>
                <a:latin typeface="Calibri"/>
                <a:ea typeface="Calibri"/>
                <a:cs typeface="Calibri"/>
              </a:defRPr>
            </a:lvl7pPr>
            <a:lvl8pPr algn="ctr">
              <a:buNone/>
              <a:defRPr sz="1125" b="1">
                <a:solidFill>
                  <a:srgbClr val="123F50"/>
                </a:solidFill>
                <a:latin typeface="Calibri"/>
                <a:ea typeface="Calibri"/>
                <a:cs typeface="Calibri"/>
              </a:defRPr>
            </a:lvl8pPr>
            <a:lvl9pPr algn="ctr">
              <a:buNone/>
              <a:defRPr sz="1125" b="1">
                <a:solidFill>
                  <a:srgbClr val="123F50"/>
                </a:solidFill>
                <a:latin typeface="Calibri"/>
                <a:ea typeface="Calibri"/>
                <a:cs typeface="Calibri"/>
              </a:defRPr>
            </a:lvl9pPr>
          </a:lstStyle>
          <a:p>
            <a:pPr algn="ctr">
              <a:buNone/>
              <a:defRPr sz="1125" b="1">
                <a:solidFill>
                  <a:srgbClr val="123F50"/>
                </a:solidFill>
                <a:latin typeface="Calibri"/>
                <a:ea typeface="Calibri"/>
                <a:cs typeface="Calibri"/>
              </a:defRPr>
            </a:pPr>
            <a:r>
              <a:rPr sz="1088" b="1">
                <a:solidFill>
                  <a:srgbClr val="8B5C54"/>
                </a:solidFill>
                <a:latin typeface="Calibri"/>
                <a:ea typeface="Calibri"/>
                <a:cs typeface="Calibri"/>
              </a:rPr>
              <a:t>Clinician acknowledgement is supported; alert history is in-memory and resets with the API process.</a:t>
            </a:r>
          </a:p>
        </p:txBody>
      </p:sp>
    </p:spTree>
    <p:extLst>
      <p:ext uri="{BB962C8B-B14F-4D97-AF65-F5344CB8AC3E}">
        <p14:creationId xmlns:p14="http://schemas.microsoft.com/office/powerpoint/2010/main" val="340585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40" name="Picture 39">
            <a:extLst>
              <a:ext uri="{FF2B5EF4-FFF2-40B4-BE49-F238E27FC236}">
                <a16:creationId xmlns:a16="http://schemas.microsoft.com/office/drawing/2014/main" xmlns="" id="{D0D3108B-52A0-420A-9195-467BC574F959}"/>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41" name="Rounded Rectangle 40">
            <a:extLst>
              <a:ext uri="{FF2B5EF4-FFF2-40B4-BE49-F238E27FC236}">
                <a16:creationId xmlns:a16="http://schemas.microsoft.com/office/drawing/2014/main" xmlns="" id="{83706106-21EA-427E-96C9-7F8B9FB6D44C}"/>
              </a:ext>
            </a:extLst>
          </p:cNvPr>
          <p:cNvSpPr>
            <a:spLocks noGrp="1"/>
          </p:cNvSpPr>
          <p:nvPr/>
        </p:nvSpPr>
        <p:spPr>
          <a:xfrm>
            <a:off x="371475" y="1381125"/>
            <a:ext cx="6734175" cy="3448050"/>
          </a:xfrm>
          <a:prstGeom prst="roundRect">
            <a:avLst>
              <a:gd name="adj" fmla="val 4144"/>
            </a:avLst>
          </a:prstGeom>
          <a:solidFill>
            <a:srgbClr val="FFFFFF">
              <a:alpha val="95000"/>
            </a:srgbClr>
          </a:solidFill>
          <a:ln w="9525">
            <a:solidFill>
              <a:srgbClr val="CFE3DF"/>
            </a:solidFill>
            <a:prstDash val="solid"/>
          </a:ln>
        </p:spPr>
        <p:style>
          <a:lnRef idx="0">
            <a:scrgbClr r="0" g="0" b="0"/>
          </a:lnRef>
          <a:fillRef idx="0">
            <a:scrgbClr r="0" g="0" b="0"/>
          </a:fillRef>
          <a:effectRef idx="4">
            <a:scrgbClr r="0" g="0" b="0"/>
          </a:effectRef>
          <a:fontRef idx="major"/>
        </p:style>
      </p:sp>
      <p:sp>
        <p:nvSpPr>
          <p:cNvPr id="42" name="Rounded Rectangle 41">
            <a:extLst>
              <a:ext uri="{FF2B5EF4-FFF2-40B4-BE49-F238E27FC236}">
                <a16:creationId xmlns:a16="http://schemas.microsoft.com/office/drawing/2014/main" xmlns="" id="{9A729F0C-E97F-4A13-9B94-D655FA196573}"/>
              </a:ext>
            </a:extLst>
          </p:cNvPr>
          <p:cNvSpPr>
            <a:spLocks noGrp="1"/>
          </p:cNvSpPr>
          <p:nvPr/>
        </p:nvSpPr>
        <p:spPr>
          <a:xfrm>
            <a:off x="371475" y="1381125"/>
            <a:ext cx="47625" cy="3448050"/>
          </a:xfrm>
          <a:prstGeom prst="roundRect">
            <a:avLst>
              <a:gd name="adj" fmla="val 50000"/>
            </a:avLst>
          </a:prstGeom>
          <a:solidFill>
            <a:srgbClr val="168F89"/>
          </a:solidFill>
          <a:ln w="0">
            <a:noFill/>
            <a:prstDash val="solid"/>
          </a:ln>
        </p:spPr>
      </p:sp>
      <p:sp>
        <p:nvSpPr>
          <p:cNvPr id="43" name="Rounded Rectangle 42">
            <a:extLst>
              <a:ext uri="{FF2B5EF4-FFF2-40B4-BE49-F238E27FC236}">
                <a16:creationId xmlns:a16="http://schemas.microsoft.com/office/drawing/2014/main" xmlns="" id="{43A0D5A2-403B-4127-8107-70CDC4E4033F}"/>
              </a:ext>
            </a:extLst>
          </p:cNvPr>
          <p:cNvSpPr>
            <a:spLocks noGrp="1"/>
          </p:cNvSpPr>
          <p:nvPr/>
        </p:nvSpPr>
        <p:spPr>
          <a:xfrm>
            <a:off x="600075" y="1457325"/>
            <a:ext cx="6191250" cy="323850"/>
          </a:xfrm>
          <a:prstGeom prst="roundRect">
            <a:avLst>
              <a:gd name="adj" fmla="val 44118"/>
            </a:avLst>
          </a:prstGeom>
          <a:solidFill>
            <a:srgbClr val="E7F5F2"/>
          </a:solidFill>
          <a:ln w="9525">
            <a:solidFill>
              <a:srgbClr val="BBDCD7"/>
            </a:solidFill>
            <a:prstDash val="solid"/>
          </a:ln>
        </p:spPr>
      </p:sp>
      <p:sp>
        <p:nvSpPr>
          <p:cNvPr id="39" name="Rectangle 38">
            <a:extLst>
              <a:ext uri="{FF2B5EF4-FFF2-40B4-BE49-F238E27FC236}">
                <a16:creationId xmlns:a16="http://schemas.microsoft.com/office/drawing/2014/main" xmlns="" id="{E6BE5151-3498-48B5-8A8B-E4A9089AD63C}"/>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Clinician dashboard</a:t>
            </a:r>
          </a:p>
        </p:txBody>
      </p:sp>
      <p:sp>
        <p:nvSpPr>
          <p:cNvPr id="2" name="Straight Connector 1">
            <a:extLst>
              <a:ext uri="{FF2B5EF4-FFF2-40B4-BE49-F238E27FC236}">
                <a16:creationId xmlns:a16="http://schemas.microsoft.com/office/drawing/2014/main" xmlns="" id="{947B7D65-0ABE-46DF-A63D-5C5B323075B5}"/>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AA4D7442-B556-4A0A-918F-CBD388A4221B}"/>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Next.js / React overview for roster, telemetry, prediction watchlist, and alerts.</a:t>
            </a:r>
          </a:p>
        </p:txBody>
      </p:sp>
      <p:sp>
        <p:nvSpPr>
          <p:cNvPr id="4" name="Straight Connector 3">
            <a:extLst>
              <a:ext uri="{FF2B5EF4-FFF2-40B4-BE49-F238E27FC236}">
                <a16:creationId xmlns:a16="http://schemas.microsoft.com/office/drawing/2014/main" xmlns="" id="{D944566C-AFE6-470F-8BE0-98E700828605}"/>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1EDBBB32-D616-4EDA-BC58-38D7515818EF}"/>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1554CA14-2DF4-42D8-AA00-13B5CCAA31F4}"/>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10</a:t>
            </a:r>
          </a:p>
        </p:txBody>
      </p:sp>
      <p:sp>
        <p:nvSpPr>
          <p:cNvPr id="7" name="Rounded Rectangle 6">
            <a:extLst>
              <a:ext uri="{FF2B5EF4-FFF2-40B4-BE49-F238E27FC236}">
                <a16:creationId xmlns:a16="http://schemas.microsoft.com/office/drawing/2014/main" xmlns="" id="{525E4BAC-D56D-449E-9102-19AFC980FE15}"/>
              </a:ext>
            </a:extLst>
          </p:cNvPr>
          <p:cNvSpPr>
            <a:spLocks noGrp="1"/>
          </p:cNvSpPr>
          <p:nvPr/>
        </p:nvSpPr>
        <p:spPr>
          <a:xfrm>
            <a:off x="533400" y="1438275"/>
            <a:ext cx="6419850" cy="3314700"/>
          </a:xfrm>
          <a:prstGeom prst="roundRect">
            <a:avLst>
              <a:gd name="adj" fmla="val 2299"/>
            </a:avLst>
          </a:prstGeom>
          <a:solidFill>
            <a:srgbClr val="FFFFFF"/>
          </a:solidFill>
          <a:ln w="11430">
            <a:solidFill>
              <a:srgbClr val="D5E0E3"/>
            </a:solidFill>
            <a:prstDash val="solid"/>
          </a:ln>
        </p:spPr>
      </p:sp>
      <p:sp>
        <p:nvSpPr>
          <p:cNvPr id="8" name="Rectangle 7">
            <a:extLst>
              <a:ext uri="{FF2B5EF4-FFF2-40B4-BE49-F238E27FC236}">
                <a16:creationId xmlns:a16="http://schemas.microsoft.com/office/drawing/2014/main" xmlns="" id="{58AB8A40-5860-4AE2-9374-3289C347EA7A}"/>
              </a:ext>
            </a:extLst>
          </p:cNvPr>
          <p:cNvSpPr>
            <a:spLocks noGrp="1"/>
          </p:cNvSpPr>
          <p:nvPr/>
        </p:nvSpPr>
        <p:spPr>
          <a:xfrm>
            <a:off x="695325" y="1562100"/>
            <a:ext cx="3524250" cy="171450"/>
          </a:xfrm>
          <a:prstGeom prst="rect">
            <a:avLst/>
          </a:prstGeom>
          <a:noFill/>
          <a:ln w="0">
            <a:noFill/>
            <a:prstDash val="solid"/>
          </a:ln>
        </p:spPr>
        <p:txBody>
          <a:bodyPr wrap="square" lIns="0" tIns="0" rIns="0" bIns="0" anchor="ctr">
            <a:normAutofit/>
          </a:bodyPr>
          <a:lstStyle>
            <a:defPPr algn="l">
              <a:defRPr sz="825" b="1" i="0">
                <a:solidFill>
                  <a:srgbClr val="428DB2"/>
                </a:solidFill>
                <a:latin typeface="Calibri"/>
                <a:ea typeface="Calibri"/>
                <a:cs typeface="Calibri"/>
              </a:defRPr>
            </a:defPPr>
            <a:lvl1pPr algn="l">
              <a:buNone/>
              <a:defRPr sz="825" b="1" i="0">
                <a:solidFill>
                  <a:srgbClr val="428DB2"/>
                </a:solidFill>
                <a:latin typeface="Calibri"/>
                <a:ea typeface="Calibri"/>
                <a:cs typeface="Calibri"/>
              </a:defRPr>
            </a:lvl1pPr>
            <a:lvl2pPr algn="l">
              <a:buNone/>
              <a:defRPr sz="825" b="1" i="0">
                <a:solidFill>
                  <a:srgbClr val="428DB2"/>
                </a:solidFill>
                <a:latin typeface="Calibri"/>
                <a:ea typeface="Calibri"/>
                <a:cs typeface="Calibri"/>
              </a:defRPr>
            </a:lvl2pPr>
            <a:lvl3pPr algn="l">
              <a:buNone/>
              <a:defRPr sz="825" b="1" i="0">
                <a:solidFill>
                  <a:srgbClr val="428DB2"/>
                </a:solidFill>
                <a:latin typeface="Calibri"/>
                <a:ea typeface="Calibri"/>
                <a:cs typeface="Calibri"/>
              </a:defRPr>
            </a:lvl3pPr>
            <a:lvl4pPr algn="l">
              <a:buNone/>
              <a:defRPr sz="825" b="1" i="0">
                <a:solidFill>
                  <a:srgbClr val="428DB2"/>
                </a:solidFill>
                <a:latin typeface="Calibri"/>
                <a:ea typeface="Calibri"/>
                <a:cs typeface="Calibri"/>
              </a:defRPr>
            </a:lvl4pPr>
            <a:lvl5pPr algn="l">
              <a:buNone/>
              <a:defRPr sz="825" b="1" i="0">
                <a:solidFill>
                  <a:srgbClr val="428DB2"/>
                </a:solidFill>
                <a:latin typeface="Calibri"/>
                <a:ea typeface="Calibri"/>
                <a:cs typeface="Calibri"/>
              </a:defRPr>
            </a:lvl5pPr>
            <a:lvl6pPr algn="l">
              <a:buNone/>
              <a:defRPr sz="825" b="1" i="0">
                <a:solidFill>
                  <a:srgbClr val="428DB2"/>
                </a:solidFill>
                <a:latin typeface="Calibri"/>
                <a:ea typeface="Calibri"/>
                <a:cs typeface="Calibri"/>
              </a:defRPr>
            </a:lvl6pPr>
            <a:lvl7pPr algn="l">
              <a:buNone/>
              <a:defRPr sz="825" b="1" i="0">
                <a:solidFill>
                  <a:srgbClr val="428DB2"/>
                </a:solidFill>
                <a:latin typeface="Calibri"/>
                <a:ea typeface="Calibri"/>
                <a:cs typeface="Calibri"/>
              </a:defRPr>
            </a:lvl7pPr>
            <a:lvl8pPr algn="l">
              <a:buNone/>
              <a:defRPr sz="825" b="1" i="0">
                <a:solidFill>
                  <a:srgbClr val="428DB2"/>
                </a:solidFill>
                <a:latin typeface="Calibri"/>
                <a:ea typeface="Calibri"/>
                <a:cs typeface="Calibri"/>
              </a:defRPr>
            </a:lvl8pPr>
            <a:lvl9pPr algn="l">
              <a:buNone/>
              <a:defRPr sz="825" b="1" i="0">
                <a:solidFill>
                  <a:srgbClr val="428DB2"/>
                </a:solidFill>
                <a:latin typeface="Calibri"/>
                <a:ea typeface="Calibri"/>
                <a:cs typeface="Calibri"/>
              </a:defRPr>
            </a:lvl9pPr>
          </a:lstStyle>
          <a:p>
            <a:pPr algn="l">
              <a:lnSpc>
                <a:spcPct val="108000"/>
              </a:lnSpc>
              <a:buNone/>
              <a:defRPr sz="825" b="1" i="0">
                <a:solidFill>
                  <a:srgbClr val="428DB2"/>
                </a:solidFill>
                <a:latin typeface="Calibri"/>
                <a:ea typeface="Calibri"/>
                <a:cs typeface="Calibri"/>
              </a:defRPr>
            </a:pPr>
            <a:r>
              <a:rPr sz="825" b="1" i="0">
                <a:solidFill>
                  <a:srgbClr val="428DB2"/>
                </a:solidFill>
                <a:latin typeface="Calibri"/>
                <a:ea typeface="Calibri"/>
                <a:cs typeface="Calibri"/>
              </a:rPr>
              <a:t>CARDIOTWIN  /  CLINICAL COMMAND CENTER</a:t>
            </a:r>
          </a:p>
        </p:txBody>
      </p:sp>
      <p:sp>
        <p:nvSpPr>
          <p:cNvPr id="9" name="Rectangle 8">
            <a:extLst>
              <a:ext uri="{FF2B5EF4-FFF2-40B4-BE49-F238E27FC236}">
                <a16:creationId xmlns:a16="http://schemas.microsoft.com/office/drawing/2014/main" xmlns="" id="{C9F7AD17-FE9C-4A7B-A08B-5990A6339CC9}"/>
              </a:ext>
            </a:extLst>
          </p:cNvPr>
          <p:cNvSpPr>
            <a:spLocks noGrp="1"/>
          </p:cNvSpPr>
          <p:nvPr/>
        </p:nvSpPr>
        <p:spPr>
          <a:xfrm>
            <a:off x="695325" y="1752600"/>
            <a:ext cx="3143250" cy="295275"/>
          </a:xfrm>
          <a:prstGeom prst="rect">
            <a:avLst/>
          </a:prstGeom>
          <a:noFill/>
          <a:ln w="0">
            <a:noFill/>
            <a:prstDash val="solid"/>
          </a:ln>
        </p:spPr>
        <p:txBody>
          <a:bodyPr wrap="square" lIns="0" tIns="0" rIns="0" bIns="0" anchor="ctr">
            <a:normAutofit/>
          </a:bodyPr>
          <a:lstStyle>
            <a:defPPr algn="l">
              <a:defRPr sz="1725" b="1" i="0">
                <a:solidFill>
                  <a:srgbClr val="087E83"/>
                </a:solidFill>
                <a:latin typeface="Calibri Light"/>
                <a:ea typeface="Calibri Light"/>
                <a:cs typeface="Calibri Light"/>
              </a:defRPr>
            </a:defPPr>
            <a:lvl1pPr algn="l">
              <a:buNone/>
              <a:defRPr sz="1725" b="1" i="0">
                <a:solidFill>
                  <a:srgbClr val="102A36"/>
                </a:solidFill>
                <a:latin typeface="Calibri Light"/>
                <a:ea typeface="Calibri Light"/>
                <a:cs typeface="Calibri Light"/>
              </a:defRPr>
            </a:lvl1pPr>
            <a:lvl2pPr algn="l">
              <a:buNone/>
              <a:defRPr sz="1725" b="1" i="0">
                <a:solidFill>
                  <a:srgbClr val="102A36"/>
                </a:solidFill>
                <a:latin typeface="Calibri Light"/>
                <a:ea typeface="Calibri Light"/>
                <a:cs typeface="Calibri Light"/>
              </a:defRPr>
            </a:lvl2pPr>
            <a:lvl3pPr algn="l">
              <a:buNone/>
              <a:defRPr sz="1725" b="1" i="0">
                <a:solidFill>
                  <a:srgbClr val="102A36"/>
                </a:solidFill>
                <a:latin typeface="Calibri Light"/>
                <a:ea typeface="Calibri Light"/>
                <a:cs typeface="Calibri Light"/>
              </a:defRPr>
            </a:lvl3pPr>
            <a:lvl4pPr algn="l">
              <a:buNone/>
              <a:defRPr sz="1725" b="1" i="0">
                <a:solidFill>
                  <a:srgbClr val="102A36"/>
                </a:solidFill>
                <a:latin typeface="Calibri Light"/>
                <a:ea typeface="Calibri Light"/>
                <a:cs typeface="Calibri Light"/>
              </a:defRPr>
            </a:lvl4pPr>
            <a:lvl5pPr algn="l">
              <a:buNone/>
              <a:defRPr sz="1725" b="1" i="0">
                <a:solidFill>
                  <a:srgbClr val="102A36"/>
                </a:solidFill>
                <a:latin typeface="Calibri Light"/>
                <a:ea typeface="Calibri Light"/>
                <a:cs typeface="Calibri Light"/>
              </a:defRPr>
            </a:lvl5pPr>
            <a:lvl6pPr algn="l">
              <a:buNone/>
              <a:defRPr sz="1725" b="1" i="0">
                <a:solidFill>
                  <a:srgbClr val="102A36"/>
                </a:solidFill>
                <a:latin typeface="Calibri Light"/>
                <a:ea typeface="Calibri Light"/>
                <a:cs typeface="Calibri Light"/>
              </a:defRPr>
            </a:lvl6pPr>
            <a:lvl7pPr algn="l">
              <a:buNone/>
              <a:defRPr sz="1725" b="1" i="0">
                <a:solidFill>
                  <a:srgbClr val="102A36"/>
                </a:solidFill>
                <a:latin typeface="Calibri Light"/>
                <a:ea typeface="Calibri Light"/>
                <a:cs typeface="Calibri Light"/>
              </a:defRPr>
            </a:lvl7pPr>
            <a:lvl8pPr algn="l">
              <a:buNone/>
              <a:defRPr sz="1725" b="1" i="0">
                <a:solidFill>
                  <a:srgbClr val="102A36"/>
                </a:solidFill>
                <a:latin typeface="Calibri Light"/>
                <a:ea typeface="Calibri Light"/>
                <a:cs typeface="Calibri Light"/>
              </a:defRPr>
            </a:lvl8pPr>
            <a:lvl9pPr algn="l">
              <a:buNone/>
              <a:defRPr sz="1725" b="1" i="0">
                <a:solidFill>
                  <a:srgbClr val="102A36"/>
                </a:solidFill>
                <a:latin typeface="Calibri Light"/>
                <a:ea typeface="Calibri Light"/>
                <a:cs typeface="Calibri Light"/>
              </a:defRPr>
            </a:lvl9pPr>
          </a:lstStyle>
          <a:p>
            <a:pPr algn="l">
              <a:lnSpc>
                <a:spcPct val="108000"/>
              </a:lnSpc>
              <a:buNone/>
              <a:defRPr sz="1725" b="1" i="0">
                <a:solidFill>
                  <a:srgbClr val="102A36"/>
                </a:solidFill>
                <a:latin typeface="Calibri Light"/>
                <a:ea typeface="Calibri Light"/>
                <a:cs typeface="Calibri Light"/>
              </a:defRPr>
            </a:pPr>
            <a:r>
              <a:rPr sz="1725" b="1" i="0">
                <a:solidFill>
                  <a:srgbClr val="087E83"/>
                </a:solidFill>
                <a:latin typeface="Calibri Light"/>
                <a:ea typeface="Calibri Light"/>
                <a:cs typeface="Calibri Light"/>
              </a:rPr>
              <a:t>Cardiac overview</a:t>
            </a:r>
          </a:p>
        </p:txBody>
      </p:sp>
      <p:sp>
        <p:nvSpPr>
          <p:cNvPr id="10" name="Rounded Rectangle 9">
            <a:extLst>
              <a:ext uri="{FF2B5EF4-FFF2-40B4-BE49-F238E27FC236}">
                <a16:creationId xmlns:a16="http://schemas.microsoft.com/office/drawing/2014/main" xmlns="" id="{C34E9BBA-3A95-4138-86BC-9D221AA0AD2C}"/>
              </a:ext>
            </a:extLst>
          </p:cNvPr>
          <p:cNvSpPr>
            <a:spLocks noGrp="1"/>
          </p:cNvSpPr>
          <p:nvPr/>
        </p:nvSpPr>
        <p:spPr>
          <a:xfrm>
            <a:off x="695325" y="2171700"/>
            <a:ext cx="1409700" cy="571500"/>
          </a:xfrm>
          <a:prstGeom prst="roundRect">
            <a:avLst>
              <a:gd name="adj" fmla="val 13333"/>
            </a:avLst>
          </a:prstGeom>
          <a:solidFill>
            <a:srgbClr val="F4F8FA"/>
          </a:solidFill>
          <a:ln w="11430">
            <a:solidFill>
              <a:srgbClr val="E0E8EA"/>
            </a:solidFill>
            <a:prstDash val="solid"/>
          </a:ln>
        </p:spPr>
        <p:txBody>
          <a:bodyPr wrap="square" lIns="104775" tIns="76200" rIns="76200" bIns="76200" anchor="ctr">
            <a:normAutofit/>
          </a:bodyPr>
          <a:lstStyle>
            <a:defPPr algn="l">
              <a:defRPr sz="1088" b="1">
                <a:solidFill>
                  <a:srgbClr val="163F50"/>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Patients monitored</a:t>
            </a:r>
          </a:p>
          <a:p>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4</a:t>
            </a:r>
          </a:p>
        </p:txBody>
      </p:sp>
      <p:sp>
        <p:nvSpPr>
          <p:cNvPr id="11" name="Rounded Rectangle 10">
            <a:extLst>
              <a:ext uri="{FF2B5EF4-FFF2-40B4-BE49-F238E27FC236}">
                <a16:creationId xmlns:a16="http://schemas.microsoft.com/office/drawing/2014/main" xmlns="" id="{5EDEA522-966C-4F90-8C39-1A88AECE9EAD}"/>
              </a:ext>
            </a:extLst>
          </p:cNvPr>
          <p:cNvSpPr>
            <a:spLocks noGrp="1"/>
          </p:cNvSpPr>
          <p:nvPr/>
        </p:nvSpPr>
        <p:spPr>
          <a:xfrm>
            <a:off x="2219325" y="2171700"/>
            <a:ext cx="1409700" cy="571500"/>
          </a:xfrm>
          <a:prstGeom prst="roundRect">
            <a:avLst>
              <a:gd name="adj" fmla="val 13333"/>
            </a:avLst>
          </a:prstGeom>
          <a:solidFill>
            <a:srgbClr val="FBEEEE"/>
          </a:solidFill>
          <a:ln w="11430">
            <a:solidFill>
              <a:srgbClr val="E0E8EA"/>
            </a:solidFill>
            <a:prstDash val="solid"/>
          </a:ln>
        </p:spPr>
        <p:txBody>
          <a:bodyPr wrap="square" lIns="104775" tIns="76200" rIns="76200" bIns="76200" anchor="ctr">
            <a:normAutofit/>
          </a:bodyPr>
          <a:lstStyle>
            <a:defPPr algn="l">
              <a:defRPr sz="1088" b="1">
                <a:solidFill>
                  <a:srgbClr val="C85655"/>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a:pPr algn="l">
              <a:buNone/>
              <a:defRPr sz="975" b="1">
                <a:solidFill>
                  <a:srgbClr val="263C45"/>
                </a:solidFill>
                <a:latin typeface="Calibri"/>
                <a:ea typeface="Calibri"/>
                <a:cs typeface="Calibri"/>
              </a:defRPr>
            </a:pPr>
            <a:r>
              <a:rPr sz="1088" b="1">
                <a:solidFill>
                  <a:srgbClr val="C85655"/>
                </a:solidFill>
                <a:latin typeface="Calibri"/>
                <a:ea typeface="Calibri"/>
                <a:cs typeface="Calibri"/>
              </a:rPr>
              <a:t>Active alerts</a:t>
            </a:r>
          </a:p>
          <a:p>
            <a:pPr algn="l">
              <a:buNone/>
              <a:defRPr sz="975" b="1">
                <a:solidFill>
                  <a:srgbClr val="263C45"/>
                </a:solidFill>
                <a:latin typeface="Calibri"/>
                <a:ea typeface="Calibri"/>
                <a:cs typeface="Calibri"/>
              </a:defRPr>
            </a:pPr>
            <a:r>
              <a:rPr sz="1088" b="1">
                <a:solidFill>
                  <a:srgbClr val="C85655"/>
                </a:solidFill>
                <a:latin typeface="Calibri"/>
                <a:ea typeface="Calibri"/>
                <a:cs typeface="Calibri"/>
              </a:rPr>
              <a:t>2</a:t>
            </a:r>
          </a:p>
        </p:txBody>
      </p:sp>
      <p:sp>
        <p:nvSpPr>
          <p:cNvPr id="12" name="Rounded Rectangle 11">
            <a:extLst>
              <a:ext uri="{FF2B5EF4-FFF2-40B4-BE49-F238E27FC236}">
                <a16:creationId xmlns:a16="http://schemas.microsoft.com/office/drawing/2014/main" xmlns="" id="{AEB25C90-6AEF-4F2B-9181-54D619AC3E97}"/>
              </a:ext>
            </a:extLst>
          </p:cNvPr>
          <p:cNvSpPr>
            <a:spLocks noGrp="1"/>
          </p:cNvSpPr>
          <p:nvPr/>
        </p:nvSpPr>
        <p:spPr>
          <a:xfrm>
            <a:off x="3743325" y="2171700"/>
            <a:ext cx="1409700" cy="571500"/>
          </a:xfrm>
          <a:prstGeom prst="roundRect">
            <a:avLst>
              <a:gd name="adj" fmla="val 13333"/>
            </a:avLst>
          </a:prstGeom>
          <a:solidFill>
            <a:srgbClr val="F4F8FA"/>
          </a:solidFill>
          <a:ln w="11430">
            <a:solidFill>
              <a:srgbClr val="E0E8EA"/>
            </a:solidFill>
            <a:prstDash val="solid"/>
          </a:ln>
        </p:spPr>
        <p:txBody>
          <a:bodyPr wrap="square" lIns="104775" tIns="76200" rIns="76200" bIns="76200" anchor="ctr">
            <a:normAutofit/>
          </a:bodyPr>
          <a:lstStyle>
            <a:defPPr algn="l">
              <a:defRPr sz="1088" b="1">
                <a:solidFill>
                  <a:srgbClr val="163F50"/>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High-risk patients</a:t>
            </a:r>
          </a:p>
          <a:p>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2</a:t>
            </a:r>
          </a:p>
        </p:txBody>
      </p:sp>
      <p:sp>
        <p:nvSpPr>
          <p:cNvPr id="13" name="Rounded Rectangle 12">
            <a:extLst>
              <a:ext uri="{FF2B5EF4-FFF2-40B4-BE49-F238E27FC236}">
                <a16:creationId xmlns:a16="http://schemas.microsoft.com/office/drawing/2014/main" xmlns="" id="{1285462E-EDC6-4D86-91C7-87473D1E73A3}"/>
              </a:ext>
            </a:extLst>
          </p:cNvPr>
          <p:cNvSpPr>
            <a:spLocks noGrp="1"/>
          </p:cNvSpPr>
          <p:nvPr/>
        </p:nvSpPr>
        <p:spPr>
          <a:xfrm>
            <a:off x="5267325" y="2171700"/>
            <a:ext cx="1409700" cy="571500"/>
          </a:xfrm>
          <a:prstGeom prst="roundRect">
            <a:avLst>
              <a:gd name="adj" fmla="val 13333"/>
            </a:avLst>
          </a:prstGeom>
          <a:solidFill>
            <a:srgbClr val="F4F8FA"/>
          </a:solidFill>
          <a:ln w="11430">
            <a:solidFill>
              <a:srgbClr val="E0E8EA"/>
            </a:solidFill>
            <a:prstDash val="solid"/>
          </a:ln>
        </p:spPr>
        <p:txBody>
          <a:bodyPr wrap="square" lIns="104775" tIns="76200" rIns="76200" bIns="76200" anchor="ctr">
            <a:normAutofit/>
          </a:bodyPr>
          <a:lstStyle>
            <a:defPPr algn="l">
              <a:defRPr sz="1088" b="1">
                <a:solidFill>
                  <a:srgbClr val="163F50"/>
                </a:solidFill>
                <a:latin typeface="Calibri"/>
                <a:ea typeface="Calibri"/>
                <a:cs typeface="Calibri"/>
              </a:defRPr>
            </a:defPPr>
            <a:lvl1pPr algn="l">
              <a:buNone/>
              <a:defRPr sz="975" b="1">
                <a:solidFill>
                  <a:srgbClr val="263C45"/>
                </a:solidFill>
                <a:latin typeface="Calibri"/>
                <a:ea typeface="Calibri"/>
                <a:cs typeface="Calibri"/>
              </a:defRPr>
            </a:lvl1pPr>
            <a:lvl2pPr algn="l">
              <a:buNone/>
              <a:defRPr sz="975" b="1">
                <a:solidFill>
                  <a:srgbClr val="263C45"/>
                </a:solidFill>
                <a:latin typeface="Calibri"/>
                <a:ea typeface="Calibri"/>
                <a:cs typeface="Calibri"/>
              </a:defRPr>
            </a:lvl2pPr>
            <a:lvl3pPr algn="l">
              <a:buNone/>
              <a:defRPr sz="975" b="1">
                <a:solidFill>
                  <a:srgbClr val="263C45"/>
                </a:solidFill>
                <a:latin typeface="Calibri"/>
                <a:ea typeface="Calibri"/>
                <a:cs typeface="Calibri"/>
              </a:defRPr>
            </a:lvl3pPr>
            <a:lvl4pPr algn="l">
              <a:buNone/>
              <a:defRPr sz="975" b="1">
                <a:solidFill>
                  <a:srgbClr val="263C45"/>
                </a:solidFill>
                <a:latin typeface="Calibri"/>
                <a:ea typeface="Calibri"/>
                <a:cs typeface="Calibri"/>
              </a:defRPr>
            </a:lvl4pPr>
            <a:lvl5pPr algn="l">
              <a:buNone/>
              <a:defRPr sz="975" b="1">
                <a:solidFill>
                  <a:srgbClr val="263C45"/>
                </a:solidFill>
                <a:latin typeface="Calibri"/>
                <a:ea typeface="Calibri"/>
                <a:cs typeface="Calibri"/>
              </a:defRPr>
            </a:lvl5pPr>
            <a:lvl6pPr algn="l">
              <a:buNone/>
              <a:defRPr sz="975" b="1">
                <a:solidFill>
                  <a:srgbClr val="263C45"/>
                </a:solidFill>
                <a:latin typeface="Calibri"/>
                <a:ea typeface="Calibri"/>
                <a:cs typeface="Calibri"/>
              </a:defRPr>
            </a:lvl6pPr>
            <a:lvl7pPr algn="l">
              <a:buNone/>
              <a:defRPr sz="975" b="1">
                <a:solidFill>
                  <a:srgbClr val="263C45"/>
                </a:solidFill>
                <a:latin typeface="Calibri"/>
                <a:ea typeface="Calibri"/>
                <a:cs typeface="Calibri"/>
              </a:defRPr>
            </a:lvl7pPr>
            <a:lvl8pPr algn="l">
              <a:buNone/>
              <a:defRPr sz="975" b="1">
                <a:solidFill>
                  <a:srgbClr val="263C45"/>
                </a:solidFill>
                <a:latin typeface="Calibri"/>
                <a:ea typeface="Calibri"/>
                <a:cs typeface="Calibri"/>
              </a:defRPr>
            </a:lvl8pPr>
            <a:lvl9pPr algn="l">
              <a:buNone/>
              <a:defRPr sz="975" b="1">
                <a:solidFill>
                  <a:srgbClr val="263C45"/>
                </a:solidFill>
                <a:latin typeface="Calibri"/>
                <a:ea typeface="Calibri"/>
                <a:cs typeface="Calibri"/>
              </a:defRPr>
            </a:lvl9pPr>
          </a:lstStyle>
          <a:p>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Average heart rate</a:t>
            </a:r>
          </a:p>
          <a:p>
            <a:pPr algn="l">
              <a:buNone/>
              <a:defRPr sz="975" b="1">
                <a:solidFill>
                  <a:srgbClr val="263C45"/>
                </a:solidFill>
                <a:latin typeface="Calibri"/>
                <a:ea typeface="Calibri"/>
                <a:cs typeface="Calibri"/>
              </a:defRPr>
            </a:pPr>
            <a:r>
              <a:rPr sz="1088" b="1">
                <a:solidFill>
                  <a:srgbClr val="163F50"/>
                </a:solidFill>
                <a:latin typeface="Calibri"/>
                <a:ea typeface="Calibri"/>
                <a:cs typeface="Calibri"/>
              </a:rPr>
              <a:t>100 bpm</a:t>
            </a:r>
          </a:p>
        </p:txBody>
      </p:sp>
      <p:sp>
        <p:nvSpPr>
          <p:cNvPr id="14" name="Rectangle 13">
            <a:extLst>
              <a:ext uri="{FF2B5EF4-FFF2-40B4-BE49-F238E27FC236}">
                <a16:creationId xmlns:a16="http://schemas.microsoft.com/office/drawing/2014/main" xmlns="" id="{B3D96779-CBA2-4CB9-8672-C0C65A12F345}"/>
              </a:ext>
            </a:extLst>
          </p:cNvPr>
          <p:cNvSpPr>
            <a:spLocks noGrp="1"/>
          </p:cNvSpPr>
          <p:nvPr/>
        </p:nvSpPr>
        <p:spPr>
          <a:xfrm>
            <a:off x="695325" y="2933700"/>
            <a:ext cx="2857500" cy="190500"/>
          </a:xfrm>
          <a:prstGeom prst="rect">
            <a:avLst/>
          </a:prstGeom>
          <a:noFill/>
          <a:ln w="0">
            <a:noFill/>
            <a:prstDash val="solid"/>
          </a:ln>
        </p:spPr>
        <p:txBody>
          <a:bodyPr wrap="square" lIns="0" tIns="0" rIns="0" bIns="0" anchor="ctr">
            <a:normAutofit/>
          </a:bodyPr>
          <a:lstStyle>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HEART RATE + BP TREND</a:t>
            </a:r>
          </a:p>
        </p:txBody>
      </p:sp>
      <p:sp>
        <p:nvSpPr>
          <p:cNvPr id="15" name="Straight Connector 14">
            <a:extLst>
              <a:ext uri="{FF2B5EF4-FFF2-40B4-BE49-F238E27FC236}">
                <a16:creationId xmlns:a16="http://schemas.microsoft.com/office/drawing/2014/main" xmlns="" id="{57ECF101-258E-4CC3-8B28-3738A5753D7F}"/>
              </a:ext>
            </a:extLst>
          </p:cNvPr>
          <p:cNvSpPr>
            <a:spLocks noGrp="1"/>
          </p:cNvSpPr>
          <p:nvPr/>
        </p:nvSpPr>
        <p:spPr>
          <a:xfrm>
            <a:off x="723900" y="4191000"/>
            <a:ext cx="3048000" cy="4763"/>
          </a:xfrm>
          <a:prstGeom prst="line">
            <a:avLst/>
          </a:prstGeom>
          <a:noFill/>
          <a:ln w="9525">
            <a:solidFill>
              <a:srgbClr val="B9C9CD"/>
            </a:solidFill>
            <a:prstDash val="solid"/>
          </a:ln>
        </p:spPr>
      </p:sp>
      <p:sp>
        <p:nvSpPr>
          <p:cNvPr id="16" name="Straight Connector 15">
            <a:extLst>
              <a:ext uri="{FF2B5EF4-FFF2-40B4-BE49-F238E27FC236}">
                <a16:creationId xmlns:a16="http://schemas.microsoft.com/office/drawing/2014/main" xmlns="" id="{9948BC68-07B5-4DAC-B8F6-2F94F363AB85}"/>
              </a:ext>
            </a:extLst>
          </p:cNvPr>
          <p:cNvSpPr>
            <a:spLocks noGrp="1"/>
          </p:cNvSpPr>
          <p:nvPr/>
        </p:nvSpPr>
        <p:spPr>
          <a:xfrm>
            <a:off x="723900" y="3209925"/>
            <a:ext cx="4763" cy="981075"/>
          </a:xfrm>
          <a:prstGeom prst="line">
            <a:avLst/>
          </a:prstGeom>
          <a:noFill/>
          <a:ln w="9525">
            <a:solidFill>
              <a:srgbClr val="B9C9CD"/>
            </a:solidFill>
            <a:prstDash val="solid"/>
          </a:ln>
        </p:spPr>
      </p:sp>
      <p:sp>
        <p:nvSpPr>
          <p:cNvPr id="17" name="Straight Connector 16">
            <a:extLst>
              <a:ext uri="{FF2B5EF4-FFF2-40B4-BE49-F238E27FC236}">
                <a16:creationId xmlns:a16="http://schemas.microsoft.com/office/drawing/2014/main" xmlns="" id="{A8A19243-2833-434A-90FD-5964BA0D0FE6}"/>
              </a:ext>
            </a:extLst>
          </p:cNvPr>
          <p:cNvSpPr>
            <a:spLocks noGrp="1"/>
          </p:cNvSpPr>
          <p:nvPr/>
        </p:nvSpPr>
        <p:spPr>
          <a:xfrm flipV="1">
            <a:off x="876300" y="3762375"/>
            <a:ext cx="447675" cy="133350"/>
          </a:xfrm>
          <a:prstGeom prst="line">
            <a:avLst/>
          </a:prstGeom>
          <a:noFill/>
          <a:ln w="23813">
            <a:solidFill>
              <a:srgbClr val="428DB2"/>
            </a:solidFill>
            <a:prstDash val="solid"/>
          </a:ln>
        </p:spPr>
      </p:sp>
      <p:sp>
        <p:nvSpPr>
          <p:cNvPr id="18" name="Straight Connector 17">
            <a:extLst>
              <a:ext uri="{FF2B5EF4-FFF2-40B4-BE49-F238E27FC236}">
                <a16:creationId xmlns:a16="http://schemas.microsoft.com/office/drawing/2014/main" xmlns="" id="{9F9D6E00-4C16-4580-85C5-64C07D774098}"/>
              </a:ext>
            </a:extLst>
          </p:cNvPr>
          <p:cNvSpPr>
            <a:spLocks noGrp="1"/>
          </p:cNvSpPr>
          <p:nvPr/>
        </p:nvSpPr>
        <p:spPr>
          <a:xfrm>
            <a:off x="1323975" y="3762375"/>
            <a:ext cx="438150" cy="85725"/>
          </a:xfrm>
          <a:prstGeom prst="line">
            <a:avLst/>
          </a:prstGeom>
          <a:noFill/>
          <a:ln w="23813">
            <a:solidFill>
              <a:srgbClr val="428DB2"/>
            </a:solidFill>
            <a:prstDash val="solid"/>
          </a:ln>
        </p:spPr>
      </p:sp>
      <p:sp>
        <p:nvSpPr>
          <p:cNvPr id="19" name="Straight Connector 18">
            <a:extLst>
              <a:ext uri="{FF2B5EF4-FFF2-40B4-BE49-F238E27FC236}">
                <a16:creationId xmlns:a16="http://schemas.microsoft.com/office/drawing/2014/main" xmlns="" id="{4C803A7C-BE9E-404E-9DEC-420F301A0903}"/>
              </a:ext>
            </a:extLst>
          </p:cNvPr>
          <p:cNvSpPr>
            <a:spLocks noGrp="1"/>
          </p:cNvSpPr>
          <p:nvPr/>
        </p:nvSpPr>
        <p:spPr>
          <a:xfrm flipV="1">
            <a:off x="1762125" y="3524250"/>
            <a:ext cx="428625" cy="323850"/>
          </a:xfrm>
          <a:prstGeom prst="line">
            <a:avLst/>
          </a:prstGeom>
          <a:noFill/>
          <a:ln w="23813">
            <a:solidFill>
              <a:srgbClr val="428DB2"/>
            </a:solidFill>
            <a:prstDash val="solid"/>
          </a:ln>
        </p:spPr>
      </p:sp>
      <p:sp>
        <p:nvSpPr>
          <p:cNvPr id="20" name="Straight Connector 19">
            <a:extLst>
              <a:ext uri="{FF2B5EF4-FFF2-40B4-BE49-F238E27FC236}">
                <a16:creationId xmlns:a16="http://schemas.microsoft.com/office/drawing/2014/main" xmlns="" id="{67C7B350-315C-4D7A-A583-47F57FC1C870}"/>
              </a:ext>
            </a:extLst>
          </p:cNvPr>
          <p:cNvSpPr>
            <a:spLocks noGrp="1"/>
          </p:cNvSpPr>
          <p:nvPr/>
        </p:nvSpPr>
        <p:spPr>
          <a:xfrm>
            <a:off x="2190750" y="3524250"/>
            <a:ext cx="447675" cy="85725"/>
          </a:xfrm>
          <a:prstGeom prst="line">
            <a:avLst/>
          </a:prstGeom>
          <a:noFill/>
          <a:ln w="23813">
            <a:solidFill>
              <a:srgbClr val="428DB2"/>
            </a:solidFill>
            <a:prstDash val="solid"/>
          </a:ln>
        </p:spPr>
      </p:sp>
      <p:sp>
        <p:nvSpPr>
          <p:cNvPr id="21" name="Straight Connector 20">
            <a:extLst>
              <a:ext uri="{FF2B5EF4-FFF2-40B4-BE49-F238E27FC236}">
                <a16:creationId xmlns:a16="http://schemas.microsoft.com/office/drawing/2014/main" xmlns="" id="{C902156F-52DA-4938-82FE-5D31C5B0C0E6}"/>
              </a:ext>
            </a:extLst>
          </p:cNvPr>
          <p:cNvSpPr>
            <a:spLocks noGrp="1"/>
          </p:cNvSpPr>
          <p:nvPr/>
        </p:nvSpPr>
        <p:spPr>
          <a:xfrm flipV="1">
            <a:off x="2638425" y="3305175"/>
            <a:ext cx="466725" cy="304800"/>
          </a:xfrm>
          <a:prstGeom prst="line">
            <a:avLst/>
          </a:prstGeom>
          <a:noFill/>
          <a:ln w="23813">
            <a:solidFill>
              <a:srgbClr val="428DB2"/>
            </a:solidFill>
            <a:prstDash val="solid"/>
          </a:ln>
        </p:spPr>
      </p:sp>
      <p:sp>
        <p:nvSpPr>
          <p:cNvPr id="22" name="Straight Connector 21">
            <a:extLst>
              <a:ext uri="{FF2B5EF4-FFF2-40B4-BE49-F238E27FC236}">
                <a16:creationId xmlns:a16="http://schemas.microsoft.com/office/drawing/2014/main" xmlns="" id="{00359E7D-5F8B-43D8-B37E-F92B153BF2E6}"/>
              </a:ext>
            </a:extLst>
          </p:cNvPr>
          <p:cNvSpPr>
            <a:spLocks noGrp="1"/>
          </p:cNvSpPr>
          <p:nvPr/>
        </p:nvSpPr>
        <p:spPr>
          <a:xfrm>
            <a:off x="3105150" y="3305175"/>
            <a:ext cx="476250" cy="104775"/>
          </a:xfrm>
          <a:prstGeom prst="line">
            <a:avLst/>
          </a:prstGeom>
          <a:noFill/>
          <a:ln w="23813">
            <a:solidFill>
              <a:srgbClr val="428DB2"/>
            </a:solidFill>
            <a:prstDash val="solid"/>
          </a:ln>
        </p:spPr>
      </p:sp>
      <p:sp>
        <p:nvSpPr>
          <p:cNvPr id="23" name="Rectangle 22">
            <a:extLst>
              <a:ext uri="{FF2B5EF4-FFF2-40B4-BE49-F238E27FC236}">
                <a16:creationId xmlns:a16="http://schemas.microsoft.com/office/drawing/2014/main" xmlns="" id="{5E75CCCF-828E-4D2C-A10A-09C03AAEB2D5}"/>
              </a:ext>
            </a:extLst>
          </p:cNvPr>
          <p:cNvSpPr>
            <a:spLocks noGrp="1"/>
          </p:cNvSpPr>
          <p:nvPr/>
        </p:nvSpPr>
        <p:spPr>
          <a:xfrm>
            <a:off x="4114800" y="2933700"/>
            <a:ext cx="2514600" cy="190500"/>
          </a:xfrm>
          <a:prstGeom prst="rect">
            <a:avLst/>
          </a:prstGeom>
          <a:noFill/>
          <a:ln w="0">
            <a:noFill/>
            <a:prstDash val="solid"/>
          </a:ln>
        </p:spPr>
        <p:txBody>
          <a:bodyPr wrap="square" lIns="0" tIns="0" rIns="0" bIns="0" anchor="ctr">
            <a:normAutofit/>
          </a:bodyPr>
          <a:lstStyle>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PATIENT RISK MIX</a:t>
            </a:r>
          </a:p>
        </p:txBody>
      </p:sp>
      <p:sp>
        <p:nvSpPr>
          <p:cNvPr id="24" name="Oval 23">
            <a:extLst>
              <a:ext uri="{FF2B5EF4-FFF2-40B4-BE49-F238E27FC236}">
                <a16:creationId xmlns:a16="http://schemas.microsoft.com/office/drawing/2014/main" xmlns="" id="{5BA1EE5F-F026-4C6B-B6B5-F4E7AC866CFD}"/>
              </a:ext>
            </a:extLst>
          </p:cNvPr>
          <p:cNvSpPr>
            <a:spLocks noGrp="1"/>
          </p:cNvSpPr>
          <p:nvPr/>
        </p:nvSpPr>
        <p:spPr>
          <a:xfrm>
            <a:off x="4133850" y="3314700"/>
            <a:ext cx="95250" cy="95250"/>
          </a:xfrm>
          <a:prstGeom prst="ellipse">
            <a:avLst/>
          </a:prstGeom>
          <a:solidFill>
            <a:srgbClr val="4D8A68"/>
          </a:solidFill>
          <a:ln w="11430">
            <a:solidFill>
              <a:srgbClr val="4D8A68"/>
            </a:solidFill>
            <a:prstDash val="solid"/>
          </a:ln>
        </p:spPr>
      </p:sp>
      <p:sp>
        <p:nvSpPr>
          <p:cNvPr id="25" name="Rectangle 24">
            <a:extLst>
              <a:ext uri="{FF2B5EF4-FFF2-40B4-BE49-F238E27FC236}">
                <a16:creationId xmlns:a16="http://schemas.microsoft.com/office/drawing/2014/main" xmlns="" id="{D3D8D5BA-085F-4B2A-93B5-8138229F3EDF}"/>
              </a:ext>
            </a:extLst>
          </p:cNvPr>
          <p:cNvSpPr>
            <a:spLocks noGrp="1"/>
          </p:cNvSpPr>
          <p:nvPr/>
        </p:nvSpPr>
        <p:spPr>
          <a:xfrm>
            <a:off x="4324350" y="3257550"/>
            <a:ext cx="1238250" cy="209550"/>
          </a:xfrm>
          <a:prstGeom prst="rect">
            <a:avLst/>
          </a:prstGeom>
          <a:noFill/>
          <a:ln w="0">
            <a:noFill/>
            <a:prstDash val="solid"/>
          </a:ln>
        </p:spPr>
        <p:txBody>
          <a:bodyPr wrap="square" lIns="0" tIns="0" rIns="0" bIns="0" anchor="ctr">
            <a:normAutofit/>
          </a:bodyPr>
          <a:lstStyle>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LOW</a:t>
            </a:r>
          </a:p>
        </p:txBody>
      </p:sp>
      <p:sp>
        <p:nvSpPr>
          <p:cNvPr id="26" name="Rectangle 25">
            <a:extLst>
              <a:ext uri="{FF2B5EF4-FFF2-40B4-BE49-F238E27FC236}">
                <a16:creationId xmlns:a16="http://schemas.microsoft.com/office/drawing/2014/main" xmlns="" id="{BBA83C1B-47B6-4C31-B1B5-E4ADC1878BD3}"/>
              </a:ext>
            </a:extLst>
          </p:cNvPr>
          <p:cNvSpPr>
            <a:spLocks noGrp="1"/>
          </p:cNvSpPr>
          <p:nvPr/>
        </p:nvSpPr>
        <p:spPr>
          <a:xfrm>
            <a:off x="6210300" y="3257550"/>
            <a:ext cx="247650" cy="209550"/>
          </a:xfrm>
          <a:prstGeom prst="rect">
            <a:avLst/>
          </a:prstGeom>
          <a:noFill/>
          <a:ln w="0">
            <a:noFill/>
            <a:prstDash val="solid"/>
          </a:ln>
        </p:spPr>
        <p:txBody>
          <a:bodyPr wrap="square" lIns="0" tIns="0" rIns="0" bIns="0" anchor="ctr">
            <a:normAutofit/>
          </a:bodyPr>
          <a:lstStyle>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a:pPr algn="r">
              <a:lnSpc>
                <a:spcPct val="108000"/>
              </a:lnSpc>
              <a:buNone/>
              <a:defRPr sz="975" b="1" i="0">
                <a:solidFill>
                  <a:srgbClr val="102A36"/>
                </a:solidFill>
                <a:latin typeface="Calibri"/>
                <a:ea typeface="Calibri"/>
                <a:cs typeface="Calibri"/>
              </a:defRPr>
            </a:pPr>
            <a:r>
              <a:rPr sz="975" b="1" i="0" dirty="0">
                <a:solidFill>
                  <a:srgbClr val="102A36"/>
                </a:solidFill>
                <a:latin typeface="Calibri"/>
                <a:ea typeface="Calibri"/>
                <a:cs typeface="Calibri"/>
              </a:rPr>
              <a:t>1</a:t>
            </a:r>
          </a:p>
        </p:txBody>
      </p:sp>
      <p:sp>
        <p:nvSpPr>
          <p:cNvPr id="27" name="Oval 26">
            <a:extLst>
              <a:ext uri="{FF2B5EF4-FFF2-40B4-BE49-F238E27FC236}">
                <a16:creationId xmlns:a16="http://schemas.microsoft.com/office/drawing/2014/main" xmlns="" id="{F6370251-AD25-41AB-A391-479FEB5871AF}"/>
              </a:ext>
            </a:extLst>
          </p:cNvPr>
          <p:cNvSpPr>
            <a:spLocks noGrp="1"/>
          </p:cNvSpPr>
          <p:nvPr/>
        </p:nvSpPr>
        <p:spPr>
          <a:xfrm>
            <a:off x="4133850" y="3581400"/>
            <a:ext cx="95250" cy="95250"/>
          </a:xfrm>
          <a:prstGeom prst="ellipse">
            <a:avLst/>
          </a:prstGeom>
          <a:solidFill>
            <a:srgbClr val="D99A37"/>
          </a:solidFill>
          <a:ln w="11430">
            <a:solidFill>
              <a:srgbClr val="D99A37"/>
            </a:solidFill>
            <a:prstDash val="solid"/>
          </a:ln>
        </p:spPr>
      </p:sp>
      <p:sp>
        <p:nvSpPr>
          <p:cNvPr id="28" name="Rectangle 27">
            <a:extLst>
              <a:ext uri="{FF2B5EF4-FFF2-40B4-BE49-F238E27FC236}">
                <a16:creationId xmlns:a16="http://schemas.microsoft.com/office/drawing/2014/main" xmlns="" id="{67F1CFA8-FFA0-4012-89F0-D2FE2307D6D0}"/>
              </a:ext>
            </a:extLst>
          </p:cNvPr>
          <p:cNvSpPr>
            <a:spLocks noGrp="1"/>
          </p:cNvSpPr>
          <p:nvPr/>
        </p:nvSpPr>
        <p:spPr>
          <a:xfrm>
            <a:off x="4324350" y="3524250"/>
            <a:ext cx="1238250" cy="209550"/>
          </a:xfrm>
          <a:prstGeom prst="rect">
            <a:avLst/>
          </a:prstGeom>
          <a:noFill/>
          <a:ln w="0">
            <a:noFill/>
            <a:prstDash val="solid"/>
          </a:ln>
        </p:spPr>
        <p:txBody>
          <a:bodyPr wrap="square" lIns="0" tIns="0" rIns="0" bIns="0" anchor="ctr">
            <a:normAutofit/>
          </a:bodyPr>
          <a:lstStyle>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MEDIUM</a:t>
            </a:r>
          </a:p>
        </p:txBody>
      </p:sp>
      <p:sp>
        <p:nvSpPr>
          <p:cNvPr id="29" name="Rectangle 28">
            <a:extLst>
              <a:ext uri="{FF2B5EF4-FFF2-40B4-BE49-F238E27FC236}">
                <a16:creationId xmlns:a16="http://schemas.microsoft.com/office/drawing/2014/main" xmlns="" id="{E603B5ED-9675-4B38-A60D-AF97E9604C02}"/>
              </a:ext>
            </a:extLst>
          </p:cNvPr>
          <p:cNvSpPr>
            <a:spLocks noGrp="1"/>
          </p:cNvSpPr>
          <p:nvPr/>
        </p:nvSpPr>
        <p:spPr>
          <a:xfrm>
            <a:off x="6210300" y="3524250"/>
            <a:ext cx="247650" cy="209550"/>
          </a:xfrm>
          <a:prstGeom prst="rect">
            <a:avLst/>
          </a:prstGeom>
          <a:noFill/>
          <a:ln w="0">
            <a:noFill/>
            <a:prstDash val="solid"/>
          </a:ln>
        </p:spPr>
        <p:txBody>
          <a:bodyPr wrap="square" lIns="0" tIns="0" rIns="0" bIns="0" anchor="ctr">
            <a:normAutofit/>
          </a:bodyPr>
          <a:lstStyle>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a:pPr algn="r">
              <a:lnSpc>
                <a:spcPct val="108000"/>
              </a:lnSpc>
              <a:buNone/>
              <a:defRPr sz="975" b="1" i="0">
                <a:solidFill>
                  <a:srgbClr val="102A36"/>
                </a:solidFill>
                <a:latin typeface="Calibri"/>
                <a:ea typeface="Calibri"/>
                <a:cs typeface="Calibri"/>
              </a:defRPr>
            </a:pPr>
            <a:r>
              <a:rPr sz="975" b="1" i="0" dirty="0">
                <a:solidFill>
                  <a:srgbClr val="102A36"/>
                </a:solidFill>
                <a:latin typeface="Calibri"/>
                <a:ea typeface="Calibri"/>
                <a:cs typeface="Calibri"/>
              </a:rPr>
              <a:t>1</a:t>
            </a:r>
          </a:p>
        </p:txBody>
      </p:sp>
      <p:sp>
        <p:nvSpPr>
          <p:cNvPr id="30" name="Oval 29">
            <a:extLst>
              <a:ext uri="{FF2B5EF4-FFF2-40B4-BE49-F238E27FC236}">
                <a16:creationId xmlns:a16="http://schemas.microsoft.com/office/drawing/2014/main" xmlns="" id="{D09103CA-C97A-4FF1-BB5A-0BC746687348}"/>
              </a:ext>
            </a:extLst>
          </p:cNvPr>
          <p:cNvSpPr>
            <a:spLocks noGrp="1"/>
          </p:cNvSpPr>
          <p:nvPr/>
        </p:nvSpPr>
        <p:spPr>
          <a:xfrm>
            <a:off x="4133850" y="3848100"/>
            <a:ext cx="95250" cy="95250"/>
          </a:xfrm>
          <a:prstGeom prst="ellipse">
            <a:avLst/>
          </a:prstGeom>
          <a:solidFill>
            <a:srgbClr val="D86F42"/>
          </a:solidFill>
          <a:ln w="11430">
            <a:solidFill>
              <a:srgbClr val="D86F42"/>
            </a:solidFill>
            <a:prstDash val="solid"/>
          </a:ln>
        </p:spPr>
      </p:sp>
      <p:sp>
        <p:nvSpPr>
          <p:cNvPr id="31" name="Rectangle 30">
            <a:extLst>
              <a:ext uri="{FF2B5EF4-FFF2-40B4-BE49-F238E27FC236}">
                <a16:creationId xmlns:a16="http://schemas.microsoft.com/office/drawing/2014/main" xmlns="" id="{1A01FD5E-2C97-475D-AEF6-A974F2FB8060}"/>
              </a:ext>
            </a:extLst>
          </p:cNvPr>
          <p:cNvSpPr>
            <a:spLocks noGrp="1"/>
          </p:cNvSpPr>
          <p:nvPr/>
        </p:nvSpPr>
        <p:spPr>
          <a:xfrm>
            <a:off x="4324350" y="3790950"/>
            <a:ext cx="1238250" cy="209550"/>
          </a:xfrm>
          <a:prstGeom prst="rect">
            <a:avLst/>
          </a:prstGeom>
          <a:noFill/>
          <a:ln w="0">
            <a:noFill/>
            <a:prstDash val="solid"/>
          </a:ln>
        </p:spPr>
        <p:txBody>
          <a:bodyPr wrap="square" lIns="0" tIns="0" rIns="0" bIns="0" anchor="ctr">
            <a:normAutofit/>
          </a:bodyPr>
          <a:lstStyle>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HIGH</a:t>
            </a:r>
          </a:p>
        </p:txBody>
      </p:sp>
      <p:sp>
        <p:nvSpPr>
          <p:cNvPr id="32" name="Rectangle 31">
            <a:extLst>
              <a:ext uri="{FF2B5EF4-FFF2-40B4-BE49-F238E27FC236}">
                <a16:creationId xmlns:a16="http://schemas.microsoft.com/office/drawing/2014/main" xmlns="" id="{2743E95B-B709-48ED-B984-6BD8D945CBDA}"/>
              </a:ext>
            </a:extLst>
          </p:cNvPr>
          <p:cNvSpPr>
            <a:spLocks noGrp="1"/>
          </p:cNvSpPr>
          <p:nvPr/>
        </p:nvSpPr>
        <p:spPr>
          <a:xfrm>
            <a:off x="6210300" y="3790950"/>
            <a:ext cx="247650" cy="209550"/>
          </a:xfrm>
          <a:prstGeom prst="rect">
            <a:avLst/>
          </a:prstGeom>
          <a:noFill/>
          <a:ln w="0">
            <a:noFill/>
            <a:prstDash val="solid"/>
          </a:ln>
        </p:spPr>
        <p:txBody>
          <a:bodyPr wrap="square" lIns="0" tIns="0" rIns="0" bIns="0" anchor="ctr">
            <a:normAutofit/>
          </a:bodyPr>
          <a:lstStyle>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a:pPr algn="r">
              <a:lnSpc>
                <a:spcPct val="108000"/>
              </a:lnSpc>
              <a:buNone/>
              <a:defRPr sz="975" b="1" i="0">
                <a:solidFill>
                  <a:srgbClr val="102A36"/>
                </a:solidFill>
                <a:latin typeface="Calibri"/>
                <a:ea typeface="Calibri"/>
                <a:cs typeface="Calibri"/>
              </a:defRPr>
            </a:pPr>
            <a:r>
              <a:rPr sz="975" b="1" i="0" dirty="0">
                <a:solidFill>
                  <a:srgbClr val="102A36"/>
                </a:solidFill>
                <a:latin typeface="Calibri"/>
                <a:ea typeface="Calibri"/>
                <a:cs typeface="Calibri"/>
              </a:rPr>
              <a:t>1</a:t>
            </a:r>
          </a:p>
        </p:txBody>
      </p:sp>
      <p:sp>
        <p:nvSpPr>
          <p:cNvPr id="33" name="Oval 32">
            <a:extLst>
              <a:ext uri="{FF2B5EF4-FFF2-40B4-BE49-F238E27FC236}">
                <a16:creationId xmlns:a16="http://schemas.microsoft.com/office/drawing/2014/main" xmlns="" id="{B749A2D6-0F9B-4335-A165-BFEC3AAC5CBA}"/>
              </a:ext>
            </a:extLst>
          </p:cNvPr>
          <p:cNvSpPr>
            <a:spLocks noGrp="1"/>
          </p:cNvSpPr>
          <p:nvPr/>
        </p:nvSpPr>
        <p:spPr>
          <a:xfrm>
            <a:off x="4133850" y="4114800"/>
            <a:ext cx="95250" cy="95250"/>
          </a:xfrm>
          <a:prstGeom prst="ellipse">
            <a:avLst/>
          </a:prstGeom>
          <a:solidFill>
            <a:srgbClr val="B94B4B"/>
          </a:solidFill>
          <a:ln w="11430">
            <a:solidFill>
              <a:srgbClr val="B94B4B"/>
            </a:solidFill>
            <a:prstDash val="solid"/>
          </a:ln>
        </p:spPr>
      </p:sp>
      <p:sp>
        <p:nvSpPr>
          <p:cNvPr id="34" name="Rectangle 33">
            <a:extLst>
              <a:ext uri="{FF2B5EF4-FFF2-40B4-BE49-F238E27FC236}">
                <a16:creationId xmlns:a16="http://schemas.microsoft.com/office/drawing/2014/main" xmlns="" id="{CD93E556-B1AC-4314-A46E-669C4AEB6AC1}"/>
              </a:ext>
            </a:extLst>
          </p:cNvPr>
          <p:cNvSpPr>
            <a:spLocks noGrp="1"/>
          </p:cNvSpPr>
          <p:nvPr/>
        </p:nvSpPr>
        <p:spPr>
          <a:xfrm>
            <a:off x="4324350" y="4057650"/>
            <a:ext cx="1238250" cy="209550"/>
          </a:xfrm>
          <a:prstGeom prst="rect">
            <a:avLst/>
          </a:prstGeom>
          <a:noFill/>
          <a:ln w="0">
            <a:noFill/>
            <a:prstDash val="solid"/>
          </a:ln>
        </p:spPr>
        <p:txBody>
          <a:bodyPr wrap="square" lIns="0" tIns="0" rIns="0" bIns="0" anchor="ctr">
            <a:normAutofit/>
          </a:bodyPr>
          <a:lstStyle>
            <a:defPPr algn="l">
              <a:defRPr sz="975" b="0" i="0">
                <a:solidFill>
                  <a:srgbClr val="263C45"/>
                </a:solidFill>
                <a:latin typeface="Calibri"/>
                <a:ea typeface="Calibri"/>
                <a:cs typeface="Calibri"/>
              </a:defRPr>
            </a:defPPr>
            <a:lvl1pPr algn="l">
              <a:buNone/>
              <a:defRPr sz="975" b="0" i="0">
                <a:solidFill>
                  <a:srgbClr val="263C45"/>
                </a:solidFill>
                <a:latin typeface="Calibri"/>
                <a:ea typeface="Calibri"/>
                <a:cs typeface="Calibri"/>
              </a:defRPr>
            </a:lvl1pPr>
            <a:lvl2pPr algn="l">
              <a:buNone/>
              <a:defRPr sz="975" b="0" i="0">
                <a:solidFill>
                  <a:srgbClr val="263C45"/>
                </a:solidFill>
                <a:latin typeface="Calibri"/>
                <a:ea typeface="Calibri"/>
                <a:cs typeface="Calibri"/>
              </a:defRPr>
            </a:lvl2pPr>
            <a:lvl3pPr algn="l">
              <a:buNone/>
              <a:defRPr sz="975" b="0" i="0">
                <a:solidFill>
                  <a:srgbClr val="263C45"/>
                </a:solidFill>
                <a:latin typeface="Calibri"/>
                <a:ea typeface="Calibri"/>
                <a:cs typeface="Calibri"/>
              </a:defRPr>
            </a:lvl3pPr>
            <a:lvl4pPr algn="l">
              <a:buNone/>
              <a:defRPr sz="975" b="0" i="0">
                <a:solidFill>
                  <a:srgbClr val="263C45"/>
                </a:solidFill>
                <a:latin typeface="Calibri"/>
                <a:ea typeface="Calibri"/>
                <a:cs typeface="Calibri"/>
              </a:defRPr>
            </a:lvl4pPr>
            <a:lvl5pPr algn="l">
              <a:buNone/>
              <a:defRPr sz="975" b="0" i="0">
                <a:solidFill>
                  <a:srgbClr val="263C45"/>
                </a:solidFill>
                <a:latin typeface="Calibri"/>
                <a:ea typeface="Calibri"/>
                <a:cs typeface="Calibri"/>
              </a:defRPr>
            </a:lvl5pPr>
            <a:lvl6pPr algn="l">
              <a:buNone/>
              <a:defRPr sz="975" b="0" i="0">
                <a:solidFill>
                  <a:srgbClr val="263C45"/>
                </a:solidFill>
                <a:latin typeface="Calibri"/>
                <a:ea typeface="Calibri"/>
                <a:cs typeface="Calibri"/>
              </a:defRPr>
            </a:lvl6pPr>
            <a:lvl7pPr algn="l">
              <a:buNone/>
              <a:defRPr sz="975" b="0" i="0">
                <a:solidFill>
                  <a:srgbClr val="263C45"/>
                </a:solidFill>
                <a:latin typeface="Calibri"/>
                <a:ea typeface="Calibri"/>
                <a:cs typeface="Calibri"/>
              </a:defRPr>
            </a:lvl7pPr>
            <a:lvl8pPr algn="l">
              <a:buNone/>
              <a:defRPr sz="975" b="0" i="0">
                <a:solidFill>
                  <a:srgbClr val="263C45"/>
                </a:solidFill>
                <a:latin typeface="Calibri"/>
                <a:ea typeface="Calibri"/>
                <a:cs typeface="Calibri"/>
              </a:defRPr>
            </a:lvl8pPr>
            <a:lvl9pPr algn="l">
              <a:buNone/>
              <a:defRPr sz="975" b="0" i="0">
                <a:solidFill>
                  <a:srgbClr val="263C45"/>
                </a:solidFill>
                <a:latin typeface="Calibri"/>
                <a:ea typeface="Calibri"/>
                <a:cs typeface="Calibri"/>
              </a:defRPr>
            </a:lvl9pPr>
          </a:lstStyle>
          <a:p>
            <a:pPr algn="l">
              <a:lnSpc>
                <a:spcPct val="108000"/>
              </a:lnSpc>
              <a:buNone/>
              <a:defRPr sz="975" b="0" i="0">
                <a:solidFill>
                  <a:srgbClr val="263C45"/>
                </a:solidFill>
                <a:latin typeface="Calibri"/>
                <a:ea typeface="Calibri"/>
                <a:cs typeface="Calibri"/>
              </a:defRPr>
            </a:pPr>
            <a:r>
              <a:rPr sz="975" b="0" i="0">
                <a:solidFill>
                  <a:srgbClr val="263C45"/>
                </a:solidFill>
                <a:latin typeface="Calibri"/>
                <a:ea typeface="Calibri"/>
                <a:cs typeface="Calibri"/>
              </a:rPr>
              <a:t>CRITICAL</a:t>
            </a:r>
          </a:p>
        </p:txBody>
      </p:sp>
      <p:sp>
        <p:nvSpPr>
          <p:cNvPr id="35" name="Rectangle 34">
            <a:extLst>
              <a:ext uri="{FF2B5EF4-FFF2-40B4-BE49-F238E27FC236}">
                <a16:creationId xmlns:a16="http://schemas.microsoft.com/office/drawing/2014/main" xmlns="" id="{81AE4F3D-7D95-4322-94B6-A4D97880B1C3}"/>
              </a:ext>
            </a:extLst>
          </p:cNvPr>
          <p:cNvSpPr>
            <a:spLocks noGrp="1"/>
          </p:cNvSpPr>
          <p:nvPr/>
        </p:nvSpPr>
        <p:spPr>
          <a:xfrm>
            <a:off x="6210300" y="4057650"/>
            <a:ext cx="247650" cy="209550"/>
          </a:xfrm>
          <a:prstGeom prst="rect">
            <a:avLst/>
          </a:prstGeom>
          <a:noFill/>
          <a:ln w="0">
            <a:noFill/>
            <a:prstDash val="solid"/>
          </a:ln>
        </p:spPr>
        <p:txBody>
          <a:bodyPr wrap="square" lIns="0" tIns="0" rIns="0" bIns="0" anchor="ctr">
            <a:normAutofit/>
          </a:bodyPr>
          <a:lstStyle>
            <a:defPPr algn="r">
              <a:defRPr sz="975" b="1" i="0">
                <a:solidFill>
                  <a:srgbClr val="102A36"/>
                </a:solidFill>
                <a:latin typeface="Calibri"/>
                <a:ea typeface="Calibri"/>
                <a:cs typeface="Calibri"/>
              </a:defRPr>
            </a:defPPr>
            <a:lvl1pPr algn="r">
              <a:buNone/>
              <a:defRPr sz="975" b="1" i="0">
                <a:solidFill>
                  <a:srgbClr val="102A36"/>
                </a:solidFill>
                <a:latin typeface="Calibri"/>
                <a:ea typeface="Calibri"/>
                <a:cs typeface="Calibri"/>
              </a:defRPr>
            </a:lvl1pPr>
            <a:lvl2pPr algn="r">
              <a:buNone/>
              <a:defRPr sz="975" b="1" i="0">
                <a:solidFill>
                  <a:srgbClr val="102A36"/>
                </a:solidFill>
                <a:latin typeface="Calibri"/>
                <a:ea typeface="Calibri"/>
                <a:cs typeface="Calibri"/>
              </a:defRPr>
            </a:lvl2pPr>
            <a:lvl3pPr algn="r">
              <a:buNone/>
              <a:defRPr sz="975" b="1" i="0">
                <a:solidFill>
                  <a:srgbClr val="102A36"/>
                </a:solidFill>
                <a:latin typeface="Calibri"/>
                <a:ea typeface="Calibri"/>
                <a:cs typeface="Calibri"/>
              </a:defRPr>
            </a:lvl3pPr>
            <a:lvl4pPr algn="r">
              <a:buNone/>
              <a:defRPr sz="975" b="1" i="0">
                <a:solidFill>
                  <a:srgbClr val="102A36"/>
                </a:solidFill>
                <a:latin typeface="Calibri"/>
                <a:ea typeface="Calibri"/>
                <a:cs typeface="Calibri"/>
              </a:defRPr>
            </a:lvl4pPr>
            <a:lvl5pPr algn="r">
              <a:buNone/>
              <a:defRPr sz="975" b="1" i="0">
                <a:solidFill>
                  <a:srgbClr val="102A36"/>
                </a:solidFill>
                <a:latin typeface="Calibri"/>
                <a:ea typeface="Calibri"/>
                <a:cs typeface="Calibri"/>
              </a:defRPr>
            </a:lvl5pPr>
            <a:lvl6pPr algn="r">
              <a:buNone/>
              <a:defRPr sz="975" b="1" i="0">
                <a:solidFill>
                  <a:srgbClr val="102A36"/>
                </a:solidFill>
                <a:latin typeface="Calibri"/>
                <a:ea typeface="Calibri"/>
                <a:cs typeface="Calibri"/>
              </a:defRPr>
            </a:lvl6pPr>
            <a:lvl7pPr algn="r">
              <a:buNone/>
              <a:defRPr sz="975" b="1" i="0">
                <a:solidFill>
                  <a:srgbClr val="102A36"/>
                </a:solidFill>
                <a:latin typeface="Calibri"/>
                <a:ea typeface="Calibri"/>
                <a:cs typeface="Calibri"/>
              </a:defRPr>
            </a:lvl7pPr>
            <a:lvl8pPr algn="r">
              <a:buNone/>
              <a:defRPr sz="975" b="1" i="0">
                <a:solidFill>
                  <a:srgbClr val="102A36"/>
                </a:solidFill>
                <a:latin typeface="Calibri"/>
                <a:ea typeface="Calibri"/>
                <a:cs typeface="Calibri"/>
              </a:defRPr>
            </a:lvl8pPr>
            <a:lvl9pPr algn="r">
              <a:buNone/>
              <a:defRPr sz="975" b="1" i="0">
                <a:solidFill>
                  <a:srgbClr val="102A36"/>
                </a:solidFill>
                <a:latin typeface="Calibri"/>
                <a:ea typeface="Calibri"/>
                <a:cs typeface="Calibri"/>
              </a:defRPr>
            </a:lvl9pPr>
          </a:lstStyle>
          <a:p>
            <a:pPr algn="r">
              <a:lnSpc>
                <a:spcPct val="108000"/>
              </a:lnSpc>
              <a:buNone/>
              <a:defRPr sz="975" b="1" i="0">
                <a:solidFill>
                  <a:srgbClr val="102A36"/>
                </a:solidFill>
                <a:latin typeface="Calibri"/>
                <a:ea typeface="Calibri"/>
                <a:cs typeface="Calibri"/>
              </a:defRPr>
            </a:pPr>
            <a:r>
              <a:rPr sz="975" b="1" i="0" dirty="0">
                <a:solidFill>
                  <a:srgbClr val="102A36"/>
                </a:solidFill>
                <a:latin typeface="Calibri"/>
                <a:ea typeface="Calibri"/>
                <a:cs typeface="Calibri"/>
              </a:rPr>
              <a:t>1</a:t>
            </a:r>
          </a:p>
        </p:txBody>
      </p:sp>
      <p:sp>
        <p:nvSpPr>
          <p:cNvPr id="36" name="Rectangle 35">
            <a:extLst>
              <a:ext uri="{FF2B5EF4-FFF2-40B4-BE49-F238E27FC236}">
                <a16:creationId xmlns:a16="http://schemas.microsoft.com/office/drawing/2014/main" xmlns="" id="{DA424A4E-1256-4C82-A948-4B53B024175D}"/>
              </a:ext>
            </a:extLst>
          </p:cNvPr>
          <p:cNvSpPr>
            <a:spLocks noGrp="1"/>
          </p:cNvSpPr>
          <p:nvPr/>
        </p:nvSpPr>
        <p:spPr>
          <a:xfrm>
            <a:off x="695325" y="4314825"/>
            <a:ext cx="2476500" cy="190500"/>
          </a:xfrm>
          <a:prstGeom prst="rect">
            <a:avLst/>
          </a:prstGeom>
          <a:noFill/>
          <a:ln w="0">
            <a:noFill/>
            <a:prstDash val="solid"/>
          </a:ln>
        </p:spPr>
        <p:txBody>
          <a:bodyPr wrap="square" lIns="0" tIns="0" rIns="0" bIns="0" anchor="ctr">
            <a:normAutofit/>
          </a:bodyPr>
          <a:lstStyle>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PREDICTION WATCHLIST</a:t>
            </a:r>
          </a:p>
        </p:txBody>
      </p:sp>
      <p:sp>
        <p:nvSpPr>
          <p:cNvPr id="37" name="Rectangle 36">
            <a:extLst>
              <a:ext uri="{FF2B5EF4-FFF2-40B4-BE49-F238E27FC236}">
                <a16:creationId xmlns:a16="http://schemas.microsoft.com/office/drawing/2014/main" xmlns="" id="{B7DE0CE2-FB91-4824-9728-7CD96226C90F}"/>
              </a:ext>
            </a:extLst>
          </p:cNvPr>
          <p:cNvSpPr>
            <a:spLocks noGrp="1"/>
          </p:cNvSpPr>
          <p:nvPr/>
        </p:nvSpPr>
        <p:spPr>
          <a:xfrm>
            <a:off x="4124325" y="4314825"/>
            <a:ext cx="2476500" cy="190500"/>
          </a:xfrm>
          <a:prstGeom prst="rect">
            <a:avLst/>
          </a:prstGeom>
          <a:noFill/>
          <a:ln w="0">
            <a:noFill/>
            <a:prstDash val="solid"/>
          </a:ln>
        </p:spPr>
        <p:txBody>
          <a:bodyPr wrap="square" lIns="0" tIns="0" rIns="0" bIns="0" anchor="ctr">
            <a:normAutofit/>
          </a:bodyPr>
          <a:lstStyle>
            <a:defPPr algn="l">
              <a:defRPr sz="825" b="1" i="0">
                <a:solidFill>
                  <a:srgbClr val="087E83"/>
                </a:solidFill>
                <a:latin typeface="Calibri"/>
                <a:ea typeface="Calibri"/>
                <a:cs typeface="Calibri"/>
              </a:defRPr>
            </a:defPPr>
            <a:lvl1pPr algn="l">
              <a:buNone/>
              <a:defRPr sz="825" b="1" i="0">
                <a:solidFill>
                  <a:srgbClr val="647781"/>
                </a:solidFill>
                <a:latin typeface="Calibri"/>
                <a:ea typeface="Calibri"/>
                <a:cs typeface="Calibri"/>
              </a:defRPr>
            </a:lvl1pPr>
            <a:lvl2pPr algn="l">
              <a:buNone/>
              <a:defRPr sz="825" b="1" i="0">
                <a:solidFill>
                  <a:srgbClr val="647781"/>
                </a:solidFill>
                <a:latin typeface="Calibri"/>
                <a:ea typeface="Calibri"/>
                <a:cs typeface="Calibri"/>
              </a:defRPr>
            </a:lvl2pPr>
            <a:lvl3pPr algn="l">
              <a:buNone/>
              <a:defRPr sz="825" b="1" i="0">
                <a:solidFill>
                  <a:srgbClr val="647781"/>
                </a:solidFill>
                <a:latin typeface="Calibri"/>
                <a:ea typeface="Calibri"/>
                <a:cs typeface="Calibri"/>
              </a:defRPr>
            </a:lvl3pPr>
            <a:lvl4pPr algn="l">
              <a:buNone/>
              <a:defRPr sz="825" b="1" i="0">
                <a:solidFill>
                  <a:srgbClr val="647781"/>
                </a:solidFill>
                <a:latin typeface="Calibri"/>
                <a:ea typeface="Calibri"/>
                <a:cs typeface="Calibri"/>
              </a:defRPr>
            </a:lvl4pPr>
            <a:lvl5pPr algn="l">
              <a:buNone/>
              <a:defRPr sz="825" b="1" i="0">
                <a:solidFill>
                  <a:srgbClr val="647781"/>
                </a:solidFill>
                <a:latin typeface="Calibri"/>
                <a:ea typeface="Calibri"/>
                <a:cs typeface="Calibri"/>
              </a:defRPr>
            </a:lvl5pPr>
            <a:lvl6pPr algn="l">
              <a:buNone/>
              <a:defRPr sz="825" b="1" i="0">
                <a:solidFill>
                  <a:srgbClr val="647781"/>
                </a:solidFill>
                <a:latin typeface="Calibri"/>
                <a:ea typeface="Calibri"/>
                <a:cs typeface="Calibri"/>
              </a:defRPr>
            </a:lvl6pPr>
            <a:lvl7pPr algn="l">
              <a:buNone/>
              <a:defRPr sz="825" b="1" i="0">
                <a:solidFill>
                  <a:srgbClr val="647781"/>
                </a:solidFill>
                <a:latin typeface="Calibri"/>
                <a:ea typeface="Calibri"/>
                <a:cs typeface="Calibri"/>
              </a:defRPr>
            </a:lvl7pPr>
            <a:lvl8pPr algn="l">
              <a:buNone/>
              <a:defRPr sz="825" b="1" i="0">
                <a:solidFill>
                  <a:srgbClr val="647781"/>
                </a:solidFill>
                <a:latin typeface="Calibri"/>
                <a:ea typeface="Calibri"/>
                <a:cs typeface="Calibri"/>
              </a:defRPr>
            </a:lvl8pPr>
            <a:lvl9pPr algn="l">
              <a:buNone/>
              <a:defRPr sz="825" b="1" i="0">
                <a:solidFill>
                  <a:srgbClr val="647781"/>
                </a:solidFill>
                <a:latin typeface="Calibri"/>
                <a:ea typeface="Calibri"/>
                <a:cs typeface="Calibri"/>
              </a:defRPr>
            </a:lvl9pPr>
          </a:lstStyle>
          <a:p>
            <a:pPr algn="l">
              <a:lnSpc>
                <a:spcPct val="108000"/>
              </a:lnSpc>
              <a:buNone/>
              <a:defRPr sz="825" b="1" i="0">
                <a:solidFill>
                  <a:srgbClr val="647781"/>
                </a:solidFill>
                <a:latin typeface="Calibri"/>
                <a:ea typeface="Calibri"/>
                <a:cs typeface="Calibri"/>
              </a:defRPr>
            </a:pPr>
            <a:r>
              <a:rPr sz="825" b="1" i="0">
                <a:solidFill>
                  <a:srgbClr val="087E83"/>
                </a:solidFill>
                <a:latin typeface="Calibri"/>
                <a:ea typeface="Calibri"/>
                <a:cs typeface="Calibri"/>
              </a:rPr>
              <a:t>RECENT ALERTS  ·  ACKNOWLEDGE</a:t>
            </a:r>
          </a:p>
        </p:txBody>
      </p:sp>
      <p:sp>
        <p:nvSpPr>
          <p:cNvPr id="38" name="Rectangle 37">
            <a:extLst>
              <a:ext uri="{FF2B5EF4-FFF2-40B4-BE49-F238E27FC236}">
                <a16:creationId xmlns:a16="http://schemas.microsoft.com/office/drawing/2014/main" xmlns="" id="{3347A7CB-5B10-4DF0-AC4B-15F53CEA9F7A}"/>
              </a:ext>
            </a:extLst>
          </p:cNvPr>
          <p:cNvSpPr>
            <a:spLocks noGrp="1"/>
          </p:cNvSpPr>
          <p:nvPr/>
        </p:nvSpPr>
        <p:spPr>
          <a:xfrm>
            <a:off x="1790700" y="4800600"/>
            <a:ext cx="4238625" cy="161925"/>
          </a:xfrm>
          <a:prstGeom prst="rect">
            <a:avLst/>
          </a:prstGeom>
          <a:noFill/>
          <a:ln w="0">
            <a:noFill/>
            <a:prstDash val="solid"/>
          </a:ln>
        </p:spPr>
        <p:txBody>
          <a:bodyPr wrap="square" lIns="0" tIns="0" rIns="0" bIns="0" anchor="t">
            <a:normAutofit/>
          </a:bodyPr>
          <a:lstStyle>
            <a:defPPr algn="ctr">
              <a:defRPr sz="863" b="0" i="0">
                <a:solidFill>
                  <a:srgbClr val="647781"/>
                </a:solidFill>
                <a:latin typeface="Calibri"/>
                <a:ea typeface="Calibri"/>
                <a:cs typeface="Calibri"/>
              </a:defRPr>
            </a:defPPr>
            <a:lvl1pPr algn="ctr">
              <a:buNone/>
              <a:defRPr sz="863" b="0" i="0">
                <a:solidFill>
                  <a:srgbClr val="647781"/>
                </a:solidFill>
                <a:latin typeface="Calibri"/>
                <a:ea typeface="Calibri"/>
                <a:cs typeface="Calibri"/>
              </a:defRPr>
            </a:lvl1pPr>
            <a:lvl2pPr algn="ctr">
              <a:buNone/>
              <a:defRPr sz="863" b="0" i="0">
                <a:solidFill>
                  <a:srgbClr val="647781"/>
                </a:solidFill>
                <a:latin typeface="Calibri"/>
                <a:ea typeface="Calibri"/>
                <a:cs typeface="Calibri"/>
              </a:defRPr>
            </a:lvl2pPr>
            <a:lvl3pPr algn="ctr">
              <a:buNone/>
              <a:defRPr sz="863" b="0" i="0">
                <a:solidFill>
                  <a:srgbClr val="647781"/>
                </a:solidFill>
                <a:latin typeface="Calibri"/>
                <a:ea typeface="Calibri"/>
                <a:cs typeface="Calibri"/>
              </a:defRPr>
            </a:lvl3pPr>
            <a:lvl4pPr algn="ctr">
              <a:buNone/>
              <a:defRPr sz="863" b="0" i="0">
                <a:solidFill>
                  <a:srgbClr val="647781"/>
                </a:solidFill>
                <a:latin typeface="Calibri"/>
                <a:ea typeface="Calibri"/>
                <a:cs typeface="Calibri"/>
              </a:defRPr>
            </a:lvl4pPr>
            <a:lvl5pPr algn="ctr">
              <a:buNone/>
              <a:defRPr sz="863" b="0" i="0">
                <a:solidFill>
                  <a:srgbClr val="647781"/>
                </a:solidFill>
                <a:latin typeface="Calibri"/>
                <a:ea typeface="Calibri"/>
                <a:cs typeface="Calibri"/>
              </a:defRPr>
            </a:lvl5pPr>
            <a:lvl6pPr algn="ctr">
              <a:buNone/>
              <a:defRPr sz="863" b="0" i="0">
                <a:solidFill>
                  <a:srgbClr val="647781"/>
                </a:solidFill>
                <a:latin typeface="Calibri"/>
                <a:ea typeface="Calibri"/>
                <a:cs typeface="Calibri"/>
              </a:defRPr>
            </a:lvl6pPr>
            <a:lvl7pPr algn="ctr">
              <a:buNone/>
              <a:defRPr sz="863" b="0" i="0">
                <a:solidFill>
                  <a:srgbClr val="647781"/>
                </a:solidFill>
                <a:latin typeface="Calibri"/>
                <a:ea typeface="Calibri"/>
                <a:cs typeface="Calibri"/>
              </a:defRPr>
            </a:lvl7pPr>
            <a:lvl8pPr algn="ctr">
              <a:buNone/>
              <a:defRPr sz="863" b="0" i="0">
                <a:solidFill>
                  <a:srgbClr val="647781"/>
                </a:solidFill>
                <a:latin typeface="Calibri"/>
                <a:ea typeface="Calibri"/>
                <a:cs typeface="Calibri"/>
              </a:defRPr>
            </a:lvl8pPr>
            <a:lvl9pPr algn="ctr">
              <a:buNone/>
              <a:defRPr sz="863" b="0" i="0">
                <a:solidFill>
                  <a:srgbClr val="647781"/>
                </a:solidFill>
                <a:latin typeface="Calibri"/>
                <a:ea typeface="Calibri"/>
                <a:cs typeface="Calibri"/>
              </a:defRPr>
            </a:lvl9pPr>
          </a:lstStyle>
          <a:p>
            <a:pPr algn="ctr">
              <a:lnSpc>
                <a:spcPct val="108000"/>
              </a:lnSpc>
              <a:buNone/>
              <a:defRPr sz="863" b="0" i="0">
                <a:solidFill>
                  <a:srgbClr val="647781"/>
                </a:solidFill>
                <a:latin typeface="Calibri"/>
                <a:ea typeface="Calibri"/>
                <a:cs typeface="Calibri"/>
              </a:defRPr>
            </a:pPr>
            <a:r>
              <a:rPr sz="863" b="0" i="0">
                <a:solidFill>
                  <a:srgbClr val="647781"/>
                </a:solidFill>
                <a:latin typeface="Calibri"/>
                <a:ea typeface="Calibri"/>
                <a:cs typeface="Calibri"/>
              </a:rPr>
              <a:t>Illustrative interface and trend line · seeded records are synthetic</a:t>
            </a:r>
          </a:p>
        </p:txBody>
      </p:sp>
    </p:spTree>
    <p:extLst>
      <p:ext uri="{BB962C8B-B14F-4D97-AF65-F5344CB8AC3E}">
        <p14:creationId xmlns:p14="http://schemas.microsoft.com/office/powerpoint/2010/main" val="1987903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25" name="Picture 24">
            <a:extLst>
              <a:ext uri="{FF2B5EF4-FFF2-40B4-BE49-F238E27FC236}">
                <a16:creationId xmlns:a16="http://schemas.microsoft.com/office/drawing/2014/main" xmlns="" id="{4115D892-DD2A-499B-967D-5A79074FB11F}"/>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26" name="Rounded Rectangle 25">
            <a:extLst>
              <a:ext uri="{FF2B5EF4-FFF2-40B4-BE49-F238E27FC236}">
                <a16:creationId xmlns:a16="http://schemas.microsoft.com/office/drawing/2014/main" xmlns="" id="{6746CFDC-1A2A-433F-B3AB-337FA18BD7E1}"/>
              </a:ext>
            </a:extLst>
          </p:cNvPr>
          <p:cNvSpPr>
            <a:spLocks noGrp="1"/>
          </p:cNvSpPr>
          <p:nvPr/>
        </p:nvSpPr>
        <p:spPr>
          <a:xfrm>
            <a:off x="371475" y="1409700"/>
            <a:ext cx="3086100" cy="3305175"/>
          </a:xfrm>
          <a:prstGeom prst="roundRect">
            <a:avLst>
              <a:gd name="adj" fmla="val 4630"/>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27" name="Rounded Rectangle 26">
            <a:extLst>
              <a:ext uri="{FF2B5EF4-FFF2-40B4-BE49-F238E27FC236}">
                <a16:creationId xmlns:a16="http://schemas.microsoft.com/office/drawing/2014/main" xmlns="" id="{7F25C264-3EFA-4C02-B817-E802D0283EDA}"/>
              </a:ext>
            </a:extLst>
          </p:cNvPr>
          <p:cNvSpPr>
            <a:spLocks noGrp="1"/>
          </p:cNvSpPr>
          <p:nvPr/>
        </p:nvSpPr>
        <p:spPr>
          <a:xfrm>
            <a:off x="371475" y="1428750"/>
            <a:ext cx="47625" cy="3267075"/>
          </a:xfrm>
          <a:prstGeom prst="roundRect">
            <a:avLst>
              <a:gd name="adj" fmla="val 50000"/>
            </a:avLst>
          </a:prstGeom>
          <a:solidFill>
            <a:srgbClr val="168F89"/>
          </a:solidFill>
          <a:ln w="0">
            <a:noFill/>
            <a:prstDash val="solid"/>
          </a:ln>
        </p:spPr>
      </p:sp>
      <p:sp>
        <p:nvSpPr>
          <p:cNvPr id="28" name="Rounded Rectangle 27">
            <a:extLst>
              <a:ext uri="{FF2B5EF4-FFF2-40B4-BE49-F238E27FC236}">
                <a16:creationId xmlns:a16="http://schemas.microsoft.com/office/drawing/2014/main" xmlns="" id="{BB5366B9-C5AD-4DBE-BEA0-4B7C7B52131C}"/>
              </a:ext>
            </a:extLst>
          </p:cNvPr>
          <p:cNvSpPr>
            <a:spLocks noGrp="1"/>
          </p:cNvSpPr>
          <p:nvPr/>
        </p:nvSpPr>
        <p:spPr>
          <a:xfrm>
            <a:off x="3657600" y="1409700"/>
            <a:ext cx="3476625" cy="3305175"/>
          </a:xfrm>
          <a:prstGeom prst="roundRect">
            <a:avLst>
              <a:gd name="adj" fmla="val 4323"/>
            </a:avLst>
          </a:prstGeom>
          <a:solidFill>
            <a:srgbClr val="FFFFFF">
              <a:alpha val="92000"/>
            </a:srgbClr>
          </a:solidFill>
          <a:ln w="9525">
            <a:solidFill>
              <a:srgbClr val="D8E8E5"/>
            </a:solidFill>
            <a:prstDash val="solid"/>
          </a:ln>
        </p:spPr>
        <p:style>
          <a:lnRef idx="0">
            <a:scrgbClr r="0" g="0" b="0"/>
          </a:lnRef>
          <a:fillRef idx="0">
            <a:scrgbClr r="0" g="0" b="0"/>
          </a:fillRef>
          <a:effectRef idx="4">
            <a:scrgbClr r="0" g="0" b="0"/>
          </a:effectRef>
          <a:fontRef idx="major"/>
        </p:style>
      </p:sp>
      <p:sp>
        <p:nvSpPr>
          <p:cNvPr id="29" name="Rounded Rectangle 28">
            <a:extLst>
              <a:ext uri="{FF2B5EF4-FFF2-40B4-BE49-F238E27FC236}">
                <a16:creationId xmlns:a16="http://schemas.microsoft.com/office/drawing/2014/main" xmlns="" id="{D6C2B642-6DF1-46D2-9007-6F179B196B29}"/>
              </a:ext>
            </a:extLst>
          </p:cNvPr>
          <p:cNvSpPr>
            <a:spLocks noGrp="1"/>
          </p:cNvSpPr>
          <p:nvPr/>
        </p:nvSpPr>
        <p:spPr>
          <a:xfrm>
            <a:off x="3657600" y="1428750"/>
            <a:ext cx="47625" cy="3267075"/>
          </a:xfrm>
          <a:prstGeom prst="roundRect">
            <a:avLst>
              <a:gd name="adj" fmla="val 50000"/>
            </a:avLst>
          </a:prstGeom>
          <a:solidFill>
            <a:srgbClr val="1598B7"/>
          </a:solidFill>
          <a:ln w="0">
            <a:noFill/>
            <a:prstDash val="solid"/>
          </a:ln>
        </p:spPr>
      </p:sp>
      <p:sp>
        <p:nvSpPr>
          <p:cNvPr id="24" name="Rectangle 23">
            <a:extLst>
              <a:ext uri="{FF2B5EF4-FFF2-40B4-BE49-F238E27FC236}">
                <a16:creationId xmlns:a16="http://schemas.microsoft.com/office/drawing/2014/main" xmlns="" id="{2F143EAF-B1F2-4904-8A7B-645DE4D41BFC}"/>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Patient app</a:t>
            </a:r>
          </a:p>
        </p:txBody>
      </p:sp>
      <p:sp>
        <p:nvSpPr>
          <p:cNvPr id="2" name="Straight Connector 1">
            <a:extLst>
              <a:ext uri="{FF2B5EF4-FFF2-40B4-BE49-F238E27FC236}">
                <a16:creationId xmlns:a16="http://schemas.microsoft.com/office/drawing/2014/main" xmlns="" id="{6E568303-8647-4E5D-9D09-BD77298E23B2}"/>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ADDDE504-4F02-4065-AC1D-6F6467CF7F95}"/>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Expo / React Native screens bring cardiac status and telemetry to mobile.</a:t>
            </a:r>
          </a:p>
        </p:txBody>
      </p:sp>
      <p:sp>
        <p:nvSpPr>
          <p:cNvPr id="4" name="Straight Connector 3">
            <a:extLst>
              <a:ext uri="{FF2B5EF4-FFF2-40B4-BE49-F238E27FC236}">
                <a16:creationId xmlns:a16="http://schemas.microsoft.com/office/drawing/2014/main" xmlns="" id="{DD86EC56-755D-4802-A1C3-BAB8E4F62A0F}"/>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F2C40A82-9066-4C5F-A30C-6554CF7C62F6}"/>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87811B17-5040-48C4-B69A-C74A75EE9C2B}"/>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11</a:t>
            </a:r>
          </a:p>
        </p:txBody>
      </p:sp>
      <p:sp>
        <p:nvSpPr>
          <p:cNvPr id="7" name="Rectangle 6">
            <a:extLst>
              <a:ext uri="{FF2B5EF4-FFF2-40B4-BE49-F238E27FC236}">
                <a16:creationId xmlns:a16="http://schemas.microsoft.com/office/drawing/2014/main" xmlns="" id="{4706FF7B-43C5-44D4-8DAF-7C47BEB469C2}"/>
              </a:ext>
            </a:extLst>
          </p:cNvPr>
          <p:cNvSpPr>
            <a:spLocks noGrp="1"/>
          </p:cNvSpPr>
          <p:nvPr/>
        </p:nvSpPr>
        <p:spPr>
          <a:xfrm>
            <a:off x="552450" y="1619250"/>
            <a:ext cx="2324100" cy="323850"/>
          </a:xfrm>
          <a:prstGeom prst="rect">
            <a:avLst/>
          </a:prstGeom>
          <a:noFill/>
          <a:ln w="0">
            <a:noFill/>
            <a:prstDash val="solid"/>
          </a:ln>
        </p:spPr>
        <p:txBody>
          <a:bodyPr wrap="square" lIns="0" tIns="0" rIns="0" bIns="0" anchor="ctr">
            <a:normAutofit fontScale="97165" lnSpcReduction="10000"/>
          </a:bodyPr>
          <a:lstStyle>
            <a:defPPr algn="l">
              <a:defRPr sz="2025" b="1" i="0">
                <a:solidFill>
                  <a:srgbClr val="123F50"/>
                </a:solidFill>
                <a:latin typeface="Calibri Light"/>
                <a:ea typeface="Calibri Light"/>
                <a:cs typeface="Calibri Light"/>
              </a:defRPr>
            </a:defPPr>
            <a:lvl1pPr algn="l">
              <a:buNone/>
              <a:defRPr sz="1875" b="1" i="0">
                <a:solidFill>
                  <a:srgbClr val="123F50"/>
                </a:solidFill>
                <a:latin typeface="Calibri Light"/>
                <a:ea typeface="Calibri Light"/>
                <a:cs typeface="Calibri Light"/>
              </a:defRPr>
            </a:lvl1pPr>
            <a:lvl2pPr algn="l">
              <a:buNone/>
              <a:defRPr sz="1875" b="1" i="0">
                <a:solidFill>
                  <a:srgbClr val="123F50"/>
                </a:solidFill>
                <a:latin typeface="Calibri Light"/>
                <a:ea typeface="Calibri Light"/>
                <a:cs typeface="Calibri Light"/>
              </a:defRPr>
            </a:lvl2pPr>
            <a:lvl3pPr algn="l">
              <a:buNone/>
              <a:defRPr sz="1875" b="1" i="0">
                <a:solidFill>
                  <a:srgbClr val="123F50"/>
                </a:solidFill>
                <a:latin typeface="Calibri Light"/>
                <a:ea typeface="Calibri Light"/>
                <a:cs typeface="Calibri Light"/>
              </a:defRPr>
            </a:lvl3pPr>
            <a:lvl4pPr algn="l">
              <a:buNone/>
              <a:defRPr sz="1875" b="1" i="0">
                <a:solidFill>
                  <a:srgbClr val="123F50"/>
                </a:solidFill>
                <a:latin typeface="Calibri Light"/>
                <a:ea typeface="Calibri Light"/>
                <a:cs typeface="Calibri Light"/>
              </a:defRPr>
            </a:lvl4pPr>
            <a:lvl5pPr algn="l">
              <a:buNone/>
              <a:defRPr sz="1875" b="1" i="0">
                <a:solidFill>
                  <a:srgbClr val="123F50"/>
                </a:solidFill>
                <a:latin typeface="Calibri Light"/>
                <a:ea typeface="Calibri Light"/>
                <a:cs typeface="Calibri Light"/>
              </a:defRPr>
            </a:lvl5pPr>
            <a:lvl6pPr algn="l">
              <a:buNone/>
              <a:defRPr sz="1875" b="1" i="0">
                <a:solidFill>
                  <a:srgbClr val="123F50"/>
                </a:solidFill>
                <a:latin typeface="Calibri Light"/>
                <a:ea typeface="Calibri Light"/>
                <a:cs typeface="Calibri Light"/>
              </a:defRPr>
            </a:lvl6pPr>
            <a:lvl7pPr algn="l">
              <a:buNone/>
              <a:defRPr sz="1875" b="1" i="0">
                <a:solidFill>
                  <a:srgbClr val="123F50"/>
                </a:solidFill>
                <a:latin typeface="Calibri Light"/>
                <a:ea typeface="Calibri Light"/>
                <a:cs typeface="Calibri Light"/>
              </a:defRPr>
            </a:lvl7pPr>
            <a:lvl8pPr algn="l">
              <a:buNone/>
              <a:defRPr sz="1875" b="1" i="0">
                <a:solidFill>
                  <a:srgbClr val="123F50"/>
                </a:solidFill>
                <a:latin typeface="Calibri Light"/>
                <a:ea typeface="Calibri Light"/>
                <a:cs typeface="Calibri Light"/>
              </a:defRPr>
            </a:lvl8pPr>
            <a:lvl9pPr algn="l">
              <a:buNone/>
              <a:defRPr sz="1875" b="1" i="0">
                <a:solidFill>
                  <a:srgbClr val="123F50"/>
                </a:solidFill>
                <a:latin typeface="Calibri Light"/>
                <a:ea typeface="Calibri Light"/>
                <a:cs typeface="Calibri Light"/>
              </a:defRPr>
            </a:lvl9pPr>
          </a:lstStyle>
          <a:p>
            <a:pPr algn="l">
              <a:lnSpc>
                <a:spcPct val="108000"/>
              </a:lnSpc>
              <a:buNone/>
              <a:defRPr sz="1875" b="1" i="0">
                <a:solidFill>
                  <a:srgbClr val="123F50"/>
                </a:solidFill>
                <a:latin typeface="Calibri Light"/>
                <a:ea typeface="Calibri Light"/>
                <a:cs typeface="Calibri Light"/>
              </a:defRPr>
            </a:pPr>
            <a:r>
              <a:rPr sz="2025" b="1" i="0">
                <a:solidFill>
                  <a:srgbClr val="123F50"/>
                </a:solidFill>
                <a:latin typeface="Calibri Light"/>
                <a:ea typeface="Calibri Light"/>
                <a:cs typeface="Calibri Light"/>
              </a:rPr>
              <a:t>Four-tab Expo app</a:t>
            </a:r>
          </a:p>
        </p:txBody>
      </p:sp>
      <p:sp>
        <p:nvSpPr>
          <p:cNvPr id="8" name="Rectangle 7">
            <a:extLst>
              <a:ext uri="{FF2B5EF4-FFF2-40B4-BE49-F238E27FC236}">
                <a16:creationId xmlns:a16="http://schemas.microsoft.com/office/drawing/2014/main" xmlns="" id="{7A43B820-4B70-4D0C-BC56-7B8DB6ED5D36}"/>
              </a:ext>
            </a:extLst>
          </p:cNvPr>
          <p:cNvSpPr>
            <a:spLocks noGrp="1"/>
          </p:cNvSpPr>
          <p:nvPr/>
        </p:nvSpPr>
        <p:spPr>
          <a:xfrm>
            <a:off x="552450" y="2047875"/>
            <a:ext cx="2667000" cy="285750"/>
          </a:xfrm>
          <a:prstGeom prst="rect">
            <a:avLst/>
          </a:prstGeom>
          <a:noFill/>
          <a:ln w="0">
            <a:noFill/>
            <a:prstDash val="solid"/>
          </a:ln>
        </p:spPr>
        <p:txBody>
          <a:bodyPr wrap="square" lIns="0" tIns="0" rIns="0" bIns="0" anchor="t">
            <a:normAutofit/>
          </a:bodyPr>
          <a:lstStyle>
            <a:defPPr algn="l">
              <a:defRPr sz="1350" b="1" i="0">
                <a:solidFill>
                  <a:srgbClr val="168F89"/>
                </a:solidFill>
                <a:latin typeface="Calibri"/>
                <a:ea typeface="Calibri"/>
                <a:cs typeface="Calibri"/>
              </a:defRPr>
            </a:defPPr>
            <a:lvl1pPr algn="l">
              <a:buNone/>
              <a:defRPr sz="1275" b="1" i="0">
                <a:solidFill>
                  <a:srgbClr val="0D6F73"/>
                </a:solidFill>
                <a:latin typeface="Calibri"/>
                <a:ea typeface="Calibri"/>
                <a:cs typeface="Calibri"/>
              </a:defRPr>
            </a:lvl1pPr>
            <a:lvl2pPr algn="l">
              <a:buNone/>
              <a:defRPr sz="1275" b="1" i="0">
                <a:solidFill>
                  <a:srgbClr val="0D6F73"/>
                </a:solidFill>
                <a:latin typeface="Calibri"/>
                <a:ea typeface="Calibri"/>
                <a:cs typeface="Calibri"/>
              </a:defRPr>
            </a:lvl2pPr>
            <a:lvl3pPr algn="l">
              <a:buNone/>
              <a:defRPr sz="1275" b="1" i="0">
                <a:solidFill>
                  <a:srgbClr val="0D6F73"/>
                </a:solidFill>
                <a:latin typeface="Calibri"/>
                <a:ea typeface="Calibri"/>
                <a:cs typeface="Calibri"/>
              </a:defRPr>
            </a:lvl3pPr>
            <a:lvl4pPr algn="l">
              <a:buNone/>
              <a:defRPr sz="1275" b="1" i="0">
                <a:solidFill>
                  <a:srgbClr val="0D6F73"/>
                </a:solidFill>
                <a:latin typeface="Calibri"/>
                <a:ea typeface="Calibri"/>
                <a:cs typeface="Calibri"/>
              </a:defRPr>
            </a:lvl4pPr>
            <a:lvl5pPr algn="l">
              <a:buNone/>
              <a:defRPr sz="1275" b="1" i="0">
                <a:solidFill>
                  <a:srgbClr val="0D6F73"/>
                </a:solidFill>
                <a:latin typeface="Calibri"/>
                <a:ea typeface="Calibri"/>
                <a:cs typeface="Calibri"/>
              </a:defRPr>
            </a:lvl5pPr>
            <a:lvl6pPr algn="l">
              <a:buNone/>
              <a:defRPr sz="1275" b="1" i="0">
                <a:solidFill>
                  <a:srgbClr val="0D6F73"/>
                </a:solidFill>
                <a:latin typeface="Calibri"/>
                <a:ea typeface="Calibri"/>
                <a:cs typeface="Calibri"/>
              </a:defRPr>
            </a:lvl6pPr>
            <a:lvl7pPr algn="l">
              <a:buNone/>
              <a:defRPr sz="1275" b="1" i="0">
                <a:solidFill>
                  <a:srgbClr val="0D6F73"/>
                </a:solidFill>
                <a:latin typeface="Calibri"/>
                <a:ea typeface="Calibri"/>
                <a:cs typeface="Calibri"/>
              </a:defRPr>
            </a:lvl7pPr>
            <a:lvl8pPr algn="l">
              <a:buNone/>
              <a:defRPr sz="1275" b="1" i="0">
                <a:solidFill>
                  <a:srgbClr val="0D6F73"/>
                </a:solidFill>
                <a:latin typeface="Calibri"/>
                <a:ea typeface="Calibri"/>
                <a:cs typeface="Calibri"/>
              </a:defRPr>
            </a:lvl8pPr>
            <a:lvl9pPr algn="l">
              <a:buNone/>
              <a:defRPr sz="1275" b="1" i="0">
                <a:solidFill>
                  <a:srgbClr val="0D6F73"/>
                </a:solidFill>
                <a:latin typeface="Calibri"/>
                <a:ea typeface="Calibri"/>
                <a:cs typeface="Calibri"/>
              </a:defRPr>
            </a:lvl9pPr>
          </a:lstStyle>
          <a:p>
            <a:pPr algn="l">
              <a:lnSpc>
                <a:spcPct val="108000"/>
              </a:lnSpc>
              <a:buNone/>
              <a:defRPr sz="1275" b="1" i="0">
                <a:solidFill>
                  <a:srgbClr val="0D6F73"/>
                </a:solidFill>
                <a:latin typeface="Calibri"/>
                <a:ea typeface="Calibri"/>
                <a:cs typeface="Calibri"/>
              </a:defRPr>
            </a:pPr>
            <a:r>
              <a:rPr sz="1350" b="1" i="0">
                <a:solidFill>
                  <a:srgbClr val="168F89"/>
                </a:solidFill>
                <a:latin typeface="Calibri"/>
                <a:ea typeface="Calibri"/>
                <a:cs typeface="Calibri"/>
              </a:rPr>
              <a:t>Home  ·  Cardiac  ·  Alerts  ·  Profile</a:t>
            </a:r>
          </a:p>
        </p:txBody>
      </p:sp>
      <p:sp>
        <p:nvSpPr>
          <p:cNvPr id="9" name="Rectangle 8">
            <a:extLst>
              <a:ext uri="{FF2B5EF4-FFF2-40B4-BE49-F238E27FC236}">
                <a16:creationId xmlns:a16="http://schemas.microsoft.com/office/drawing/2014/main" xmlns="" id="{7108FAE1-1E78-4904-BFF9-5B9480FBF4C9}"/>
              </a:ext>
            </a:extLst>
          </p:cNvPr>
          <p:cNvSpPr>
            <a:spLocks noGrp="1"/>
          </p:cNvSpPr>
          <p:nvPr/>
        </p:nvSpPr>
        <p:spPr>
          <a:xfrm>
            <a:off x="552450" y="2533650"/>
            <a:ext cx="2609850" cy="1390650"/>
          </a:xfrm>
          <a:prstGeom prst="rect">
            <a:avLst/>
          </a:prstGeom>
          <a:noFill/>
          <a:ln w="0">
            <a:noFill/>
            <a:prstDash val="solid"/>
          </a:ln>
        </p:spPr>
        <p:txBody>
          <a:bodyPr wrap="square" lIns="0" tIns="0" rIns="0" bIns="0" anchor="t">
            <a:normAutofit fontScale="98160" lnSpcReduction="10000"/>
          </a:bodyPr>
          <a:lstStyle>
            <a:defPPr algn="l">
              <a:defRPr sz="1313" b="0" i="0">
                <a:solidFill>
                  <a:srgbClr val="34515B"/>
                </a:solidFill>
                <a:latin typeface="Calibri"/>
                <a:ea typeface="Calibri"/>
                <a:cs typeface="Calibri"/>
              </a:defRPr>
            </a:defPPr>
            <a:lvl1pPr algn="l">
              <a:buNone/>
              <a:defRPr sz="1313" b="0" i="0">
                <a:solidFill>
                  <a:srgbClr val="263C45"/>
                </a:solidFill>
                <a:latin typeface="Calibri"/>
                <a:ea typeface="Calibri"/>
                <a:cs typeface="Calibri"/>
              </a:defRPr>
            </a:lvl1pPr>
            <a:lvl2pPr algn="l">
              <a:buNone/>
              <a:defRPr sz="1313" b="0" i="0">
                <a:solidFill>
                  <a:srgbClr val="263C45"/>
                </a:solidFill>
                <a:latin typeface="Calibri"/>
                <a:ea typeface="Calibri"/>
                <a:cs typeface="Calibri"/>
              </a:defRPr>
            </a:lvl2pPr>
            <a:lvl3pPr algn="l">
              <a:buNone/>
              <a:defRPr sz="1313" b="0" i="0">
                <a:solidFill>
                  <a:srgbClr val="263C45"/>
                </a:solidFill>
                <a:latin typeface="Calibri"/>
                <a:ea typeface="Calibri"/>
                <a:cs typeface="Calibri"/>
              </a:defRPr>
            </a:lvl3pPr>
            <a:lvl4pPr algn="l">
              <a:buNone/>
              <a:defRPr sz="1313" b="0" i="0">
                <a:solidFill>
                  <a:srgbClr val="263C45"/>
                </a:solidFill>
                <a:latin typeface="Calibri"/>
                <a:ea typeface="Calibri"/>
                <a:cs typeface="Calibri"/>
              </a:defRPr>
            </a:lvl4pPr>
            <a:lvl5pPr algn="l">
              <a:buNone/>
              <a:defRPr sz="1313" b="0" i="0">
                <a:solidFill>
                  <a:srgbClr val="263C45"/>
                </a:solidFill>
                <a:latin typeface="Calibri"/>
                <a:ea typeface="Calibri"/>
                <a:cs typeface="Calibri"/>
              </a:defRPr>
            </a:lvl5pPr>
            <a:lvl6pPr algn="l">
              <a:buNone/>
              <a:defRPr sz="1313" b="0" i="0">
                <a:solidFill>
                  <a:srgbClr val="263C45"/>
                </a:solidFill>
                <a:latin typeface="Calibri"/>
                <a:ea typeface="Calibri"/>
                <a:cs typeface="Calibri"/>
              </a:defRPr>
            </a:lvl6pPr>
            <a:lvl7pPr algn="l">
              <a:buNone/>
              <a:defRPr sz="1313" b="0" i="0">
                <a:solidFill>
                  <a:srgbClr val="263C45"/>
                </a:solidFill>
                <a:latin typeface="Calibri"/>
                <a:ea typeface="Calibri"/>
                <a:cs typeface="Calibri"/>
              </a:defRPr>
            </a:lvl7pPr>
            <a:lvl8pPr algn="l">
              <a:buNone/>
              <a:defRPr sz="1313" b="0" i="0">
                <a:solidFill>
                  <a:srgbClr val="263C45"/>
                </a:solidFill>
                <a:latin typeface="Calibri"/>
                <a:ea typeface="Calibri"/>
                <a:cs typeface="Calibri"/>
              </a:defRPr>
            </a:lvl8pPr>
            <a:lvl9pPr algn="l">
              <a:buNone/>
              <a:defRPr sz="1313" b="0" i="0">
                <a:solidFill>
                  <a:srgbClr val="263C45"/>
                </a:solidFill>
                <a:latin typeface="Calibri"/>
                <a:ea typeface="Calibri"/>
                <a:cs typeface="Calibri"/>
              </a:defRPr>
            </a:lvl9pPr>
          </a:lstStyle>
          <a:p>
            <a:pPr algn="l">
              <a:lnSpc>
                <a:spcPct val="118000"/>
              </a:lnSpc>
              <a:buNone/>
              <a:defRPr sz="1313" b="0" i="0">
                <a:solidFill>
                  <a:srgbClr val="263C45"/>
                </a:solidFill>
                <a:latin typeface="Calibri"/>
                <a:ea typeface="Calibri"/>
                <a:cs typeface="Calibri"/>
              </a:defRPr>
            </a:pPr>
            <a:r>
              <a:rPr sz="1313" b="0" i="0">
                <a:solidFill>
                  <a:srgbClr val="34515B"/>
                </a:solidFill>
                <a:latin typeface="Calibri"/>
                <a:ea typeface="Calibri"/>
                <a:cs typeface="Calibri"/>
              </a:rPr>
              <a:t>The Home screen shows the current synthetic patient status, selected vital readings, and a rule-based risk summary. Cardiac view lists recent telemetry; alerts and profile live in their own tabs.</a:t>
            </a:r>
          </a:p>
        </p:txBody>
      </p:sp>
      <p:sp>
        <p:nvSpPr>
          <p:cNvPr id="10" name="Rounded Rectangle 9">
            <a:extLst>
              <a:ext uri="{FF2B5EF4-FFF2-40B4-BE49-F238E27FC236}">
                <a16:creationId xmlns:a16="http://schemas.microsoft.com/office/drawing/2014/main" xmlns="" id="{4500CFE8-0113-4C9B-B457-44EFAAC438B8}"/>
              </a:ext>
            </a:extLst>
          </p:cNvPr>
          <p:cNvSpPr>
            <a:spLocks noGrp="1"/>
          </p:cNvSpPr>
          <p:nvPr/>
        </p:nvSpPr>
        <p:spPr>
          <a:xfrm>
            <a:off x="3943350" y="1371600"/>
            <a:ext cx="2047875" cy="3429000"/>
          </a:xfrm>
          <a:prstGeom prst="roundRect">
            <a:avLst>
              <a:gd name="adj" fmla="val 7442"/>
            </a:avLst>
          </a:prstGeom>
          <a:solidFill>
            <a:srgbClr val="FFFFFF"/>
          </a:solidFill>
          <a:ln w="19050">
            <a:solidFill>
              <a:srgbClr val="9BB7BE"/>
            </a:solidFill>
            <a:prstDash val="solid"/>
          </a:ln>
        </p:spPr>
      </p:sp>
      <p:sp>
        <p:nvSpPr>
          <p:cNvPr id="11" name="Rounded Rectangle 10">
            <a:extLst>
              <a:ext uri="{FF2B5EF4-FFF2-40B4-BE49-F238E27FC236}">
                <a16:creationId xmlns:a16="http://schemas.microsoft.com/office/drawing/2014/main" xmlns="" id="{9B58FEB2-9339-4F84-98A6-436D14B9F212}"/>
              </a:ext>
            </a:extLst>
          </p:cNvPr>
          <p:cNvSpPr>
            <a:spLocks noGrp="1"/>
          </p:cNvSpPr>
          <p:nvPr/>
        </p:nvSpPr>
        <p:spPr>
          <a:xfrm>
            <a:off x="4705350" y="1466850"/>
            <a:ext cx="542925" cy="57150"/>
          </a:xfrm>
          <a:prstGeom prst="roundRect">
            <a:avLst>
              <a:gd name="adj" fmla="val 50000"/>
            </a:avLst>
          </a:prstGeom>
          <a:solidFill>
            <a:srgbClr val="A9B9BE"/>
          </a:solidFill>
          <a:ln w="11430">
            <a:solidFill>
              <a:srgbClr val="A9B9BE"/>
            </a:solidFill>
            <a:prstDash val="solid"/>
          </a:ln>
        </p:spPr>
      </p:sp>
      <p:sp>
        <p:nvSpPr>
          <p:cNvPr id="12" name="Rectangle 11">
            <a:extLst>
              <a:ext uri="{FF2B5EF4-FFF2-40B4-BE49-F238E27FC236}">
                <a16:creationId xmlns:a16="http://schemas.microsoft.com/office/drawing/2014/main" xmlns="" id="{E1162157-7A60-4E76-BBCB-9A2AD647357E}"/>
              </a:ext>
            </a:extLst>
          </p:cNvPr>
          <p:cNvSpPr>
            <a:spLocks noGrp="1"/>
          </p:cNvSpPr>
          <p:nvPr/>
        </p:nvSpPr>
        <p:spPr>
          <a:xfrm>
            <a:off x="4105275" y="1676400"/>
            <a:ext cx="1714500" cy="171450"/>
          </a:xfrm>
          <a:prstGeom prst="rect">
            <a:avLst/>
          </a:prstGeom>
          <a:noFill/>
          <a:ln w="0">
            <a:noFill/>
            <a:prstDash val="solid"/>
          </a:ln>
        </p:spPr>
        <p:txBody>
          <a:bodyPr wrap="square" lIns="0" tIns="0" rIns="0" bIns="0" anchor="ctr">
            <a:normAutofit/>
          </a:bodyPr>
          <a:lstStyle>
            <a:defPPr algn="l">
              <a:defRPr sz="713" b="1" i="0">
                <a:solidFill>
                  <a:srgbClr val="428DB2"/>
                </a:solidFill>
                <a:latin typeface="Calibri"/>
                <a:ea typeface="Calibri"/>
                <a:cs typeface="Calibri"/>
              </a:defRPr>
            </a:defPPr>
            <a:lvl1pPr algn="l">
              <a:buNone/>
              <a:defRPr sz="713" b="1" i="0">
                <a:solidFill>
                  <a:srgbClr val="428DB2"/>
                </a:solidFill>
                <a:latin typeface="Calibri"/>
                <a:ea typeface="Calibri"/>
                <a:cs typeface="Calibri"/>
              </a:defRPr>
            </a:lvl1pPr>
            <a:lvl2pPr algn="l">
              <a:buNone/>
              <a:defRPr sz="713" b="1" i="0">
                <a:solidFill>
                  <a:srgbClr val="428DB2"/>
                </a:solidFill>
                <a:latin typeface="Calibri"/>
                <a:ea typeface="Calibri"/>
                <a:cs typeface="Calibri"/>
              </a:defRPr>
            </a:lvl2pPr>
            <a:lvl3pPr algn="l">
              <a:buNone/>
              <a:defRPr sz="713" b="1" i="0">
                <a:solidFill>
                  <a:srgbClr val="428DB2"/>
                </a:solidFill>
                <a:latin typeface="Calibri"/>
                <a:ea typeface="Calibri"/>
                <a:cs typeface="Calibri"/>
              </a:defRPr>
            </a:lvl3pPr>
            <a:lvl4pPr algn="l">
              <a:buNone/>
              <a:defRPr sz="713" b="1" i="0">
                <a:solidFill>
                  <a:srgbClr val="428DB2"/>
                </a:solidFill>
                <a:latin typeface="Calibri"/>
                <a:ea typeface="Calibri"/>
                <a:cs typeface="Calibri"/>
              </a:defRPr>
            </a:lvl4pPr>
            <a:lvl5pPr algn="l">
              <a:buNone/>
              <a:defRPr sz="713" b="1" i="0">
                <a:solidFill>
                  <a:srgbClr val="428DB2"/>
                </a:solidFill>
                <a:latin typeface="Calibri"/>
                <a:ea typeface="Calibri"/>
                <a:cs typeface="Calibri"/>
              </a:defRPr>
            </a:lvl5pPr>
            <a:lvl6pPr algn="l">
              <a:buNone/>
              <a:defRPr sz="713" b="1" i="0">
                <a:solidFill>
                  <a:srgbClr val="428DB2"/>
                </a:solidFill>
                <a:latin typeface="Calibri"/>
                <a:ea typeface="Calibri"/>
                <a:cs typeface="Calibri"/>
              </a:defRPr>
            </a:lvl6pPr>
            <a:lvl7pPr algn="l">
              <a:buNone/>
              <a:defRPr sz="713" b="1" i="0">
                <a:solidFill>
                  <a:srgbClr val="428DB2"/>
                </a:solidFill>
                <a:latin typeface="Calibri"/>
                <a:ea typeface="Calibri"/>
                <a:cs typeface="Calibri"/>
              </a:defRPr>
            </a:lvl7pPr>
            <a:lvl8pPr algn="l">
              <a:buNone/>
              <a:defRPr sz="713" b="1" i="0">
                <a:solidFill>
                  <a:srgbClr val="428DB2"/>
                </a:solidFill>
                <a:latin typeface="Calibri"/>
                <a:ea typeface="Calibri"/>
                <a:cs typeface="Calibri"/>
              </a:defRPr>
            </a:lvl8pPr>
            <a:lvl9pPr algn="l">
              <a:buNone/>
              <a:defRPr sz="713" b="1" i="0">
                <a:solidFill>
                  <a:srgbClr val="428DB2"/>
                </a:solidFill>
                <a:latin typeface="Calibri"/>
                <a:ea typeface="Calibri"/>
                <a:cs typeface="Calibri"/>
              </a:defRPr>
            </a:lvl9pPr>
          </a:lstStyle>
          <a:p>
            <a:pPr algn="l">
              <a:lnSpc>
                <a:spcPct val="108000"/>
              </a:lnSpc>
              <a:buNone/>
              <a:defRPr sz="713" b="1" i="0">
                <a:solidFill>
                  <a:srgbClr val="428DB2"/>
                </a:solidFill>
                <a:latin typeface="Calibri"/>
                <a:ea typeface="Calibri"/>
                <a:cs typeface="Calibri"/>
              </a:defRPr>
            </a:pPr>
            <a:r>
              <a:rPr sz="713" b="1" i="0">
                <a:solidFill>
                  <a:srgbClr val="428DB2"/>
                </a:solidFill>
                <a:latin typeface="Calibri"/>
                <a:ea typeface="Calibri"/>
                <a:cs typeface="Calibri"/>
              </a:rPr>
              <a:t>CARDIOTWIN PATIENT VIEW</a:t>
            </a:r>
          </a:p>
        </p:txBody>
      </p:sp>
      <p:sp>
        <p:nvSpPr>
          <p:cNvPr id="13" name="Rectangle 12">
            <a:extLst>
              <a:ext uri="{FF2B5EF4-FFF2-40B4-BE49-F238E27FC236}">
                <a16:creationId xmlns:a16="http://schemas.microsoft.com/office/drawing/2014/main" xmlns="" id="{0E68BC71-BD93-4D14-9259-CF76A8875ED3}"/>
              </a:ext>
            </a:extLst>
          </p:cNvPr>
          <p:cNvSpPr>
            <a:spLocks noGrp="1"/>
          </p:cNvSpPr>
          <p:nvPr/>
        </p:nvSpPr>
        <p:spPr>
          <a:xfrm>
            <a:off x="4105275" y="1876425"/>
            <a:ext cx="1666875" cy="238125"/>
          </a:xfrm>
          <a:prstGeom prst="rect">
            <a:avLst/>
          </a:prstGeom>
          <a:noFill/>
          <a:ln w="0">
            <a:noFill/>
            <a:prstDash val="solid"/>
          </a:ln>
        </p:spPr>
        <p:txBody>
          <a:bodyPr wrap="square" lIns="0" tIns="0" rIns="0" bIns="0" anchor="ctr">
            <a:normAutofit fontScale="96451"/>
          </a:bodyPr>
          <a:lstStyle>
            <a:defPPr algn="l">
              <a:defRPr sz="1500" b="1" i="0">
                <a:solidFill>
                  <a:srgbClr val="102A36"/>
                </a:solidFill>
                <a:latin typeface="Calibri Light"/>
                <a:ea typeface="Calibri Light"/>
                <a:cs typeface="Calibri Light"/>
              </a:defRPr>
            </a:defPPr>
            <a:lvl1pPr algn="l">
              <a:buNone/>
              <a:defRPr sz="1500" b="1" i="0">
                <a:solidFill>
                  <a:srgbClr val="102A36"/>
                </a:solidFill>
                <a:latin typeface="Calibri Light"/>
                <a:ea typeface="Calibri Light"/>
                <a:cs typeface="Calibri Light"/>
              </a:defRPr>
            </a:lvl1pPr>
            <a:lvl2pPr algn="l">
              <a:buNone/>
              <a:defRPr sz="1500" b="1" i="0">
                <a:solidFill>
                  <a:srgbClr val="102A36"/>
                </a:solidFill>
                <a:latin typeface="Calibri Light"/>
                <a:ea typeface="Calibri Light"/>
                <a:cs typeface="Calibri Light"/>
              </a:defRPr>
            </a:lvl2pPr>
            <a:lvl3pPr algn="l">
              <a:buNone/>
              <a:defRPr sz="1500" b="1" i="0">
                <a:solidFill>
                  <a:srgbClr val="102A36"/>
                </a:solidFill>
                <a:latin typeface="Calibri Light"/>
                <a:ea typeface="Calibri Light"/>
                <a:cs typeface="Calibri Light"/>
              </a:defRPr>
            </a:lvl3pPr>
            <a:lvl4pPr algn="l">
              <a:buNone/>
              <a:defRPr sz="1500" b="1" i="0">
                <a:solidFill>
                  <a:srgbClr val="102A36"/>
                </a:solidFill>
                <a:latin typeface="Calibri Light"/>
                <a:ea typeface="Calibri Light"/>
                <a:cs typeface="Calibri Light"/>
              </a:defRPr>
            </a:lvl4pPr>
            <a:lvl5pPr algn="l">
              <a:buNone/>
              <a:defRPr sz="1500" b="1" i="0">
                <a:solidFill>
                  <a:srgbClr val="102A36"/>
                </a:solidFill>
                <a:latin typeface="Calibri Light"/>
                <a:ea typeface="Calibri Light"/>
                <a:cs typeface="Calibri Light"/>
              </a:defRPr>
            </a:lvl5pPr>
            <a:lvl6pPr algn="l">
              <a:buNone/>
              <a:defRPr sz="1500" b="1" i="0">
                <a:solidFill>
                  <a:srgbClr val="102A36"/>
                </a:solidFill>
                <a:latin typeface="Calibri Light"/>
                <a:ea typeface="Calibri Light"/>
                <a:cs typeface="Calibri Light"/>
              </a:defRPr>
            </a:lvl6pPr>
            <a:lvl7pPr algn="l">
              <a:buNone/>
              <a:defRPr sz="1500" b="1" i="0">
                <a:solidFill>
                  <a:srgbClr val="102A36"/>
                </a:solidFill>
                <a:latin typeface="Calibri Light"/>
                <a:ea typeface="Calibri Light"/>
                <a:cs typeface="Calibri Light"/>
              </a:defRPr>
            </a:lvl7pPr>
            <a:lvl8pPr algn="l">
              <a:buNone/>
              <a:defRPr sz="1500" b="1" i="0">
                <a:solidFill>
                  <a:srgbClr val="102A36"/>
                </a:solidFill>
                <a:latin typeface="Calibri Light"/>
                <a:ea typeface="Calibri Light"/>
                <a:cs typeface="Calibri Light"/>
              </a:defRPr>
            </a:lvl8pPr>
            <a:lvl9pPr algn="l">
              <a:buNone/>
              <a:defRPr sz="1500" b="1" i="0">
                <a:solidFill>
                  <a:srgbClr val="102A36"/>
                </a:solidFill>
                <a:latin typeface="Calibri Light"/>
                <a:ea typeface="Calibri Light"/>
                <a:cs typeface="Calibri Light"/>
              </a:defRPr>
            </a:lvl9pPr>
          </a:lstStyle>
          <a:p>
            <a:pPr algn="l">
              <a:lnSpc>
                <a:spcPct val="108000"/>
              </a:lnSpc>
              <a:buNone/>
              <a:defRPr sz="1500" b="1" i="0">
                <a:solidFill>
                  <a:srgbClr val="102A36"/>
                </a:solidFill>
                <a:latin typeface="Calibri Light"/>
                <a:ea typeface="Calibri Light"/>
                <a:cs typeface="Calibri Light"/>
              </a:defRPr>
            </a:pPr>
            <a:r>
              <a:rPr sz="1500" b="1" i="0">
                <a:solidFill>
                  <a:srgbClr val="102A36"/>
                </a:solidFill>
                <a:latin typeface="Calibri Light"/>
                <a:ea typeface="Calibri Light"/>
                <a:cs typeface="Calibri Light"/>
              </a:rPr>
              <a:t>Synthetic patient</a:t>
            </a:r>
          </a:p>
        </p:txBody>
      </p:sp>
      <p:sp>
        <p:nvSpPr>
          <p:cNvPr id="14" name="Rectangle 13">
            <a:extLst>
              <a:ext uri="{FF2B5EF4-FFF2-40B4-BE49-F238E27FC236}">
                <a16:creationId xmlns:a16="http://schemas.microsoft.com/office/drawing/2014/main" xmlns="" id="{BEB5F115-C7CC-44E9-9AA4-59F2D3EEB0E5}"/>
              </a:ext>
            </a:extLst>
          </p:cNvPr>
          <p:cNvSpPr>
            <a:spLocks noGrp="1"/>
          </p:cNvSpPr>
          <p:nvPr/>
        </p:nvSpPr>
        <p:spPr>
          <a:xfrm>
            <a:off x="4105275" y="2162175"/>
            <a:ext cx="1714500" cy="238125"/>
          </a:xfrm>
          <a:prstGeom prst="rect">
            <a:avLst/>
          </a:prstGeom>
          <a:noFill/>
          <a:ln w="0">
            <a:noFill/>
            <a:prstDash val="solid"/>
          </a:ln>
        </p:spPr>
        <p:txBody>
          <a:bodyPr wrap="square" lIns="0" tIns="0" rIns="0" bIns="0" anchor="ctr">
            <a:normAutofit/>
          </a:bodyPr>
          <a:lstStyle>
            <a:defPPr algn="l">
              <a:defRPr sz="863" b="0" i="0">
                <a:solidFill>
                  <a:srgbClr val="647781"/>
                </a:solidFill>
                <a:latin typeface="Calibri"/>
                <a:ea typeface="Calibri"/>
                <a:cs typeface="Calibri"/>
              </a:defRPr>
            </a:defPPr>
            <a:lvl1pPr algn="l">
              <a:buNone/>
              <a:defRPr sz="863" b="0" i="0">
                <a:solidFill>
                  <a:srgbClr val="647781"/>
                </a:solidFill>
                <a:latin typeface="Calibri"/>
                <a:ea typeface="Calibri"/>
                <a:cs typeface="Calibri"/>
              </a:defRPr>
            </a:lvl1pPr>
            <a:lvl2pPr algn="l">
              <a:buNone/>
              <a:defRPr sz="863" b="0" i="0">
                <a:solidFill>
                  <a:srgbClr val="647781"/>
                </a:solidFill>
                <a:latin typeface="Calibri"/>
                <a:ea typeface="Calibri"/>
                <a:cs typeface="Calibri"/>
              </a:defRPr>
            </a:lvl2pPr>
            <a:lvl3pPr algn="l">
              <a:buNone/>
              <a:defRPr sz="863" b="0" i="0">
                <a:solidFill>
                  <a:srgbClr val="647781"/>
                </a:solidFill>
                <a:latin typeface="Calibri"/>
                <a:ea typeface="Calibri"/>
                <a:cs typeface="Calibri"/>
              </a:defRPr>
            </a:lvl3pPr>
            <a:lvl4pPr algn="l">
              <a:buNone/>
              <a:defRPr sz="863" b="0" i="0">
                <a:solidFill>
                  <a:srgbClr val="647781"/>
                </a:solidFill>
                <a:latin typeface="Calibri"/>
                <a:ea typeface="Calibri"/>
                <a:cs typeface="Calibri"/>
              </a:defRPr>
            </a:lvl4pPr>
            <a:lvl5pPr algn="l">
              <a:buNone/>
              <a:defRPr sz="863" b="0" i="0">
                <a:solidFill>
                  <a:srgbClr val="647781"/>
                </a:solidFill>
                <a:latin typeface="Calibri"/>
                <a:ea typeface="Calibri"/>
                <a:cs typeface="Calibri"/>
              </a:defRPr>
            </a:lvl5pPr>
            <a:lvl6pPr algn="l">
              <a:buNone/>
              <a:defRPr sz="863" b="0" i="0">
                <a:solidFill>
                  <a:srgbClr val="647781"/>
                </a:solidFill>
                <a:latin typeface="Calibri"/>
                <a:ea typeface="Calibri"/>
                <a:cs typeface="Calibri"/>
              </a:defRPr>
            </a:lvl6pPr>
            <a:lvl7pPr algn="l">
              <a:buNone/>
              <a:defRPr sz="863" b="0" i="0">
                <a:solidFill>
                  <a:srgbClr val="647781"/>
                </a:solidFill>
                <a:latin typeface="Calibri"/>
                <a:ea typeface="Calibri"/>
                <a:cs typeface="Calibri"/>
              </a:defRPr>
            </a:lvl7pPr>
            <a:lvl8pPr algn="l">
              <a:buNone/>
              <a:defRPr sz="863" b="0" i="0">
                <a:solidFill>
                  <a:srgbClr val="647781"/>
                </a:solidFill>
                <a:latin typeface="Calibri"/>
                <a:ea typeface="Calibri"/>
                <a:cs typeface="Calibri"/>
              </a:defRPr>
            </a:lvl8pPr>
            <a:lvl9pPr algn="l">
              <a:buNone/>
              <a:defRPr sz="863" b="0" i="0">
                <a:solidFill>
                  <a:srgbClr val="647781"/>
                </a:solidFill>
                <a:latin typeface="Calibri"/>
                <a:ea typeface="Calibri"/>
                <a:cs typeface="Calibri"/>
              </a:defRPr>
            </a:lvl9pPr>
          </a:lstStyle>
          <a:p>
            <a:pPr algn="l">
              <a:lnSpc>
                <a:spcPct val="108000"/>
              </a:lnSpc>
              <a:buNone/>
              <a:defRPr sz="863" b="0" i="0">
                <a:solidFill>
                  <a:srgbClr val="647781"/>
                </a:solidFill>
                <a:latin typeface="Calibri"/>
                <a:ea typeface="Calibri"/>
                <a:cs typeface="Calibri"/>
              </a:defRPr>
            </a:pPr>
            <a:r>
              <a:rPr sz="863" b="0" i="0">
                <a:solidFill>
                  <a:srgbClr val="647781"/>
                </a:solidFill>
                <a:latin typeface="Calibri"/>
                <a:ea typeface="Calibri"/>
                <a:cs typeface="Calibri"/>
              </a:rPr>
              <a:t>Personal status from EHR + telemetry</a:t>
            </a:r>
          </a:p>
        </p:txBody>
      </p:sp>
      <p:sp>
        <p:nvSpPr>
          <p:cNvPr id="15" name="Rounded Rectangle 14">
            <a:extLst>
              <a:ext uri="{FF2B5EF4-FFF2-40B4-BE49-F238E27FC236}">
                <a16:creationId xmlns:a16="http://schemas.microsoft.com/office/drawing/2014/main" xmlns="" id="{C3025FE1-6C9D-4AFB-A675-A6D734BDAF0D}"/>
              </a:ext>
            </a:extLst>
          </p:cNvPr>
          <p:cNvSpPr>
            <a:spLocks noGrp="1"/>
          </p:cNvSpPr>
          <p:nvPr/>
        </p:nvSpPr>
        <p:spPr>
          <a:xfrm>
            <a:off x="4105275" y="2543175"/>
            <a:ext cx="781050" cy="447675"/>
          </a:xfrm>
          <a:prstGeom prst="roundRect">
            <a:avLst>
              <a:gd name="adj" fmla="val 17021"/>
            </a:avLst>
          </a:prstGeom>
          <a:solidFill>
            <a:srgbClr val="F4F7FB"/>
          </a:solidFill>
          <a:ln w="11430">
            <a:solidFill>
              <a:srgbClr val="E1E7EB"/>
            </a:solidFill>
            <a:prstDash val="solid"/>
          </a:ln>
        </p:spPr>
        <p:txBody>
          <a:bodyPr wrap="square" lIns="66675" tIns="47625" rIns="47625" bIns="47625" anchor="ctr">
            <a:normAutofit/>
          </a:bodyPr>
          <a:lstStyle>
            <a:defPPr algn="l">
              <a:defRPr sz="788" b="0">
                <a:solidFill>
                  <a:srgbClr val="263C45"/>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Heart rate</a:t>
            </a:r>
          </a:p>
          <a:p>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72 bpm</a:t>
            </a:r>
          </a:p>
        </p:txBody>
      </p:sp>
      <p:sp>
        <p:nvSpPr>
          <p:cNvPr id="16" name="Rounded Rectangle 15">
            <a:extLst>
              <a:ext uri="{FF2B5EF4-FFF2-40B4-BE49-F238E27FC236}">
                <a16:creationId xmlns:a16="http://schemas.microsoft.com/office/drawing/2014/main" xmlns="" id="{C9303190-FB57-489A-BC7D-A3E35DAAD382}"/>
              </a:ext>
            </a:extLst>
          </p:cNvPr>
          <p:cNvSpPr>
            <a:spLocks noGrp="1"/>
          </p:cNvSpPr>
          <p:nvPr/>
        </p:nvSpPr>
        <p:spPr>
          <a:xfrm>
            <a:off x="4943475" y="2543175"/>
            <a:ext cx="781050" cy="447675"/>
          </a:xfrm>
          <a:prstGeom prst="roundRect">
            <a:avLst>
              <a:gd name="adj" fmla="val 17021"/>
            </a:avLst>
          </a:prstGeom>
          <a:solidFill>
            <a:srgbClr val="F4F7FB"/>
          </a:solidFill>
          <a:ln w="11430">
            <a:solidFill>
              <a:srgbClr val="E1E7EB"/>
            </a:solidFill>
            <a:prstDash val="solid"/>
          </a:ln>
        </p:spPr>
        <p:txBody>
          <a:bodyPr wrap="square" lIns="66675" tIns="47625" rIns="47625" bIns="47625" anchor="ctr">
            <a:normAutofit/>
          </a:bodyPr>
          <a:lstStyle>
            <a:defPPr algn="l">
              <a:defRPr sz="788" b="0">
                <a:solidFill>
                  <a:srgbClr val="263C45"/>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Blood pressure</a:t>
            </a:r>
          </a:p>
          <a:p>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118/78</a:t>
            </a:r>
          </a:p>
        </p:txBody>
      </p:sp>
      <p:sp>
        <p:nvSpPr>
          <p:cNvPr id="17" name="Rounded Rectangle 16">
            <a:extLst>
              <a:ext uri="{FF2B5EF4-FFF2-40B4-BE49-F238E27FC236}">
                <a16:creationId xmlns:a16="http://schemas.microsoft.com/office/drawing/2014/main" xmlns="" id="{21D6AD73-504D-4B8B-B284-22FB60A1E168}"/>
              </a:ext>
            </a:extLst>
          </p:cNvPr>
          <p:cNvSpPr>
            <a:spLocks noGrp="1"/>
          </p:cNvSpPr>
          <p:nvPr/>
        </p:nvSpPr>
        <p:spPr>
          <a:xfrm>
            <a:off x="4105275" y="3076575"/>
            <a:ext cx="781050" cy="447675"/>
          </a:xfrm>
          <a:prstGeom prst="roundRect">
            <a:avLst>
              <a:gd name="adj" fmla="val 17021"/>
            </a:avLst>
          </a:prstGeom>
          <a:solidFill>
            <a:srgbClr val="F4F7FB"/>
          </a:solidFill>
          <a:ln w="11430">
            <a:solidFill>
              <a:srgbClr val="E1E7EB"/>
            </a:solidFill>
            <a:prstDash val="solid"/>
          </a:ln>
        </p:spPr>
        <p:txBody>
          <a:bodyPr wrap="square" lIns="66675" tIns="47625" rIns="47625" bIns="47625" anchor="ctr">
            <a:normAutofit/>
          </a:bodyPr>
          <a:lstStyle>
            <a:defPPr algn="l">
              <a:defRPr sz="788" b="0">
                <a:solidFill>
                  <a:srgbClr val="263C45"/>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Oxygen</a:t>
            </a:r>
          </a:p>
          <a:p>
            <a:pPr algn="l">
              <a:buNone/>
              <a:defRPr sz="788" b="0">
                <a:solidFill>
                  <a:srgbClr val="263C45"/>
                </a:solidFill>
                <a:latin typeface="Calibri"/>
                <a:ea typeface="Calibri"/>
                <a:cs typeface="Calibri"/>
              </a:defRPr>
            </a:pPr>
            <a:r>
              <a:rPr sz="788" b="0">
                <a:solidFill>
                  <a:srgbClr val="263C45"/>
                </a:solidFill>
                <a:latin typeface="Calibri"/>
                <a:ea typeface="Calibri"/>
                <a:cs typeface="Calibri"/>
              </a:rPr>
              <a:t>98.5%</a:t>
            </a:r>
          </a:p>
        </p:txBody>
      </p:sp>
      <p:sp>
        <p:nvSpPr>
          <p:cNvPr id="18" name="Rounded Rectangle 17">
            <a:extLst>
              <a:ext uri="{FF2B5EF4-FFF2-40B4-BE49-F238E27FC236}">
                <a16:creationId xmlns:a16="http://schemas.microsoft.com/office/drawing/2014/main" xmlns="" id="{69835677-735F-4381-A7B1-99DE9F9A13CF}"/>
              </a:ext>
            </a:extLst>
          </p:cNvPr>
          <p:cNvSpPr>
            <a:spLocks noGrp="1"/>
          </p:cNvSpPr>
          <p:nvPr/>
        </p:nvSpPr>
        <p:spPr>
          <a:xfrm>
            <a:off x="4943475" y="3076575"/>
            <a:ext cx="781050" cy="447675"/>
          </a:xfrm>
          <a:prstGeom prst="roundRect">
            <a:avLst>
              <a:gd name="adj" fmla="val 17021"/>
            </a:avLst>
          </a:prstGeom>
          <a:solidFill>
            <a:srgbClr val="F4F7FB"/>
          </a:solidFill>
          <a:ln w="11430">
            <a:solidFill>
              <a:srgbClr val="E1E7EB"/>
            </a:solidFill>
            <a:prstDash val="solid"/>
          </a:ln>
        </p:spPr>
        <p:txBody>
          <a:bodyPr wrap="square" lIns="66675" tIns="47625" rIns="47625" bIns="47625" anchor="ctr">
            <a:normAutofit/>
          </a:bodyPr>
          <a:lstStyle>
            <a:defPPr algn="l">
              <a:defRPr sz="938" b="1">
                <a:solidFill>
                  <a:srgbClr val="248F67"/>
                </a:solidFill>
                <a:latin typeface="Calibri"/>
                <a:ea typeface="Calibri"/>
                <a:cs typeface="Calibri"/>
              </a:defRPr>
            </a:defPPr>
            <a:lvl1pPr algn="l">
              <a:buNone/>
              <a:defRPr sz="788" b="0">
                <a:solidFill>
                  <a:srgbClr val="263C45"/>
                </a:solidFill>
                <a:latin typeface="Calibri"/>
                <a:ea typeface="Calibri"/>
                <a:cs typeface="Calibri"/>
              </a:defRPr>
            </a:lvl1pPr>
            <a:lvl2pPr algn="l">
              <a:buNone/>
              <a:defRPr sz="788" b="0">
                <a:solidFill>
                  <a:srgbClr val="263C45"/>
                </a:solidFill>
                <a:latin typeface="Calibri"/>
                <a:ea typeface="Calibri"/>
                <a:cs typeface="Calibri"/>
              </a:defRPr>
            </a:lvl2pPr>
            <a:lvl3pPr algn="l">
              <a:buNone/>
              <a:defRPr sz="788" b="0">
                <a:solidFill>
                  <a:srgbClr val="263C45"/>
                </a:solidFill>
                <a:latin typeface="Calibri"/>
                <a:ea typeface="Calibri"/>
                <a:cs typeface="Calibri"/>
              </a:defRPr>
            </a:lvl3pPr>
            <a:lvl4pPr algn="l">
              <a:buNone/>
              <a:defRPr sz="788" b="0">
                <a:solidFill>
                  <a:srgbClr val="263C45"/>
                </a:solidFill>
                <a:latin typeface="Calibri"/>
                <a:ea typeface="Calibri"/>
                <a:cs typeface="Calibri"/>
              </a:defRPr>
            </a:lvl4pPr>
            <a:lvl5pPr algn="l">
              <a:buNone/>
              <a:defRPr sz="788" b="0">
                <a:solidFill>
                  <a:srgbClr val="263C45"/>
                </a:solidFill>
                <a:latin typeface="Calibri"/>
                <a:ea typeface="Calibri"/>
                <a:cs typeface="Calibri"/>
              </a:defRPr>
            </a:lvl5pPr>
            <a:lvl6pPr algn="l">
              <a:buNone/>
              <a:defRPr sz="788" b="0">
                <a:solidFill>
                  <a:srgbClr val="263C45"/>
                </a:solidFill>
                <a:latin typeface="Calibri"/>
                <a:ea typeface="Calibri"/>
                <a:cs typeface="Calibri"/>
              </a:defRPr>
            </a:lvl6pPr>
            <a:lvl7pPr algn="l">
              <a:buNone/>
              <a:defRPr sz="788" b="0">
                <a:solidFill>
                  <a:srgbClr val="263C45"/>
                </a:solidFill>
                <a:latin typeface="Calibri"/>
                <a:ea typeface="Calibri"/>
                <a:cs typeface="Calibri"/>
              </a:defRPr>
            </a:lvl7pPr>
            <a:lvl8pPr algn="l">
              <a:buNone/>
              <a:defRPr sz="788" b="0">
                <a:solidFill>
                  <a:srgbClr val="263C45"/>
                </a:solidFill>
                <a:latin typeface="Calibri"/>
                <a:ea typeface="Calibri"/>
                <a:cs typeface="Calibri"/>
              </a:defRPr>
            </a:lvl8pPr>
            <a:lvl9pPr algn="l">
              <a:buNone/>
              <a:defRPr sz="788" b="0">
                <a:solidFill>
                  <a:srgbClr val="263C45"/>
                </a:solidFill>
                <a:latin typeface="Calibri"/>
                <a:ea typeface="Calibri"/>
                <a:cs typeface="Calibri"/>
              </a:defRPr>
            </a:lvl9pPr>
          </a:lstStyle>
          <a:p>
            <a:pPr algn="l">
              <a:buNone/>
              <a:defRPr sz="788" b="0">
                <a:solidFill>
                  <a:srgbClr val="263C45"/>
                </a:solidFill>
                <a:latin typeface="Calibri"/>
                <a:ea typeface="Calibri"/>
                <a:cs typeface="Calibri"/>
              </a:defRPr>
            </a:pPr>
            <a:r>
              <a:rPr sz="938" b="1">
                <a:solidFill>
                  <a:srgbClr val="248F67"/>
                </a:solidFill>
                <a:latin typeface="Calibri"/>
                <a:ea typeface="Calibri"/>
                <a:cs typeface="Calibri"/>
              </a:rPr>
              <a:t>Twin risk</a:t>
            </a:r>
          </a:p>
          <a:p>
            <a:pPr algn="l">
              <a:buNone/>
              <a:defRPr sz="788" b="0">
                <a:solidFill>
                  <a:srgbClr val="263C45"/>
                </a:solidFill>
                <a:latin typeface="Calibri"/>
                <a:ea typeface="Calibri"/>
                <a:cs typeface="Calibri"/>
              </a:defRPr>
            </a:pPr>
            <a:r>
              <a:rPr sz="938" b="1">
                <a:solidFill>
                  <a:srgbClr val="248F67"/>
                </a:solidFill>
                <a:latin typeface="Calibri"/>
                <a:ea typeface="Calibri"/>
                <a:cs typeface="Calibri"/>
              </a:rPr>
              <a:t>LOW</a:t>
            </a:r>
          </a:p>
        </p:txBody>
      </p:sp>
      <p:sp>
        <p:nvSpPr>
          <p:cNvPr id="19" name="Rectangle 18">
            <a:extLst>
              <a:ext uri="{FF2B5EF4-FFF2-40B4-BE49-F238E27FC236}">
                <a16:creationId xmlns:a16="http://schemas.microsoft.com/office/drawing/2014/main" xmlns="" id="{2C8FFD78-5A30-4150-BBCA-D80C695E9C38}"/>
              </a:ext>
            </a:extLst>
          </p:cNvPr>
          <p:cNvSpPr>
            <a:spLocks noGrp="1"/>
          </p:cNvSpPr>
          <p:nvPr/>
        </p:nvSpPr>
        <p:spPr>
          <a:xfrm>
            <a:off x="4105275" y="3657600"/>
            <a:ext cx="1685925" cy="190500"/>
          </a:xfrm>
          <a:prstGeom prst="rect">
            <a:avLst/>
          </a:prstGeom>
          <a:noFill/>
          <a:ln w="0">
            <a:noFill/>
            <a:prstDash val="solid"/>
          </a:ln>
        </p:spPr>
        <p:txBody>
          <a:bodyPr wrap="square" lIns="0" tIns="0" rIns="0" bIns="0" anchor="ctr">
            <a:normAutofit/>
          </a:bodyPr>
          <a:lstStyle>
            <a:defPPr algn="l">
              <a:defRPr sz="825" b="1" i="0">
                <a:solidFill>
                  <a:srgbClr val="102A36"/>
                </a:solidFill>
                <a:latin typeface="Calibri"/>
                <a:ea typeface="Calibri"/>
                <a:cs typeface="Calibri"/>
              </a:defRPr>
            </a:defPPr>
            <a:lvl1pPr algn="l">
              <a:buNone/>
              <a:defRPr sz="825" b="1" i="0">
                <a:solidFill>
                  <a:srgbClr val="102A36"/>
                </a:solidFill>
                <a:latin typeface="Calibri"/>
                <a:ea typeface="Calibri"/>
                <a:cs typeface="Calibri"/>
              </a:defRPr>
            </a:lvl1pPr>
            <a:lvl2pPr algn="l">
              <a:buNone/>
              <a:defRPr sz="825" b="1" i="0">
                <a:solidFill>
                  <a:srgbClr val="102A36"/>
                </a:solidFill>
                <a:latin typeface="Calibri"/>
                <a:ea typeface="Calibri"/>
                <a:cs typeface="Calibri"/>
              </a:defRPr>
            </a:lvl2pPr>
            <a:lvl3pPr algn="l">
              <a:buNone/>
              <a:defRPr sz="825" b="1" i="0">
                <a:solidFill>
                  <a:srgbClr val="102A36"/>
                </a:solidFill>
                <a:latin typeface="Calibri"/>
                <a:ea typeface="Calibri"/>
                <a:cs typeface="Calibri"/>
              </a:defRPr>
            </a:lvl3pPr>
            <a:lvl4pPr algn="l">
              <a:buNone/>
              <a:defRPr sz="825" b="1" i="0">
                <a:solidFill>
                  <a:srgbClr val="102A36"/>
                </a:solidFill>
                <a:latin typeface="Calibri"/>
                <a:ea typeface="Calibri"/>
                <a:cs typeface="Calibri"/>
              </a:defRPr>
            </a:lvl4pPr>
            <a:lvl5pPr algn="l">
              <a:buNone/>
              <a:defRPr sz="825" b="1" i="0">
                <a:solidFill>
                  <a:srgbClr val="102A36"/>
                </a:solidFill>
                <a:latin typeface="Calibri"/>
                <a:ea typeface="Calibri"/>
                <a:cs typeface="Calibri"/>
              </a:defRPr>
            </a:lvl5pPr>
            <a:lvl6pPr algn="l">
              <a:buNone/>
              <a:defRPr sz="825" b="1" i="0">
                <a:solidFill>
                  <a:srgbClr val="102A36"/>
                </a:solidFill>
                <a:latin typeface="Calibri"/>
                <a:ea typeface="Calibri"/>
                <a:cs typeface="Calibri"/>
              </a:defRPr>
            </a:lvl6pPr>
            <a:lvl7pPr algn="l">
              <a:buNone/>
              <a:defRPr sz="825" b="1" i="0">
                <a:solidFill>
                  <a:srgbClr val="102A36"/>
                </a:solidFill>
                <a:latin typeface="Calibri"/>
                <a:ea typeface="Calibri"/>
                <a:cs typeface="Calibri"/>
              </a:defRPr>
            </a:lvl7pPr>
            <a:lvl8pPr algn="l">
              <a:buNone/>
              <a:defRPr sz="825" b="1" i="0">
                <a:solidFill>
                  <a:srgbClr val="102A36"/>
                </a:solidFill>
                <a:latin typeface="Calibri"/>
                <a:ea typeface="Calibri"/>
                <a:cs typeface="Calibri"/>
              </a:defRPr>
            </a:lvl8pPr>
            <a:lvl9pPr algn="l">
              <a:buNone/>
              <a:defRPr sz="825" b="1" i="0">
                <a:solidFill>
                  <a:srgbClr val="102A36"/>
                </a:solidFill>
                <a:latin typeface="Calibri"/>
                <a:ea typeface="Calibri"/>
                <a:cs typeface="Calibri"/>
              </a:defRPr>
            </a:lvl9pPr>
          </a:lstStyle>
          <a:p>
            <a:pPr algn="l">
              <a:lnSpc>
                <a:spcPct val="108000"/>
              </a:lnSpc>
              <a:buNone/>
              <a:defRPr sz="825" b="1" i="0">
                <a:solidFill>
                  <a:srgbClr val="102A36"/>
                </a:solidFill>
                <a:latin typeface="Calibri"/>
                <a:ea typeface="Calibri"/>
                <a:cs typeface="Calibri"/>
              </a:defRPr>
            </a:pPr>
            <a:r>
              <a:rPr sz="825" b="1" i="0">
                <a:solidFill>
                  <a:srgbClr val="102A36"/>
                </a:solidFill>
                <a:latin typeface="Calibri"/>
                <a:ea typeface="Calibri"/>
                <a:cs typeface="Calibri"/>
              </a:rPr>
              <a:t>Cardiac event score</a:t>
            </a:r>
          </a:p>
        </p:txBody>
      </p:sp>
      <p:sp>
        <p:nvSpPr>
          <p:cNvPr id="20" name="Rectangle 19">
            <a:extLst>
              <a:ext uri="{FF2B5EF4-FFF2-40B4-BE49-F238E27FC236}">
                <a16:creationId xmlns:a16="http://schemas.microsoft.com/office/drawing/2014/main" xmlns="" id="{A4C1A83D-FE47-4F86-8570-F8198F10FC82}"/>
              </a:ext>
            </a:extLst>
          </p:cNvPr>
          <p:cNvSpPr>
            <a:spLocks noGrp="1"/>
          </p:cNvSpPr>
          <p:nvPr/>
        </p:nvSpPr>
        <p:spPr>
          <a:xfrm>
            <a:off x="4105275" y="3886200"/>
            <a:ext cx="800100" cy="400050"/>
          </a:xfrm>
          <a:prstGeom prst="rect">
            <a:avLst/>
          </a:prstGeom>
          <a:noFill/>
          <a:ln w="0">
            <a:noFill/>
            <a:prstDash val="solid"/>
          </a:ln>
        </p:spPr>
        <p:txBody>
          <a:bodyPr wrap="square" lIns="0" tIns="0" rIns="0" bIns="0" anchor="ctr">
            <a:normAutofit/>
          </a:bodyPr>
          <a:lstStyle>
            <a:defPPr algn="l">
              <a:defRPr sz="2400" b="1" i="0">
                <a:solidFill>
                  <a:srgbClr val="4D8A68"/>
                </a:solidFill>
                <a:latin typeface="Calibri Light"/>
                <a:ea typeface="Calibri Light"/>
                <a:cs typeface="Calibri Light"/>
              </a:defRPr>
            </a:defPPr>
            <a:lvl1pPr algn="l">
              <a:buNone/>
              <a:defRPr sz="2400" b="1" i="0">
                <a:solidFill>
                  <a:srgbClr val="4D8A68"/>
                </a:solidFill>
                <a:latin typeface="Calibri Light"/>
                <a:ea typeface="Calibri Light"/>
                <a:cs typeface="Calibri Light"/>
              </a:defRPr>
            </a:lvl1pPr>
            <a:lvl2pPr algn="l">
              <a:buNone/>
              <a:defRPr sz="2400" b="1" i="0">
                <a:solidFill>
                  <a:srgbClr val="4D8A68"/>
                </a:solidFill>
                <a:latin typeface="Calibri Light"/>
                <a:ea typeface="Calibri Light"/>
                <a:cs typeface="Calibri Light"/>
              </a:defRPr>
            </a:lvl2pPr>
            <a:lvl3pPr algn="l">
              <a:buNone/>
              <a:defRPr sz="2400" b="1" i="0">
                <a:solidFill>
                  <a:srgbClr val="4D8A68"/>
                </a:solidFill>
                <a:latin typeface="Calibri Light"/>
                <a:ea typeface="Calibri Light"/>
                <a:cs typeface="Calibri Light"/>
              </a:defRPr>
            </a:lvl3pPr>
            <a:lvl4pPr algn="l">
              <a:buNone/>
              <a:defRPr sz="2400" b="1" i="0">
                <a:solidFill>
                  <a:srgbClr val="4D8A68"/>
                </a:solidFill>
                <a:latin typeface="Calibri Light"/>
                <a:ea typeface="Calibri Light"/>
                <a:cs typeface="Calibri Light"/>
              </a:defRPr>
            </a:lvl4pPr>
            <a:lvl5pPr algn="l">
              <a:buNone/>
              <a:defRPr sz="2400" b="1" i="0">
                <a:solidFill>
                  <a:srgbClr val="4D8A68"/>
                </a:solidFill>
                <a:latin typeface="Calibri Light"/>
                <a:ea typeface="Calibri Light"/>
                <a:cs typeface="Calibri Light"/>
              </a:defRPr>
            </a:lvl5pPr>
            <a:lvl6pPr algn="l">
              <a:buNone/>
              <a:defRPr sz="2400" b="1" i="0">
                <a:solidFill>
                  <a:srgbClr val="4D8A68"/>
                </a:solidFill>
                <a:latin typeface="Calibri Light"/>
                <a:ea typeface="Calibri Light"/>
                <a:cs typeface="Calibri Light"/>
              </a:defRPr>
            </a:lvl6pPr>
            <a:lvl7pPr algn="l">
              <a:buNone/>
              <a:defRPr sz="2400" b="1" i="0">
                <a:solidFill>
                  <a:srgbClr val="4D8A68"/>
                </a:solidFill>
                <a:latin typeface="Calibri Light"/>
                <a:ea typeface="Calibri Light"/>
                <a:cs typeface="Calibri Light"/>
              </a:defRPr>
            </a:lvl7pPr>
            <a:lvl8pPr algn="l">
              <a:buNone/>
              <a:defRPr sz="2400" b="1" i="0">
                <a:solidFill>
                  <a:srgbClr val="4D8A68"/>
                </a:solidFill>
                <a:latin typeface="Calibri Light"/>
                <a:ea typeface="Calibri Light"/>
                <a:cs typeface="Calibri Light"/>
              </a:defRPr>
            </a:lvl8pPr>
            <a:lvl9pPr algn="l">
              <a:buNone/>
              <a:defRPr sz="2400" b="1" i="0">
                <a:solidFill>
                  <a:srgbClr val="4D8A68"/>
                </a:solidFill>
                <a:latin typeface="Calibri Light"/>
                <a:ea typeface="Calibri Light"/>
                <a:cs typeface="Calibri Light"/>
              </a:defRPr>
            </a:lvl9pPr>
          </a:lstStyle>
          <a:p>
            <a:pPr algn="l">
              <a:lnSpc>
                <a:spcPct val="108000"/>
              </a:lnSpc>
              <a:buNone/>
              <a:defRPr sz="2400" b="1" i="0">
                <a:solidFill>
                  <a:srgbClr val="4D8A68"/>
                </a:solidFill>
                <a:latin typeface="Calibri Light"/>
                <a:ea typeface="Calibri Light"/>
                <a:cs typeface="Calibri Light"/>
              </a:defRPr>
            </a:pPr>
            <a:r>
              <a:rPr sz="2400" b="1" i="0">
                <a:solidFill>
                  <a:srgbClr val="4D8A68"/>
                </a:solidFill>
                <a:latin typeface="Calibri Light"/>
                <a:ea typeface="Calibri Light"/>
                <a:cs typeface="Calibri Light"/>
              </a:rPr>
              <a:t>13%</a:t>
            </a:r>
          </a:p>
        </p:txBody>
      </p:sp>
      <p:sp>
        <p:nvSpPr>
          <p:cNvPr id="21" name="Rounded Rectangle 20">
            <a:extLst>
              <a:ext uri="{FF2B5EF4-FFF2-40B4-BE49-F238E27FC236}">
                <a16:creationId xmlns:a16="http://schemas.microsoft.com/office/drawing/2014/main" xmlns="" id="{A00BDBCF-0D12-4E13-9970-42C974E683E8}"/>
              </a:ext>
            </a:extLst>
          </p:cNvPr>
          <p:cNvSpPr>
            <a:spLocks noGrp="1"/>
          </p:cNvSpPr>
          <p:nvPr/>
        </p:nvSpPr>
        <p:spPr>
          <a:xfrm>
            <a:off x="4105275" y="4324350"/>
            <a:ext cx="1676400" cy="66675"/>
          </a:xfrm>
          <a:prstGeom prst="roundRect">
            <a:avLst>
              <a:gd name="adj" fmla="val 50000"/>
            </a:avLst>
          </a:prstGeom>
          <a:solidFill>
            <a:srgbClr val="E2ECE9"/>
          </a:solidFill>
          <a:ln w="11430">
            <a:solidFill>
              <a:srgbClr val="E2ECE9"/>
            </a:solidFill>
            <a:prstDash val="solid"/>
          </a:ln>
        </p:spPr>
      </p:sp>
      <p:sp>
        <p:nvSpPr>
          <p:cNvPr id="22" name="Rounded Rectangle 21">
            <a:extLst>
              <a:ext uri="{FF2B5EF4-FFF2-40B4-BE49-F238E27FC236}">
                <a16:creationId xmlns:a16="http://schemas.microsoft.com/office/drawing/2014/main" xmlns="" id="{C9048EC2-B68F-4E6F-BD44-0946E2E0E1EA}"/>
              </a:ext>
            </a:extLst>
          </p:cNvPr>
          <p:cNvSpPr>
            <a:spLocks noGrp="1"/>
          </p:cNvSpPr>
          <p:nvPr/>
        </p:nvSpPr>
        <p:spPr>
          <a:xfrm>
            <a:off x="4105275" y="4324350"/>
            <a:ext cx="219075" cy="66675"/>
          </a:xfrm>
          <a:prstGeom prst="roundRect">
            <a:avLst>
              <a:gd name="adj" fmla="val 50000"/>
            </a:avLst>
          </a:prstGeom>
          <a:solidFill>
            <a:srgbClr val="4D8A68"/>
          </a:solidFill>
          <a:ln w="11430">
            <a:solidFill>
              <a:srgbClr val="4D8A68"/>
            </a:solidFill>
            <a:prstDash val="solid"/>
          </a:ln>
        </p:spPr>
      </p:sp>
      <p:sp>
        <p:nvSpPr>
          <p:cNvPr id="23" name="Rectangle 22">
            <a:extLst>
              <a:ext uri="{FF2B5EF4-FFF2-40B4-BE49-F238E27FC236}">
                <a16:creationId xmlns:a16="http://schemas.microsoft.com/office/drawing/2014/main" xmlns="" id="{34363B96-1775-4856-88EB-43A44872226F}"/>
              </a:ext>
            </a:extLst>
          </p:cNvPr>
          <p:cNvSpPr>
            <a:spLocks noGrp="1"/>
          </p:cNvSpPr>
          <p:nvPr/>
        </p:nvSpPr>
        <p:spPr>
          <a:xfrm>
            <a:off x="3333750" y="4829175"/>
            <a:ext cx="3381375" cy="161925"/>
          </a:xfrm>
          <a:prstGeom prst="rect">
            <a:avLst/>
          </a:prstGeom>
          <a:noFill/>
          <a:ln w="0">
            <a:noFill/>
            <a:prstDash val="solid"/>
          </a:ln>
        </p:spPr>
        <p:txBody>
          <a:bodyPr wrap="square" lIns="0" tIns="0" rIns="0" bIns="0" anchor="t">
            <a:normAutofit/>
          </a:bodyPr>
          <a:lstStyle>
            <a:defPPr algn="ctr">
              <a:defRPr sz="825" b="0" i="0">
                <a:solidFill>
                  <a:srgbClr val="647781"/>
                </a:solidFill>
                <a:latin typeface="Calibri"/>
                <a:ea typeface="Calibri"/>
                <a:cs typeface="Calibri"/>
              </a:defRPr>
            </a:defPPr>
            <a:lvl1pPr algn="ctr">
              <a:buNone/>
              <a:defRPr sz="825" b="0" i="0">
                <a:solidFill>
                  <a:srgbClr val="647781"/>
                </a:solidFill>
                <a:latin typeface="Calibri"/>
                <a:ea typeface="Calibri"/>
                <a:cs typeface="Calibri"/>
              </a:defRPr>
            </a:lvl1pPr>
            <a:lvl2pPr algn="ctr">
              <a:buNone/>
              <a:defRPr sz="825" b="0" i="0">
                <a:solidFill>
                  <a:srgbClr val="647781"/>
                </a:solidFill>
                <a:latin typeface="Calibri"/>
                <a:ea typeface="Calibri"/>
                <a:cs typeface="Calibri"/>
              </a:defRPr>
            </a:lvl2pPr>
            <a:lvl3pPr algn="ctr">
              <a:buNone/>
              <a:defRPr sz="825" b="0" i="0">
                <a:solidFill>
                  <a:srgbClr val="647781"/>
                </a:solidFill>
                <a:latin typeface="Calibri"/>
                <a:ea typeface="Calibri"/>
                <a:cs typeface="Calibri"/>
              </a:defRPr>
            </a:lvl3pPr>
            <a:lvl4pPr algn="ctr">
              <a:buNone/>
              <a:defRPr sz="825" b="0" i="0">
                <a:solidFill>
                  <a:srgbClr val="647781"/>
                </a:solidFill>
                <a:latin typeface="Calibri"/>
                <a:ea typeface="Calibri"/>
                <a:cs typeface="Calibri"/>
              </a:defRPr>
            </a:lvl4pPr>
            <a:lvl5pPr algn="ctr">
              <a:buNone/>
              <a:defRPr sz="825" b="0" i="0">
                <a:solidFill>
                  <a:srgbClr val="647781"/>
                </a:solidFill>
                <a:latin typeface="Calibri"/>
                <a:ea typeface="Calibri"/>
                <a:cs typeface="Calibri"/>
              </a:defRPr>
            </a:lvl5pPr>
            <a:lvl6pPr algn="ctr">
              <a:buNone/>
              <a:defRPr sz="825" b="0" i="0">
                <a:solidFill>
                  <a:srgbClr val="647781"/>
                </a:solidFill>
                <a:latin typeface="Calibri"/>
                <a:ea typeface="Calibri"/>
                <a:cs typeface="Calibri"/>
              </a:defRPr>
            </a:lvl6pPr>
            <a:lvl7pPr algn="ctr">
              <a:buNone/>
              <a:defRPr sz="825" b="0" i="0">
                <a:solidFill>
                  <a:srgbClr val="647781"/>
                </a:solidFill>
                <a:latin typeface="Calibri"/>
                <a:ea typeface="Calibri"/>
                <a:cs typeface="Calibri"/>
              </a:defRPr>
            </a:lvl7pPr>
            <a:lvl8pPr algn="ctr">
              <a:buNone/>
              <a:defRPr sz="825" b="0" i="0">
                <a:solidFill>
                  <a:srgbClr val="647781"/>
                </a:solidFill>
                <a:latin typeface="Calibri"/>
                <a:ea typeface="Calibri"/>
                <a:cs typeface="Calibri"/>
              </a:defRPr>
            </a:lvl8pPr>
            <a:lvl9pPr algn="ctr">
              <a:buNone/>
              <a:defRPr sz="825" b="0" i="0">
                <a:solidFill>
                  <a:srgbClr val="647781"/>
                </a:solidFill>
                <a:latin typeface="Calibri"/>
                <a:ea typeface="Calibri"/>
                <a:cs typeface="Calibri"/>
              </a:defRPr>
            </a:lvl9pPr>
          </a:lstStyle>
          <a:p>
            <a:pPr algn="ctr">
              <a:lnSpc>
                <a:spcPct val="108000"/>
              </a:lnSpc>
              <a:buNone/>
              <a:defRPr sz="825" b="0" i="0">
                <a:solidFill>
                  <a:srgbClr val="647781"/>
                </a:solidFill>
                <a:latin typeface="Calibri"/>
                <a:ea typeface="Calibri"/>
                <a:cs typeface="Calibri"/>
              </a:defRPr>
            </a:pPr>
            <a:r>
              <a:rPr sz="825" b="0" i="0">
                <a:solidFill>
                  <a:srgbClr val="647781"/>
                </a:solidFill>
                <a:latin typeface="Calibri"/>
                <a:ea typeface="Calibri"/>
                <a:cs typeface="Calibri"/>
              </a:rPr>
              <a:t>Illustrative screen · values from a seeded synthetic profile</a:t>
            </a:r>
          </a:p>
        </p:txBody>
      </p:sp>
    </p:spTree>
    <p:extLst>
      <p:ext uri="{BB962C8B-B14F-4D97-AF65-F5344CB8AC3E}">
        <p14:creationId xmlns:p14="http://schemas.microsoft.com/office/powerpoint/2010/main" val="5049761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xmlns="" id="{63ED6275-E468-408A-B9DA-B0AC78397C08}"/>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38" name="Rounded Rectangle 37">
            <a:extLst>
              <a:ext uri="{FF2B5EF4-FFF2-40B4-BE49-F238E27FC236}">
                <a16:creationId xmlns:a16="http://schemas.microsoft.com/office/drawing/2014/main" xmlns="" id="{4E5A4E4D-68A3-4CBB-BC3F-0AFAA20E26B2}"/>
              </a:ext>
            </a:extLst>
          </p:cNvPr>
          <p:cNvSpPr>
            <a:spLocks noGrp="1"/>
          </p:cNvSpPr>
          <p:nvPr/>
        </p:nvSpPr>
        <p:spPr>
          <a:xfrm>
            <a:off x="838200" y="1304925"/>
            <a:ext cx="5810250" cy="3790950"/>
          </a:xfrm>
          <a:prstGeom prst="roundRect">
            <a:avLst>
              <a:gd name="adj" fmla="val 3769"/>
            </a:avLst>
          </a:prstGeom>
          <a:solidFill>
            <a:srgbClr val="FFFFFF">
              <a:alpha val="95000"/>
            </a:srgbClr>
          </a:solidFill>
          <a:ln w="9525">
            <a:solidFill>
              <a:srgbClr val="CFE3DF"/>
            </a:solidFill>
            <a:prstDash val="solid"/>
          </a:ln>
        </p:spPr>
        <p:style>
          <a:lnRef idx="0">
            <a:scrgbClr r="0" g="0" b="0"/>
          </a:lnRef>
          <a:fillRef idx="0">
            <a:scrgbClr r="0" g="0" b="0"/>
          </a:fillRef>
          <a:effectRef idx="4">
            <a:scrgbClr r="0" g="0" b="0"/>
          </a:effectRef>
          <a:fontRef idx="major"/>
        </p:style>
      </p:sp>
      <p:sp>
        <p:nvSpPr>
          <p:cNvPr id="39" name="Rounded Rectangle 38">
            <a:extLst>
              <a:ext uri="{FF2B5EF4-FFF2-40B4-BE49-F238E27FC236}">
                <a16:creationId xmlns:a16="http://schemas.microsoft.com/office/drawing/2014/main" xmlns="" id="{159EFDF0-AEBE-40CF-A6DC-0B8C10E6FF72}"/>
              </a:ext>
            </a:extLst>
          </p:cNvPr>
          <p:cNvSpPr>
            <a:spLocks noGrp="1"/>
          </p:cNvSpPr>
          <p:nvPr/>
        </p:nvSpPr>
        <p:spPr>
          <a:xfrm>
            <a:off x="838200" y="1304925"/>
            <a:ext cx="47625" cy="3790950"/>
          </a:xfrm>
          <a:prstGeom prst="roundRect">
            <a:avLst>
              <a:gd name="adj" fmla="val 50000"/>
            </a:avLst>
          </a:prstGeom>
          <a:solidFill>
            <a:srgbClr val="168F89"/>
          </a:solidFill>
          <a:ln w="0">
            <a:noFill/>
            <a:prstDash val="solid"/>
          </a:ln>
        </p:spPr>
      </p:sp>
      <p:sp>
        <p:nvSpPr>
          <p:cNvPr id="34" name="Rectangle 33">
            <a:extLst>
              <a:ext uri="{FF2B5EF4-FFF2-40B4-BE49-F238E27FC236}">
                <a16:creationId xmlns:a16="http://schemas.microsoft.com/office/drawing/2014/main" xmlns="" id="{374653AD-FC68-4C6D-863B-91DC489AE3D7}"/>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Judge demo flow</a:t>
            </a:r>
          </a:p>
        </p:txBody>
      </p:sp>
      <p:sp>
        <p:nvSpPr>
          <p:cNvPr id="2" name="Straight Connector 1">
            <a:extLst>
              <a:ext uri="{FF2B5EF4-FFF2-40B4-BE49-F238E27FC236}">
                <a16:creationId xmlns:a16="http://schemas.microsoft.com/office/drawing/2014/main" xmlns="" id="{BDD43741-FB27-4E14-8E17-84BC7970CE21}"/>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001CFF8D-705E-4182-A306-55E2EE890494}"/>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A short walkthrough shows ingestion, review, alerting, and the mobile companion.</a:t>
            </a:r>
          </a:p>
        </p:txBody>
      </p:sp>
      <p:sp>
        <p:nvSpPr>
          <p:cNvPr id="4" name="Straight Connector 3">
            <a:extLst>
              <a:ext uri="{FF2B5EF4-FFF2-40B4-BE49-F238E27FC236}">
                <a16:creationId xmlns:a16="http://schemas.microsoft.com/office/drawing/2014/main" xmlns="" id="{992B0104-3569-4C46-B60F-8C5A5BE2AD3E}"/>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09C3488D-32D6-4112-B8AC-7C79831F4339}"/>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5A64C3E6-89A2-4A55-A53A-F5B0E57E7034}"/>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12</a:t>
            </a:r>
          </a:p>
        </p:txBody>
      </p:sp>
      <p:sp>
        <p:nvSpPr>
          <p:cNvPr id="7" name="Rectangle 6">
            <a:extLst>
              <a:ext uri="{FF2B5EF4-FFF2-40B4-BE49-F238E27FC236}">
                <a16:creationId xmlns:a16="http://schemas.microsoft.com/office/drawing/2014/main" xmlns="" id="{E2578200-7B7E-4749-ACC1-62215F30DFBC}"/>
              </a:ext>
            </a:extLst>
          </p:cNvPr>
          <p:cNvSpPr>
            <a:spLocks noGrp="1"/>
          </p:cNvSpPr>
          <p:nvPr/>
        </p:nvSpPr>
        <p:spPr>
          <a:xfrm>
            <a:off x="552450" y="1381125"/>
            <a:ext cx="428625" cy="2952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01</a:t>
            </a:r>
          </a:p>
        </p:txBody>
      </p:sp>
      <p:sp>
        <p:nvSpPr>
          <p:cNvPr id="8" name="Rectangle 7">
            <a:extLst>
              <a:ext uri="{FF2B5EF4-FFF2-40B4-BE49-F238E27FC236}">
                <a16:creationId xmlns:a16="http://schemas.microsoft.com/office/drawing/2014/main" xmlns="" id="{B6BD93BA-7D0B-492D-9CD2-19FC36911248}"/>
              </a:ext>
            </a:extLst>
          </p:cNvPr>
          <p:cNvSpPr>
            <a:spLocks noGrp="1"/>
          </p:cNvSpPr>
          <p:nvPr/>
        </p:nvSpPr>
        <p:spPr>
          <a:xfrm>
            <a:off x="1095375" y="1381125"/>
            <a:ext cx="2343150" cy="295275"/>
          </a:xfrm>
          <a:prstGeom prst="rect">
            <a:avLst/>
          </a:prstGeom>
          <a:noFill/>
          <a:ln w="0">
            <a:noFill/>
            <a:prstDash val="solid"/>
          </a:ln>
        </p:spPr>
        <p:txBody>
          <a:bodyPr wrap="square" lIns="0" tIns="0" rIns="0" bIns="0" anchor="ctr">
            <a:normAutofit/>
          </a:bodyPr>
          <a:lstStyle>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Start API + dashboard</a:t>
            </a:r>
          </a:p>
        </p:txBody>
      </p:sp>
      <p:sp>
        <p:nvSpPr>
          <p:cNvPr id="9" name="Rectangle 8">
            <a:extLst>
              <a:ext uri="{FF2B5EF4-FFF2-40B4-BE49-F238E27FC236}">
                <a16:creationId xmlns:a16="http://schemas.microsoft.com/office/drawing/2014/main" xmlns="" id="{9AE825F1-16BA-404E-9060-B6EFDD9A3543}"/>
              </a:ext>
            </a:extLst>
          </p:cNvPr>
          <p:cNvSpPr>
            <a:spLocks noGrp="1"/>
          </p:cNvSpPr>
          <p:nvPr/>
        </p:nvSpPr>
        <p:spPr>
          <a:xfrm>
            <a:off x="3629025" y="1381125"/>
            <a:ext cx="3352800" cy="295275"/>
          </a:xfrm>
          <a:prstGeom prst="rect">
            <a:avLst/>
          </a:prstGeom>
          <a:noFill/>
          <a:ln w="0">
            <a:noFill/>
            <a:prstDash val="solid"/>
          </a:ln>
        </p:spPr>
        <p:txBody>
          <a:bodyPr wrap="square" lIns="0" tIns="0" rIns="0" bIns="0" anchor="ctr">
            <a:normAutofit/>
          </a:bodyPr>
          <a:lstStyle>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FastAPI on :8000; Next.js on :3000</a:t>
            </a:r>
          </a:p>
        </p:txBody>
      </p:sp>
      <p:sp>
        <p:nvSpPr>
          <p:cNvPr id="10" name="Straight Connector 9">
            <a:extLst>
              <a:ext uri="{FF2B5EF4-FFF2-40B4-BE49-F238E27FC236}">
                <a16:creationId xmlns:a16="http://schemas.microsoft.com/office/drawing/2014/main" xmlns="" id="{D002B800-DB7A-47BF-A09D-239D5C3E9068}"/>
              </a:ext>
            </a:extLst>
          </p:cNvPr>
          <p:cNvSpPr>
            <a:spLocks noGrp="1"/>
          </p:cNvSpPr>
          <p:nvPr/>
        </p:nvSpPr>
        <p:spPr>
          <a:xfrm>
            <a:off x="1095375" y="1743075"/>
            <a:ext cx="5905500" cy="4763"/>
          </a:xfrm>
          <a:prstGeom prst="line">
            <a:avLst/>
          </a:prstGeom>
          <a:noFill/>
          <a:ln w="9525">
            <a:solidFill>
              <a:srgbClr val="E0E8E7"/>
            </a:solidFill>
            <a:prstDash val="solid"/>
          </a:ln>
        </p:spPr>
      </p:sp>
      <p:sp>
        <p:nvSpPr>
          <p:cNvPr id="11" name="Rectangle 10">
            <a:extLst>
              <a:ext uri="{FF2B5EF4-FFF2-40B4-BE49-F238E27FC236}">
                <a16:creationId xmlns:a16="http://schemas.microsoft.com/office/drawing/2014/main" xmlns="" id="{737CB590-B48C-43E8-A72C-146867FF1ADD}"/>
              </a:ext>
            </a:extLst>
          </p:cNvPr>
          <p:cNvSpPr>
            <a:spLocks noGrp="1"/>
          </p:cNvSpPr>
          <p:nvPr/>
        </p:nvSpPr>
        <p:spPr>
          <a:xfrm>
            <a:off x="552450" y="1847850"/>
            <a:ext cx="428625" cy="2952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02</a:t>
            </a:r>
          </a:p>
        </p:txBody>
      </p:sp>
      <p:sp>
        <p:nvSpPr>
          <p:cNvPr id="12" name="Rectangle 11">
            <a:extLst>
              <a:ext uri="{FF2B5EF4-FFF2-40B4-BE49-F238E27FC236}">
                <a16:creationId xmlns:a16="http://schemas.microsoft.com/office/drawing/2014/main" xmlns="" id="{4A620B9D-D462-440B-B44F-43FF9A8D95F0}"/>
              </a:ext>
            </a:extLst>
          </p:cNvPr>
          <p:cNvSpPr>
            <a:spLocks noGrp="1"/>
          </p:cNvSpPr>
          <p:nvPr/>
        </p:nvSpPr>
        <p:spPr>
          <a:xfrm>
            <a:off x="1095375" y="1847850"/>
            <a:ext cx="2343150" cy="295275"/>
          </a:xfrm>
          <a:prstGeom prst="rect">
            <a:avLst/>
          </a:prstGeom>
          <a:noFill/>
          <a:ln w="0">
            <a:noFill/>
            <a:prstDash val="solid"/>
          </a:ln>
        </p:spPr>
        <p:txBody>
          <a:bodyPr wrap="square" lIns="0" tIns="0" rIns="0" bIns="0" anchor="ctr">
            <a:normAutofit/>
          </a:bodyPr>
          <a:lstStyle>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Review synthetic roster</a:t>
            </a:r>
          </a:p>
        </p:txBody>
      </p:sp>
      <p:sp>
        <p:nvSpPr>
          <p:cNvPr id="13" name="Rectangle 12">
            <a:extLst>
              <a:ext uri="{FF2B5EF4-FFF2-40B4-BE49-F238E27FC236}">
                <a16:creationId xmlns:a16="http://schemas.microsoft.com/office/drawing/2014/main" xmlns="" id="{C1272DE5-551A-4EBF-9BA0-D590CF1AFFDF}"/>
              </a:ext>
            </a:extLst>
          </p:cNvPr>
          <p:cNvSpPr>
            <a:spLocks noGrp="1"/>
          </p:cNvSpPr>
          <p:nvPr/>
        </p:nvSpPr>
        <p:spPr>
          <a:xfrm>
            <a:off x="3629025" y="1847850"/>
            <a:ext cx="3352800" cy="295275"/>
          </a:xfrm>
          <a:prstGeom prst="rect">
            <a:avLst/>
          </a:prstGeom>
          <a:noFill/>
          <a:ln w="0">
            <a:noFill/>
            <a:prstDash val="solid"/>
          </a:ln>
        </p:spPr>
        <p:txBody>
          <a:bodyPr wrap="square" lIns="0" tIns="0" rIns="0" bIns="0" anchor="ctr">
            <a:normAutofit/>
          </a:bodyPr>
          <a:lstStyle>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Four seeded patient profiles</a:t>
            </a:r>
          </a:p>
        </p:txBody>
      </p:sp>
      <p:sp>
        <p:nvSpPr>
          <p:cNvPr id="14" name="Straight Connector 13">
            <a:extLst>
              <a:ext uri="{FF2B5EF4-FFF2-40B4-BE49-F238E27FC236}">
                <a16:creationId xmlns:a16="http://schemas.microsoft.com/office/drawing/2014/main" xmlns="" id="{C151968F-A68B-4A70-900B-0005DEB6C079}"/>
              </a:ext>
            </a:extLst>
          </p:cNvPr>
          <p:cNvSpPr>
            <a:spLocks noGrp="1"/>
          </p:cNvSpPr>
          <p:nvPr/>
        </p:nvSpPr>
        <p:spPr>
          <a:xfrm>
            <a:off x="1095375" y="2209800"/>
            <a:ext cx="5905500" cy="4763"/>
          </a:xfrm>
          <a:prstGeom prst="line">
            <a:avLst/>
          </a:prstGeom>
          <a:noFill/>
          <a:ln w="9525">
            <a:solidFill>
              <a:srgbClr val="E0E8E7"/>
            </a:solidFill>
            <a:prstDash val="solid"/>
          </a:ln>
        </p:spPr>
      </p:sp>
      <p:sp>
        <p:nvSpPr>
          <p:cNvPr id="15" name="Rectangle 14">
            <a:extLst>
              <a:ext uri="{FF2B5EF4-FFF2-40B4-BE49-F238E27FC236}">
                <a16:creationId xmlns:a16="http://schemas.microsoft.com/office/drawing/2014/main" xmlns="" id="{21D80A50-89CA-4161-8E27-302A87A6818E}"/>
              </a:ext>
            </a:extLst>
          </p:cNvPr>
          <p:cNvSpPr>
            <a:spLocks noGrp="1"/>
          </p:cNvSpPr>
          <p:nvPr/>
        </p:nvSpPr>
        <p:spPr>
          <a:xfrm>
            <a:off x="552450" y="2314575"/>
            <a:ext cx="428625" cy="2952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03</a:t>
            </a:r>
          </a:p>
        </p:txBody>
      </p:sp>
      <p:sp>
        <p:nvSpPr>
          <p:cNvPr id="16" name="Rectangle 15">
            <a:extLst>
              <a:ext uri="{FF2B5EF4-FFF2-40B4-BE49-F238E27FC236}">
                <a16:creationId xmlns:a16="http://schemas.microsoft.com/office/drawing/2014/main" xmlns="" id="{B4448025-F86E-4D1B-9FB9-4E07C0D195F9}"/>
              </a:ext>
            </a:extLst>
          </p:cNvPr>
          <p:cNvSpPr>
            <a:spLocks noGrp="1"/>
          </p:cNvSpPr>
          <p:nvPr/>
        </p:nvSpPr>
        <p:spPr>
          <a:xfrm>
            <a:off x="1095375" y="2314575"/>
            <a:ext cx="2343150" cy="295275"/>
          </a:xfrm>
          <a:prstGeom prst="rect">
            <a:avLst/>
          </a:prstGeom>
          <a:noFill/>
          <a:ln w="0">
            <a:noFill/>
            <a:prstDash val="solid"/>
          </a:ln>
        </p:spPr>
        <p:txBody>
          <a:bodyPr wrap="square" lIns="0" tIns="0" rIns="0" bIns="0" anchor="ctr">
            <a:normAutofit/>
          </a:bodyPr>
          <a:lstStyle>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Inspect EHR + vitals</a:t>
            </a:r>
          </a:p>
        </p:txBody>
      </p:sp>
      <p:sp>
        <p:nvSpPr>
          <p:cNvPr id="17" name="Rectangle 16">
            <a:extLst>
              <a:ext uri="{FF2B5EF4-FFF2-40B4-BE49-F238E27FC236}">
                <a16:creationId xmlns:a16="http://schemas.microsoft.com/office/drawing/2014/main" xmlns="" id="{F4FD1219-D35B-402F-9364-AF58DBF2384D}"/>
              </a:ext>
            </a:extLst>
          </p:cNvPr>
          <p:cNvSpPr>
            <a:spLocks noGrp="1"/>
          </p:cNvSpPr>
          <p:nvPr/>
        </p:nvSpPr>
        <p:spPr>
          <a:xfrm>
            <a:off x="3629025" y="2314575"/>
            <a:ext cx="3352800" cy="295275"/>
          </a:xfrm>
          <a:prstGeom prst="rect">
            <a:avLst/>
          </a:prstGeom>
          <a:noFill/>
          <a:ln w="0">
            <a:noFill/>
            <a:prstDash val="solid"/>
          </a:ln>
        </p:spPr>
        <p:txBody>
          <a:bodyPr wrap="square" lIns="0" tIns="0" rIns="0" bIns="0" anchor="ctr">
            <a:normAutofit/>
          </a:bodyPr>
          <a:lstStyle>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Risk factors, HR, BP, SpO₂, ECG label</a:t>
            </a:r>
          </a:p>
        </p:txBody>
      </p:sp>
      <p:sp>
        <p:nvSpPr>
          <p:cNvPr id="18" name="Straight Connector 17">
            <a:extLst>
              <a:ext uri="{FF2B5EF4-FFF2-40B4-BE49-F238E27FC236}">
                <a16:creationId xmlns:a16="http://schemas.microsoft.com/office/drawing/2014/main" xmlns="" id="{E60D5F81-A672-4962-89BF-D10A5709C56E}"/>
              </a:ext>
            </a:extLst>
          </p:cNvPr>
          <p:cNvSpPr>
            <a:spLocks noGrp="1"/>
          </p:cNvSpPr>
          <p:nvPr/>
        </p:nvSpPr>
        <p:spPr>
          <a:xfrm>
            <a:off x="1095375" y="2676525"/>
            <a:ext cx="5905500" cy="4763"/>
          </a:xfrm>
          <a:prstGeom prst="line">
            <a:avLst/>
          </a:prstGeom>
          <a:noFill/>
          <a:ln w="9525">
            <a:solidFill>
              <a:srgbClr val="E0E8E7"/>
            </a:solidFill>
            <a:prstDash val="solid"/>
          </a:ln>
        </p:spPr>
      </p:sp>
      <p:sp>
        <p:nvSpPr>
          <p:cNvPr id="19" name="Rectangle 18">
            <a:extLst>
              <a:ext uri="{FF2B5EF4-FFF2-40B4-BE49-F238E27FC236}">
                <a16:creationId xmlns:a16="http://schemas.microsoft.com/office/drawing/2014/main" xmlns="" id="{CC341DA1-BB23-49E2-8EAA-CC41ADC23D91}"/>
              </a:ext>
            </a:extLst>
          </p:cNvPr>
          <p:cNvSpPr>
            <a:spLocks noGrp="1"/>
          </p:cNvSpPr>
          <p:nvPr/>
        </p:nvSpPr>
        <p:spPr>
          <a:xfrm>
            <a:off x="552450" y="2781300"/>
            <a:ext cx="428625" cy="2952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04</a:t>
            </a:r>
          </a:p>
        </p:txBody>
      </p:sp>
      <p:sp>
        <p:nvSpPr>
          <p:cNvPr id="20" name="Rectangle 19">
            <a:extLst>
              <a:ext uri="{FF2B5EF4-FFF2-40B4-BE49-F238E27FC236}">
                <a16:creationId xmlns:a16="http://schemas.microsoft.com/office/drawing/2014/main" xmlns="" id="{2E43FB57-ADD4-4628-86DD-B61BD1E1EF23}"/>
              </a:ext>
            </a:extLst>
          </p:cNvPr>
          <p:cNvSpPr>
            <a:spLocks noGrp="1"/>
          </p:cNvSpPr>
          <p:nvPr/>
        </p:nvSpPr>
        <p:spPr>
          <a:xfrm>
            <a:off x="1095375" y="2781300"/>
            <a:ext cx="2343150" cy="295275"/>
          </a:xfrm>
          <a:prstGeom prst="rect">
            <a:avLst/>
          </a:prstGeom>
          <a:noFill/>
          <a:ln w="0">
            <a:noFill/>
            <a:prstDash val="solid"/>
          </a:ln>
        </p:spPr>
        <p:txBody>
          <a:bodyPr wrap="square" lIns="0" tIns="0" rIns="0" bIns="0" anchor="ctr">
            <a:normAutofit/>
          </a:bodyPr>
          <a:lstStyle>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Compare rule outputs</a:t>
            </a:r>
          </a:p>
        </p:txBody>
      </p:sp>
      <p:sp>
        <p:nvSpPr>
          <p:cNvPr id="21" name="Rectangle 20">
            <a:extLst>
              <a:ext uri="{FF2B5EF4-FFF2-40B4-BE49-F238E27FC236}">
                <a16:creationId xmlns:a16="http://schemas.microsoft.com/office/drawing/2014/main" xmlns="" id="{B542745C-380E-4AF2-953D-25AE44377451}"/>
              </a:ext>
            </a:extLst>
          </p:cNvPr>
          <p:cNvSpPr>
            <a:spLocks noGrp="1"/>
          </p:cNvSpPr>
          <p:nvPr/>
        </p:nvSpPr>
        <p:spPr>
          <a:xfrm>
            <a:off x="3629025" y="2781300"/>
            <a:ext cx="3352800" cy="295275"/>
          </a:xfrm>
          <a:prstGeom prst="rect">
            <a:avLst/>
          </a:prstGeom>
          <a:noFill/>
          <a:ln w="0">
            <a:noFill/>
            <a:prstDash val="solid"/>
          </a:ln>
        </p:spPr>
        <p:txBody>
          <a:bodyPr wrap="square" lIns="0" tIns="0" rIns="0" bIns="0" anchor="ctr">
            <a:normAutofit/>
          </a:bodyPr>
          <a:lstStyle>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LOW through CRITICAL demo profiles</a:t>
            </a:r>
          </a:p>
        </p:txBody>
      </p:sp>
      <p:sp>
        <p:nvSpPr>
          <p:cNvPr id="22" name="Straight Connector 21">
            <a:extLst>
              <a:ext uri="{FF2B5EF4-FFF2-40B4-BE49-F238E27FC236}">
                <a16:creationId xmlns:a16="http://schemas.microsoft.com/office/drawing/2014/main" xmlns="" id="{6C54C68C-25B2-4D32-BB8F-C275CB806FAF}"/>
              </a:ext>
            </a:extLst>
          </p:cNvPr>
          <p:cNvSpPr>
            <a:spLocks noGrp="1"/>
          </p:cNvSpPr>
          <p:nvPr/>
        </p:nvSpPr>
        <p:spPr>
          <a:xfrm>
            <a:off x="1095375" y="3143250"/>
            <a:ext cx="5905500" cy="4763"/>
          </a:xfrm>
          <a:prstGeom prst="line">
            <a:avLst/>
          </a:prstGeom>
          <a:noFill/>
          <a:ln w="9525">
            <a:solidFill>
              <a:srgbClr val="E0E8E7"/>
            </a:solidFill>
            <a:prstDash val="solid"/>
          </a:ln>
        </p:spPr>
      </p:sp>
      <p:sp>
        <p:nvSpPr>
          <p:cNvPr id="23" name="Rectangle 22">
            <a:extLst>
              <a:ext uri="{FF2B5EF4-FFF2-40B4-BE49-F238E27FC236}">
                <a16:creationId xmlns:a16="http://schemas.microsoft.com/office/drawing/2014/main" xmlns="" id="{C01E205E-DF4E-400B-8BCD-111F7D28FF33}"/>
              </a:ext>
            </a:extLst>
          </p:cNvPr>
          <p:cNvSpPr>
            <a:spLocks noGrp="1"/>
          </p:cNvSpPr>
          <p:nvPr/>
        </p:nvSpPr>
        <p:spPr>
          <a:xfrm>
            <a:off x="552450" y="3248025"/>
            <a:ext cx="428625" cy="2952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05</a:t>
            </a:r>
          </a:p>
        </p:txBody>
      </p:sp>
      <p:sp>
        <p:nvSpPr>
          <p:cNvPr id="24" name="Rectangle 23">
            <a:extLst>
              <a:ext uri="{FF2B5EF4-FFF2-40B4-BE49-F238E27FC236}">
                <a16:creationId xmlns:a16="http://schemas.microsoft.com/office/drawing/2014/main" xmlns="" id="{7760B443-0269-465B-BBB8-2E9B17D016FB}"/>
              </a:ext>
            </a:extLst>
          </p:cNvPr>
          <p:cNvSpPr>
            <a:spLocks noGrp="1"/>
          </p:cNvSpPr>
          <p:nvPr/>
        </p:nvSpPr>
        <p:spPr>
          <a:xfrm>
            <a:off x="1095375" y="3248025"/>
            <a:ext cx="2343150" cy="295275"/>
          </a:xfrm>
          <a:prstGeom prst="rect">
            <a:avLst/>
          </a:prstGeom>
          <a:noFill/>
          <a:ln w="0">
            <a:noFill/>
            <a:prstDash val="solid"/>
          </a:ln>
        </p:spPr>
        <p:txBody>
          <a:bodyPr wrap="square" lIns="0" tIns="0" rIns="0" bIns="0" anchor="ctr">
            <a:normAutofit/>
          </a:bodyPr>
          <a:lstStyle>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Submit a vital</a:t>
            </a:r>
          </a:p>
        </p:txBody>
      </p:sp>
      <p:sp>
        <p:nvSpPr>
          <p:cNvPr id="25" name="Rectangle 24">
            <a:extLst>
              <a:ext uri="{FF2B5EF4-FFF2-40B4-BE49-F238E27FC236}">
                <a16:creationId xmlns:a16="http://schemas.microsoft.com/office/drawing/2014/main" xmlns="" id="{4BBA7C6D-0762-45C0-95D2-4568869FE68C}"/>
              </a:ext>
            </a:extLst>
          </p:cNvPr>
          <p:cNvSpPr>
            <a:spLocks noGrp="1"/>
          </p:cNvSpPr>
          <p:nvPr/>
        </p:nvSpPr>
        <p:spPr>
          <a:xfrm>
            <a:off x="3629025" y="3248025"/>
            <a:ext cx="3352800" cy="295275"/>
          </a:xfrm>
          <a:prstGeom prst="rect">
            <a:avLst/>
          </a:prstGeom>
          <a:noFill/>
          <a:ln w="0">
            <a:noFill/>
            <a:prstDash val="solid"/>
          </a:ln>
        </p:spPr>
        <p:txBody>
          <a:bodyPr wrap="square" lIns="0" tIns="0" rIns="0" bIns="0" anchor="ctr">
            <a:normAutofit/>
          </a:bodyPr>
          <a:lstStyle>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Swagger or live WebSocket event</a:t>
            </a:r>
          </a:p>
        </p:txBody>
      </p:sp>
      <p:sp>
        <p:nvSpPr>
          <p:cNvPr id="26" name="Straight Connector 25">
            <a:extLst>
              <a:ext uri="{FF2B5EF4-FFF2-40B4-BE49-F238E27FC236}">
                <a16:creationId xmlns:a16="http://schemas.microsoft.com/office/drawing/2014/main" xmlns="" id="{6D426472-D1D4-465E-9324-71CF1BD40939}"/>
              </a:ext>
            </a:extLst>
          </p:cNvPr>
          <p:cNvSpPr>
            <a:spLocks noGrp="1"/>
          </p:cNvSpPr>
          <p:nvPr/>
        </p:nvSpPr>
        <p:spPr>
          <a:xfrm>
            <a:off x="1095375" y="3609975"/>
            <a:ext cx="5905500" cy="4763"/>
          </a:xfrm>
          <a:prstGeom prst="line">
            <a:avLst/>
          </a:prstGeom>
          <a:noFill/>
          <a:ln w="9525">
            <a:solidFill>
              <a:srgbClr val="E0E8E7"/>
            </a:solidFill>
            <a:prstDash val="solid"/>
          </a:ln>
        </p:spPr>
      </p:sp>
      <p:sp>
        <p:nvSpPr>
          <p:cNvPr id="27" name="Rectangle 26">
            <a:extLst>
              <a:ext uri="{FF2B5EF4-FFF2-40B4-BE49-F238E27FC236}">
                <a16:creationId xmlns:a16="http://schemas.microsoft.com/office/drawing/2014/main" xmlns="" id="{F1A03D95-2723-405D-B361-6AD1533CD3EC}"/>
              </a:ext>
            </a:extLst>
          </p:cNvPr>
          <p:cNvSpPr>
            <a:spLocks noGrp="1"/>
          </p:cNvSpPr>
          <p:nvPr/>
        </p:nvSpPr>
        <p:spPr>
          <a:xfrm>
            <a:off x="552450" y="3714750"/>
            <a:ext cx="428625" cy="2952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06</a:t>
            </a:r>
          </a:p>
        </p:txBody>
      </p:sp>
      <p:sp>
        <p:nvSpPr>
          <p:cNvPr id="28" name="Rectangle 27">
            <a:extLst>
              <a:ext uri="{FF2B5EF4-FFF2-40B4-BE49-F238E27FC236}">
                <a16:creationId xmlns:a16="http://schemas.microsoft.com/office/drawing/2014/main" xmlns="" id="{82833EC0-D88E-41C0-8848-18D85C5B32DB}"/>
              </a:ext>
            </a:extLst>
          </p:cNvPr>
          <p:cNvSpPr>
            <a:spLocks noGrp="1"/>
          </p:cNvSpPr>
          <p:nvPr/>
        </p:nvSpPr>
        <p:spPr>
          <a:xfrm>
            <a:off x="1095375" y="3714750"/>
            <a:ext cx="2343150" cy="295275"/>
          </a:xfrm>
          <a:prstGeom prst="rect">
            <a:avLst/>
          </a:prstGeom>
          <a:noFill/>
          <a:ln w="0">
            <a:noFill/>
            <a:prstDash val="solid"/>
          </a:ln>
        </p:spPr>
        <p:txBody>
          <a:bodyPr wrap="square" lIns="0" tIns="0" rIns="0" bIns="0" anchor="ctr">
            <a:normAutofit/>
          </a:bodyPr>
          <a:lstStyle>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Review + acknowledge</a:t>
            </a:r>
          </a:p>
        </p:txBody>
      </p:sp>
      <p:sp>
        <p:nvSpPr>
          <p:cNvPr id="29" name="Rectangle 28">
            <a:extLst>
              <a:ext uri="{FF2B5EF4-FFF2-40B4-BE49-F238E27FC236}">
                <a16:creationId xmlns:a16="http://schemas.microsoft.com/office/drawing/2014/main" xmlns="" id="{4D4E97F5-C321-499A-9FE3-CDB3D979FB39}"/>
              </a:ext>
            </a:extLst>
          </p:cNvPr>
          <p:cNvSpPr>
            <a:spLocks noGrp="1"/>
          </p:cNvSpPr>
          <p:nvPr/>
        </p:nvSpPr>
        <p:spPr>
          <a:xfrm>
            <a:off x="3629025" y="3714750"/>
            <a:ext cx="3352800" cy="295275"/>
          </a:xfrm>
          <a:prstGeom prst="rect">
            <a:avLst/>
          </a:prstGeom>
          <a:noFill/>
          <a:ln w="0">
            <a:noFill/>
            <a:prstDash val="solid"/>
          </a:ln>
        </p:spPr>
        <p:txBody>
          <a:bodyPr wrap="square" lIns="0" tIns="0" rIns="0" bIns="0" anchor="ctr">
            <a:normAutofit/>
          </a:bodyPr>
          <a:lstStyle>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Alert queue updates in the dashboard</a:t>
            </a:r>
          </a:p>
        </p:txBody>
      </p:sp>
      <p:sp>
        <p:nvSpPr>
          <p:cNvPr id="30" name="Straight Connector 29">
            <a:extLst>
              <a:ext uri="{FF2B5EF4-FFF2-40B4-BE49-F238E27FC236}">
                <a16:creationId xmlns:a16="http://schemas.microsoft.com/office/drawing/2014/main" xmlns="" id="{E6052539-D1B5-4307-A8B6-FA172A54EC72}"/>
              </a:ext>
            </a:extLst>
          </p:cNvPr>
          <p:cNvSpPr>
            <a:spLocks noGrp="1"/>
          </p:cNvSpPr>
          <p:nvPr/>
        </p:nvSpPr>
        <p:spPr>
          <a:xfrm>
            <a:off x="1095375" y="4076700"/>
            <a:ext cx="5905500" cy="4763"/>
          </a:xfrm>
          <a:prstGeom prst="line">
            <a:avLst/>
          </a:prstGeom>
          <a:noFill/>
          <a:ln w="9525">
            <a:solidFill>
              <a:srgbClr val="E0E8E7"/>
            </a:solidFill>
            <a:prstDash val="solid"/>
          </a:ln>
        </p:spPr>
      </p:sp>
      <p:sp>
        <p:nvSpPr>
          <p:cNvPr id="31" name="Rectangle 30">
            <a:extLst>
              <a:ext uri="{FF2B5EF4-FFF2-40B4-BE49-F238E27FC236}">
                <a16:creationId xmlns:a16="http://schemas.microsoft.com/office/drawing/2014/main" xmlns="" id="{BBADFB10-1190-413C-ADD4-731FDAE402DC}"/>
              </a:ext>
            </a:extLst>
          </p:cNvPr>
          <p:cNvSpPr>
            <a:spLocks noGrp="1"/>
          </p:cNvSpPr>
          <p:nvPr/>
        </p:nvSpPr>
        <p:spPr>
          <a:xfrm>
            <a:off x="552450" y="4181475"/>
            <a:ext cx="428625" cy="2952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07</a:t>
            </a:r>
          </a:p>
        </p:txBody>
      </p:sp>
      <p:sp>
        <p:nvSpPr>
          <p:cNvPr id="32" name="Rectangle 31">
            <a:extLst>
              <a:ext uri="{FF2B5EF4-FFF2-40B4-BE49-F238E27FC236}">
                <a16:creationId xmlns:a16="http://schemas.microsoft.com/office/drawing/2014/main" xmlns="" id="{7416D6BE-E973-4E5B-9AF7-6D26B56FA046}"/>
              </a:ext>
            </a:extLst>
          </p:cNvPr>
          <p:cNvSpPr>
            <a:spLocks noGrp="1"/>
          </p:cNvSpPr>
          <p:nvPr/>
        </p:nvSpPr>
        <p:spPr>
          <a:xfrm>
            <a:off x="1095375" y="4181475"/>
            <a:ext cx="2343150" cy="295275"/>
          </a:xfrm>
          <a:prstGeom prst="rect">
            <a:avLst/>
          </a:prstGeom>
          <a:noFill/>
          <a:ln w="0">
            <a:noFill/>
            <a:prstDash val="solid"/>
          </a:ln>
        </p:spPr>
        <p:txBody>
          <a:bodyPr wrap="square" lIns="0" tIns="0" rIns="0" bIns="0" anchor="ctr">
            <a:normAutofit/>
          </a:bodyPr>
          <a:lstStyle>
            <a:defPPr algn="l">
              <a:defRPr sz="1200" b="1" i="0">
                <a:solidFill>
                  <a:srgbClr val="123F50"/>
                </a:solidFill>
                <a:latin typeface="Calibri"/>
                <a:ea typeface="Calibri"/>
                <a:cs typeface="Calibri"/>
              </a:defRPr>
            </a:defPPr>
            <a:lvl1pPr algn="l">
              <a:buNone/>
              <a:defRPr sz="1200" b="1" i="0">
                <a:solidFill>
                  <a:srgbClr val="123F50"/>
                </a:solidFill>
                <a:latin typeface="Calibri"/>
                <a:ea typeface="Calibri"/>
                <a:cs typeface="Calibri"/>
              </a:defRPr>
            </a:lvl1pPr>
            <a:lvl2pPr algn="l">
              <a:buNone/>
              <a:defRPr sz="1200" b="1" i="0">
                <a:solidFill>
                  <a:srgbClr val="123F50"/>
                </a:solidFill>
                <a:latin typeface="Calibri"/>
                <a:ea typeface="Calibri"/>
                <a:cs typeface="Calibri"/>
              </a:defRPr>
            </a:lvl2pPr>
            <a:lvl3pPr algn="l">
              <a:buNone/>
              <a:defRPr sz="1200" b="1" i="0">
                <a:solidFill>
                  <a:srgbClr val="123F50"/>
                </a:solidFill>
                <a:latin typeface="Calibri"/>
                <a:ea typeface="Calibri"/>
                <a:cs typeface="Calibri"/>
              </a:defRPr>
            </a:lvl3pPr>
            <a:lvl4pPr algn="l">
              <a:buNone/>
              <a:defRPr sz="1200" b="1" i="0">
                <a:solidFill>
                  <a:srgbClr val="123F50"/>
                </a:solidFill>
                <a:latin typeface="Calibri"/>
                <a:ea typeface="Calibri"/>
                <a:cs typeface="Calibri"/>
              </a:defRPr>
            </a:lvl4pPr>
            <a:lvl5pPr algn="l">
              <a:buNone/>
              <a:defRPr sz="1200" b="1" i="0">
                <a:solidFill>
                  <a:srgbClr val="123F50"/>
                </a:solidFill>
                <a:latin typeface="Calibri"/>
                <a:ea typeface="Calibri"/>
                <a:cs typeface="Calibri"/>
              </a:defRPr>
            </a:lvl5pPr>
            <a:lvl6pPr algn="l">
              <a:buNone/>
              <a:defRPr sz="1200" b="1" i="0">
                <a:solidFill>
                  <a:srgbClr val="123F50"/>
                </a:solidFill>
                <a:latin typeface="Calibri"/>
                <a:ea typeface="Calibri"/>
                <a:cs typeface="Calibri"/>
              </a:defRPr>
            </a:lvl6pPr>
            <a:lvl7pPr algn="l">
              <a:buNone/>
              <a:defRPr sz="1200" b="1" i="0">
                <a:solidFill>
                  <a:srgbClr val="123F50"/>
                </a:solidFill>
                <a:latin typeface="Calibri"/>
                <a:ea typeface="Calibri"/>
                <a:cs typeface="Calibri"/>
              </a:defRPr>
            </a:lvl7pPr>
            <a:lvl8pPr algn="l">
              <a:buNone/>
              <a:defRPr sz="1200" b="1" i="0">
                <a:solidFill>
                  <a:srgbClr val="123F50"/>
                </a:solidFill>
                <a:latin typeface="Calibri"/>
                <a:ea typeface="Calibri"/>
                <a:cs typeface="Calibri"/>
              </a:defRPr>
            </a:lvl8pPr>
            <a:lvl9pPr algn="l">
              <a:buNone/>
              <a:defRPr sz="1200" b="1" i="0">
                <a:solidFill>
                  <a:srgbClr val="123F50"/>
                </a:solidFill>
                <a:latin typeface="Calibri"/>
                <a:ea typeface="Calibri"/>
                <a:cs typeface="Calibri"/>
              </a:defRPr>
            </a:lvl9pPr>
          </a:lstStyle>
          <a:p>
            <a:pPr algn="l">
              <a:lnSpc>
                <a:spcPct val="108000"/>
              </a:lnSpc>
              <a:buNone/>
              <a:defRPr sz="1200" b="1" i="0">
                <a:solidFill>
                  <a:srgbClr val="123F50"/>
                </a:solidFill>
                <a:latin typeface="Calibri"/>
                <a:ea typeface="Calibri"/>
                <a:cs typeface="Calibri"/>
              </a:defRPr>
            </a:pPr>
            <a:r>
              <a:rPr sz="1200" b="1" i="0">
                <a:solidFill>
                  <a:srgbClr val="123F50"/>
                </a:solidFill>
                <a:latin typeface="Calibri"/>
                <a:ea typeface="Calibri"/>
                <a:cs typeface="Calibri"/>
              </a:rPr>
              <a:t>Show patient app</a:t>
            </a:r>
          </a:p>
        </p:txBody>
      </p:sp>
      <p:sp>
        <p:nvSpPr>
          <p:cNvPr id="33" name="Rectangle 32">
            <a:extLst>
              <a:ext uri="{FF2B5EF4-FFF2-40B4-BE49-F238E27FC236}">
                <a16:creationId xmlns:a16="http://schemas.microsoft.com/office/drawing/2014/main" xmlns="" id="{2DE132C3-836E-468B-9C55-2AD3B84F37C3}"/>
              </a:ext>
            </a:extLst>
          </p:cNvPr>
          <p:cNvSpPr>
            <a:spLocks noGrp="1"/>
          </p:cNvSpPr>
          <p:nvPr/>
        </p:nvSpPr>
        <p:spPr>
          <a:xfrm>
            <a:off x="3629025" y="4181475"/>
            <a:ext cx="3352800" cy="295275"/>
          </a:xfrm>
          <a:prstGeom prst="rect">
            <a:avLst/>
          </a:prstGeom>
          <a:noFill/>
          <a:ln w="0">
            <a:noFill/>
            <a:prstDash val="solid"/>
          </a:ln>
        </p:spPr>
        <p:txBody>
          <a:bodyPr wrap="square" lIns="0" tIns="0" rIns="0" bIns="0" anchor="ctr">
            <a:normAutofit/>
          </a:bodyPr>
          <a:lstStyle>
            <a:defPPr algn="l">
              <a:defRPr sz="1125" b="0" i="0">
                <a:solidFill>
                  <a:srgbClr val="263C45"/>
                </a:solidFill>
                <a:latin typeface="Calibri"/>
                <a:ea typeface="Calibri"/>
                <a:cs typeface="Calibri"/>
              </a:defRPr>
            </a:defPPr>
            <a:lvl1pPr algn="l">
              <a:buNone/>
              <a:defRPr sz="1125" b="0" i="0">
                <a:solidFill>
                  <a:srgbClr val="263C45"/>
                </a:solidFill>
                <a:latin typeface="Calibri"/>
                <a:ea typeface="Calibri"/>
                <a:cs typeface="Calibri"/>
              </a:defRPr>
            </a:lvl1pPr>
            <a:lvl2pPr algn="l">
              <a:buNone/>
              <a:defRPr sz="1125" b="0" i="0">
                <a:solidFill>
                  <a:srgbClr val="263C45"/>
                </a:solidFill>
                <a:latin typeface="Calibri"/>
                <a:ea typeface="Calibri"/>
                <a:cs typeface="Calibri"/>
              </a:defRPr>
            </a:lvl2pPr>
            <a:lvl3pPr algn="l">
              <a:buNone/>
              <a:defRPr sz="1125" b="0" i="0">
                <a:solidFill>
                  <a:srgbClr val="263C45"/>
                </a:solidFill>
                <a:latin typeface="Calibri"/>
                <a:ea typeface="Calibri"/>
                <a:cs typeface="Calibri"/>
              </a:defRPr>
            </a:lvl3pPr>
            <a:lvl4pPr algn="l">
              <a:buNone/>
              <a:defRPr sz="1125" b="0" i="0">
                <a:solidFill>
                  <a:srgbClr val="263C45"/>
                </a:solidFill>
                <a:latin typeface="Calibri"/>
                <a:ea typeface="Calibri"/>
                <a:cs typeface="Calibri"/>
              </a:defRPr>
            </a:lvl4pPr>
            <a:lvl5pPr algn="l">
              <a:buNone/>
              <a:defRPr sz="1125" b="0" i="0">
                <a:solidFill>
                  <a:srgbClr val="263C45"/>
                </a:solidFill>
                <a:latin typeface="Calibri"/>
                <a:ea typeface="Calibri"/>
                <a:cs typeface="Calibri"/>
              </a:defRPr>
            </a:lvl5pPr>
            <a:lvl6pPr algn="l">
              <a:buNone/>
              <a:defRPr sz="1125" b="0" i="0">
                <a:solidFill>
                  <a:srgbClr val="263C45"/>
                </a:solidFill>
                <a:latin typeface="Calibri"/>
                <a:ea typeface="Calibri"/>
                <a:cs typeface="Calibri"/>
              </a:defRPr>
            </a:lvl6pPr>
            <a:lvl7pPr algn="l">
              <a:buNone/>
              <a:defRPr sz="1125" b="0" i="0">
                <a:solidFill>
                  <a:srgbClr val="263C45"/>
                </a:solidFill>
                <a:latin typeface="Calibri"/>
                <a:ea typeface="Calibri"/>
                <a:cs typeface="Calibri"/>
              </a:defRPr>
            </a:lvl7pPr>
            <a:lvl8pPr algn="l">
              <a:buNone/>
              <a:defRPr sz="1125" b="0" i="0">
                <a:solidFill>
                  <a:srgbClr val="263C45"/>
                </a:solidFill>
                <a:latin typeface="Calibri"/>
                <a:ea typeface="Calibri"/>
                <a:cs typeface="Calibri"/>
              </a:defRPr>
            </a:lvl8pPr>
            <a:lvl9pPr algn="l">
              <a:buNone/>
              <a:defRPr sz="1125" b="0" i="0">
                <a:solidFill>
                  <a:srgbClr val="263C45"/>
                </a:solidFill>
                <a:latin typeface="Calibri"/>
                <a:ea typeface="Calibri"/>
                <a:cs typeface="Calibri"/>
              </a:defRPr>
            </a:lvl9pPr>
          </a:lstStyle>
          <a:p>
            <a:pPr algn="l">
              <a:lnSpc>
                <a:spcPct val="108000"/>
              </a:lnSpc>
              <a:buNone/>
              <a:defRPr sz="1125" b="0" i="0">
                <a:solidFill>
                  <a:srgbClr val="263C45"/>
                </a:solidFill>
                <a:latin typeface="Calibri"/>
                <a:ea typeface="Calibri"/>
                <a:cs typeface="Calibri"/>
              </a:defRPr>
            </a:pPr>
            <a:r>
              <a:rPr sz="1125" b="0" i="0">
                <a:solidFill>
                  <a:srgbClr val="263C45"/>
                </a:solidFill>
                <a:latin typeface="Calibri"/>
                <a:ea typeface="Calibri"/>
                <a:cs typeface="Calibri"/>
              </a:rPr>
              <a:t>Expo screens for status, telemetry, alerts</a:t>
            </a:r>
          </a:p>
        </p:txBody>
      </p:sp>
      <p:sp>
        <p:nvSpPr>
          <p:cNvPr id="35" name="diagram-background-slide-12">
            <a:extLst>
              <a:ext uri="{FF2B5EF4-FFF2-40B4-BE49-F238E27FC236}">
                <a16:creationId xmlns:a16="http://schemas.microsoft.com/office/drawing/2014/main" xmlns="" id="{4DB7884E-9B44-4940-966D-488D75E546FD}"/>
              </a:ext>
            </a:extLst>
          </p:cNvPr>
          <p:cNvSpPr>
            <a:spLocks noGrp="1"/>
          </p:cNvSpPr>
          <p:nvPr/>
        </p:nvSpPr>
        <p:spPr>
          <a:xfrm>
            <a:off x="400050" y="1295400"/>
            <a:ext cx="6677025" cy="3648075"/>
          </a:xfrm>
          <a:prstGeom prst="rect">
            <a:avLst/>
          </a:prstGeom>
          <a:solidFill>
            <a:srgbClr val="F5FAF9"/>
          </a:solidFill>
          <a:ln w="0">
            <a:noFill/>
            <a:prstDash val="solid"/>
          </a:ln>
        </p:spPr>
      </p:sp>
      <p:pic>
        <p:nvPicPr>
          <p:cNvPr id="36" name="Picture 35">
            <a:extLst>
              <a:ext uri="{FF2B5EF4-FFF2-40B4-BE49-F238E27FC236}">
                <a16:creationId xmlns:a16="http://schemas.microsoft.com/office/drawing/2014/main" xmlns="" id="{3E73E077-D51B-4E35-B3BC-B756D28DAC37}"/>
              </a:ext>
            </a:extLst>
          </p:cNvPr>
          <p:cNvPicPr>
            <a:picLocks noChangeAspect="1"/>
          </p:cNvPicPr>
          <p:nvPr/>
        </p:nvPicPr>
        <p:blipFill>
          <a:blip r:embed="rId4"/>
          <a:stretch/>
        </p:blipFill>
        <p:spPr>
          <a:xfrm>
            <a:off x="1066800" y="1438275"/>
            <a:ext cx="5353050" cy="3562350"/>
          </a:xfrm>
          <a:prstGeom prst="rect">
            <a:avLst/>
          </a:prstGeom>
        </p:spPr>
      </p:pic>
    </p:spTree>
    <p:extLst>
      <p:ext uri="{BB962C8B-B14F-4D97-AF65-F5344CB8AC3E}">
        <p14:creationId xmlns:p14="http://schemas.microsoft.com/office/powerpoint/2010/main" val="2177942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xmlns="" id="{A26858EF-13D4-4CEF-8402-110A94D803E2}"/>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31" name="Rounded Rectangle 30">
            <a:extLst>
              <a:ext uri="{FF2B5EF4-FFF2-40B4-BE49-F238E27FC236}">
                <a16:creationId xmlns:a16="http://schemas.microsoft.com/office/drawing/2014/main" xmlns="" id="{699A22E3-B897-4EFD-8C80-6EEFEF4CFE05}"/>
              </a:ext>
            </a:extLst>
          </p:cNvPr>
          <p:cNvSpPr>
            <a:spLocks noGrp="1"/>
          </p:cNvSpPr>
          <p:nvPr/>
        </p:nvSpPr>
        <p:spPr>
          <a:xfrm>
            <a:off x="1428750" y="1323975"/>
            <a:ext cx="4619625" cy="3943350"/>
          </a:xfrm>
          <a:prstGeom prst="roundRect">
            <a:avLst>
              <a:gd name="adj" fmla="val 3623"/>
            </a:avLst>
          </a:prstGeom>
          <a:solidFill>
            <a:srgbClr val="FFFFFF">
              <a:alpha val="94000"/>
            </a:srgbClr>
          </a:solidFill>
          <a:ln w="9525">
            <a:solidFill>
              <a:srgbClr val="CCDCD9"/>
            </a:solidFill>
            <a:prstDash val="solid"/>
          </a:ln>
        </p:spPr>
        <p:style>
          <a:lnRef idx="0">
            <a:scrgbClr r="0" g="0" b="0"/>
          </a:lnRef>
          <a:fillRef idx="0">
            <a:scrgbClr r="0" g="0" b="0"/>
          </a:fillRef>
          <a:effectRef idx="4">
            <a:scrgbClr r="0" g="0" b="0"/>
          </a:effectRef>
          <a:fontRef idx="major"/>
        </p:style>
      </p:sp>
      <p:sp>
        <p:nvSpPr>
          <p:cNvPr id="27" name="Rectangle 26">
            <a:extLst>
              <a:ext uri="{FF2B5EF4-FFF2-40B4-BE49-F238E27FC236}">
                <a16:creationId xmlns:a16="http://schemas.microsoft.com/office/drawing/2014/main" xmlns="" id="{194996A6-B30E-4C32-847E-3B5CA9382B8F}"/>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Before real-world use</a:t>
            </a:r>
          </a:p>
        </p:txBody>
      </p:sp>
      <p:sp>
        <p:nvSpPr>
          <p:cNvPr id="2" name="Straight Connector 1">
            <a:extLst>
              <a:ext uri="{FF2B5EF4-FFF2-40B4-BE49-F238E27FC236}">
                <a16:creationId xmlns:a16="http://schemas.microsoft.com/office/drawing/2014/main" xmlns="" id="{596E08AD-75D6-479F-8D64-871C2CDA15D9}"/>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7D6FC2B9-BA55-4EDB-84AD-AA99AB6C2784}"/>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The path forward is validation, safety review, and production-grade data handling.</a:t>
            </a:r>
          </a:p>
        </p:txBody>
      </p:sp>
      <p:sp>
        <p:nvSpPr>
          <p:cNvPr id="4" name="Straight Connector 3">
            <a:extLst>
              <a:ext uri="{FF2B5EF4-FFF2-40B4-BE49-F238E27FC236}">
                <a16:creationId xmlns:a16="http://schemas.microsoft.com/office/drawing/2014/main" xmlns="" id="{DAEED13A-0AAB-4DE4-963B-B7313FC46D70}"/>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1CBCE7D4-FFD5-4C62-903C-C0C860494745}"/>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737C21D1-4701-41FD-AFC6-2727E639C910}"/>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14</a:t>
            </a:r>
          </a:p>
        </p:txBody>
      </p:sp>
      <p:sp>
        <p:nvSpPr>
          <p:cNvPr id="7" name="Rectangle 6">
            <a:extLst>
              <a:ext uri="{FF2B5EF4-FFF2-40B4-BE49-F238E27FC236}">
                <a16:creationId xmlns:a16="http://schemas.microsoft.com/office/drawing/2014/main" xmlns="" id="{E1FF4FD0-2FE6-4125-8293-782A2DA5DD6A}"/>
              </a:ext>
            </a:extLst>
          </p:cNvPr>
          <p:cNvSpPr>
            <a:spLocks noGrp="1"/>
          </p:cNvSpPr>
          <p:nvPr/>
        </p:nvSpPr>
        <p:spPr>
          <a:xfrm>
            <a:off x="552450" y="1362075"/>
            <a:ext cx="428625" cy="3333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01</a:t>
            </a:r>
          </a:p>
        </p:txBody>
      </p:sp>
      <p:sp>
        <p:nvSpPr>
          <p:cNvPr id="8" name="Rectangle 7">
            <a:extLst>
              <a:ext uri="{FF2B5EF4-FFF2-40B4-BE49-F238E27FC236}">
                <a16:creationId xmlns:a16="http://schemas.microsoft.com/office/drawing/2014/main" xmlns="" id="{4AE18612-7DEB-4C73-94BE-D4E8D294B12D}"/>
              </a:ext>
            </a:extLst>
          </p:cNvPr>
          <p:cNvSpPr>
            <a:spLocks noGrp="1"/>
          </p:cNvSpPr>
          <p:nvPr/>
        </p:nvSpPr>
        <p:spPr>
          <a:xfrm>
            <a:off x="1076325" y="1362075"/>
            <a:ext cx="2324100" cy="333375"/>
          </a:xfrm>
          <a:prstGeom prst="rect">
            <a:avLst/>
          </a:prstGeom>
          <a:noFill/>
          <a:ln w="0">
            <a:noFill/>
            <a:prstDash val="solid"/>
          </a:ln>
        </p:spPr>
        <p:txBody>
          <a:bodyPr wrap="square" lIns="0" tIns="0" rIns="0" bIns="0" anchor="ctr">
            <a:normAutofit/>
          </a:bodyPr>
          <a:lstStyle>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Validate the risk logic</a:t>
            </a:r>
          </a:p>
        </p:txBody>
      </p:sp>
      <p:sp>
        <p:nvSpPr>
          <p:cNvPr id="9" name="Rectangle 8">
            <a:extLst>
              <a:ext uri="{FF2B5EF4-FFF2-40B4-BE49-F238E27FC236}">
                <a16:creationId xmlns:a16="http://schemas.microsoft.com/office/drawing/2014/main" xmlns="" id="{D3496E5F-68E6-47CD-B776-E6BE4B20C901}"/>
              </a:ext>
            </a:extLst>
          </p:cNvPr>
          <p:cNvSpPr>
            <a:spLocks noGrp="1"/>
          </p:cNvSpPr>
          <p:nvPr/>
        </p:nvSpPr>
        <p:spPr>
          <a:xfrm>
            <a:off x="3495675" y="1362075"/>
            <a:ext cx="3486150" cy="447675"/>
          </a:xfrm>
          <a:prstGeom prst="rect">
            <a:avLst/>
          </a:prstGeom>
          <a:noFill/>
          <a:ln w="0">
            <a:noFill/>
            <a:prstDash val="solid"/>
          </a:ln>
        </p:spPr>
        <p:txBody>
          <a:bodyPr wrap="square" lIns="0" tIns="0" rIns="0" bIns="0" anchor="ctr">
            <a:normAutofit/>
          </a:bodyPr>
          <a:lstStyle>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Use appropriate data and independent evaluation; do not treat synthetic labels as clinical evidence.</a:t>
            </a:r>
          </a:p>
        </p:txBody>
      </p:sp>
      <p:sp>
        <p:nvSpPr>
          <p:cNvPr id="10" name="Straight Connector 9">
            <a:extLst>
              <a:ext uri="{FF2B5EF4-FFF2-40B4-BE49-F238E27FC236}">
                <a16:creationId xmlns:a16="http://schemas.microsoft.com/office/drawing/2014/main" xmlns="" id="{AC1A16D1-0F57-4798-B294-CD77E33D1C23}"/>
              </a:ext>
            </a:extLst>
          </p:cNvPr>
          <p:cNvSpPr>
            <a:spLocks noGrp="1"/>
          </p:cNvSpPr>
          <p:nvPr/>
        </p:nvSpPr>
        <p:spPr>
          <a:xfrm>
            <a:off x="1076325" y="1847850"/>
            <a:ext cx="5924550" cy="4763"/>
          </a:xfrm>
          <a:prstGeom prst="line">
            <a:avLst/>
          </a:prstGeom>
          <a:noFill/>
          <a:ln w="9525">
            <a:solidFill>
              <a:srgbClr val="E0E8E7"/>
            </a:solidFill>
            <a:prstDash val="solid"/>
          </a:ln>
        </p:spPr>
      </p:sp>
      <p:sp>
        <p:nvSpPr>
          <p:cNvPr id="11" name="Rectangle 10">
            <a:extLst>
              <a:ext uri="{FF2B5EF4-FFF2-40B4-BE49-F238E27FC236}">
                <a16:creationId xmlns:a16="http://schemas.microsoft.com/office/drawing/2014/main" xmlns="" id="{3F564F5B-864C-4E2F-A01E-594F145AEEC3}"/>
              </a:ext>
            </a:extLst>
          </p:cNvPr>
          <p:cNvSpPr>
            <a:spLocks noGrp="1"/>
          </p:cNvSpPr>
          <p:nvPr/>
        </p:nvSpPr>
        <p:spPr>
          <a:xfrm>
            <a:off x="552450" y="1952625"/>
            <a:ext cx="428625" cy="3333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02</a:t>
            </a:r>
          </a:p>
        </p:txBody>
      </p:sp>
      <p:sp>
        <p:nvSpPr>
          <p:cNvPr id="12" name="Rectangle 11">
            <a:extLst>
              <a:ext uri="{FF2B5EF4-FFF2-40B4-BE49-F238E27FC236}">
                <a16:creationId xmlns:a16="http://schemas.microsoft.com/office/drawing/2014/main" xmlns="" id="{00DD240F-1B12-4CCE-85FA-B54697A93D34}"/>
              </a:ext>
            </a:extLst>
          </p:cNvPr>
          <p:cNvSpPr>
            <a:spLocks noGrp="1"/>
          </p:cNvSpPr>
          <p:nvPr/>
        </p:nvSpPr>
        <p:spPr>
          <a:xfrm>
            <a:off x="1076325" y="1952625"/>
            <a:ext cx="2324100" cy="333375"/>
          </a:xfrm>
          <a:prstGeom prst="rect">
            <a:avLst/>
          </a:prstGeom>
          <a:noFill/>
          <a:ln w="0">
            <a:noFill/>
            <a:prstDash val="solid"/>
          </a:ln>
        </p:spPr>
        <p:txBody>
          <a:bodyPr wrap="square" lIns="0" tIns="0" rIns="0" bIns="0" anchor="ctr">
            <a:normAutofit/>
          </a:bodyPr>
          <a:lstStyle>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Review every recommendation</a:t>
            </a:r>
          </a:p>
        </p:txBody>
      </p:sp>
      <p:sp>
        <p:nvSpPr>
          <p:cNvPr id="13" name="Rectangle 12">
            <a:extLst>
              <a:ext uri="{FF2B5EF4-FFF2-40B4-BE49-F238E27FC236}">
                <a16:creationId xmlns:a16="http://schemas.microsoft.com/office/drawing/2014/main" xmlns="" id="{1051EA8E-1D05-4814-AAEE-9798044D2885}"/>
              </a:ext>
            </a:extLst>
          </p:cNvPr>
          <p:cNvSpPr>
            <a:spLocks noGrp="1"/>
          </p:cNvSpPr>
          <p:nvPr/>
        </p:nvSpPr>
        <p:spPr>
          <a:xfrm>
            <a:off x="3495675" y="1952625"/>
            <a:ext cx="3486150" cy="447675"/>
          </a:xfrm>
          <a:prstGeom prst="rect">
            <a:avLst/>
          </a:prstGeom>
          <a:noFill/>
          <a:ln w="0">
            <a:noFill/>
            <a:prstDash val="solid"/>
          </a:ln>
        </p:spPr>
        <p:txBody>
          <a:bodyPr wrap="square" lIns="0" tIns="0" rIns="0" bIns="0" anchor="ctr">
            <a:normAutofit/>
          </a:bodyPr>
          <a:lstStyle>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Replace hard-coded action text with clinician-approved, context-aware guidance.</a:t>
            </a:r>
          </a:p>
        </p:txBody>
      </p:sp>
      <p:sp>
        <p:nvSpPr>
          <p:cNvPr id="14" name="Straight Connector 13">
            <a:extLst>
              <a:ext uri="{FF2B5EF4-FFF2-40B4-BE49-F238E27FC236}">
                <a16:creationId xmlns:a16="http://schemas.microsoft.com/office/drawing/2014/main" xmlns="" id="{58D4FD85-6BF6-421D-B310-2DD554D3CCB2}"/>
              </a:ext>
            </a:extLst>
          </p:cNvPr>
          <p:cNvSpPr>
            <a:spLocks noGrp="1"/>
          </p:cNvSpPr>
          <p:nvPr/>
        </p:nvSpPr>
        <p:spPr>
          <a:xfrm>
            <a:off x="1076325" y="2438400"/>
            <a:ext cx="5924550" cy="4763"/>
          </a:xfrm>
          <a:prstGeom prst="line">
            <a:avLst/>
          </a:prstGeom>
          <a:noFill/>
          <a:ln w="9525">
            <a:solidFill>
              <a:srgbClr val="E0E8E7"/>
            </a:solidFill>
            <a:prstDash val="solid"/>
          </a:ln>
        </p:spPr>
      </p:sp>
      <p:sp>
        <p:nvSpPr>
          <p:cNvPr id="15" name="Rectangle 14">
            <a:extLst>
              <a:ext uri="{FF2B5EF4-FFF2-40B4-BE49-F238E27FC236}">
                <a16:creationId xmlns:a16="http://schemas.microsoft.com/office/drawing/2014/main" xmlns="" id="{BDC237AE-818A-4982-86B5-33201E688C37}"/>
              </a:ext>
            </a:extLst>
          </p:cNvPr>
          <p:cNvSpPr>
            <a:spLocks noGrp="1"/>
          </p:cNvSpPr>
          <p:nvPr/>
        </p:nvSpPr>
        <p:spPr>
          <a:xfrm>
            <a:off x="552450" y="2543175"/>
            <a:ext cx="428625" cy="3333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03</a:t>
            </a:r>
          </a:p>
        </p:txBody>
      </p:sp>
      <p:sp>
        <p:nvSpPr>
          <p:cNvPr id="16" name="Rectangle 15">
            <a:extLst>
              <a:ext uri="{FF2B5EF4-FFF2-40B4-BE49-F238E27FC236}">
                <a16:creationId xmlns:a16="http://schemas.microsoft.com/office/drawing/2014/main" xmlns="" id="{DC3DDC33-F54C-4607-B498-2A6D2C6B8A13}"/>
              </a:ext>
            </a:extLst>
          </p:cNvPr>
          <p:cNvSpPr>
            <a:spLocks noGrp="1"/>
          </p:cNvSpPr>
          <p:nvPr/>
        </p:nvSpPr>
        <p:spPr>
          <a:xfrm>
            <a:off x="1076325" y="2543175"/>
            <a:ext cx="2324100" cy="333375"/>
          </a:xfrm>
          <a:prstGeom prst="rect">
            <a:avLst/>
          </a:prstGeom>
          <a:noFill/>
          <a:ln w="0">
            <a:noFill/>
            <a:prstDash val="solid"/>
          </a:ln>
        </p:spPr>
        <p:txBody>
          <a:bodyPr wrap="square" lIns="0" tIns="0" rIns="0" bIns="0" anchor="ctr">
            <a:normAutofit/>
          </a:bodyPr>
          <a:lstStyle>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Protect patient information</a:t>
            </a:r>
          </a:p>
        </p:txBody>
      </p:sp>
      <p:sp>
        <p:nvSpPr>
          <p:cNvPr id="17" name="Rectangle 16">
            <a:extLst>
              <a:ext uri="{FF2B5EF4-FFF2-40B4-BE49-F238E27FC236}">
                <a16:creationId xmlns:a16="http://schemas.microsoft.com/office/drawing/2014/main" xmlns="" id="{9B4283AC-330C-4CBB-A542-526B2D623141}"/>
              </a:ext>
            </a:extLst>
          </p:cNvPr>
          <p:cNvSpPr>
            <a:spLocks noGrp="1"/>
          </p:cNvSpPr>
          <p:nvPr/>
        </p:nvSpPr>
        <p:spPr>
          <a:xfrm>
            <a:off x="3495675" y="2543175"/>
            <a:ext cx="3486150" cy="447675"/>
          </a:xfrm>
          <a:prstGeom prst="rect">
            <a:avLst/>
          </a:prstGeom>
          <a:noFill/>
          <a:ln w="0">
            <a:noFill/>
            <a:prstDash val="solid"/>
          </a:ln>
        </p:spPr>
        <p:txBody>
          <a:bodyPr wrap="square" lIns="0" tIns="0" rIns="0" bIns="0" anchor="ctr">
            <a:normAutofit/>
          </a:bodyPr>
          <a:lstStyle>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Add authentication, authorization, consent, secure storage, audit logs, and retention controls.</a:t>
            </a:r>
          </a:p>
        </p:txBody>
      </p:sp>
      <p:sp>
        <p:nvSpPr>
          <p:cNvPr id="18" name="Straight Connector 17">
            <a:extLst>
              <a:ext uri="{FF2B5EF4-FFF2-40B4-BE49-F238E27FC236}">
                <a16:creationId xmlns:a16="http://schemas.microsoft.com/office/drawing/2014/main" xmlns="" id="{B544E6B8-752C-4D39-9F20-5E068A8659EF}"/>
              </a:ext>
            </a:extLst>
          </p:cNvPr>
          <p:cNvSpPr>
            <a:spLocks noGrp="1"/>
          </p:cNvSpPr>
          <p:nvPr/>
        </p:nvSpPr>
        <p:spPr>
          <a:xfrm>
            <a:off x="1076325" y="3028950"/>
            <a:ext cx="5924550" cy="4763"/>
          </a:xfrm>
          <a:prstGeom prst="line">
            <a:avLst/>
          </a:prstGeom>
          <a:noFill/>
          <a:ln w="9525">
            <a:solidFill>
              <a:srgbClr val="E0E8E7"/>
            </a:solidFill>
            <a:prstDash val="solid"/>
          </a:ln>
        </p:spPr>
      </p:sp>
      <p:sp>
        <p:nvSpPr>
          <p:cNvPr id="19" name="Rectangle 18">
            <a:extLst>
              <a:ext uri="{FF2B5EF4-FFF2-40B4-BE49-F238E27FC236}">
                <a16:creationId xmlns:a16="http://schemas.microsoft.com/office/drawing/2014/main" xmlns="" id="{115E97A9-124C-4ACD-95A1-AEDF63FB695C}"/>
              </a:ext>
            </a:extLst>
          </p:cNvPr>
          <p:cNvSpPr>
            <a:spLocks noGrp="1"/>
          </p:cNvSpPr>
          <p:nvPr/>
        </p:nvSpPr>
        <p:spPr>
          <a:xfrm>
            <a:off x="552450" y="3133725"/>
            <a:ext cx="428625" cy="3333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04</a:t>
            </a:r>
          </a:p>
        </p:txBody>
      </p:sp>
      <p:sp>
        <p:nvSpPr>
          <p:cNvPr id="20" name="Rectangle 19">
            <a:extLst>
              <a:ext uri="{FF2B5EF4-FFF2-40B4-BE49-F238E27FC236}">
                <a16:creationId xmlns:a16="http://schemas.microsoft.com/office/drawing/2014/main" xmlns="" id="{916DE2BF-4776-4102-94EA-0E6FCE5C97EF}"/>
              </a:ext>
            </a:extLst>
          </p:cNvPr>
          <p:cNvSpPr>
            <a:spLocks noGrp="1"/>
          </p:cNvSpPr>
          <p:nvPr/>
        </p:nvSpPr>
        <p:spPr>
          <a:xfrm>
            <a:off x="1076325" y="3133725"/>
            <a:ext cx="2324100" cy="333375"/>
          </a:xfrm>
          <a:prstGeom prst="rect">
            <a:avLst/>
          </a:prstGeom>
          <a:noFill/>
          <a:ln w="0">
            <a:noFill/>
            <a:prstDash val="solid"/>
          </a:ln>
        </p:spPr>
        <p:txBody>
          <a:bodyPr wrap="square" lIns="0" tIns="0" rIns="0" bIns="0" anchor="ctr">
            <a:normAutofit/>
          </a:bodyPr>
          <a:lstStyle>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Prove device and service behavior</a:t>
            </a:r>
          </a:p>
        </p:txBody>
      </p:sp>
      <p:sp>
        <p:nvSpPr>
          <p:cNvPr id="21" name="Rectangle 20">
            <a:extLst>
              <a:ext uri="{FF2B5EF4-FFF2-40B4-BE49-F238E27FC236}">
                <a16:creationId xmlns:a16="http://schemas.microsoft.com/office/drawing/2014/main" xmlns="" id="{2D725BFA-5A8D-4861-8400-6408147A8ACC}"/>
              </a:ext>
            </a:extLst>
          </p:cNvPr>
          <p:cNvSpPr>
            <a:spLocks noGrp="1"/>
          </p:cNvSpPr>
          <p:nvPr/>
        </p:nvSpPr>
        <p:spPr>
          <a:xfrm>
            <a:off x="3495675" y="3133725"/>
            <a:ext cx="3486150" cy="447675"/>
          </a:xfrm>
          <a:prstGeom prst="rect">
            <a:avLst/>
          </a:prstGeom>
          <a:noFill/>
          <a:ln w="0">
            <a:noFill/>
            <a:prstDash val="solid"/>
          </a:ln>
        </p:spPr>
        <p:txBody>
          <a:bodyPr wrap="square" lIns="0" tIns="0" rIns="0" bIns="0" anchor="ctr">
            <a:normAutofit/>
          </a:bodyPr>
          <a:lstStyle>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Test ingestion, missing / delayed readings, alert routing, persistence, and recovery.</a:t>
            </a:r>
          </a:p>
        </p:txBody>
      </p:sp>
      <p:sp>
        <p:nvSpPr>
          <p:cNvPr id="22" name="Straight Connector 21">
            <a:extLst>
              <a:ext uri="{FF2B5EF4-FFF2-40B4-BE49-F238E27FC236}">
                <a16:creationId xmlns:a16="http://schemas.microsoft.com/office/drawing/2014/main" xmlns="" id="{FE29F5F7-78B6-423B-A0DB-356FCAFDB370}"/>
              </a:ext>
            </a:extLst>
          </p:cNvPr>
          <p:cNvSpPr>
            <a:spLocks noGrp="1"/>
          </p:cNvSpPr>
          <p:nvPr/>
        </p:nvSpPr>
        <p:spPr>
          <a:xfrm>
            <a:off x="1076325" y="3619500"/>
            <a:ext cx="5924550" cy="4763"/>
          </a:xfrm>
          <a:prstGeom prst="line">
            <a:avLst/>
          </a:prstGeom>
          <a:noFill/>
          <a:ln w="9525">
            <a:solidFill>
              <a:srgbClr val="E0E8E7"/>
            </a:solidFill>
            <a:prstDash val="solid"/>
          </a:ln>
        </p:spPr>
      </p:sp>
      <p:sp>
        <p:nvSpPr>
          <p:cNvPr id="23" name="Rectangle 22">
            <a:extLst>
              <a:ext uri="{FF2B5EF4-FFF2-40B4-BE49-F238E27FC236}">
                <a16:creationId xmlns:a16="http://schemas.microsoft.com/office/drawing/2014/main" xmlns="" id="{06550CE9-8A33-41FA-ACBF-2C5812D8E355}"/>
              </a:ext>
            </a:extLst>
          </p:cNvPr>
          <p:cNvSpPr>
            <a:spLocks noGrp="1"/>
          </p:cNvSpPr>
          <p:nvPr/>
        </p:nvSpPr>
        <p:spPr>
          <a:xfrm>
            <a:off x="552450" y="3724275"/>
            <a:ext cx="428625" cy="333375"/>
          </a:xfrm>
          <a:prstGeom prst="rect">
            <a:avLst/>
          </a:prstGeom>
          <a:noFill/>
          <a:ln w="0">
            <a:noFill/>
            <a:prstDash val="solid"/>
          </a:ln>
        </p:spPr>
        <p:txBody>
          <a:bodyPr wrap="square" lIns="0" tIns="0" rIns="0" bIns="0" anchor="ctr">
            <a:normAutofit/>
          </a:bodyPr>
          <a:lstStyle>
            <a:defPPr algn="l">
              <a:defRPr sz="1650" b="1" i="0">
                <a:solidFill>
                  <a:srgbClr val="248F8A"/>
                </a:solidFill>
                <a:latin typeface="Calibri Light"/>
                <a:ea typeface="Calibri Light"/>
                <a:cs typeface="Calibri Light"/>
              </a:defRPr>
            </a:defPPr>
            <a:lvl1pPr algn="l">
              <a:buNone/>
              <a:defRPr sz="1650" b="1" i="0">
                <a:solidFill>
                  <a:srgbClr val="248F8A"/>
                </a:solidFill>
                <a:latin typeface="Calibri Light"/>
                <a:ea typeface="Calibri Light"/>
                <a:cs typeface="Calibri Light"/>
              </a:defRPr>
            </a:lvl1pPr>
            <a:lvl2pPr algn="l">
              <a:buNone/>
              <a:defRPr sz="1650" b="1" i="0">
                <a:solidFill>
                  <a:srgbClr val="248F8A"/>
                </a:solidFill>
                <a:latin typeface="Calibri Light"/>
                <a:ea typeface="Calibri Light"/>
                <a:cs typeface="Calibri Light"/>
              </a:defRPr>
            </a:lvl2pPr>
            <a:lvl3pPr algn="l">
              <a:buNone/>
              <a:defRPr sz="1650" b="1" i="0">
                <a:solidFill>
                  <a:srgbClr val="248F8A"/>
                </a:solidFill>
                <a:latin typeface="Calibri Light"/>
                <a:ea typeface="Calibri Light"/>
                <a:cs typeface="Calibri Light"/>
              </a:defRPr>
            </a:lvl3pPr>
            <a:lvl4pPr algn="l">
              <a:buNone/>
              <a:defRPr sz="1650" b="1" i="0">
                <a:solidFill>
                  <a:srgbClr val="248F8A"/>
                </a:solidFill>
                <a:latin typeface="Calibri Light"/>
                <a:ea typeface="Calibri Light"/>
                <a:cs typeface="Calibri Light"/>
              </a:defRPr>
            </a:lvl4pPr>
            <a:lvl5pPr algn="l">
              <a:buNone/>
              <a:defRPr sz="1650" b="1" i="0">
                <a:solidFill>
                  <a:srgbClr val="248F8A"/>
                </a:solidFill>
                <a:latin typeface="Calibri Light"/>
                <a:ea typeface="Calibri Light"/>
                <a:cs typeface="Calibri Light"/>
              </a:defRPr>
            </a:lvl5pPr>
            <a:lvl6pPr algn="l">
              <a:buNone/>
              <a:defRPr sz="1650" b="1" i="0">
                <a:solidFill>
                  <a:srgbClr val="248F8A"/>
                </a:solidFill>
                <a:latin typeface="Calibri Light"/>
                <a:ea typeface="Calibri Light"/>
                <a:cs typeface="Calibri Light"/>
              </a:defRPr>
            </a:lvl6pPr>
            <a:lvl7pPr algn="l">
              <a:buNone/>
              <a:defRPr sz="1650" b="1" i="0">
                <a:solidFill>
                  <a:srgbClr val="248F8A"/>
                </a:solidFill>
                <a:latin typeface="Calibri Light"/>
                <a:ea typeface="Calibri Light"/>
                <a:cs typeface="Calibri Light"/>
              </a:defRPr>
            </a:lvl7pPr>
            <a:lvl8pPr algn="l">
              <a:buNone/>
              <a:defRPr sz="1650" b="1" i="0">
                <a:solidFill>
                  <a:srgbClr val="248F8A"/>
                </a:solidFill>
                <a:latin typeface="Calibri Light"/>
                <a:ea typeface="Calibri Light"/>
                <a:cs typeface="Calibri Light"/>
              </a:defRPr>
            </a:lvl8pPr>
            <a:lvl9pPr algn="l">
              <a:buNone/>
              <a:defRPr sz="1650" b="1" i="0">
                <a:solidFill>
                  <a:srgbClr val="248F8A"/>
                </a:solidFill>
                <a:latin typeface="Calibri Light"/>
                <a:ea typeface="Calibri Light"/>
                <a:cs typeface="Calibri Light"/>
              </a:defRPr>
            </a:lvl9pPr>
          </a:lstStyle>
          <a:p>
            <a:pPr algn="l">
              <a:lnSpc>
                <a:spcPct val="108000"/>
              </a:lnSpc>
              <a:buNone/>
              <a:defRPr sz="1650" b="1" i="0">
                <a:solidFill>
                  <a:srgbClr val="248F8A"/>
                </a:solidFill>
                <a:latin typeface="Calibri Light"/>
                <a:ea typeface="Calibri Light"/>
                <a:cs typeface="Calibri Light"/>
              </a:defRPr>
            </a:pPr>
            <a:r>
              <a:rPr sz="1650" b="1" i="0">
                <a:solidFill>
                  <a:srgbClr val="248F8A"/>
                </a:solidFill>
                <a:latin typeface="Calibri Light"/>
                <a:ea typeface="Calibri Light"/>
                <a:cs typeface="Calibri Light"/>
              </a:rPr>
              <a:t>05</a:t>
            </a:r>
          </a:p>
        </p:txBody>
      </p:sp>
      <p:sp>
        <p:nvSpPr>
          <p:cNvPr id="24" name="Rectangle 23">
            <a:extLst>
              <a:ext uri="{FF2B5EF4-FFF2-40B4-BE49-F238E27FC236}">
                <a16:creationId xmlns:a16="http://schemas.microsoft.com/office/drawing/2014/main" xmlns="" id="{9E657FD7-5225-4F55-AAF7-6C2BADFF1C97}"/>
              </a:ext>
            </a:extLst>
          </p:cNvPr>
          <p:cNvSpPr>
            <a:spLocks noGrp="1"/>
          </p:cNvSpPr>
          <p:nvPr/>
        </p:nvSpPr>
        <p:spPr>
          <a:xfrm>
            <a:off x="1076325" y="3724275"/>
            <a:ext cx="2324100" cy="333375"/>
          </a:xfrm>
          <a:prstGeom prst="rect">
            <a:avLst/>
          </a:prstGeom>
          <a:noFill/>
          <a:ln w="0">
            <a:noFill/>
            <a:prstDash val="solid"/>
          </a:ln>
        </p:spPr>
        <p:txBody>
          <a:bodyPr wrap="square" lIns="0" tIns="0" rIns="0" bIns="0" anchor="ctr">
            <a:normAutofit fontScale="90118"/>
          </a:bodyPr>
          <a:lstStyle>
            <a:defPPr algn="l">
              <a:defRPr sz="1238" b="1" i="0">
                <a:solidFill>
                  <a:srgbClr val="123F50"/>
                </a:solidFill>
                <a:latin typeface="Calibri"/>
                <a:ea typeface="Calibri"/>
                <a:cs typeface="Calibri"/>
              </a:defRPr>
            </a:defPPr>
            <a:lvl1pPr algn="l">
              <a:buNone/>
              <a:defRPr sz="1238" b="1" i="0">
                <a:solidFill>
                  <a:srgbClr val="123F50"/>
                </a:solidFill>
                <a:latin typeface="Calibri"/>
                <a:ea typeface="Calibri"/>
                <a:cs typeface="Calibri"/>
              </a:defRPr>
            </a:lvl1pPr>
            <a:lvl2pPr algn="l">
              <a:buNone/>
              <a:defRPr sz="1238" b="1" i="0">
                <a:solidFill>
                  <a:srgbClr val="123F50"/>
                </a:solidFill>
                <a:latin typeface="Calibri"/>
                <a:ea typeface="Calibri"/>
                <a:cs typeface="Calibri"/>
              </a:defRPr>
            </a:lvl2pPr>
            <a:lvl3pPr algn="l">
              <a:buNone/>
              <a:defRPr sz="1238" b="1" i="0">
                <a:solidFill>
                  <a:srgbClr val="123F50"/>
                </a:solidFill>
                <a:latin typeface="Calibri"/>
                <a:ea typeface="Calibri"/>
                <a:cs typeface="Calibri"/>
              </a:defRPr>
            </a:lvl3pPr>
            <a:lvl4pPr algn="l">
              <a:buNone/>
              <a:defRPr sz="1238" b="1" i="0">
                <a:solidFill>
                  <a:srgbClr val="123F50"/>
                </a:solidFill>
                <a:latin typeface="Calibri"/>
                <a:ea typeface="Calibri"/>
                <a:cs typeface="Calibri"/>
              </a:defRPr>
            </a:lvl4pPr>
            <a:lvl5pPr algn="l">
              <a:buNone/>
              <a:defRPr sz="1238" b="1" i="0">
                <a:solidFill>
                  <a:srgbClr val="123F50"/>
                </a:solidFill>
                <a:latin typeface="Calibri"/>
                <a:ea typeface="Calibri"/>
                <a:cs typeface="Calibri"/>
              </a:defRPr>
            </a:lvl5pPr>
            <a:lvl6pPr algn="l">
              <a:buNone/>
              <a:defRPr sz="1238" b="1" i="0">
                <a:solidFill>
                  <a:srgbClr val="123F50"/>
                </a:solidFill>
                <a:latin typeface="Calibri"/>
                <a:ea typeface="Calibri"/>
                <a:cs typeface="Calibri"/>
              </a:defRPr>
            </a:lvl6pPr>
            <a:lvl7pPr algn="l">
              <a:buNone/>
              <a:defRPr sz="1238" b="1" i="0">
                <a:solidFill>
                  <a:srgbClr val="123F50"/>
                </a:solidFill>
                <a:latin typeface="Calibri"/>
                <a:ea typeface="Calibri"/>
                <a:cs typeface="Calibri"/>
              </a:defRPr>
            </a:lvl7pPr>
            <a:lvl8pPr algn="l">
              <a:buNone/>
              <a:defRPr sz="1238" b="1" i="0">
                <a:solidFill>
                  <a:srgbClr val="123F50"/>
                </a:solidFill>
                <a:latin typeface="Calibri"/>
                <a:ea typeface="Calibri"/>
                <a:cs typeface="Calibri"/>
              </a:defRPr>
            </a:lvl8pPr>
            <a:lvl9pPr algn="l">
              <a:buNone/>
              <a:defRPr sz="1238" b="1" i="0">
                <a:solidFill>
                  <a:srgbClr val="123F50"/>
                </a:solidFill>
                <a:latin typeface="Calibri"/>
                <a:ea typeface="Calibri"/>
                <a:cs typeface="Calibri"/>
              </a:defRPr>
            </a:lvl9pPr>
          </a:lstStyle>
          <a:p>
            <a:pPr algn="l">
              <a:lnSpc>
                <a:spcPct val="108000"/>
              </a:lnSpc>
              <a:buNone/>
              <a:defRPr sz="1238" b="1" i="0">
                <a:solidFill>
                  <a:srgbClr val="123F50"/>
                </a:solidFill>
                <a:latin typeface="Calibri"/>
                <a:ea typeface="Calibri"/>
                <a:cs typeface="Calibri"/>
              </a:defRPr>
            </a:pPr>
            <a:r>
              <a:rPr sz="1238" b="1" i="0">
                <a:solidFill>
                  <a:srgbClr val="123F50"/>
                </a:solidFill>
                <a:latin typeface="Calibri"/>
                <a:ea typeface="Calibri"/>
                <a:cs typeface="Calibri"/>
              </a:rPr>
              <a:t>Complete clinical and regulatory review</a:t>
            </a:r>
          </a:p>
        </p:txBody>
      </p:sp>
      <p:sp>
        <p:nvSpPr>
          <p:cNvPr id="25" name="Rectangle 24">
            <a:extLst>
              <a:ext uri="{FF2B5EF4-FFF2-40B4-BE49-F238E27FC236}">
                <a16:creationId xmlns:a16="http://schemas.microsoft.com/office/drawing/2014/main" xmlns="" id="{E9FA17C6-2C49-4516-BA07-2ED8AB156101}"/>
              </a:ext>
            </a:extLst>
          </p:cNvPr>
          <p:cNvSpPr>
            <a:spLocks noGrp="1"/>
          </p:cNvSpPr>
          <p:nvPr/>
        </p:nvSpPr>
        <p:spPr>
          <a:xfrm>
            <a:off x="3495675" y="3724275"/>
            <a:ext cx="3486150" cy="447675"/>
          </a:xfrm>
          <a:prstGeom prst="rect">
            <a:avLst/>
          </a:prstGeom>
          <a:noFill/>
          <a:ln w="0">
            <a:noFill/>
            <a:prstDash val="solid"/>
          </a:ln>
        </p:spPr>
        <p:txBody>
          <a:bodyPr wrap="square" lIns="0" tIns="0" rIns="0" bIns="0" anchor="ctr">
            <a:normAutofit/>
          </a:bodyPr>
          <a:lstStyle>
            <a:defPPr algn="l">
              <a:defRPr sz="1088" b="0" i="0">
                <a:solidFill>
                  <a:srgbClr val="263C45"/>
                </a:solidFill>
                <a:latin typeface="Calibri"/>
                <a:ea typeface="Calibri"/>
                <a:cs typeface="Calibri"/>
              </a:defRPr>
            </a:defPPr>
            <a:lvl1pPr algn="l">
              <a:buNone/>
              <a:defRPr sz="1088" b="0" i="0">
                <a:solidFill>
                  <a:srgbClr val="263C45"/>
                </a:solidFill>
                <a:latin typeface="Calibri"/>
                <a:ea typeface="Calibri"/>
                <a:cs typeface="Calibri"/>
              </a:defRPr>
            </a:lvl1pPr>
            <a:lvl2pPr algn="l">
              <a:buNone/>
              <a:defRPr sz="1088" b="0" i="0">
                <a:solidFill>
                  <a:srgbClr val="263C45"/>
                </a:solidFill>
                <a:latin typeface="Calibri"/>
                <a:ea typeface="Calibri"/>
                <a:cs typeface="Calibri"/>
              </a:defRPr>
            </a:lvl2pPr>
            <a:lvl3pPr algn="l">
              <a:buNone/>
              <a:defRPr sz="1088" b="0" i="0">
                <a:solidFill>
                  <a:srgbClr val="263C45"/>
                </a:solidFill>
                <a:latin typeface="Calibri"/>
                <a:ea typeface="Calibri"/>
                <a:cs typeface="Calibri"/>
              </a:defRPr>
            </a:lvl3pPr>
            <a:lvl4pPr algn="l">
              <a:buNone/>
              <a:defRPr sz="1088" b="0" i="0">
                <a:solidFill>
                  <a:srgbClr val="263C45"/>
                </a:solidFill>
                <a:latin typeface="Calibri"/>
                <a:ea typeface="Calibri"/>
                <a:cs typeface="Calibri"/>
              </a:defRPr>
            </a:lvl4pPr>
            <a:lvl5pPr algn="l">
              <a:buNone/>
              <a:defRPr sz="1088" b="0" i="0">
                <a:solidFill>
                  <a:srgbClr val="263C45"/>
                </a:solidFill>
                <a:latin typeface="Calibri"/>
                <a:ea typeface="Calibri"/>
                <a:cs typeface="Calibri"/>
              </a:defRPr>
            </a:lvl5pPr>
            <a:lvl6pPr algn="l">
              <a:buNone/>
              <a:defRPr sz="1088" b="0" i="0">
                <a:solidFill>
                  <a:srgbClr val="263C45"/>
                </a:solidFill>
                <a:latin typeface="Calibri"/>
                <a:ea typeface="Calibri"/>
                <a:cs typeface="Calibri"/>
              </a:defRPr>
            </a:lvl6pPr>
            <a:lvl7pPr algn="l">
              <a:buNone/>
              <a:defRPr sz="1088" b="0" i="0">
                <a:solidFill>
                  <a:srgbClr val="263C45"/>
                </a:solidFill>
                <a:latin typeface="Calibri"/>
                <a:ea typeface="Calibri"/>
                <a:cs typeface="Calibri"/>
              </a:defRPr>
            </a:lvl7pPr>
            <a:lvl8pPr algn="l">
              <a:buNone/>
              <a:defRPr sz="1088" b="0" i="0">
                <a:solidFill>
                  <a:srgbClr val="263C45"/>
                </a:solidFill>
                <a:latin typeface="Calibri"/>
                <a:ea typeface="Calibri"/>
                <a:cs typeface="Calibri"/>
              </a:defRPr>
            </a:lvl8pPr>
            <a:lvl9pPr algn="l">
              <a:buNone/>
              <a:defRPr sz="1088" b="0" i="0">
                <a:solidFill>
                  <a:srgbClr val="263C45"/>
                </a:solidFill>
                <a:latin typeface="Calibri"/>
                <a:ea typeface="Calibri"/>
                <a:cs typeface="Calibri"/>
              </a:defRPr>
            </a:lvl9pPr>
          </a:lstStyle>
          <a:p>
            <a:pPr algn="l">
              <a:lnSpc>
                <a:spcPct val="108000"/>
              </a:lnSpc>
              <a:buNone/>
              <a:defRPr sz="1088" b="0" i="0">
                <a:solidFill>
                  <a:srgbClr val="263C45"/>
                </a:solidFill>
                <a:latin typeface="Calibri"/>
                <a:ea typeface="Calibri"/>
                <a:cs typeface="Calibri"/>
              </a:defRPr>
            </a:pPr>
            <a:r>
              <a:rPr sz="1088" b="0" i="0">
                <a:solidFill>
                  <a:srgbClr val="263C45"/>
                </a:solidFill>
                <a:latin typeface="Calibri"/>
                <a:ea typeface="Calibri"/>
                <a:cs typeface="Calibri"/>
              </a:rPr>
              <a:t>Set intended use and involve qualified clinical, privacy, and regulatory reviewers.</a:t>
            </a:r>
          </a:p>
        </p:txBody>
      </p:sp>
      <p:sp>
        <p:nvSpPr>
          <p:cNvPr id="26" name="Rectangle 25">
            <a:extLst>
              <a:ext uri="{FF2B5EF4-FFF2-40B4-BE49-F238E27FC236}">
                <a16:creationId xmlns:a16="http://schemas.microsoft.com/office/drawing/2014/main" xmlns="" id="{41FD344A-2C0F-49DC-B8F9-61AEF19A9426}"/>
              </a:ext>
            </a:extLst>
          </p:cNvPr>
          <p:cNvSpPr>
            <a:spLocks noGrp="1"/>
          </p:cNvSpPr>
          <p:nvPr/>
        </p:nvSpPr>
        <p:spPr>
          <a:xfrm>
            <a:off x="914400" y="4476750"/>
            <a:ext cx="5657850" cy="285750"/>
          </a:xfrm>
          <a:prstGeom prst="rect">
            <a:avLst/>
          </a:prstGeom>
          <a:noFill/>
          <a:ln w="0">
            <a:noFill/>
            <a:prstDash val="solid"/>
          </a:ln>
        </p:spPr>
        <p:txBody>
          <a:bodyPr wrap="square" lIns="0" tIns="0" rIns="0" bIns="0" anchor="ctr">
            <a:normAutofit/>
          </a:bodyPr>
          <a:lstStyle>
            <a:defPPr algn="ctr">
              <a:defRPr sz="1275" b="1" i="0">
                <a:solidFill>
                  <a:srgbClr val="B94B4B"/>
                </a:solidFill>
                <a:latin typeface="Calibri"/>
                <a:ea typeface="Calibri"/>
                <a:cs typeface="Calibri"/>
              </a:defRPr>
            </a:defPPr>
            <a:lvl1pPr algn="ctr">
              <a:buNone/>
              <a:defRPr sz="1275" b="1" i="0">
                <a:solidFill>
                  <a:srgbClr val="B94B4B"/>
                </a:solidFill>
                <a:latin typeface="Calibri"/>
                <a:ea typeface="Calibri"/>
                <a:cs typeface="Calibri"/>
              </a:defRPr>
            </a:lvl1pPr>
            <a:lvl2pPr algn="ctr">
              <a:buNone/>
              <a:defRPr sz="1275" b="1" i="0">
                <a:solidFill>
                  <a:srgbClr val="B94B4B"/>
                </a:solidFill>
                <a:latin typeface="Calibri"/>
                <a:ea typeface="Calibri"/>
                <a:cs typeface="Calibri"/>
              </a:defRPr>
            </a:lvl2pPr>
            <a:lvl3pPr algn="ctr">
              <a:buNone/>
              <a:defRPr sz="1275" b="1" i="0">
                <a:solidFill>
                  <a:srgbClr val="B94B4B"/>
                </a:solidFill>
                <a:latin typeface="Calibri"/>
                <a:ea typeface="Calibri"/>
                <a:cs typeface="Calibri"/>
              </a:defRPr>
            </a:lvl3pPr>
            <a:lvl4pPr algn="ctr">
              <a:buNone/>
              <a:defRPr sz="1275" b="1" i="0">
                <a:solidFill>
                  <a:srgbClr val="B94B4B"/>
                </a:solidFill>
                <a:latin typeface="Calibri"/>
                <a:ea typeface="Calibri"/>
                <a:cs typeface="Calibri"/>
              </a:defRPr>
            </a:lvl4pPr>
            <a:lvl5pPr algn="ctr">
              <a:buNone/>
              <a:defRPr sz="1275" b="1" i="0">
                <a:solidFill>
                  <a:srgbClr val="B94B4B"/>
                </a:solidFill>
                <a:latin typeface="Calibri"/>
                <a:ea typeface="Calibri"/>
                <a:cs typeface="Calibri"/>
              </a:defRPr>
            </a:lvl5pPr>
            <a:lvl6pPr algn="ctr">
              <a:buNone/>
              <a:defRPr sz="1275" b="1" i="0">
                <a:solidFill>
                  <a:srgbClr val="B94B4B"/>
                </a:solidFill>
                <a:latin typeface="Calibri"/>
                <a:ea typeface="Calibri"/>
                <a:cs typeface="Calibri"/>
              </a:defRPr>
            </a:lvl6pPr>
            <a:lvl7pPr algn="ctr">
              <a:buNone/>
              <a:defRPr sz="1275" b="1" i="0">
                <a:solidFill>
                  <a:srgbClr val="B94B4B"/>
                </a:solidFill>
                <a:latin typeface="Calibri"/>
                <a:ea typeface="Calibri"/>
                <a:cs typeface="Calibri"/>
              </a:defRPr>
            </a:lvl7pPr>
            <a:lvl8pPr algn="ctr">
              <a:buNone/>
              <a:defRPr sz="1275" b="1" i="0">
                <a:solidFill>
                  <a:srgbClr val="B94B4B"/>
                </a:solidFill>
                <a:latin typeface="Calibri"/>
                <a:ea typeface="Calibri"/>
                <a:cs typeface="Calibri"/>
              </a:defRPr>
            </a:lvl8pPr>
            <a:lvl9pPr algn="ctr">
              <a:buNone/>
              <a:defRPr sz="1275" b="1" i="0">
                <a:solidFill>
                  <a:srgbClr val="B94B4B"/>
                </a:solidFill>
                <a:latin typeface="Calibri"/>
                <a:ea typeface="Calibri"/>
                <a:cs typeface="Calibri"/>
              </a:defRPr>
            </a:lvl9pPr>
          </a:lstStyle>
          <a:p>
            <a:pPr algn="ctr">
              <a:lnSpc>
                <a:spcPct val="108000"/>
              </a:lnSpc>
              <a:buNone/>
              <a:defRPr sz="1275" b="1" i="0">
                <a:solidFill>
                  <a:srgbClr val="B94B4B"/>
                </a:solidFill>
                <a:latin typeface="Calibri"/>
                <a:ea typeface="Calibri"/>
                <a:cs typeface="Calibri"/>
              </a:defRPr>
            </a:pPr>
            <a:r>
              <a:rPr sz="1275" b="1" i="0">
                <a:solidFill>
                  <a:srgbClr val="B94B4B"/>
                </a:solidFill>
                <a:latin typeface="Calibri"/>
                <a:ea typeface="Calibri"/>
                <a:cs typeface="Calibri"/>
              </a:rPr>
              <a:t>Prototype only · no diagnosis · no validated event prediction</a:t>
            </a:r>
          </a:p>
        </p:txBody>
      </p:sp>
      <p:sp>
        <p:nvSpPr>
          <p:cNvPr id="28" name="diagram-background-slide-14">
            <a:extLst>
              <a:ext uri="{FF2B5EF4-FFF2-40B4-BE49-F238E27FC236}">
                <a16:creationId xmlns:a16="http://schemas.microsoft.com/office/drawing/2014/main" xmlns="" id="{E962F3CE-EEE8-472D-9939-EAFDFA154E75}"/>
              </a:ext>
            </a:extLst>
          </p:cNvPr>
          <p:cNvSpPr>
            <a:spLocks noGrp="1"/>
          </p:cNvSpPr>
          <p:nvPr/>
        </p:nvSpPr>
        <p:spPr>
          <a:xfrm>
            <a:off x="400050" y="1295400"/>
            <a:ext cx="6677025" cy="3648075"/>
          </a:xfrm>
          <a:prstGeom prst="rect">
            <a:avLst/>
          </a:prstGeom>
          <a:solidFill>
            <a:srgbClr val="F5FAF9"/>
          </a:solidFill>
          <a:ln w="0">
            <a:noFill/>
            <a:prstDash val="solid"/>
          </a:ln>
        </p:spPr>
      </p:sp>
      <p:pic>
        <p:nvPicPr>
          <p:cNvPr id="29" name="Picture 28">
            <a:extLst>
              <a:ext uri="{FF2B5EF4-FFF2-40B4-BE49-F238E27FC236}">
                <a16:creationId xmlns:a16="http://schemas.microsoft.com/office/drawing/2014/main" xmlns="" id="{BBD1936D-E988-4D4E-B6BF-A4401FFA5536}"/>
              </a:ext>
            </a:extLst>
          </p:cNvPr>
          <p:cNvPicPr>
            <a:picLocks noChangeAspect="1"/>
          </p:cNvPicPr>
          <p:nvPr/>
        </p:nvPicPr>
        <p:blipFill>
          <a:blip r:embed="rId4"/>
          <a:stretch/>
        </p:blipFill>
        <p:spPr>
          <a:xfrm>
            <a:off x="1685925" y="1438275"/>
            <a:ext cx="4105275" cy="3781425"/>
          </a:xfrm>
          <a:prstGeom prst="rect">
            <a:avLst/>
          </a:prstGeom>
        </p:spPr>
      </p:pic>
    </p:spTree>
    <p:extLst>
      <p:ext uri="{BB962C8B-B14F-4D97-AF65-F5344CB8AC3E}">
        <p14:creationId xmlns:p14="http://schemas.microsoft.com/office/powerpoint/2010/main" val="646449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xmlns="" id="{6552F46B-C396-4068-9F71-EAE2A4227FAE}"/>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11" name="Rounded Rectangle 10">
            <a:extLst>
              <a:ext uri="{FF2B5EF4-FFF2-40B4-BE49-F238E27FC236}">
                <a16:creationId xmlns:a16="http://schemas.microsoft.com/office/drawing/2014/main" xmlns="" id="{7FE90673-7323-4F6E-AAA7-76B1D6C386CC}"/>
              </a:ext>
            </a:extLst>
          </p:cNvPr>
          <p:cNvSpPr>
            <a:spLocks noGrp="1"/>
          </p:cNvSpPr>
          <p:nvPr/>
        </p:nvSpPr>
        <p:spPr>
          <a:xfrm>
            <a:off x="285750" y="1371600"/>
            <a:ext cx="6905625" cy="2533650"/>
          </a:xfrm>
          <a:prstGeom prst="roundRect">
            <a:avLst>
              <a:gd name="adj" fmla="val 5639"/>
            </a:avLst>
          </a:prstGeom>
          <a:solidFill>
            <a:srgbClr val="FFFFFF">
              <a:alpha val="96000"/>
            </a:srgbClr>
          </a:solidFill>
          <a:ln w="9525">
            <a:solidFill>
              <a:srgbClr val="CFE3DF"/>
            </a:solidFill>
            <a:prstDash val="solid"/>
          </a:ln>
        </p:spPr>
        <p:style>
          <a:lnRef idx="0">
            <a:scrgbClr r="0" g="0" b="0"/>
          </a:lnRef>
          <a:fillRef idx="0">
            <a:scrgbClr r="0" g="0" b="0"/>
          </a:fillRef>
          <a:effectRef idx="4">
            <a:scrgbClr r="0" g="0" b="0"/>
          </a:effectRef>
          <a:fontRef idx="major"/>
        </p:style>
      </p:sp>
      <p:sp>
        <p:nvSpPr>
          <p:cNvPr id="12" name="Rounded Rectangle 11">
            <a:extLst>
              <a:ext uri="{FF2B5EF4-FFF2-40B4-BE49-F238E27FC236}">
                <a16:creationId xmlns:a16="http://schemas.microsoft.com/office/drawing/2014/main" xmlns="" id="{7689F134-8B23-4B0A-BF21-027AF32BE8A7}"/>
              </a:ext>
            </a:extLst>
          </p:cNvPr>
          <p:cNvSpPr>
            <a:spLocks noGrp="1"/>
          </p:cNvSpPr>
          <p:nvPr/>
        </p:nvSpPr>
        <p:spPr>
          <a:xfrm>
            <a:off x="285750" y="1371600"/>
            <a:ext cx="47625" cy="2533650"/>
          </a:xfrm>
          <a:prstGeom prst="roundRect">
            <a:avLst>
              <a:gd name="adj" fmla="val 50000"/>
            </a:avLst>
          </a:prstGeom>
          <a:solidFill>
            <a:srgbClr val="1598B7"/>
          </a:solidFill>
          <a:ln w="0">
            <a:noFill/>
            <a:prstDash val="solid"/>
          </a:ln>
        </p:spPr>
      </p:sp>
      <p:sp>
        <p:nvSpPr>
          <p:cNvPr id="13" name="Rounded Rectangle 12">
            <a:extLst>
              <a:ext uri="{FF2B5EF4-FFF2-40B4-BE49-F238E27FC236}">
                <a16:creationId xmlns:a16="http://schemas.microsoft.com/office/drawing/2014/main" xmlns="" id="{40E1DD11-EB5B-461D-A416-0D99F9CD85BF}"/>
              </a:ext>
            </a:extLst>
          </p:cNvPr>
          <p:cNvSpPr>
            <a:spLocks noGrp="1"/>
          </p:cNvSpPr>
          <p:nvPr/>
        </p:nvSpPr>
        <p:spPr>
          <a:xfrm>
            <a:off x="628650" y="3971925"/>
            <a:ext cx="6229350" cy="552450"/>
          </a:xfrm>
          <a:prstGeom prst="roundRect">
            <a:avLst>
              <a:gd name="adj" fmla="val 25862"/>
            </a:avLst>
          </a:prstGeom>
          <a:solidFill>
            <a:srgbClr val="EAF6F4"/>
          </a:solidFill>
          <a:ln w="9525">
            <a:solidFill>
              <a:srgbClr val="BFDCD7"/>
            </a:solidFill>
            <a:prstDash val="solid"/>
          </a:ln>
        </p:spPr>
      </p:sp>
      <p:sp>
        <p:nvSpPr>
          <p:cNvPr id="14" name="Rounded Rectangle 13">
            <a:extLst>
              <a:ext uri="{FF2B5EF4-FFF2-40B4-BE49-F238E27FC236}">
                <a16:creationId xmlns:a16="http://schemas.microsoft.com/office/drawing/2014/main" xmlns="" id="{4B28207F-63F3-41FC-900A-FC552D687636}"/>
              </a:ext>
            </a:extLst>
          </p:cNvPr>
          <p:cNvSpPr>
            <a:spLocks noGrp="1"/>
          </p:cNvSpPr>
          <p:nvPr/>
        </p:nvSpPr>
        <p:spPr>
          <a:xfrm>
            <a:off x="628650" y="3971925"/>
            <a:ext cx="47625" cy="552450"/>
          </a:xfrm>
          <a:prstGeom prst="roundRect">
            <a:avLst>
              <a:gd name="adj" fmla="val 50000"/>
            </a:avLst>
          </a:prstGeom>
          <a:solidFill>
            <a:srgbClr val="168F89"/>
          </a:solidFill>
          <a:ln w="0">
            <a:noFill/>
            <a:prstDash val="solid"/>
          </a:ln>
        </p:spPr>
      </p:sp>
      <p:sp>
        <p:nvSpPr>
          <p:cNvPr id="9" name="Rectangle 8">
            <a:extLst>
              <a:ext uri="{FF2B5EF4-FFF2-40B4-BE49-F238E27FC236}">
                <a16:creationId xmlns:a16="http://schemas.microsoft.com/office/drawing/2014/main" xmlns="" id="{1AE50383-9FC7-4715-9412-10CB0D0B23FE}"/>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Digital Twin workflow · Excalidraw</a:t>
            </a:r>
          </a:p>
        </p:txBody>
      </p:sp>
      <p:sp>
        <p:nvSpPr>
          <p:cNvPr id="2" name="Straight Connector 1">
            <a:extLst>
              <a:ext uri="{FF2B5EF4-FFF2-40B4-BE49-F238E27FC236}">
                <a16:creationId xmlns:a16="http://schemas.microsoft.com/office/drawing/2014/main" xmlns="" id="{71221A4B-CFEC-4E0D-96CA-5280DF436272}"/>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102C25A1-98C8-4F97-9B51-41E95386BF38}"/>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Editable source diagram created for the simulated monitoring flow.</a:t>
            </a:r>
          </a:p>
        </p:txBody>
      </p:sp>
      <p:sp>
        <p:nvSpPr>
          <p:cNvPr id="4" name="Straight Connector 3">
            <a:extLst>
              <a:ext uri="{FF2B5EF4-FFF2-40B4-BE49-F238E27FC236}">
                <a16:creationId xmlns:a16="http://schemas.microsoft.com/office/drawing/2014/main" xmlns="" id="{48E993A2-21AD-4C00-9E01-9CC1237ED2AD}"/>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B7B244DF-9832-4A4F-AD9B-9BE3189F235E}"/>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0CB2309B-A7A2-4338-B495-51E0B4109C82}"/>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13</a:t>
            </a:r>
          </a:p>
        </p:txBody>
      </p:sp>
      <p:sp>
        <p:nvSpPr>
          <p:cNvPr id="8" name="Rectangle 7">
            <a:extLst>
              <a:ext uri="{FF2B5EF4-FFF2-40B4-BE49-F238E27FC236}">
                <a16:creationId xmlns:a16="http://schemas.microsoft.com/office/drawing/2014/main" xmlns="" id="{7219E3C2-258E-45F0-A5FB-E200BDCFCFF9}"/>
              </a:ext>
            </a:extLst>
          </p:cNvPr>
          <p:cNvSpPr>
            <a:spLocks noGrp="1"/>
          </p:cNvSpPr>
          <p:nvPr/>
        </p:nvSpPr>
        <p:spPr>
          <a:xfrm>
            <a:off x="704850" y="4010025"/>
            <a:ext cx="6076950" cy="457200"/>
          </a:xfrm>
          <a:prstGeom prst="rect">
            <a:avLst/>
          </a:prstGeom>
          <a:noFill/>
          <a:ln w="0">
            <a:noFill/>
            <a:prstDash val="solid"/>
          </a:ln>
        </p:spPr>
        <p:txBody>
          <a:bodyPr wrap="square" lIns="0" tIns="0" rIns="0" bIns="0" anchor="ctr">
            <a:normAutofit/>
          </a:bodyPr>
          <a:lstStyle>
            <a:defPPr algn="ctr">
              <a:defRPr sz="1238" b="1" i="0">
                <a:solidFill>
                  <a:srgbClr val="087E83"/>
                </a:solidFill>
                <a:latin typeface="Calibri"/>
                <a:ea typeface="Calibri"/>
                <a:cs typeface="Calibri"/>
              </a:defRPr>
            </a:defPPr>
            <a:lvl1pPr algn="ctr">
              <a:buNone/>
              <a:defRPr sz="1125" b="1" i="0">
                <a:solidFill>
                  <a:srgbClr val="0D6F73"/>
                </a:solidFill>
                <a:latin typeface="Calibri"/>
                <a:ea typeface="Calibri"/>
                <a:cs typeface="Calibri"/>
              </a:defRPr>
            </a:lvl1pPr>
            <a:lvl2pPr algn="ctr">
              <a:buNone/>
              <a:defRPr sz="1125" b="1" i="0">
                <a:solidFill>
                  <a:srgbClr val="0D6F73"/>
                </a:solidFill>
                <a:latin typeface="Calibri"/>
                <a:ea typeface="Calibri"/>
                <a:cs typeface="Calibri"/>
              </a:defRPr>
            </a:lvl2pPr>
            <a:lvl3pPr algn="ctr">
              <a:buNone/>
              <a:defRPr sz="1125" b="1" i="0">
                <a:solidFill>
                  <a:srgbClr val="0D6F73"/>
                </a:solidFill>
                <a:latin typeface="Calibri"/>
                <a:ea typeface="Calibri"/>
                <a:cs typeface="Calibri"/>
              </a:defRPr>
            </a:lvl3pPr>
            <a:lvl4pPr algn="ctr">
              <a:buNone/>
              <a:defRPr sz="1125" b="1" i="0">
                <a:solidFill>
                  <a:srgbClr val="0D6F73"/>
                </a:solidFill>
                <a:latin typeface="Calibri"/>
                <a:ea typeface="Calibri"/>
                <a:cs typeface="Calibri"/>
              </a:defRPr>
            </a:lvl4pPr>
            <a:lvl5pPr algn="ctr">
              <a:buNone/>
              <a:defRPr sz="1125" b="1" i="0">
                <a:solidFill>
                  <a:srgbClr val="0D6F73"/>
                </a:solidFill>
                <a:latin typeface="Calibri"/>
                <a:ea typeface="Calibri"/>
                <a:cs typeface="Calibri"/>
              </a:defRPr>
            </a:lvl5pPr>
            <a:lvl6pPr algn="ctr">
              <a:buNone/>
              <a:defRPr sz="1125" b="1" i="0">
                <a:solidFill>
                  <a:srgbClr val="0D6F73"/>
                </a:solidFill>
                <a:latin typeface="Calibri"/>
                <a:ea typeface="Calibri"/>
                <a:cs typeface="Calibri"/>
              </a:defRPr>
            </a:lvl6pPr>
            <a:lvl7pPr algn="ctr">
              <a:buNone/>
              <a:defRPr sz="1125" b="1" i="0">
                <a:solidFill>
                  <a:srgbClr val="0D6F73"/>
                </a:solidFill>
                <a:latin typeface="Calibri"/>
                <a:ea typeface="Calibri"/>
                <a:cs typeface="Calibri"/>
              </a:defRPr>
            </a:lvl7pPr>
            <a:lvl8pPr algn="ctr">
              <a:buNone/>
              <a:defRPr sz="1125" b="1" i="0">
                <a:solidFill>
                  <a:srgbClr val="0D6F73"/>
                </a:solidFill>
                <a:latin typeface="Calibri"/>
                <a:ea typeface="Calibri"/>
                <a:cs typeface="Calibri"/>
              </a:defRPr>
            </a:lvl8pPr>
            <a:lvl9pPr algn="ctr">
              <a:buNone/>
              <a:defRPr sz="1125" b="1" i="0">
                <a:solidFill>
                  <a:srgbClr val="0D6F73"/>
                </a:solidFill>
                <a:latin typeface="Calibri"/>
                <a:ea typeface="Calibri"/>
                <a:cs typeface="Calibri"/>
              </a:defRPr>
            </a:lvl9pPr>
          </a:lstStyle>
          <a:p>
            <a:pPr algn="ctr">
              <a:lnSpc>
                <a:spcPct val="108000"/>
              </a:lnSpc>
              <a:buNone/>
              <a:defRPr sz="1125" b="1" i="0">
                <a:solidFill>
                  <a:srgbClr val="0D6F73"/>
                </a:solidFill>
                <a:latin typeface="Calibri"/>
                <a:ea typeface="Calibri"/>
                <a:cs typeface="Calibri"/>
              </a:defRPr>
            </a:pPr>
            <a:r>
              <a:rPr sz="1238" b="1" i="0">
                <a:solidFill>
                  <a:srgbClr val="087E83"/>
                </a:solidFill>
                <a:latin typeface="Calibri"/>
                <a:ea typeface="Calibri"/>
                <a:cs typeface="Calibri"/>
              </a:rPr>
              <a:t>What-if readings are assessed separately and do not change patient history. Alerts require authorization and three consecutive flagged hourly summaries.</a:t>
            </a:r>
          </a:p>
        </p:txBody>
      </p:sp>
      <p:pic>
        <p:nvPicPr>
          <p:cNvPr id="7" name="Picture 6">
            <a:extLst>
              <a:ext uri="{FF2B5EF4-FFF2-40B4-BE49-F238E27FC236}">
                <a16:creationId xmlns:a16="http://schemas.microsoft.com/office/drawing/2014/main" xmlns="" id="{E51C890C-460F-44BD-8172-63D67E73F89C}"/>
              </a:ext>
            </a:extLst>
          </p:cNvPr>
          <p:cNvPicPr>
            <a:picLocks noChangeAspect="1"/>
          </p:cNvPicPr>
          <p:nvPr/>
        </p:nvPicPr>
        <p:blipFill>
          <a:blip r:embed="rId4"/>
          <a:stretch/>
        </p:blipFill>
        <p:spPr>
          <a:xfrm>
            <a:off x="409575" y="1495425"/>
            <a:ext cx="6657975" cy="2266950"/>
          </a:xfrm>
          <a:prstGeom prst="rect">
            <a:avLst/>
          </a:prstGeom>
        </p:spPr>
      </p:pic>
    </p:spTree>
    <p:extLst>
      <p:ext uri="{BB962C8B-B14F-4D97-AF65-F5344CB8AC3E}">
        <p14:creationId xmlns:p14="http://schemas.microsoft.com/office/powerpoint/2010/main" val="17705725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xmlns="" id="{597ABB77-A2A4-4200-9295-6E676E60E009}"/>
              </a:ext>
            </a:extLst>
          </p:cNvPr>
          <p:cNvPicPr>
            <a:picLocks noChangeAspect="1"/>
          </p:cNvPicPr>
          <p:nvPr/>
        </p:nvPicPr>
        <p:blipFill>
          <a:blip r:embed="rId3"/>
          <a:srcRect t="1932" b="1932"/>
          <a:stretch>
            <a:fillRect/>
          </a:stretch>
        </p:blipFill>
        <p:spPr>
          <a:xfrm>
            <a:off x="0" y="0"/>
            <a:ext cx="7477125" cy="5391150"/>
          </a:xfrm>
          <a:prstGeom prst="rect">
            <a:avLst/>
          </a:prstGeom>
        </p:spPr>
      </p:pic>
      <p:sp>
        <p:nvSpPr>
          <p:cNvPr id="24" name="Rounded Rectangle 23">
            <a:extLst>
              <a:ext uri="{FF2B5EF4-FFF2-40B4-BE49-F238E27FC236}">
                <a16:creationId xmlns:a16="http://schemas.microsoft.com/office/drawing/2014/main" xmlns="" id="{5CE43498-4325-4E1B-B57C-EEB663FA337F}"/>
              </a:ext>
            </a:extLst>
          </p:cNvPr>
          <p:cNvSpPr>
            <a:spLocks noGrp="1"/>
          </p:cNvSpPr>
          <p:nvPr/>
        </p:nvSpPr>
        <p:spPr>
          <a:xfrm>
            <a:off x="381000" y="1295400"/>
            <a:ext cx="6715125" cy="3838575"/>
          </a:xfrm>
          <a:prstGeom prst="roundRect">
            <a:avLst>
              <a:gd name="adj" fmla="val 3722"/>
            </a:avLst>
          </a:prstGeom>
          <a:solidFill>
            <a:srgbClr val="FFFFFF">
              <a:alpha val="94000"/>
            </a:srgbClr>
          </a:solidFill>
          <a:ln w="9525">
            <a:solidFill>
              <a:srgbClr val="CFE3DF"/>
            </a:solidFill>
            <a:prstDash val="solid"/>
          </a:ln>
        </p:spPr>
        <p:style>
          <a:lnRef idx="0">
            <a:scrgbClr r="0" g="0" b="0"/>
          </a:lnRef>
          <a:fillRef idx="0">
            <a:scrgbClr r="0" g="0" b="0"/>
          </a:fillRef>
          <a:effectRef idx="4">
            <a:scrgbClr r="0" g="0" b="0"/>
          </a:effectRef>
          <a:fontRef idx="major"/>
        </p:style>
      </p:sp>
      <p:sp>
        <p:nvSpPr>
          <p:cNvPr id="25" name="Rounded Rectangle 24">
            <a:extLst>
              <a:ext uri="{FF2B5EF4-FFF2-40B4-BE49-F238E27FC236}">
                <a16:creationId xmlns:a16="http://schemas.microsoft.com/office/drawing/2014/main" xmlns="" id="{1A6B7913-A7C9-4CF0-A708-FB96CFBC3CA0}"/>
              </a:ext>
            </a:extLst>
          </p:cNvPr>
          <p:cNvSpPr>
            <a:spLocks noGrp="1"/>
          </p:cNvSpPr>
          <p:nvPr/>
        </p:nvSpPr>
        <p:spPr>
          <a:xfrm>
            <a:off x="352425" y="1290637"/>
            <a:ext cx="47625" cy="3838575"/>
          </a:xfrm>
          <a:prstGeom prst="roundRect">
            <a:avLst>
              <a:gd name="adj" fmla="val 50000"/>
            </a:avLst>
          </a:prstGeom>
          <a:solidFill>
            <a:srgbClr val="168F89"/>
          </a:solidFill>
          <a:ln w="0">
            <a:noFill/>
            <a:prstDash val="solid"/>
          </a:ln>
        </p:spPr>
      </p:sp>
      <p:sp>
        <p:nvSpPr>
          <p:cNvPr id="20" name="Rectangle 19">
            <a:extLst>
              <a:ext uri="{FF2B5EF4-FFF2-40B4-BE49-F238E27FC236}">
                <a16:creationId xmlns:a16="http://schemas.microsoft.com/office/drawing/2014/main" xmlns="" id="{433B2877-4737-4681-8CF3-802FB0AA34A8}"/>
              </a:ext>
            </a:extLst>
          </p:cNvPr>
          <p:cNvSpPr>
            <a:spLocks noGrp="1"/>
          </p:cNvSpPr>
          <p:nvPr/>
        </p:nvSpPr>
        <p:spPr>
          <a:xfrm>
            <a:off x="457200" y="342900"/>
            <a:ext cx="6572250" cy="409575"/>
          </a:xfrm>
          <a:prstGeom prst="rect">
            <a:avLst/>
          </a:prstGeom>
          <a:noFill/>
          <a:ln w="0">
            <a:noFill/>
            <a:prstDash val="solid"/>
          </a:ln>
        </p:spPr>
        <p:txBody>
          <a:bodyPr wrap="square" lIns="0" tIns="0" rIns="0" bIns="0" anchor="ctr">
            <a:normAutofit/>
          </a:bodyPr>
          <a:lstStyle>
            <a:defPPr algn="l">
              <a:defRPr sz="2475" b="1" i="0">
                <a:solidFill>
                  <a:srgbClr val="123F50"/>
                </a:solidFill>
                <a:latin typeface="Calibri Light"/>
                <a:ea typeface="Calibri Light"/>
                <a:cs typeface="Calibri Light"/>
              </a:defRPr>
            </a:defPPr>
            <a:lvl1pPr algn="l">
              <a:buNone/>
              <a:defRPr sz="2325" b="1" i="0">
                <a:solidFill>
                  <a:srgbClr val="123F50"/>
                </a:solidFill>
                <a:latin typeface="Calibri Light"/>
                <a:ea typeface="Calibri Light"/>
                <a:cs typeface="Calibri Light"/>
              </a:defRPr>
            </a:lvl1pPr>
            <a:lvl2pPr algn="l">
              <a:buNone/>
              <a:defRPr sz="2325" b="1" i="0">
                <a:solidFill>
                  <a:srgbClr val="123F50"/>
                </a:solidFill>
                <a:latin typeface="Calibri Light"/>
                <a:ea typeface="Calibri Light"/>
                <a:cs typeface="Calibri Light"/>
              </a:defRPr>
            </a:lvl2pPr>
            <a:lvl3pPr algn="l">
              <a:buNone/>
              <a:defRPr sz="2325" b="1" i="0">
                <a:solidFill>
                  <a:srgbClr val="123F50"/>
                </a:solidFill>
                <a:latin typeface="Calibri Light"/>
                <a:ea typeface="Calibri Light"/>
                <a:cs typeface="Calibri Light"/>
              </a:defRPr>
            </a:lvl3pPr>
            <a:lvl4pPr algn="l">
              <a:buNone/>
              <a:defRPr sz="2325" b="1" i="0">
                <a:solidFill>
                  <a:srgbClr val="123F50"/>
                </a:solidFill>
                <a:latin typeface="Calibri Light"/>
                <a:ea typeface="Calibri Light"/>
                <a:cs typeface="Calibri Light"/>
              </a:defRPr>
            </a:lvl4pPr>
            <a:lvl5pPr algn="l">
              <a:buNone/>
              <a:defRPr sz="2325" b="1" i="0">
                <a:solidFill>
                  <a:srgbClr val="123F50"/>
                </a:solidFill>
                <a:latin typeface="Calibri Light"/>
                <a:ea typeface="Calibri Light"/>
                <a:cs typeface="Calibri Light"/>
              </a:defRPr>
            </a:lvl5pPr>
            <a:lvl6pPr algn="l">
              <a:buNone/>
              <a:defRPr sz="2325" b="1" i="0">
                <a:solidFill>
                  <a:srgbClr val="123F50"/>
                </a:solidFill>
                <a:latin typeface="Calibri Light"/>
                <a:ea typeface="Calibri Light"/>
                <a:cs typeface="Calibri Light"/>
              </a:defRPr>
            </a:lvl6pPr>
            <a:lvl7pPr algn="l">
              <a:buNone/>
              <a:defRPr sz="2325" b="1" i="0">
                <a:solidFill>
                  <a:srgbClr val="123F50"/>
                </a:solidFill>
                <a:latin typeface="Calibri Light"/>
                <a:ea typeface="Calibri Light"/>
                <a:cs typeface="Calibri Light"/>
              </a:defRPr>
            </a:lvl7pPr>
            <a:lvl8pPr algn="l">
              <a:buNone/>
              <a:defRPr sz="2325" b="1" i="0">
                <a:solidFill>
                  <a:srgbClr val="123F50"/>
                </a:solidFill>
                <a:latin typeface="Calibri Light"/>
                <a:ea typeface="Calibri Light"/>
                <a:cs typeface="Calibri Light"/>
              </a:defRPr>
            </a:lvl8pPr>
            <a:lvl9pPr algn="l">
              <a:buNone/>
              <a:defRPr sz="2325" b="1" i="0">
                <a:solidFill>
                  <a:srgbClr val="123F50"/>
                </a:solidFill>
                <a:latin typeface="Calibri Light"/>
                <a:ea typeface="Calibri Light"/>
                <a:cs typeface="Calibri Light"/>
              </a:defRPr>
            </a:lvl9pPr>
          </a:lstStyle>
          <a:p>
            <a:pPr algn="l">
              <a:lnSpc>
                <a:spcPct val="108000"/>
              </a:lnSpc>
              <a:buNone/>
              <a:defRPr sz="2325" b="1" i="0">
                <a:solidFill>
                  <a:srgbClr val="123F50"/>
                </a:solidFill>
                <a:latin typeface="Calibri Light"/>
                <a:ea typeface="Calibri Light"/>
                <a:cs typeface="Calibri Light"/>
              </a:defRPr>
            </a:pPr>
            <a:r>
              <a:rPr sz="2475" b="1" i="0">
                <a:solidFill>
                  <a:srgbClr val="123F50"/>
                </a:solidFill>
                <a:latin typeface="Calibri Light"/>
                <a:ea typeface="Calibri Light"/>
                <a:cs typeface="Calibri Light"/>
              </a:rPr>
              <a:t>Meet the team</a:t>
            </a:r>
          </a:p>
        </p:txBody>
      </p:sp>
      <p:sp>
        <p:nvSpPr>
          <p:cNvPr id="2" name="Straight Connector 1">
            <a:extLst>
              <a:ext uri="{FF2B5EF4-FFF2-40B4-BE49-F238E27FC236}">
                <a16:creationId xmlns:a16="http://schemas.microsoft.com/office/drawing/2014/main" xmlns="" id="{1D4D2E7D-620C-491C-8451-1BFD5C22747C}"/>
              </a:ext>
            </a:extLst>
          </p:cNvPr>
          <p:cNvSpPr>
            <a:spLocks noGrp="1"/>
          </p:cNvSpPr>
          <p:nvPr/>
        </p:nvSpPr>
        <p:spPr>
          <a:xfrm>
            <a:off x="457200" y="866775"/>
            <a:ext cx="647700" cy="4763"/>
          </a:xfrm>
          <a:prstGeom prst="line">
            <a:avLst/>
          </a:prstGeom>
          <a:noFill/>
          <a:ln w="38100">
            <a:solidFill>
              <a:srgbClr val="168F89"/>
            </a:solidFill>
            <a:prstDash val="solid"/>
          </a:ln>
        </p:spPr>
      </p:sp>
      <p:sp>
        <p:nvSpPr>
          <p:cNvPr id="3" name="Rectangle 2">
            <a:extLst>
              <a:ext uri="{FF2B5EF4-FFF2-40B4-BE49-F238E27FC236}">
                <a16:creationId xmlns:a16="http://schemas.microsoft.com/office/drawing/2014/main" xmlns="" id="{4E304555-634F-44E4-9929-085DFEE3DB8E}"/>
              </a:ext>
            </a:extLst>
          </p:cNvPr>
          <p:cNvSpPr>
            <a:spLocks noGrp="1"/>
          </p:cNvSpPr>
          <p:nvPr/>
        </p:nvSpPr>
        <p:spPr>
          <a:xfrm>
            <a:off x="457200" y="981075"/>
            <a:ext cx="6477000" cy="266700"/>
          </a:xfrm>
          <a:prstGeom prst="rect">
            <a:avLst/>
          </a:prstGeom>
          <a:noFill/>
          <a:ln w="0">
            <a:noFill/>
            <a:prstDash val="solid"/>
          </a:ln>
        </p:spPr>
        <p:txBody>
          <a:bodyPr wrap="square" lIns="0" tIns="0" rIns="0" bIns="0" anchor="ctr">
            <a:normAutofit/>
          </a:bodyPr>
          <a:lstStyle>
            <a:defPPr algn="l">
              <a:defRPr sz="1163" b="0" i="0">
                <a:solidFill>
                  <a:srgbClr val="526B73"/>
                </a:solidFill>
                <a:latin typeface="Calibri"/>
                <a:ea typeface="Calibri"/>
                <a:cs typeface="Calibri"/>
              </a:defRPr>
            </a:defPPr>
            <a:lvl1pPr algn="l">
              <a:buNone/>
              <a:defRPr sz="1125" b="0" i="0">
                <a:solidFill>
                  <a:srgbClr val="647781"/>
                </a:solidFill>
                <a:latin typeface="Calibri"/>
                <a:ea typeface="Calibri"/>
                <a:cs typeface="Calibri"/>
              </a:defRPr>
            </a:lvl1pPr>
            <a:lvl2pPr algn="l">
              <a:buNone/>
              <a:defRPr sz="1125" b="0" i="0">
                <a:solidFill>
                  <a:srgbClr val="647781"/>
                </a:solidFill>
                <a:latin typeface="Calibri"/>
                <a:ea typeface="Calibri"/>
                <a:cs typeface="Calibri"/>
              </a:defRPr>
            </a:lvl2pPr>
            <a:lvl3pPr algn="l">
              <a:buNone/>
              <a:defRPr sz="1125" b="0" i="0">
                <a:solidFill>
                  <a:srgbClr val="647781"/>
                </a:solidFill>
                <a:latin typeface="Calibri"/>
                <a:ea typeface="Calibri"/>
                <a:cs typeface="Calibri"/>
              </a:defRPr>
            </a:lvl3pPr>
            <a:lvl4pPr algn="l">
              <a:buNone/>
              <a:defRPr sz="1125" b="0" i="0">
                <a:solidFill>
                  <a:srgbClr val="647781"/>
                </a:solidFill>
                <a:latin typeface="Calibri"/>
                <a:ea typeface="Calibri"/>
                <a:cs typeface="Calibri"/>
              </a:defRPr>
            </a:lvl4pPr>
            <a:lvl5pPr algn="l">
              <a:buNone/>
              <a:defRPr sz="1125" b="0" i="0">
                <a:solidFill>
                  <a:srgbClr val="647781"/>
                </a:solidFill>
                <a:latin typeface="Calibri"/>
                <a:ea typeface="Calibri"/>
                <a:cs typeface="Calibri"/>
              </a:defRPr>
            </a:lvl5pPr>
            <a:lvl6pPr algn="l">
              <a:buNone/>
              <a:defRPr sz="1125" b="0" i="0">
                <a:solidFill>
                  <a:srgbClr val="647781"/>
                </a:solidFill>
                <a:latin typeface="Calibri"/>
                <a:ea typeface="Calibri"/>
                <a:cs typeface="Calibri"/>
              </a:defRPr>
            </a:lvl6pPr>
            <a:lvl7pPr algn="l">
              <a:buNone/>
              <a:defRPr sz="1125" b="0" i="0">
                <a:solidFill>
                  <a:srgbClr val="647781"/>
                </a:solidFill>
                <a:latin typeface="Calibri"/>
                <a:ea typeface="Calibri"/>
                <a:cs typeface="Calibri"/>
              </a:defRPr>
            </a:lvl7pPr>
            <a:lvl8pPr algn="l">
              <a:buNone/>
              <a:defRPr sz="1125" b="0" i="0">
                <a:solidFill>
                  <a:srgbClr val="647781"/>
                </a:solidFill>
                <a:latin typeface="Calibri"/>
                <a:ea typeface="Calibri"/>
                <a:cs typeface="Calibri"/>
              </a:defRPr>
            </a:lvl8pPr>
            <a:lvl9pPr algn="l">
              <a:buNone/>
              <a:defRPr sz="1125" b="0" i="0">
                <a:solidFill>
                  <a:srgbClr val="647781"/>
                </a:solidFill>
                <a:latin typeface="Calibri"/>
                <a:ea typeface="Calibri"/>
                <a:cs typeface="Calibri"/>
              </a:defRPr>
            </a:lvl9pPr>
          </a:lstStyle>
          <a:p>
            <a:pPr algn="l">
              <a:lnSpc>
                <a:spcPct val="108000"/>
              </a:lnSpc>
              <a:buNone/>
              <a:defRPr sz="1125" b="0" i="0">
                <a:solidFill>
                  <a:srgbClr val="647781"/>
                </a:solidFill>
                <a:latin typeface="Calibri"/>
                <a:ea typeface="Calibri"/>
                <a:cs typeface="Calibri"/>
              </a:defRPr>
            </a:pPr>
            <a:r>
              <a:rPr sz="1163" b="0" i="0">
                <a:solidFill>
                  <a:srgbClr val="526B73"/>
                </a:solidFill>
                <a:latin typeface="Calibri"/>
                <a:ea typeface="Calibri"/>
                <a:cs typeface="Calibri"/>
              </a:rPr>
              <a:t>Cardiovascular Digital Twin · project team</a:t>
            </a:r>
          </a:p>
        </p:txBody>
      </p:sp>
      <p:sp>
        <p:nvSpPr>
          <p:cNvPr id="4" name="Straight Connector 3">
            <a:extLst>
              <a:ext uri="{FF2B5EF4-FFF2-40B4-BE49-F238E27FC236}">
                <a16:creationId xmlns:a16="http://schemas.microsoft.com/office/drawing/2014/main" xmlns="" id="{D0B1341D-8FAD-4A9C-BF71-67C5C7601FB4}"/>
              </a:ext>
            </a:extLst>
          </p:cNvPr>
          <p:cNvSpPr>
            <a:spLocks noGrp="1"/>
          </p:cNvSpPr>
          <p:nvPr/>
        </p:nvSpPr>
        <p:spPr>
          <a:xfrm>
            <a:off x="457200" y="5029200"/>
            <a:ext cx="6562725" cy="4763"/>
          </a:xfrm>
          <a:prstGeom prst="line">
            <a:avLst/>
          </a:prstGeom>
          <a:noFill/>
          <a:ln w="9525">
            <a:solidFill>
              <a:srgbClr val="D6E3E2"/>
            </a:solidFill>
            <a:prstDash val="solid"/>
          </a:ln>
        </p:spPr>
      </p:sp>
      <p:sp>
        <p:nvSpPr>
          <p:cNvPr id="5" name="Rectangle 4">
            <a:extLst>
              <a:ext uri="{FF2B5EF4-FFF2-40B4-BE49-F238E27FC236}">
                <a16:creationId xmlns:a16="http://schemas.microsoft.com/office/drawing/2014/main" xmlns="" id="{3255E337-9BE9-44B6-8A95-F11A9397153F}"/>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13" b="1" i="0">
                <a:solidFill>
                  <a:srgbClr val="486975"/>
                </a:solidFill>
                <a:latin typeface="Calibri"/>
                <a:ea typeface="Calibri"/>
                <a:cs typeface="Calibri"/>
              </a:defRPr>
            </a:defPPr>
            <a:lvl1pPr algn="l">
              <a:buNone/>
              <a:defRPr sz="788" b="1" i="0">
                <a:solidFill>
                  <a:srgbClr val="647781"/>
                </a:solidFill>
                <a:latin typeface="Calibri"/>
                <a:ea typeface="Calibri"/>
                <a:cs typeface="Calibri"/>
              </a:defRPr>
            </a:lvl1pPr>
            <a:lvl2pPr algn="l">
              <a:buNone/>
              <a:defRPr sz="788" b="1" i="0">
                <a:solidFill>
                  <a:srgbClr val="647781"/>
                </a:solidFill>
                <a:latin typeface="Calibri"/>
                <a:ea typeface="Calibri"/>
                <a:cs typeface="Calibri"/>
              </a:defRPr>
            </a:lvl2pPr>
            <a:lvl3pPr algn="l">
              <a:buNone/>
              <a:defRPr sz="788" b="1" i="0">
                <a:solidFill>
                  <a:srgbClr val="647781"/>
                </a:solidFill>
                <a:latin typeface="Calibri"/>
                <a:ea typeface="Calibri"/>
                <a:cs typeface="Calibri"/>
              </a:defRPr>
            </a:lvl3pPr>
            <a:lvl4pPr algn="l">
              <a:buNone/>
              <a:defRPr sz="788" b="1" i="0">
                <a:solidFill>
                  <a:srgbClr val="647781"/>
                </a:solidFill>
                <a:latin typeface="Calibri"/>
                <a:ea typeface="Calibri"/>
                <a:cs typeface="Calibri"/>
              </a:defRPr>
            </a:lvl4pPr>
            <a:lvl5pPr algn="l">
              <a:buNone/>
              <a:defRPr sz="788" b="1" i="0">
                <a:solidFill>
                  <a:srgbClr val="647781"/>
                </a:solidFill>
                <a:latin typeface="Calibri"/>
                <a:ea typeface="Calibri"/>
                <a:cs typeface="Calibri"/>
              </a:defRPr>
            </a:lvl5pPr>
            <a:lvl6pPr algn="l">
              <a:buNone/>
              <a:defRPr sz="788" b="1" i="0">
                <a:solidFill>
                  <a:srgbClr val="647781"/>
                </a:solidFill>
                <a:latin typeface="Calibri"/>
                <a:ea typeface="Calibri"/>
                <a:cs typeface="Calibri"/>
              </a:defRPr>
            </a:lvl6pPr>
            <a:lvl7pPr algn="l">
              <a:buNone/>
              <a:defRPr sz="788" b="1" i="0">
                <a:solidFill>
                  <a:srgbClr val="647781"/>
                </a:solidFill>
                <a:latin typeface="Calibri"/>
                <a:ea typeface="Calibri"/>
                <a:cs typeface="Calibri"/>
              </a:defRPr>
            </a:lvl7pPr>
            <a:lvl8pPr algn="l">
              <a:buNone/>
              <a:defRPr sz="788" b="1" i="0">
                <a:solidFill>
                  <a:srgbClr val="647781"/>
                </a:solidFill>
                <a:latin typeface="Calibri"/>
                <a:ea typeface="Calibri"/>
                <a:cs typeface="Calibri"/>
              </a:defRPr>
            </a:lvl8pPr>
            <a:lvl9pPr algn="l">
              <a:buNone/>
              <a:defRPr sz="788" b="1" i="0">
                <a:solidFill>
                  <a:srgbClr val="647781"/>
                </a:solidFill>
                <a:latin typeface="Calibri"/>
                <a:ea typeface="Calibri"/>
                <a:cs typeface="Calibri"/>
              </a:defRPr>
            </a:lvl9pPr>
          </a:lstStyle>
          <a:p>
            <a:pPr algn="l">
              <a:lnSpc>
                <a:spcPct val="108000"/>
              </a:lnSpc>
              <a:buNone/>
              <a:defRPr sz="788" b="1" i="0">
                <a:solidFill>
                  <a:srgbClr val="647781"/>
                </a:solidFill>
                <a:latin typeface="Calibri"/>
                <a:ea typeface="Calibri"/>
                <a:cs typeface="Calibri"/>
              </a:defRPr>
            </a:pPr>
            <a:r>
              <a:rPr sz="713" b="1" i="0">
                <a:solidFill>
                  <a:srgbClr val="486975"/>
                </a:solidFill>
                <a:latin typeface="Calibri"/>
                <a:ea typeface="Calibri"/>
                <a:cs typeface="Calibri"/>
              </a:rPr>
              <a:t>SADHYA  ·  CARDIOTWIN</a:t>
            </a:r>
          </a:p>
        </p:txBody>
      </p:sp>
      <p:sp>
        <p:nvSpPr>
          <p:cNvPr id="6" name="Rectangle 5">
            <a:extLst>
              <a:ext uri="{FF2B5EF4-FFF2-40B4-BE49-F238E27FC236}">
                <a16:creationId xmlns:a16="http://schemas.microsoft.com/office/drawing/2014/main" xmlns="" id="{AF87395D-2D8D-4DBC-B24D-D1A27969498C}"/>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50" b="1" i="0">
                <a:solidFill>
                  <a:srgbClr val="168D89"/>
                </a:solidFill>
                <a:latin typeface="Calibri"/>
                <a:ea typeface="Calibri"/>
                <a:cs typeface="Calibri"/>
              </a:defRPr>
            </a:defPPr>
            <a:lvl1pPr algn="r">
              <a:buNone/>
              <a:defRPr sz="788" b="0" i="0">
                <a:solidFill>
                  <a:srgbClr val="647781"/>
                </a:solidFill>
                <a:latin typeface="Calibri"/>
                <a:ea typeface="Calibri"/>
                <a:cs typeface="Calibri"/>
              </a:defRPr>
            </a:lvl1pPr>
            <a:lvl2pPr algn="r">
              <a:buNone/>
              <a:defRPr sz="788" b="0" i="0">
                <a:solidFill>
                  <a:srgbClr val="647781"/>
                </a:solidFill>
                <a:latin typeface="Calibri"/>
                <a:ea typeface="Calibri"/>
                <a:cs typeface="Calibri"/>
              </a:defRPr>
            </a:lvl2pPr>
            <a:lvl3pPr algn="r">
              <a:buNone/>
              <a:defRPr sz="788" b="0" i="0">
                <a:solidFill>
                  <a:srgbClr val="647781"/>
                </a:solidFill>
                <a:latin typeface="Calibri"/>
                <a:ea typeface="Calibri"/>
                <a:cs typeface="Calibri"/>
              </a:defRPr>
            </a:lvl3pPr>
            <a:lvl4pPr algn="r">
              <a:buNone/>
              <a:defRPr sz="788" b="0" i="0">
                <a:solidFill>
                  <a:srgbClr val="647781"/>
                </a:solidFill>
                <a:latin typeface="Calibri"/>
                <a:ea typeface="Calibri"/>
                <a:cs typeface="Calibri"/>
              </a:defRPr>
            </a:lvl4pPr>
            <a:lvl5pPr algn="r">
              <a:buNone/>
              <a:defRPr sz="788" b="0" i="0">
                <a:solidFill>
                  <a:srgbClr val="647781"/>
                </a:solidFill>
                <a:latin typeface="Calibri"/>
                <a:ea typeface="Calibri"/>
                <a:cs typeface="Calibri"/>
              </a:defRPr>
            </a:lvl5pPr>
            <a:lvl6pPr algn="r">
              <a:buNone/>
              <a:defRPr sz="788" b="0" i="0">
                <a:solidFill>
                  <a:srgbClr val="647781"/>
                </a:solidFill>
                <a:latin typeface="Calibri"/>
                <a:ea typeface="Calibri"/>
                <a:cs typeface="Calibri"/>
              </a:defRPr>
            </a:lvl6pPr>
            <a:lvl7pPr algn="r">
              <a:buNone/>
              <a:defRPr sz="788" b="0" i="0">
                <a:solidFill>
                  <a:srgbClr val="647781"/>
                </a:solidFill>
                <a:latin typeface="Calibri"/>
                <a:ea typeface="Calibri"/>
                <a:cs typeface="Calibri"/>
              </a:defRPr>
            </a:lvl7pPr>
            <a:lvl8pPr algn="r">
              <a:buNone/>
              <a:defRPr sz="788" b="0" i="0">
                <a:solidFill>
                  <a:srgbClr val="647781"/>
                </a:solidFill>
                <a:latin typeface="Calibri"/>
                <a:ea typeface="Calibri"/>
                <a:cs typeface="Calibri"/>
              </a:defRPr>
            </a:lvl8pPr>
            <a:lvl9pPr algn="r">
              <a:buNone/>
              <a:defRPr sz="788" b="0" i="0">
                <a:solidFill>
                  <a:srgbClr val="647781"/>
                </a:solidFill>
                <a:latin typeface="Calibri"/>
                <a:ea typeface="Calibri"/>
                <a:cs typeface="Calibri"/>
              </a:defRPr>
            </a:lvl9pPr>
          </a:lstStyle>
          <a:p>
            <a:pPr algn="r">
              <a:lnSpc>
                <a:spcPct val="108000"/>
              </a:lnSpc>
              <a:buNone/>
              <a:defRPr sz="788" b="0" i="0">
                <a:solidFill>
                  <a:srgbClr val="647781"/>
                </a:solidFill>
                <a:latin typeface="Calibri"/>
                <a:ea typeface="Calibri"/>
                <a:cs typeface="Calibri"/>
              </a:defRPr>
            </a:pPr>
            <a:r>
              <a:rPr sz="750" b="1" i="0">
                <a:solidFill>
                  <a:srgbClr val="168D89"/>
                </a:solidFill>
                <a:latin typeface="Calibri"/>
                <a:ea typeface="Calibri"/>
                <a:cs typeface="Calibri"/>
              </a:rPr>
              <a:t>16</a:t>
            </a:r>
          </a:p>
        </p:txBody>
      </p:sp>
      <p:sp>
        <p:nvSpPr>
          <p:cNvPr id="7" name="Rounded Rectangle 6">
            <a:extLst>
              <a:ext uri="{FF2B5EF4-FFF2-40B4-BE49-F238E27FC236}">
                <a16:creationId xmlns:a16="http://schemas.microsoft.com/office/drawing/2014/main" xmlns="" id="{A91EAA03-CF83-4FA8-A66D-DF76489746FB}"/>
              </a:ext>
            </a:extLst>
          </p:cNvPr>
          <p:cNvSpPr>
            <a:spLocks noGrp="1"/>
          </p:cNvSpPr>
          <p:nvPr/>
        </p:nvSpPr>
        <p:spPr>
          <a:xfrm>
            <a:off x="2009775" y="1609725"/>
            <a:ext cx="3457575" cy="1000125"/>
          </a:xfrm>
          <a:prstGeom prst="roundRect">
            <a:avLst>
              <a:gd name="adj" fmla="val 7619"/>
            </a:avLst>
          </a:prstGeom>
          <a:solidFill>
            <a:srgbClr val="123F50"/>
          </a:solidFill>
          <a:ln w="14288">
            <a:solidFill>
              <a:srgbClr val="123F50"/>
            </a:solidFill>
            <a:prstDash val="solid"/>
          </a:ln>
        </p:spPr>
      </p:sp>
      <p:sp>
        <p:nvSpPr>
          <p:cNvPr id="8" name="Rectangle 7">
            <a:extLst>
              <a:ext uri="{FF2B5EF4-FFF2-40B4-BE49-F238E27FC236}">
                <a16:creationId xmlns:a16="http://schemas.microsoft.com/office/drawing/2014/main" xmlns="" id="{5C396CE0-8675-4413-A603-DF29F7B8273A}"/>
              </a:ext>
            </a:extLst>
          </p:cNvPr>
          <p:cNvSpPr>
            <a:spLocks noGrp="1"/>
          </p:cNvSpPr>
          <p:nvPr/>
        </p:nvSpPr>
        <p:spPr>
          <a:xfrm>
            <a:off x="2200275" y="1762125"/>
            <a:ext cx="3076575" cy="209550"/>
          </a:xfrm>
          <a:prstGeom prst="rect">
            <a:avLst/>
          </a:prstGeom>
          <a:noFill/>
          <a:ln w="0">
            <a:noFill/>
            <a:prstDash val="solid"/>
          </a:ln>
        </p:spPr>
        <p:txBody>
          <a:bodyPr wrap="square" lIns="0" tIns="0" rIns="0" bIns="0" anchor="ctr">
            <a:normAutofit/>
          </a:bodyPr>
          <a:lstStyle>
            <a:defPPr algn="ctr">
              <a:defRPr sz="975" b="1" i="0">
                <a:solidFill>
                  <a:srgbClr val="A7DCD8"/>
                </a:solidFill>
                <a:latin typeface="Calibri"/>
                <a:ea typeface="Calibri"/>
                <a:cs typeface="Calibri"/>
              </a:defRPr>
            </a:defPPr>
            <a:lvl1pPr algn="ctr">
              <a:buNone/>
              <a:defRPr sz="975" b="1" i="0">
                <a:solidFill>
                  <a:srgbClr val="A7DCD8"/>
                </a:solidFill>
                <a:latin typeface="Calibri"/>
                <a:ea typeface="Calibri"/>
                <a:cs typeface="Calibri"/>
              </a:defRPr>
            </a:lvl1pPr>
            <a:lvl2pPr algn="ctr">
              <a:buNone/>
              <a:defRPr sz="975" b="1" i="0">
                <a:solidFill>
                  <a:srgbClr val="A7DCD8"/>
                </a:solidFill>
                <a:latin typeface="Calibri"/>
                <a:ea typeface="Calibri"/>
                <a:cs typeface="Calibri"/>
              </a:defRPr>
            </a:lvl2pPr>
            <a:lvl3pPr algn="ctr">
              <a:buNone/>
              <a:defRPr sz="975" b="1" i="0">
                <a:solidFill>
                  <a:srgbClr val="A7DCD8"/>
                </a:solidFill>
                <a:latin typeface="Calibri"/>
                <a:ea typeface="Calibri"/>
                <a:cs typeface="Calibri"/>
              </a:defRPr>
            </a:lvl3pPr>
            <a:lvl4pPr algn="ctr">
              <a:buNone/>
              <a:defRPr sz="975" b="1" i="0">
                <a:solidFill>
                  <a:srgbClr val="A7DCD8"/>
                </a:solidFill>
                <a:latin typeface="Calibri"/>
                <a:ea typeface="Calibri"/>
                <a:cs typeface="Calibri"/>
              </a:defRPr>
            </a:lvl4pPr>
            <a:lvl5pPr algn="ctr">
              <a:buNone/>
              <a:defRPr sz="975" b="1" i="0">
                <a:solidFill>
                  <a:srgbClr val="A7DCD8"/>
                </a:solidFill>
                <a:latin typeface="Calibri"/>
                <a:ea typeface="Calibri"/>
                <a:cs typeface="Calibri"/>
              </a:defRPr>
            </a:lvl5pPr>
            <a:lvl6pPr algn="ctr">
              <a:buNone/>
              <a:defRPr sz="975" b="1" i="0">
                <a:solidFill>
                  <a:srgbClr val="A7DCD8"/>
                </a:solidFill>
                <a:latin typeface="Calibri"/>
                <a:ea typeface="Calibri"/>
                <a:cs typeface="Calibri"/>
              </a:defRPr>
            </a:lvl6pPr>
            <a:lvl7pPr algn="ctr">
              <a:buNone/>
              <a:defRPr sz="975" b="1" i="0">
                <a:solidFill>
                  <a:srgbClr val="A7DCD8"/>
                </a:solidFill>
                <a:latin typeface="Calibri"/>
                <a:ea typeface="Calibri"/>
                <a:cs typeface="Calibri"/>
              </a:defRPr>
            </a:lvl7pPr>
            <a:lvl8pPr algn="ctr">
              <a:buNone/>
              <a:defRPr sz="975" b="1" i="0">
                <a:solidFill>
                  <a:srgbClr val="A7DCD8"/>
                </a:solidFill>
                <a:latin typeface="Calibri"/>
                <a:ea typeface="Calibri"/>
                <a:cs typeface="Calibri"/>
              </a:defRPr>
            </a:lvl8pPr>
            <a:lvl9pPr algn="ctr">
              <a:buNone/>
              <a:defRPr sz="975" b="1" i="0">
                <a:solidFill>
                  <a:srgbClr val="A7DCD8"/>
                </a:solidFill>
                <a:latin typeface="Calibri"/>
                <a:ea typeface="Calibri"/>
                <a:cs typeface="Calibri"/>
              </a:defRPr>
            </a:lvl9pPr>
          </a:lstStyle>
          <a:p>
            <a:pPr algn="ctr">
              <a:lnSpc>
                <a:spcPct val="108000"/>
              </a:lnSpc>
              <a:buNone/>
              <a:defRPr sz="975" b="1" i="0">
                <a:solidFill>
                  <a:srgbClr val="A7DCD8"/>
                </a:solidFill>
                <a:latin typeface="Calibri"/>
                <a:ea typeface="Calibri"/>
                <a:cs typeface="Calibri"/>
              </a:defRPr>
            </a:pPr>
            <a:r>
              <a:rPr sz="975" b="1" i="0">
                <a:solidFill>
                  <a:srgbClr val="A7DCD8"/>
                </a:solidFill>
                <a:latin typeface="Calibri"/>
                <a:ea typeface="Calibri"/>
                <a:cs typeface="Calibri"/>
              </a:rPr>
              <a:t>TEAM LEADER</a:t>
            </a:r>
          </a:p>
        </p:txBody>
      </p:sp>
      <p:sp>
        <p:nvSpPr>
          <p:cNvPr id="9" name="Rectangle 8">
            <a:extLst>
              <a:ext uri="{FF2B5EF4-FFF2-40B4-BE49-F238E27FC236}">
                <a16:creationId xmlns:a16="http://schemas.microsoft.com/office/drawing/2014/main" xmlns="" id="{B2DFFE74-8B48-4FC1-8411-4596A4E30B63}"/>
              </a:ext>
            </a:extLst>
          </p:cNvPr>
          <p:cNvSpPr>
            <a:spLocks noGrp="1"/>
          </p:cNvSpPr>
          <p:nvPr/>
        </p:nvSpPr>
        <p:spPr>
          <a:xfrm>
            <a:off x="2200275" y="2019300"/>
            <a:ext cx="3076575" cy="361950"/>
          </a:xfrm>
          <a:prstGeom prst="rect">
            <a:avLst/>
          </a:prstGeom>
          <a:noFill/>
          <a:ln w="0">
            <a:noFill/>
            <a:prstDash val="solid"/>
          </a:ln>
        </p:spPr>
        <p:txBody>
          <a:bodyPr wrap="square" lIns="0" tIns="0" rIns="0" bIns="0" anchor="ctr">
            <a:normAutofit/>
          </a:bodyPr>
          <a:lstStyle>
            <a:defPPr algn="ctr">
              <a:defRPr sz="2025" b="1" i="0">
                <a:solidFill>
                  <a:srgbClr val="FFFFFF"/>
                </a:solidFill>
                <a:latin typeface="Calibri Light"/>
                <a:ea typeface="Calibri Light"/>
                <a:cs typeface="Calibri Light"/>
              </a:defRPr>
            </a:defPPr>
            <a:lvl1pPr algn="ctr">
              <a:buNone/>
              <a:defRPr sz="2025" b="1" i="0">
                <a:solidFill>
                  <a:srgbClr val="FFFFFF"/>
                </a:solidFill>
                <a:latin typeface="Calibri Light"/>
                <a:ea typeface="Calibri Light"/>
                <a:cs typeface="Calibri Light"/>
              </a:defRPr>
            </a:lvl1pPr>
            <a:lvl2pPr algn="ctr">
              <a:buNone/>
              <a:defRPr sz="2025" b="1" i="0">
                <a:solidFill>
                  <a:srgbClr val="FFFFFF"/>
                </a:solidFill>
                <a:latin typeface="Calibri Light"/>
                <a:ea typeface="Calibri Light"/>
                <a:cs typeface="Calibri Light"/>
              </a:defRPr>
            </a:lvl2pPr>
            <a:lvl3pPr algn="ctr">
              <a:buNone/>
              <a:defRPr sz="2025" b="1" i="0">
                <a:solidFill>
                  <a:srgbClr val="FFFFFF"/>
                </a:solidFill>
                <a:latin typeface="Calibri Light"/>
                <a:ea typeface="Calibri Light"/>
                <a:cs typeface="Calibri Light"/>
              </a:defRPr>
            </a:lvl3pPr>
            <a:lvl4pPr algn="ctr">
              <a:buNone/>
              <a:defRPr sz="2025" b="1" i="0">
                <a:solidFill>
                  <a:srgbClr val="FFFFFF"/>
                </a:solidFill>
                <a:latin typeface="Calibri Light"/>
                <a:ea typeface="Calibri Light"/>
                <a:cs typeface="Calibri Light"/>
              </a:defRPr>
            </a:lvl4pPr>
            <a:lvl5pPr algn="ctr">
              <a:buNone/>
              <a:defRPr sz="2025" b="1" i="0">
                <a:solidFill>
                  <a:srgbClr val="FFFFFF"/>
                </a:solidFill>
                <a:latin typeface="Calibri Light"/>
                <a:ea typeface="Calibri Light"/>
                <a:cs typeface="Calibri Light"/>
              </a:defRPr>
            </a:lvl5pPr>
            <a:lvl6pPr algn="ctr">
              <a:buNone/>
              <a:defRPr sz="2025" b="1" i="0">
                <a:solidFill>
                  <a:srgbClr val="FFFFFF"/>
                </a:solidFill>
                <a:latin typeface="Calibri Light"/>
                <a:ea typeface="Calibri Light"/>
                <a:cs typeface="Calibri Light"/>
              </a:defRPr>
            </a:lvl6pPr>
            <a:lvl7pPr algn="ctr">
              <a:buNone/>
              <a:defRPr sz="2025" b="1" i="0">
                <a:solidFill>
                  <a:srgbClr val="FFFFFF"/>
                </a:solidFill>
                <a:latin typeface="Calibri Light"/>
                <a:ea typeface="Calibri Light"/>
                <a:cs typeface="Calibri Light"/>
              </a:defRPr>
            </a:lvl7pPr>
            <a:lvl8pPr algn="ctr">
              <a:buNone/>
              <a:defRPr sz="2025" b="1" i="0">
                <a:solidFill>
                  <a:srgbClr val="FFFFFF"/>
                </a:solidFill>
                <a:latin typeface="Calibri Light"/>
                <a:ea typeface="Calibri Light"/>
                <a:cs typeface="Calibri Light"/>
              </a:defRPr>
            </a:lvl8pPr>
            <a:lvl9pPr algn="ctr">
              <a:buNone/>
              <a:defRPr sz="2025" b="1" i="0">
                <a:solidFill>
                  <a:srgbClr val="FFFFFF"/>
                </a:solidFill>
                <a:latin typeface="Calibri Light"/>
                <a:ea typeface="Calibri Light"/>
                <a:cs typeface="Calibri Light"/>
              </a:defRPr>
            </a:lvl9pPr>
          </a:lstStyle>
          <a:p>
            <a:pPr algn="ctr">
              <a:lnSpc>
                <a:spcPct val="108000"/>
              </a:lnSpc>
              <a:buNone/>
              <a:defRPr sz="2025" b="1" i="0">
                <a:solidFill>
                  <a:srgbClr val="FFFFFF"/>
                </a:solidFill>
                <a:latin typeface="Calibri Light"/>
                <a:ea typeface="Calibri Light"/>
                <a:cs typeface="Calibri Light"/>
              </a:defRPr>
            </a:pPr>
            <a:r>
              <a:rPr sz="2025" b="1" i="0">
                <a:solidFill>
                  <a:srgbClr val="FFFFFF"/>
                </a:solidFill>
                <a:latin typeface="Calibri Light"/>
                <a:ea typeface="Calibri Light"/>
                <a:cs typeface="Calibri Light"/>
              </a:rPr>
              <a:t>Manthan Sanap</a:t>
            </a:r>
          </a:p>
        </p:txBody>
      </p:sp>
      <p:sp>
        <p:nvSpPr>
          <p:cNvPr id="10" name="Rounded Rectangle 9">
            <a:extLst>
              <a:ext uri="{FF2B5EF4-FFF2-40B4-BE49-F238E27FC236}">
                <a16:creationId xmlns:a16="http://schemas.microsoft.com/office/drawing/2014/main" xmlns="" id="{84878F95-EEA3-4E31-9F91-9AA0ECF056A4}"/>
              </a:ext>
            </a:extLst>
          </p:cNvPr>
          <p:cNvSpPr>
            <a:spLocks noGrp="1"/>
          </p:cNvSpPr>
          <p:nvPr/>
        </p:nvSpPr>
        <p:spPr>
          <a:xfrm>
            <a:off x="704850" y="3057525"/>
            <a:ext cx="1724025" cy="933450"/>
          </a:xfrm>
          <a:prstGeom prst="roundRect">
            <a:avLst>
              <a:gd name="adj" fmla="val 8163"/>
            </a:avLst>
          </a:prstGeom>
          <a:solidFill>
            <a:srgbClr val="FFFFFF"/>
          </a:solidFill>
          <a:ln w="12383">
            <a:solidFill>
              <a:srgbClr val="BED8D6"/>
            </a:solidFill>
            <a:prstDash val="solid"/>
          </a:ln>
        </p:spPr>
      </p:sp>
      <p:sp>
        <p:nvSpPr>
          <p:cNvPr id="11" name="Rectangle 10">
            <a:extLst>
              <a:ext uri="{FF2B5EF4-FFF2-40B4-BE49-F238E27FC236}">
                <a16:creationId xmlns:a16="http://schemas.microsoft.com/office/drawing/2014/main" xmlns="" id="{1BD12B1E-6EEC-486D-A073-88E2F39F5DD8}"/>
              </a:ext>
            </a:extLst>
          </p:cNvPr>
          <p:cNvSpPr>
            <a:spLocks noGrp="1"/>
          </p:cNvSpPr>
          <p:nvPr/>
        </p:nvSpPr>
        <p:spPr>
          <a:xfrm>
            <a:off x="828675" y="3200400"/>
            <a:ext cx="1476375" cy="200025"/>
          </a:xfrm>
          <a:prstGeom prst="rect">
            <a:avLst/>
          </a:prstGeom>
          <a:noFill/>
          <a:ln w="0">
            <a:noFill/>
            <a:prstDash val="solid"/>
          </a:ln>
        </p:spPr>
        <p:txBody>
          <a:bodyPr wrap="square" lIns="0" tIns="0" rIns="0" bIns="0" anchor="ctr">
            <a:normAutofit/>
          </a:bodyPr>
          <a:lstStyle>
            <a:defPPr algn="ctr">
              <a:defRPr sz="900" b="1" i="0">
                <a:solidFill>
                  <a:srgbClr val="0D6F73"/>
                </a:solidFill>
                <a:latin typeface="Calibri"/>
                <a:ea typeface="Calibri"/>
                <a:cs typeface="Calibri"/>
              </a:defRPr>
            </a:defPPr>
            <a:lvl1pPr algn="ctr">
              <a:buNone/>
              <a:defRPr sz="900" b="1" i="0">
                <a:solidFill>
                  <a:srgbClr val="0D6F73"/>
                </a:solidFill>
                <a:latin typeface="Calibri"/>
                <a:ea typeface="Calibri"/>
                <a:cs typeface="Calibri"/>
              </a:defRPr>
            </a:lvl1pPr>
            <a:lvl2pPr algn="ctr">
              <a:buNone/>
              <a:defRPr sz="900" b="1" i="0">
                <a:solidFill>
                  <a:srgbClr val="0D6F73"/>
                </a:solidFill>
                <a:latin typeface="Calibri"/>
                <a:ea typeface="Calibri"/>
                <a:cs typeface="Calibri"/>
              </a:defRPr>
            </a:lvl2pPr>
            <a:lvl3pPr algn="ctr">
              <a:buNone/>
              <a:defRPr sz="900" b="1" i="0">
                <a:solidFill>
                  <a:srgbClr val="0D6F73"/>
                </a:solidFill>
                <a:latin typeface="Calibri"/>
                <a:ea typeface="Calibri"/>
                <a:cs typeface="Calibri"/>
              </a:defRPr>
            </a:lvl3pPr>
            <a:lvl4pPr algn="ctr">
              <a:buNone/>
              <a:defRPr sz="900" b="1" i="0">
                <a:solidFill>
                  <a:srgbClr val="0D6F73"/>
                </a:solidFill>
                <a:latin typeface="Calibri"/>
                <a:ea typeface="Calibri"/>
                <a:cs typeface="Calibri"/>
              </a:defRPr>
            </a:lvl4pPr>
            <a:lvl5pPr algn="ctr">
              <a:buNone/>
              <a:defRPr sz="900" b="1" i="0">
                <a:solidFill>
                  <a:srgbClr val="0D6F73"/>
                </a:solidFill>
                <a:latin typeface="Calibri"/>
                <a:ea typeface="Calibri"/>
                <a:cs typeface="Calibri"/>
              </a:defRPr>
            </a:lvl5pPr>
            <a:lvl6pPr algn="ctr">
              <a:buNone/>
              <a:defRPr sz="900" b="1" i="0">
                <a:solidFill>
                  <a:srgbClr val="0D6F73"/>
                </a:solidFill>
                <a:latin typeface="Calibri"/>
                <a:ea typeface="Calibri"/>
                <a:cs typeface="Calibri"/>
              </a:defRPr>
            </a:lvl6pPr>
            <a:lvl7pPr algn="ctr">
              <a:buNone/>
              <a:defRPr sz="900" b="1" i="0">
                <a:solidFill>
                  <a:srgbClr val="0D6F73"/>
                </a:solidFill>
                <a:latin typeface="Calibri"/>
                <a:ea typeface="Calibri"/>
                <a:cs typeface="Calibri"/>
              </a:defRPr>
            </a:lvl7pPr>
            <a:lvl8pPr algn="ctr">
              <a:buNone/>
              <a:defRPr sz="900" b="1" i="0">
                <a:solidFill>
                  <a:srgbClr val="0D6F73"/>
                </a:solidFill>
                <a:latin typeface="Calibri"/>
                <a:ea typeface="Calibri"/>
                <a:cs typeface="Calibri"/>
              </a:defRPr>
            </a:lvl8pPr>
            <a:lvl9pPr algn="ctr">
              <a:buNone/>
              <a:defRPr sz="900" b="1" i="0">
                <a:solidFill>
                  <a:srgbClr val="0D6F73"/>
                </a:solidFill>
                <a:latin typeface="Calibri"/>
                <a:ea typeface="Calibri"/>
                <a:cs typeface="Calibri"/>
              </a:defRPr>
            </a:lvl9pPr>
          </a:lstStyle>
          <a:p>
            <a:pPr algn="ctr">
              <a:lnSpc>
                <a:spcPct val="108000"/>
              </a:lnSpc>
              <a:buNone/>
              <a:defRPr sz="900" b="1" i="0">
                <a:solidFill>
                  <a:srgbClr val="0D6F73"/>
                </a:solidFill>
                <a:latin typeface="Calibri"/>
                <a:ea typeface="Calibri"/>
                <a:cs typeface="Calibri"/>
              </a:defRPr>
            </a:pPr>
            <a:r>
              <a:rPr sz="900" b="1" i="0">
                <a:solidFill>
                  <a:srgbClr val="0D6F73"/>
                </a:solidFill>
                <a:latin typeface="Calibri"/>
                <a:ea typeface="Calibri"/>
                <a:cs typeface="Calibri"/>
              </a:rPr>
              <a:t>TEAM MEMBER</a:t>
            </a:r>
          </a:p>
        </p:txBody>
      </p:sp>
      <p:sp>
        <p:nvSpPr>
          <p:cNvPr id="12" name="Rectangle 11">
            <a:extLst>
              <a:ext uri="{FF2B5EF4-FFF2-40B4-BE49-F238E27FC236}">
                <a16:creationId xmlns:a16="http://schemas.microsoft.com/office/drawing/2014/main" xmlns="" id="{1E993C09-3BF3-48E3-8C7B-C03F71EE50E1}"/>
              </a:ext>
            </a:extLst>
          </p:cNvPr>
          <p:cNvSpPr>
            <a:spLocks noGrp="1"/>
          </p:cNvSpPr>
          <p:nvPr/>
        </p:nvSpPr>
        <p:spPr>
          <a:xfrm>
            <a:off x="828675" y="3467100"/>
            <a:ext cx="1476375" cy="342900"/>
          </a:xfrm>
          <a:prstGeom prst="rect">
            <a:avLst/>
          </a:prstGeom>
          <a:noFill/>
          <a:ln w="0">
            <a:noFill/>
            <a:prstDash val="solid"/>
          </a:ln>
        </p:spPr>
        <p:txBody>
          <a:bodyPr wrap="square" lIns="0" tIns="0" rIns="0" bIns="0" anchor="ctr">
            <a:normAutofit/>
          </a:bodyPr>
          <a:lstStyle>
            <a:defPPr algn="ctr">
              <a:defRPr sz="1463" b="1" i="0">
                <a:solidFill>
                  <a:srgbClr val="123F50"/>
                </a:solidFill>
                <a:latin typeface="Calibri Light"/>
                <a:ea typeface="Calibri Light"/>
                <a:cs typeface="Calibri Light"/>
              </a:defRPr>
            </a:defPPr>
            <a:lvl1pPr algn="ctr">
              <a:buNone/>
              <a:defRPr sz="1463" b="1" i="0">
                <a:solidFill>
                  <a:srgbClr val="123F50"/>
                </a:solidFill>
                <a:latin typeface="Calibri Light"/>
                <a:ea typeface="Calibri Light"/>
                <a:cs typeface="Calibri Light"/>
              </a:defRPr>
            </a:lvl1pPr>
            <a:lvl2pPr algn="ctr">
              <a:buNone/>
              <a:defRPr sz="1463" b="1" i="0">
                <a:solidFill>
                  <a:srgbClr val="123F50"/>
                </a:solidFill>
                <a:latin typeface="Calibri Light"/>
                <a:ea typeface="Calibri Light"/>
                <a:cs typeface="Calibri Light"/>
              </a:defRPr>
            </a:lvl2pPr>
            <a:lvl3pPr algn="ctr">
              <a:buNone/>
              <a:defRPr sz="1463" b="1" i="0">
                <a:solidFill>
                  <a:srgbClr val="123F50"/>
                </a:solidFill>
                <a:latin typeface="Calibri Light"/>
                <a:ea typeface="Calibri Light"/>
                <a:cs typeface="Calibri Light"/>
              </a:defRPr>
            </a:lvl3pPr>
            <a:lvl4pPr algn="ctr">
              <a:buNone/>
              <a:defRPr sz="1463" b="1" i="0">
                <a:solidFill>
                  <a:srgbClr val="123F50"/>
                </a:solidFill>
                <a:latin typeface="Calibri Light"/>
                <a:ea typeface="Calibri Light"/>
                <a:cs typeface="Calibri Light"/>
              </a:defRPr>
            </a:lvl4pPr>
            <a:lvl5pPr algn="ctr">
              <a:buNone/>
              <a:defRPr sz="1463" b="1" i="0">
                <a:solidFill>
                  <a:srgbClr val="123F50"/>
                </a:solidFill>
                <a:latin typeface="Calibri Light"/>
                <a:ea typeface="Calibri Light"/>
                <a:cs typeface="Calibri Light"/>
              </a:defRPr>
            </a:lvl5pPr>
            <a:lvl6pPr algn="ctr">
              <a:buNone/>
              <a:defRPr sz="1463" b="1" i="0">
                <a:solidFill>
                  <a:srgbClr val="123F50"/>
                </a:solidFill>
                <a:latin typeface="Calibri Light"/>
                <a:ea typeface="Calibri Light"/>
                <a:cs typeface="Calibri Light"/>
              </a:defRPr>
            </a:lvl6pPr>
            <a:lvl7pPr algn="ctr">
              <a:buNone/>
              <a:defRPr sz="1463" b="1" i="0">
                <a:solidFill>
                  <a:srgbClr val="123F50"/>
                </a:solidFill>
                <a:latin typeface="Calibri Light"/>
                <a:ea typeface="Calibri Light"/>
                <a:cs typeface="Calibri Light"/>
              </a:defRPr>
            </a:lvl7pPr>
            <a:lvl8pPr algn="ctr">
              <a:buNone/>
              <a:defRPr sz="1463" b="1" i="0">
                <a:solidFill>
                  <a:srgbClr val="123F50"/>
                </a:solidFill>
                <a:latin typeface="Calibri Light"/>
                <a:ea typeface="Calibri Light"/>
                <a:cs typeface="Calibri Light"/>
              </a:defRPr>
            </a:lvl8pPr>
            <a:lvl9pPr algn="ctr">
              <a:buNone/>
              <a:defRPr sz="1463" b="1" i="0">
                <a:solidFill>
                  <a:srgbClr val="123F50"/>
                </a:solidFill>
                <a:latin typeface="Calibri Light"/>
                <a:ea typeface="Calibri Light"/>
                <a:cs typeface="Calibri Light"/>
              </a:defRPr>
            </a:lvl9pPr>
          </a:lstStyle>
          <a:p>
            <a:pPr algn="ctr">
              <a:lnSpc>
                <a:spcPct val="108000"/>
              </a:lnSpc>
              <a:buNone/>
              <a:defRPr sz="1463" b="1" i="0">
                <a:solidFill>
                  <a:srgbClr val="123F50"/>
                </a:solidFill>
                <a:latin typeface="Calibri Light"/>
                <a:ea typeface="Calibri Light"/>
                <a:cs typeface="Calibri Light"/>
              </a:defRPr>
            </a:pPr>
            <a:r>
              <a:rPr sz="1463" b="1" i="0">
                <a:solidFill>
                  <a:srgbClr val="123F50"/>
                </a:solidFill>
                <a:latin typeface="Calibri Light"/>
                <a:ea typeface="Calibri Light"/>
                <a:cs typeface="Calibri Light"/>
              </a:rPr>
              <a:t>Jay Mapari</a:t>
            </a:r>
          </a:p>
        </p:txBody>
      </p:sp>
      <p:sp>
        <p:nvSpPr>
          <p:cNvPr id="13" name="Rounded Rectangle 12">
            <a:extLst>
              <a:ext uri="{FF2B5EF4-FFF2-40B4-BE49-F238E27FC236}">
                <a16:creationId xmlns:a16="http://schemas.microsoft.com/office/drawing/2014/main" xmlns="" id="{D8387883-BCBB-461E-8A30-60B90CBF29AF}"/>
              </a:ext>
            </a:extLst>
          </p:cNvPr>
          <p:cNvSpPr>
            <a:spLocks noGrp="1"/>
          </p:cNvSpPr>
          <p:nvPr/>
        </p:nvSpPr>
        <p:spPr>
          <a:xfrm>
            <a:off x="2876550" y="3057525"/>
            <a:ext cx="1724025" cy="933450"/>
          </a:xfrm>
          <a:prstGeom prst="roundRect">
            <a:avLst>
              <a:gd name="adj" fmla="val 8163"/>
            </a:avLst>
          </a:prstGeom>
          <a:solidFill>
            <a:srgbClr val="FFFFFF"/>
          </a:solidFill>
          <a:ln w="12383">
            <a:solidFill>
              <a:srgbClr val="BED8D6"/>
            </a:solidFill>
            <a:prstDash val="solid"/>
          </a:ln>
        </p:spPr>
      </p:sp>
      <p:sp>
        <p:nvSpPr>
          <p:cNvPr id="14" name="Rectangle 13">
            <a:extLst>
              <a:ext uri="{FF2B5EF4-FFF2-40B4-BE49-F238E27FC236}">
                <a16:creationId xmlns:a16="http://schemas.microsoft.com/office/drawing/2014/main" xmlns="" id="{7A997148-6FBE-48BA-A66A-742E3FC83453}"/>
              </a:ext>
            </a:extLst>
          </p:cNvPr>
          <p:cNvSpPr>
            <a:spLocks noGrp="1"/>
          </p:cNvSpPr>
          <p:nvPr/>
        </p:nvSpPr>
        <p:spPr>
          <a:xfrm>
            <a:off x="3000375" y="3200400"/>
            <a:ext cx="1476375" cy="200025"/>
          </a:xfrm>
          <a:prstGeom prst="rect">
            <a:avLst/>
          </a:prstGeom>
          <a:noFill/>
          <a:ln w="0">
            <a:noFill/>
            <a:prstDash val="solid"/>
          </a:ln>
        </p:spPr>
        <p:txBody>
          <a:bodyPr wrap="square" lIns="0" tIns="0" rIns="0" bIns="0" anchor="ctr">
            <a:normAutofit/>
          </a:bodyPr>
          <a:lstStyle>
            <a:defPPr algn="ctr">
              <a:defRPr sz="900" b="1" i="0">
                <a:solidFill>
                  <a:srgbClr val="0D6F73"/>
                </a:solidFill>
                <a:latin typeface="Calibri"/>
                <a:ea typeface="Calibri"/>
                <a:cs typeface="Calibri"/>
              </a:defRPr>
            </a:defPPr>
            <a:lvl1pPr algn="ctr">
              <a:buNone/>
              <a:defRPr sz="900" b="1" i="0">
                <a:solidFill>
                  <a:srgbClr val="0D6F73"/>
                </a:solidFill>
                <a:latin typeface="Calibri"/>
                <a:ea typeface="Calibri"/>
                <a:cs typeface="Calibri"/>
              </a:defRPr>
            </a:lvl1pPr>
            <a:lvl2pPr algn="ctr">
              <a:buNone/>
              <a:defRPr sz="900" b="1" i="0">
                <a:solidFill>
                  <a:srgbClr val="0D6F73"/>
                </a:solidFill>
                <a:latin typeface="Calibri"/>
                <a:ea typeface="Calibri"/>
                <a:cs typeface="Calibri"/>
              </a:defRPr>
            </a:lvl2pPr>
            <a:lvl3pPr algn="ctr">
              <a:buNone/>
              <a:defRPr sz="900" b="1" i="0">
                <a:solidFill>
                  <a:srgbClr val="0D6F73"/>
                </a:solidFill>
                <a:latin typeface="Calibri"/>
                <a:ea typeface="Calibri"/>
                <a:cs typeface="Calibri"/>
              </a:defRPr>
            </a:lvl3pPr>
            <a:lvl4pPr algn="ctr">
              <a:buNone/>
              <a:defRPr sz="900" b="1" i="0">
                <a:solidFill>
                  <a:srgbClr val="0D6F73"/>
                </a:solidFill>
                <a:latin typeface="Calibri"/>
                <a:ea typeface="Calibri"/>
                <a:cs typeface="Calibri"/>
              </a:defRPr>
            </a:lvl4pPr>
            <a:lvl5pPr algn="ctr">
              <a:buNone/>
              <a:defRPr sz="900" b="1" i="0">
                <a:solidFill>
                  <a:srgbClr val="0D6F73"/>
                </a:solidFill>
                <a:latin typeface="Calibri"/>
                <a:ea typeface="Calibri"/>
                <a:cs typeface="Calibri"/>
              </a:defRPr>
            </a:lvl5pPr>
            <a:lvl6pPr algn="ctr">
              <a:buNone/>
              <a:defRPr sz="900" b="1" i="0">
                <a:solidFill>
                  <a:srgbClr val="0D6F73"/>
                </a:solidFill>
                <a:latin typeface="Calibri"/>
                <a:ea typeface="Calibri"/>
                <a:cs typeface="Calibri"/>
              </a:defRPr>
            </a:lvl6pPr>
            <a:lvl7pPr algn="ctr">
              <a:buNone/>
              <a:defRPr sz="900" b="1" i="0">
                <a:solidFill>
                  <a:srgbClr val="0D6F73"/>
                </a:solidFill>
                <a:latin typeface="Calibri"/>
                <a:ea typeface="Calibri"/>
                <a:cs typeface="Calibri"/>
              </a:defRPr>
            </a:lvl7pPr>
            <a:lvl8pPr algn="ctr">
              <a:buNone/>
              <a:defRPr sz="900" b="1" i="0">
                <a:solidFill>
                  <a:srgbClr val="0D6F73"/>
                </a:solidFill>
                <a:latin typeface="Calibri"/>
                <a:ea typeface="Calibri"/>
                <a:cs typeface="Calibri"/>
              </a:defRPr>
            </a:lvl8pPr>
            <a:lvl9pPr algn="ctr">
              <a:buNone/>
              <a:defRPr sz="900" b="1" i="0">
                <a:solidFill>
                  <a:srgbClr val="0D6F73"/>
                </a:solidFill>
                <a:latin typeface="Calibri"/>
                <a:ea typeface="Calibri"/>
                <a:cs typeface="Calibri"/>
              </a:defRPr>
            </a:lvl9pPr>
          </a:lstStyle>
          <a:p>
            <a:pPr algn="ctr">
              <a:lnSpc>
                <a:spcPct val="108000"/>
              </a:lnSpc>
              <a:buNone/>
              <a:defRPr sz="900" b="1" i="0">
                <a:solidFill>
                  <a:srgbClr val="0D6F73"/>
                </a:solidFill>
                <a:latin typeface="Calibri"/>
                <a:ea typeface="Calibri"/>
                <a:cs typeface="Calibri"/>
              </a:defRPr>
            </a:pPr>
            <a:r>
              <a:rPr sz="900" b="1" i="0">
                <a:solidFill>
                  <a:srgbClr val="0D6F73"/>
                </a:solidFill>
                <a:latin typeface="Calibri"/>
                <a:ea typeface="Calibri"/>
                <a:cs typeface="Calibri"/>
              </a:rPr>
              <a:t>TEAM MEMBER</a:t>
            </a:r>
          </a:p>
        </p:txBody>
      </p:sp>
      <p:sp>
        <p:nvSpPr>
          <p:cNvPr id="15" name="Rectangle 14">
            <a:extLst>
              <a:ext uri="{FF2B5EF4-FFF2-40B4-BE49-F238E27FC236}">
                <a16:creationId xmlns:a16="http://schemas.microsoft.com/office/drawing/2014/main" xmlns="" id="{F2B5EF15-0609-4A82-9EC0-5A95041285BC}"/>
              </a:ext>
            </a:extLst>
          </p:cNvPr>
          <p:cNvSpPr>
            <a:spLocks noGrp="1"/>
          </p:cNvSpPr>
          <p:nvPr/>
        </p:nvSpPr>
        <p:spPr>
          <a:xfrm>
            <a:off x="3000375" y="3467100"/>
            <a:ext cx="1476375" cy="342900"/>
          </a:xfrm>
          <a:prstGeom prst="rect">
            <a:avLst/>
          </a:prstGeom>
          <a:noFill/>
          <a:ln w="0">
            <a:noFill/>
            <a:prstDash val="solid"/>
          </a:ln>
        </p:spPr>
        <p:txBody>
          <a:bodyPr wrap="square" lIns="0" tIns="0" rIns="0" bIns="0" anchor="ctr">
            <a:normAutofit/>
          </a:bodyPr>
          <a:lstStyle>
            <a:defPPr algn="ctr">
              <a:defRPr sz="1463" b="1" i="0">
                <a:solidFill>
                  <a:srgbClr val="123F50"/>
                </a:solidFill>
                <a:latin typeface="Calibri Light"/>
                <a:ea typeface="Calibri Light"/>
                <a:cs typeface="Calibri Light"/>
              </a:defRPr>
            </a:defPPr>
            <a:lvl1pPr algn="ctr">
              <a:buNone/>
              <a:defRPr sz="1463" b="1" i="0">
                <a:solidFill>
                  <a:srgbClr val="123F50"/>
                </a:solidFill>
                <a:latin typeface="Calibri Light"/>
                <a:ea typeface="Calibri Light"/>
                <a:cs typeface="Calibri Light"/>
              </a:defRPr>
            </a:lvl1pPr>
            <a:lvl2pPr algn="ctr">
              <a:buNone/>
              <a:defRPr sz="1463" b="1" i="0">
                <a:solidFill>
                  <a:srgbClr val="123F50"/>
                </a:solidFill>
                <a:latin typeface="Calibri Light"/>
                <a:ea typeface="Calibri Light"/>
                <a:cs typeface="Calibri Light"/>
              </a:defRPr>
            </a:lvl2pPr>
            <a:lvl3pPr algn="ctr">
              <a:buNone/>
              <a:defRPr sz="1463" b="1" i="0">
                <a:solidFill>
                  <a:srgbClr val="123F50"/>
                </a:solidFill>
                <a:latin typeface="Calibri Light"/>
                <a:ea typeface="Calibri Light"/>
                <a:cs typeface="Calibri Light"/>
              </a:defRPr>
            </a:lvl3pPr>
            <a:lvl4pPr algn="ctr">
              <a:buNone/>
              <a:defRPr sz="1463" b="1" i="0">
                <a:solidFill>
                  <a:srgbClr val="123F50"/>
                </a:solidFill>
                <a:latin typeface="Calibri Light"/>
                <a:ea typeface="Calibri Light"/>
                <a:cs typeface="Calibri Light"/>
              </a:defRPr>
            </a:lvl4pPr>
            <a:lvl5pPr algn="ctr">
              <a:buNone/>
              <a:defRPr sz="1463" b="1" i="0">
                <a:solidFill>
                  <a:srgbClr val="123F50"/>
                </a:solidFill>
                <a:latin typeface="Calibri Light"/>
                <a:ea typeface="Calibri Light"/>
                <a:cs typeface="Calibri Light"/>
              </a:defRPr>
            </a:lvl5pPr>
            <a:lvl6pPr algn="ctr">
              <a:buNone/>
              <a:defRPr sz="1463" b="1" i="0">
                <a:solidFill>
                  <a:srgbClr val="123F50"/>
                </a:solidFill>
                <a:latin typeface="Calibri Light"/>
                <a:ea typeface="Calibri Light"/>
                <a:cs typeface="Calibri Light"/>
              </a:defRPr>
            </a:lvl6pPr>
            <a:lvl7pPr algn="ctr">
              <a:buNone/>
              <a:defRPr sz="1463" b="1" i="0">
                <a:solidFill>
                  <a:srgbClr val="123F50"/>
                </a:solidFill>
                <a:latin typeface="Calibri Light"/>
                <a:ea typeface="Calibri Light"/>
                <a:cs typeface="Calibri Light"/>
              </a:defRPr>
            </a:lvl7pPr>
            <a:lvl8pPr algn="ctr">
              <a:buNone/>
              <a:defRPr sz="1463" b="1" i="0">
                <a:solidFill>
                  <a:srgbClr val="123F50"/>
                </a:solidFill>
                <a:latin typeface="Calibri Light"/>
                <a:ea typeface="Calibri Light"/>
                <a:cs typeface="Calibri Light"/>
              </a:defRPr>
            </a:lvl8pPr>
            <a:lvl9pPr algn="ctr">
              <a:buNone/>
              <a:defRPr sz="1463" b="1" i="0">
                <a:solidFill>
                  <a:srgbClr val="123F50"/>
                </a:solidFill>
                <a:latin typeface="Calibri Light"/>
                <a:ea typeface="Calibri Light"/>
                <a:cs typeface="Calibri Light"/>
              </a:defRPr>
            </a:lvl9pPr>
          </a:lstStyle>
          <a:p>
            <a:pPr algn="ctr">
              <a:lnSpc>
                <a:spcPct val="108000"/>
              </a:lnSpc>
              <a:buNone/>
              <a:defRPr sz="1463" b="1" i="0">
                <a:solidFill>
                  <a:srgbClr val="123F50"/>
                </a:solidFill>
                <a:latin typeface="Calibri Light"/>
                <a:ea typeface="Calibri Light"/>
                <a:cs typeface="Calibri Light"/>
              </a:defRPr>
            </a:pPr>
            <a:r>
              <a:rPr sz="1463" b="1" i="0">
                <a:solidFill>
                  <a:srgbClr val="123F50"/>
                </a:solidFill>
                <a:latin typeface="Calibri Light"/>
                <a:ea typeface="Calibri Light"/>
                <a:cs typeface="Calibri Light"/>
              </a:rPr>
              <a:t>Aditya Kharade</a:t>
            </a:r>
          </a:p>
        </p:txBody>
      </p:sp>
      <p:sp>
        <p:nvSpPr>
          <p:cNvPr id="16" name="Rounded Rectangle 15">
            <a:extLst>
              <a:ext uri="{FF2B5EF4-FFF2-40B4-BE49-F238E27FC236}">
                <a16:creationId xmlns:a16="http://schemas.microsoft.com/office/drawing/2014/main" xmlns="" id="{42517617-6214-4AD3-8960-5C686CC64662}"/>
              </a:ext>
            </a:extLst>
          </p:cNvPr>
          <p:cNvSpPr>
            <a:spLocks noGrp="1"/>
          </p:cNvSpPr>
          <p:nvPr/>
        </p:nvSpPr>
        <p:spPr>
          <a:xfrm>
            <a:off x="5048250" y="3057525"/>
            <a:ext cx="1724025" cy="933450"/>
          </a:xfrm>
          <a:prstGeom prst="roundRect">
            <a:avLst>
              <a:gd name="adj" fmla="val 8163"/>
            </a:avLst>
          </a:prstGeom>
          <a:solidFill>
            <a:srgbClr val="FFFFFF"/>
          </a:solidFill>
          <a:ln w="12383">
            <a:solidFill>
              <a:srgbClr val="BED8D6"/>
            </a:solidFill>
            <a:prstDash val="solid"/>
          </a:ln>
        </p:spPr>
      </p:sp>
      <p:sp>
        <p:nvSpPr>
          <p:cNvPr id="17" name="Rectangle 16">
            <a:extLst>
              <a:ext uri="{FF2B5EF4-FFF2-40B4-BE49-F238E27FC236}">
                <a16:creationId xmlns:a16="http://schemas.microsoft.com/office/drawing/2014/main" xmlns="" id="{AE116A0C-BCE5-436C-B7C9-B5815C3E3B6B}"/>
              </a:ext>
            </a:extLst>
          </p:cNvPr>
          <p:cNvSpPr>
            <a:spLocks noGrp="1"/>
          </p:cNvSpPr>
          <p:nvPr/>
        </p:nvSpPr>
        <p:spPr>
          <a:xfrm>
            <a:off x="5172075" y="3200400"/>
            <a:ext cx="1476375" cy="200025"/>
          </a:xfrm>
          <a:prstGeom prst="rect">
            <a:avLst/>
          </a:prstGeom>
          <a:noFill/>
          <a:ln w="0">
            <a:noFill/>
            <a:prstDash val="solid"/>
          </a:ln>
        </p:spPr>
        <p:txBody>
          <a:bodyPr wrap="square" lIns="0" tIns="0" rIns="0" bIns="0" anchor="ctr">
            <a:normAutofit/>
          </a:bodyPr>
          <a:lstStyle>
            <a:defPPr algn="ctr">
              <a:defRPr sz="900" b="1" i="0">
                <a:solidFill>
                  <a:srgbClr val="0D6F73"/>
                </a:solidFill>
                <a:latin typeface="Calibri"/>
                <a:ea typeface="Calibri"/>
                <a:cs typeface="Calibri"/>
              </a:defRPr>
            </a:defPPr>
            <a:lvl1pPr algn="ctr">
              <a:buNone/>
              <a:defRPr sz="900" b="1" i="0">
                <a:solidFill>
                  <a:srgbClr val="0D6F73"/>
                </a:solidFill>
                <a:latin typeface="Calibri"/>
                <a:ea typeface="Calibri"/>
                <a:cs typeface="Calibri"/>
              </a:defRPr>
            </a:lvl1pPr>
            <a:lvl2pPr algn="ctr">
              <a:buNone/>
              <a:defRPr sz="900" b="1" i="0">
                <a:solidFill>
                  <a:srgbClr val="0D6F73"/>
                </a:solidFill>
                <a:latin typeface="Calibri"/>
                <a:ea typeface="Calibri"/>
                <a:cs typeface="Calibri"/>
              </a:defRPr>
            </a:lvl2pPr>
            <a:lvl3pPr algn="ctr">
              <a:buNone/>
              <a:defRPr sz="900" b="1" i="0">
                <a:solidFill>
                  <a:srgbClr val="0D6F73"/>
                </a:solidFill>
                <a:latin typeface="Calibri"/>
                <a:ea typeface="Calibri"/>
                <a:cs typeface="Calibri"/>
              </a:defRPr>
            </a:lvl3pPr>
            <a:lvl4pPr algn="ctr">
              <a:buNone/>
              <a:defRPr sz="900" b="1" i="0">
                <a:solidFill>
                  <a:srgbClr val="0D6F73"/>
                </a:solidFill>
                <a:latin typeface="Calibri"/>
                <a:ea typeface="Calibri"/>
                <a:cs typeface="Calibri"/>
              </a:defRPr>
            </a:lvl4pPr>
            <a:lvl5pPr algn="ctr">
              <a:buNone/>
              <a:defRPr sz="900" b="1" i="0">
                <a:solidFill>
                  <a:srgbClr val="0D6F73"/>
                </a:solidFill>
                <a:latin typeface="Calibri"/>
                <a:ea typeface="Calibri"/>
                <a:cs typeface="Calibri"/>
              </a:defRPr>
            </a:lvl5pPr>
            <a:lvl6pPr algn="ctr">
              <a:buNone/>
              <a:defRPr sz="900" b="1" i="0">
                <a:solidFill>
                  <a:srgbClr val="0D6F73"/>
                </a:solidFill>
                <a:latin typeface="Calibri"/>
                <a:ea typeface="Calibri"/>
                <a:cs typeface="Calibri"/>
              </a:defRPr>
            </a:lvl6pPr>
            <a:lvl7pPr algn="ctr">
              <a:buNone/>
              <a:defRPr sz="900" b="1" i="0">
                <a:solidFill>
                  <a:srgbClr val="0D6F73"/>
                </a:solidFill>
                <a:latin typeface="Calibri"/>
                <a:ea typeface="Calibri"/>
                <a:cs typeface="Calibri"/>
              </a:defRPr>
            </a:lvl7pPr>
            <a:lvl8pPr algn="ctr">
              <a:buNone/>
              <a:defRPr sz="900" b="1" i="0">
                <a:solidFill>
                  <a:srgbClr val="0D6F73"/>
                </a:solidFill>
                <a:latin typeface="Calibri"/>
                <a:ea typeface="Calibri"/>
                <a:cs typeface="Calibri"/>
              </a:defRPr>
            </a:lvl8pPr>
            <a:lvl9pPr algn="ctr">
              <a:buNone/>
              <a:defRPr sz="900" b="1" i="0">
                <a:solidFill>
                  <a:srgbClr val="0D6F73"/>
                </a:solidFill>
                <a:latin typeface="Calibri"/>
                <a:ea typeface="Calibri"/>
                <a:cs typeface="Calibri"/>
              </a:defRPr>
            </a:lvl9pPr>
          </a:lstStyle>
          <a:p>
            <a:pPr algn="ctr">
              <a:lnSpc>
                <a:spcPct val="108000"/>
              </a:lnSpc>
              <a:buNone/>
              <a:defRPr sz="900" b="1" i="0">
                <a:solidFill>
                  <a:srgbClr val="0D6F73"/>
                </a:solidFill>
                <a:latin typeface="Calibri"/>
                <a:ea typeface="Calibri"/>
                <a:cs typeface="Calibri"/>
              </a:defRPr>
            </a:pPr>
            <a:r>
              <a:rPr sz="900" b="1" i="0">
                <a:solidFill>
                  <a:srgbClr val="0D6F73"/>
                </a:solidFill>
                <a:latin typeface="Calibri"/>
                <a:ea typeface="Calibri"/>
                <a:cs typeface="Calibri"/>
              </a:rPr>
              <a:t>TEAM MEMBER</a:t>
            </a:r>
          </a:p>
        </p:txBody>
      </p:sp>
      <p:sp>
        <p:nvSpPr>
          <p:cNvPr id="18" name="Rectangle 17">
            <a:extLst>
              <a:ext uri="{FF2B5EF4-FFF2-40B4-BE49-F238E27FC236}">
                <a16:creationId xmlns:a16="http://schemas.microsoft.com/office/drawing/2014/main" xmlns="" id="{9901FE1A-A68E-4645-B1E2-29A5A18551FA}"/>
              </a:ext>
            </a:extLst>
          </p:cNvPr>
          <p:cNvSpPr>
            <a:spLocks noGrp="1"/>
          </p:cNvSpPr>
          <p:nvPr/>
        </p:nvSpPr>
        <p:spPr>
          <a:xfrm>
            <a:off x="5172075" y="3467100"/>
            <a:ext cx="1476375" cy="342900"/>
          </a:xfrm>
          <a:prstGeom prst="rect">
            <a:avLst/>
          </a:prstGeom>
          <a:noFill/>
          <a:ln w="0">
            <a:noFill/>
            <a:prstDash val="solid"/>
          </a:ln>
        </p:spPr>
        <p:txBody>
          <a:bodyPr wrap="square" lIns="0" tIns="0" rIns="0" bIns="0" anchor="ctr">
            <a:normAutofit/>
          </a:bodyPr>
          <a:lstStyle>
            <a:defPPr algn="ctr">
              <a:defRPr sz="1463" b="1" i="0">
                <a:solidFill>
                  <a:srgbClr val="123F50"/>
                </a:solidFill>
                <a:latin typeface="Calibri Light"/>
                <a:ea typeface="Calibri Light"/>
                <a:cs typeface="Calibri Light"/>
              </a:defRPr>
            </a:defPPr>
            <a:lvl1pPr algn="ctr">
              <a:buNone/>
              <a:defRPr sz="1463" b="1" i="0">
                <a:solidFill>
                  <a:srgbClr val="123F50"/>
                </a:solidFill>
                <a:latin typeface="Calibri Light"/>
                <a:ea typeface="Calibri Light"/>
                <a:cs typeface="Calibri Light"/>
              </a:defRPr>
            </a:lvl1pPr>
            <a:lvl2pPr algn="ctr">
              <a:buNone/>
              <a:defRPr sz="1463" b="1" i="0">
                <a:solidFill>
                  <a:srgbClr val="123F50"/>
                </a:solidFill>
                <a:latin typeface="Calibri Light"/>
                <a:ea typeface="Calibri Light"/>
                <a:cs typeface="Calibri Light"/>
              </a:defRPr>
            </a:lvl2pPr>
            <a:lvl3pPr algn="ctr">
              <a:buNone/>
              <a:defRPr sz="1463" b="1" i="0">
                <a:solidFill>
                  <a:srgbClr val="123F50"/>
                </a:solidFill>
                <a:latin typeface="Calibri Light"/>
                <a:ea typeface="Calibri Light"/>
                <a:cs typeface="Calibri Light"/>
              </a:defRPr>
            </a:lvl3pPr>
            <a:lvl4pPr algn="ctr">
              <a:buNone/>
              <a:defRPr sz="1463" b="1" i="0">
                <a:solidFill>
                  <a:srgbClr val="123F50"/>
                </a:solidFill>
                <a:latin typeface="Calibri Light"/>
                <a:ea typeface="Calibri Light"/>
                <a:cs typeface="Calibri Light"/>
              </a:defRPr>
            </a:lvl4pPr>
            <a:lvl5pPr algn="ctr">
              <a:buNone/>
              <a:defRPr sz="1463" b="1" i="0">
                <a:solidFill>
                  <a:srgbClr val="123F50"/>
                </a:solidFill>
                <a:latin typeface="Calibri Light"/>
                <a:ea typeface="Calibri Light"/>
                <a:cs typeface="Calibri Light"/>
              </a:defRPr>
            </a:lvl5pPr>
            <a:lvl6pPr algn="ctr">
              <a:buNone/>
              <a:defRPr sz="1463" b="1" i="0">
                <a:solidFill>
                  <a:srgbClr val="123F50"/>
                </a:solidFill>
                <a:latin typeface="Calibri Light"/>
                <a:ea typeface="Calibri Light"/>
                <a:cs typeface="Calibri Light"/>
              </a:defRPr>
            </a:lvl6pPr>
            <a:lvl7pPr algn="ctr">
              <a:buNone/>
              <a:defRPr sz="1463" b="1" i="0">
                <a:solidFill>
                  <a:srgbClr val="123F50"/>
                </a:solidFill>
                <a:latin typeface="Calibri Light"/>
                <a:ea typeface="Calibri Light"/>
                <a:cs typeface="Calibri Light"/>
              </a:defRPr>
            </a:lvl7pPr>
            <a:lvl8pPr algn="ctr">
              <a:buNone/>
              <a:defRPr sz="1463" b="1" i="0">
                <a:solidFill>
                  <a:srgbClr val="123F50"/>
                </a:solidFill>
                <a:latin typeface="Calibri Light"/>
                <a:ea typeface="Calibri Light"/>
                <a:cs typeface="Calibri Light"/>
              </a:defRPr>
            </a:lvl8pPr>
            <a:lvl9pPr algn="ctr">
              <a:buNone/>
              <a:defRPr sz="1463" b="1" i="0">
                <a:solidFill>
                  <a:srgbClr val="123F50"/>
                </a:solidFill>
                <a:latin typeface="Calibri Light"/>
                <a:ea typeface="Calibri Light"/>
                <a:cs typeface="Calibri Light"/>
              </a:defRPr>
            </a:lvl9pPr>
          </a:lstStyle>
          <a:p>
            <a:pPr algn="ctr">
              <a:lnSpc>
                <a:spcPct val="108000"/>
              </a:lnSpc>
              <a:buNone/>
              <a:defRPr sz="1463" b="1" i="0">
                <a:solidFill>
                  <a:srgbClr val="123F50"/>
                </a:solidFill>
                <a:latin typeface="Calibri Light"/>
                <a:ea typeface="Calibri Light"/>
                <a:cs typeface="Calibri Light"/>
              </a:defRPr>
            </a:pPr>
            <a:r>
              <a:rPr sz="1463" b="1" i="0">
                <a:solidFill>
                  <a:srgbClr val="123F50"/>
                </a:solidFill>
                <a:latin typeface="Calibri Light"/>
                <a:ea typeface="Calibri Light"/>
                <a:cs typeface="Calibri Light"/>
              </a:rPr>
              <a:t>Aditya Patil</a:t>
            </a:r>
          </a:p>
        </p:txBody>
      </p:sp>
      <p:sp>
        <p:nvSpPr>
          <p:cNvPr id="19" name="Rectangle 18">
            <a:extLst>
              <a:ext uri="{FF2B5EF4-FFF2-40B4-BE49-F238E27FC236}">
                <a16:creationId xmlns:a16="http://schemas.microsoft.com/office/drawing/2014/main" xmlns="" id="{96C88123-1212-4CDD-B890-450CDC8B97D1}"/>
              </a:ext>
            </a:extLst>
          </p:cNvPr>
          <p:cNvSpPr>
            <a:spLocks noGrp="1"/>
          </p:cNvSpPr>
          <p:nvPr/>
        </p:nvSpPr>
        <p:spPr>
          <a:xfrm>
            <a:off x="1247775" y="4419600"/>
            <a:ext cx="4991100" cy="276225"/>
          </a:xfrm>
          <a:prstGeom prst="rect">
            <a:avLst/>
          </a:prstGeom>
          <a:noFill/>
          <a:ln w="0">
            <a:noFill/>
            <a:prstDash val="solid"/>
          </a:ln>
        </p:spPr>
        <p:txBody>
          <a:bodyPr wrap="square" lIns="0" tIns="0" rIns="0" bIns="0" anchor="ctr">
            <a:normAutofit/>
          </a:bodyPr>
          <a:lstStyle>
            <a:defPPr algn="ctr">
              <a:defRPr sz="1275" b="0" i="0">
                <a:solidFill>
                  <a:srgbClr val="647781"/>
                </a:solidFill>
                <a:latin typeface="Calibri"/>
                <a:ea typeface="Calibri"/>
                <a:cs typeface="Calibri"/>
              </a:defRPr>
            </a:defPPr>
            <a:lvl1pPr algn="ctr">
              <a:buNone/>
              <a:defRPr sz="1275" b="0" i="0">
                <a:solidFill>
                  <a:srgbClr val="647781"/>
                </a:solidFill>
                <a:latin typeface="Calibri"/>
                <a:ea typeface="Calibri"/>
                <a:cs typeface="Calibri"/>
              </a:defRPr>
            </a:lvl1pPr>
            <a:lvl2pPr algn="ctr">
              <a:buNone/>
              <a:defRPr sz="1275" b="0" i="0">
                <a:solidFill>
                  <a:srgbClr val="647781"/>
                </a:solidFill>
                <a:latin typeface="Calibri"/>
                <a:ea typeface="Calibri"/>
                <a:cs typeface="Calibri"/>
              </a:defRPr>
            </a:lvl2pPr>
            <a:lvl3pPr algn="ctr">
              <a:buNone/>
              <a:defRPr sz="1275" b="0" i="0">
                <a:solidFill>
                  <a:srgbClr val="647781"/>
                </a:solidFill>
                <a:latin typeface="Calibri"/>
                <a:ea typeface="Calibri"/>
                <a:cs typeface="Calibri"/>
              </a:defRPr>
            </a:lvl3pPr>
            <a:lvl4pPr algn="ctr">
              <a:buNone/>
              <a:defRPr sz="1275" b="0" i="0">
                <a:solidFill>
                  <a:srgbClr val="647781"/>
                </a:solidFill>
                <a:latin typeface="Calibri"/>
                <a:ea typeface="Calibri"/>
                <a:cs typeface="Calibri"/>
              </a:defRPr>
            </a:lvl4pPr>
            <a:lvl5pPr algn="ctr">
              <a:buNone/>
              <a:defRPr sz="1275" b="0" i="0">
                <a:solidFill>
                  <a:srgbClr val="647781"/>
                </a:solidFill>
                <a:latin typeface="Calibri"/>
                <a:ea typeface="Calibri"/>
                <a:cs typeface="Calibri"/>
              </a:defRPr>
            </a:lvl5pPr>
            <a:lvl6pPr algn="ctr">
              <a:buNone/>
              <a:defRPr sz="1275" b="0" i="0">
                <a:solidFill>
                  <a:srgbClr val="647781"/>
                </a:solidFill>
                <a:latin typeface="Calibri"/>
                <a:ea typeface="Calibri"/>
                <a:cs typeface="Calibri"/>
              </a:defRPr>
            </a:lvl6pPr>
            <a:lvl7pPr algn="ctr">
              <a:buNone/>
              <a:defRPr sz="1275" b="0" i="0">
                <a:solidFill>
                  <a:srgbClr val="647781"/>
                </a:solidFill>
                <a:latin typeface="Calibri"/>
                <a:ea typeface="Calibri"/>
                <a:cs typeface="Calibri"/>
              </a:defRPr>
            </a:lvl7pPr>
            <a:lvl8pPr algn="ctr">
              <a:buNone/>
              <a:defRPr sz="1275" b="0" i="0">
                <a:solidFill>
                  <a:srgbClr val="647781"/>
                </a:solidFill>
                <a:latin typeface="Calibri"/>
                <a:ea typeface="Calibri"/>
                <a:cs typeface="Calibri"/>
              </a:defRPr>
            </a:lvl8pPr>
            <a:lvl9pPr algn="ctr">
              <a:buNone/>
              <a:defRPr sz="1275" b="0" i="0">
                <a:solidFill>
                  <a:srgbClr val="647781"/>
                </a:solidFill>
                <a:latin typeface="Calibri"/>
                <a:ea typeface="Calibri"/>
                <a:cs typeface="Calibri"/>
              </a:defRPr>
            </a:lvl9pPr>
          </a:lstStyle>
          <a:p>
            <a:pPr algn="ctr">
              <a:lnSpc>
                <a:spcPct val="108000"/>
              </a:lnSpc>
              <a:buNone/>
              <a:defRPr sz="1275" b="0" i="0">
                <a:solidFill>
                  <a:srgbClr val="647781"/>
                </a:solidFill>
                <a:latin typeface="Calibri"/>
                <a:ea typeface="Calibri"/>
                <a:cs typeface="Calibri"/>
              </a:defRPr>
            </a:pPr>
            <a:r>
              <a:rPr sz="1275" b="0" i="0">
                <a:solidFill>
                  <a:srgbClr val="647781"/>
                </a:solidFill>
                <a:latin typeface="Calibri"/>
                <a:ea typeface="Calibri"/>
                <a:cs typeface="Calibri"/>
              </a:rPr>
              <a:t>Building a simulated, baseline-aware monitoring prototype</a:t>
            </a:r>
          </a:p>
        </p:txBody>
      </p:sp>
      <p:sp>
        <p:nvSpPr>
          <p:cNvPr id="21" name="diagram-background-slide-15">
            <a:extLst>
              <a:ext uri="{FF2B5EF4-FFF2-40B4-BE49-F238E27FC236}">
                <a16:creationId xmlns:a16="http://schemas.microsoft.com/office/drawing/2014/main" xmlns="" id="{DA35B9B1-AAAD-414B-B7F8-60E7F157E017}"/>
              </a:ext>
            </a:extLst>
          </p:cNvPr>
          <p:cNvSpPr>
            <a:spLocks noGrp="1"/>
          </p:cNvSpPr>
          <p:nvPr/>
        </p:nvSpPr>
        <p:spPr>
          <a:xfrm>
            <a:off x="400050" y="1295400"/>
            <a:ext cx="6677025" cy="3648075"/>
          </a:xfrm>
          <a:prstGeom prst="rect">
            <a:avLst/>
          </a:prstGeom>
          <a:solidFill>
            <a:srgbClr val="F5FAF9"/>
          </a:solidFill>
          <a:ln w="0">
            <a:noFill/>
            <a:prstDash val="solid"/>
          </a:ln>
        </p:spPr>
      </p:sp>
      <p:pic>
        <p:nvPicPr>
          <p:cNvPr id="22" name="Picture 21">
            <a:extLst>
              <a:ext uri="{FF2B5EF4-FFF2-40B4-BE49-F238E27FC236}">
                <a16:creationId xmlns:a16="http://schemas.microsoft.com/office/drawing/2014/main" xmlns="" id="{70C0651A-93A8-49EF-96BB-4761198CEBFB}"/>
              </a:ext>
            </a:extLst>
          </p:cNvPr>
          <p:cNvPicPr>
            <a:picLocks noChangeAspect="1"/>
          </p:cNvPicPr>
          <p:nvPr/>
        </p:nvPicPr>
        <p:blipFill>
          <a:blip r:embed="rId4"/>
          <a:stretch/>
        </p:blipFill>
        <p:spPr>
          <a:xfrm>
            <a:off x="514350" y="1400175"/>
            <a:ext cx="6448425" cy="3619500"/>
          </a:xfrm>
          <a:prstGeom prst="rect">
            <a:avLst/>
          </a:prstGeom>
        </p:spPr>
      </p:pic>
    </p:spTree>
    <p:extLst>
      <p:ext uri="{BB962C8B-B14F-4D97-AF65-F5344CB8AC3E}">
        <p14:creationId xmlns:p14="http://schemas.microsoft.com/office/powerpoint/2010/main" val="1648720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AF9"/>
        </a:solidFill>
        <a:effectLst/>
      </p:bgPr>
    </p:bg>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AB9EA1AE-0768-4013-99B1-A824EEB2F0DE}"/>
              </a:ext>
            </a:extLst>
          </p:cNvPr>
          <p:cNvPicPr>
            <a:picLocks noChangeAspect="1"/>
          </p:cNvPicPr>
          <p:nvPr/>
        </p:nvPicPr>
        <p:blipFill>
          <a:blip r:embed="rId3"/>
          <a:srcRect t="1932" b="1932"/>
          <a:stretch>
            <a:fillRect/>
          </a:stretch>
        </p:blipFill>
        <p:spPr>
          <a:xfrm>
            <a:off x="0" y="0"/>
            <a:ext cx="7477125" cy="5391150"/>
          </a:xfrm>
          <a:prstGeom prst="rect">
            <a:avLst/>
          </a:prstGeom>
        </p:spPr>
      </p:pic>
      <p:pic>
        <p:nvPicPr>
          <p:cNvPr id="10" name="Picture 9">
            <a:extLst>
              <a:ext uri="{FF2B5EF4-FFF2-40B4-BE49-F238E27FC236}">
                <a16:creationId xmlns:a16="http://schemas.microsoft.com/office/drawing/2014/main" xmlns="" id="{7176C942-2938-4326-B332-BC5ADBEE9B92}"/>
              </a:ext>
            </a:extLst>
          </p:cNvPr>
          <p:cNvPicPr>
            <a:picLocks noChangeAspect="1"/>
          </p:cNvPicPr>
          <p:nvPr/>
        </p:nvPicPr>
        <p:blipFill>
          <a:blip r:embed="rId4"/>
          <a:stretch/>
        </p:blipFill>
        <p:spPr>
          <a:xfrm>
            <a:off x="2714625" y="1750219"/>
            <a:ext cx="4429125" cy="2214563"/>
          </a:xfrm>
          <a:prstGeom prst="rect">
            <a:avLst/>
          </a:prstGeom>
        </p:spPr>
      </p:pic>
      <p:sp>
        <p:nvSpPr>
          <p:cNvPr id="2" name="Rectangle 1">
            <a:extLst>
              <a:ext uri="{FF2B5EF4-FFF2-40B4-BE49-F238E27FC236}">
                <a16:creationId xmlns:a16="http://schemas.microsoft.com/office/drawing/2014/main" xmlns="" id="{A8AAA2FE-4B1F-4352-80FC-4A5B26A990CB}"/>
              </a:ext>
            </a:extLst>
          </p:cNvPr>
          <p:cNvSpPr>
            <a:spLocks noGrp="1"/>
          </p:cNvSpPr>
          <p:nvPr/>
        </p:nvSpPr>
        <p:spPr>
          <a:xfrm>
            <a:off x="552450" y="1600200"/>
            <a:ext cx="3143250" cy="209550"/>
          </a:xfrm>
          <a:prstGeom prst="rect">
            <a:avLst/>
          </a:prstGeom>
          <a:noFill/>
          <a:ln w="0">
            <a:noFill/>
            <a:prstDash val="solid"/>
          </a:ln>
        </p:spPr>
        <p:txBody>
          <a:bodyPr wrap="square" lIns="0" tIns="0" rIns="0" bIns="0" anchor="ctr">
            <a:normAutofit/>
          </a:bodyPr>
          <a:lstStyle>
            <a:defPPr algn="l">
              <a:defRPr sz="900" b="1">
                <a:solidFill>
                  <a:srgbClr val="248F8A"/>
                </a:solidFill>
                <a:latin typeface="Calibri"/>
                <a:ea typeface="Calibri"/>
                <a:cs typeface="Calibri"/>
              </a:defRPr>
            </a:defPPr>
            <a:lvl1pPr algn="l">
              <a:buNone/>
              <a:defRPr sz="900" b="1">
                <a:solidFill>
                  <a:srgbClr val="248F8A"/>
                </a:solidFill>
                <a:latin typeface="Calibri"/>
                <a:ea typeface="Calibri"/>
                <a:cs typeface="Calibri"/>
              </a:defRPr>
            </a:lvl1pPr>
            <a:lvl2pPr algn="l">
              <a:buNone/>
              <a:defRPr sz="900" b="1">
                <a:solidFill>
                  <a:srgbClr val="248F8A"/>
                </a:solidFill>
                <a:latin typeface="Calibri"/>
                <a:ea typeface="Calibri"/>
                <a:cs typeface="Calibri"/>
              </a:defRPr>
            </a:lvl2pPr>
            <a:lvl3pPr algn="l">
              <a:buNone/>
              <a:defRPr sz="900" b="1">
                <a:solidFill>
                  <a:srgbClr val="248F8A"/>
                </a:solidFill>
                <a:latin typeface="Calibri"/>
                <a:ea typeface="Calibri"/>
                <a:cs typeface="Calibri"/>
              </a:defRPr>
            </a:lvl3pPr>
            <a:lvl4pPr algn="l">
              <a:buNone/>
              <a:defRPr sz="900" b="1">
                <a:solidFill>
                  <a:srgbClr val="248F8A"/>
                </a:solidFill>
                <a:latin typeface="Calibri"/>
                <a:ea typeface="Calibri"/>
                <a:cs typeface="Calibri"/>
              </a:defRPr>
            </a:lvl4pPr>
            <a:lvl5pPr algn="l">
              <a:buNone/>
              <a:defRPr sz="900" b="1">
                <a:solidFill>
                  <a:srgbClr val="248F8A"/>
                </a:solidFill>
                <a:latin typeface="Calibri"/>
                <a:ea typeface="Calibri"/>
                <a:cs typeface="Calibri"/>
              </a:defRPr>
            </a:lvl5pPr>
            <a:lvl6pPr algn="l">
              <a:buNone/>
              <a:defRPr sz="900" b="1">
                <a:solidFill>
                  <a:srgbClr val="248F8A"/>
                </a:solidFill>
                <a:latin typeface="Calibri"/>
                <a:ea typeface="Calibri"/>
                <a:cs typeface="Calibri"/>
              </a:defRPr>
            </a:lvl6pPr>
            <a:lvl7pPr algn="l">
              <a:buNone/>
              <a:defRPr sz="900" b="1">
                <a:solidFill>
                  <a:srgbClr val="248F8A"/>
                </a:solidFill>
                <a:latin typeface="Calibri"/>
                <a:ea typeface="Calibri"/>
                <a:cs typeface="Calibri"/>
              </a:defRPr>
            </a:lvl7pPr>
            <a:lvl8pPr algn="l">
              <a:buNone/>
              <a:defRPr sz="900" b="1">
                <a:solidFill>
                  <a:srgbClr val="248F8A"/>
                </a:solidFill>
                <a:latin typeface="Calibri"/>
                <a:ea typeface="Calibri"/>
                <a:cs typeface="Calibri"/>
              </a:defRPr>
            </a:lvl8pPr>
            <a:lvl9pPr algn="l">
              <a:buNone/>
              <a:defRPr sz="900" b="1">
                <a:solidFill>
                  <a:srgbClr val="248F8A"/>
                </a:solidFill>
                <a:latin typeface="Calibri"/>
                <a:ea typeface="Calibri"/>
                <a:cs typeface="Calibri"/>
              </a:defRPr>
            </a:lvl9pPr>
          </a:lstStyle>
          <a:p>
            <a:pPr algn="l">
              <a:buNone/>
              <a:defRPr sz="900" b="1">
                <a:solidFill>
                  <a:srgbClr val="248F8A"/>
                </a:solidFill>
                <a:latin typeface="Calibri"/>
                <a:ea typeface="Calibri"/>
                <a:cs typeface="Calibri"/>
              </a:defRPr>
            </a:pPr>
            <a:r>
              <a:rPr sz="900" b="1">
                <a:solidFill>
                  <a:srgbClr val="248F8A"/>
                </a:solidFill>
                <a:latin typeface="Calibri"/>
                <a:ea typeface="Calibri"/>
                <a:cs typeface="Calibri"/>
              </a:rPr>
              <a:t>CARDIOVASCULAR DIGITAL TWIN</a:t>
            </a:r>
          </a:p>
        </p:txBody>
      </p:sp>
      <p:sp>
        <p:nvSpPr>
          <p:cNvPr id="3" name="Rectangle 2">
            <a:extLst>
              <a:ext uri="{FF2B5EF4-FFF2-40B4-BE49-F238E27FC236}">
                <a16:creationId xmlns:a16="http://schemas.microsoft.com/office/drawing/2014/main" xmlns="" id="{DA048011-3F06-4AFF-A2AB-0CD986CC7D56}"/>
              </a:ext>
            </a:extLst>
          </p:cNvPr>
          <p:cNvSpPr>
            <a:spLocks noGrp="1"/>
          </p:cNvSpPr>
          <p:nvPr/>
        </p:nvSpPr>
        <p:spPr>
          <a:xfrm>
            <a:off x="552450" y="2076450"/>
            <a:ext cx="3429000" cy="790575"/>
          </a:xfrm>
          <a:prstGeom prst="rect">
            <a:avLst/>
          </a:prstGeom>
          <a:noFill/>
          <a:ln w="0">
            <a:noFill/>
            <a:prstDash val="solid"/>
          </a:ln>
        </p:spPr>
        <p:txBody>
          <a:bodyPr wrap="square" lIns="0" tIns="0" rIns="0" bIns="0" anchor="ctr">
            <a:normAutofit/>
          </a:bodyPr>
          <a:lstStyle>
            <a:defPPr algn="l">
              <a:defRPr sz="4350" b="1">
                <a:solidFill>
                  <a:srgbClr val="123F50"/>
                </a:solidFill>
                <a:latin typeface="Calibri Light"/>
                <a:ea typeface="Calibri Light"/>
                <a:cs typeface="Calibri Light"/>
              </a:defRPr>
            </a:defPPr>
            <a:lvl1pPr algn="l">
              <a:buNone/>
              <a:defRPr sz="4350" b="1">
                <a:solidFill>
                  <a:srgbClr val="123F50"/>
                </a:solidFill>
                <a:latin typeface="Calibri Light"/>
                <a:ea typeface="Calibri Light"/>
                <a:cs typeface="Calibri Light"/>
              </a:defRPr>
            </a:lvl1pPr>
            <a:lvl2pPr algn="l">
              <a:buNone/>
              <a:defRPr sz="4350" b="1">
                <a:solidFill>
                  <a:srgbClr val="123F50"/>
                </a:solidFill>
                <a:latin typeface="Calibri Light"/>
                <a:ea typeface="Calibri Light"/>
                <a:cs typeface="Calibri Light"/>
              </a:defRPr>
            </a:lvl2pPr>
            <a:lvl3pPr algn="l">
              <a:buNone/>
              <a:defRPr sz="4350" b="1">
                <a:solidFill>
                  <a:srgbClr val="123F50"/>
                </a:solidFill>
                <a:latin typeface="Calibri Light"/>
                <a:ea typeface="Calibri Light"/>
                <a:cs typeface="Calibri Light"/>
              </a:defRPr>
            </a:lvl3pPr>
            <a:lvl4pPr algn="l">
              <a:buNone/>
              <a:defRPr sz="4350" b="1">
                <a:solidFill>
                  <a:srgbClr val="123F50"/>
                </a:solidFill>
                <a:latin typeface="Calibri Light"/>
                <a:ea typeface="Calibri Light"/>
                <a:cs typeface="Calibri Light"/>
              </a:defRPr>
            </a:lvl4pPr>
            <a:lvl5pPr algn="l">
              <a:buNone/>
              <a:defRPr sz="4350" b="1">
                <a:solidFill>
                  <a:srgbClr val="123F50"/>
                </a:solidFill>
                <a:latin typeface="Calibri Light"/>
                <a:ea typeface="Calibri Light"/>
                <a:cs typeface="Calibri Light"/>
              </a:defRPr>
            </a:lvl5pPr>
            <a:lvl6pPr algn="l">
              <a:buNone/>
              <a:defRPr sz="4350" b="1">
                <a:solidFill>
                  <a:srgbClr val="123F50"/>
                </a:solidFill>
                <a:latin typeface="Calibri Light"/>
                <a:ea typeface="Calibri Light"/>
                <a:cs typeface="Calibri Light"/>
              </a:defRPr>
            </a:lvl6pPr>
            <a:lvl7pPr algn="l">
              <a:buNone/>
              <a:defRPr sz="4350" b="1">
                <a:solidFill>
                  <a:srgbClr val="123F50"/>
                </a:solidFill>
                <a:latin typeface="Calibri Light"/>
                <a:ea typeface="Calibri Light"/>
                <a:cs typeface="Calibri Light"/>
              </a:defRPr>
            </a:lvl7pPr>
            <a:lvl8pPr algn="l">
              <a:buNone/>
              <a:defRPr sz="4350" b="1">
                <a:solidFill>
                  <a:srgbClr val="123F50"/>
                </a:solidFill>
                <a:latin typeface="Calibri Light"/>
                <a:ea typeface="Calibri Light"/>
                <a:cs typeface="Calibri Light"/>
              </a:defRPr>
            </a:lvl8pPr>
            <a:lvl9pPr algn="l">
              <a:buNone/>
              <a:defRPr sz="4350" b="1">
                <a:solidFill>
                  <a:srgbClr val="123F50"/>
                </a:solidFill>
                <a:latin typeface="Calibri Light"/>
                <a:ea typeface="Calibri Light"/>
                <a:cs typeface="Calibri Light"/>
              </a:defRPr>
            </a:lvl9pPr>
          </a:lstStyle>
          <a:p>
            <a:pPr algn="l">
              <a:buNone/>
              <a:defRPr sz="4350" b="1">
                <a:solidFill>
                  <a:srgbClr val="123F50"/>
                </a:solidFill>
                <a:latin typeface="Calibri Light"/>
                <a:ea typeface="Calibri Light"/>
                <a:cs typeface="Calibri Light"/>
              </a:defRPr>
            </a:pPr>
            <a:r>
              <a:rPr sz="4350" b="1">
                <a:solidFill>
                  <a:srgbClr val="123F50"/>
                </a:solidFill>
                <a:latin typeface="Calibri Light"/>
                <a:ea typeface="Calibri Light"/>
                <a:cs typeface="Calibri Light"/>
              </a:rPr>
              <a:t>The End</a:t>
            </a:r>
          </a:p>
        </p:txBody>
      </p:sp>
      <p:sp>
        <p:nvSpPr>
          <p:cNvPr id="4" name="Straight Connector 3">
            <a:extLst>
              <a:ext uri="{FF2B5EF4-FFF2-40B4-BE49-F238E27FC236}">
                <a16:creationId xmlns:a16="http://schemas.microsoft.com/office/drawing/2014/main" xmlns="" id="{F0428391-BF28-4E08-97D7-1A1A9806E654}"/>
              </a:ext>
            </a:extLst>
          </p:cNvPr>
          <p:cNvSpPr>
            <a:spLocks noGrp="1"/>
          </p:cNvSpPr>
          <p:nvPr/>
        </p:nvSpPr>
        <p:spPr>
          <a:xfrm>
            <a:off x="571500" y="3067050"/>
            <a:ext cx="685800" cy="0"/>
          </a:xfrm>
          <a:prstGeom prst="line">
            <a:avLst/>
          </a:prstGeom>
          <a:noFill/>
          <a:ln w="38100">
            <a:solidFill>
              <a:srgbClr val="248F8A"/>
            </a:solidFill>
            <a:prstDash val="solid"/>
          </a:ln>
        </p:spPr>
      </p:sp>
      <p:sp>
        <p:nvSpPr>
          <p:cNvPr id="5" name="Rectangle 4">
            <a:extLst>
              <a:ext uri="{FF2B5EF4-FFF2-40B4-BE49-F238E27FC236}">
                <a16:creationId xmlns:a16="http://schemas.microsoft.com/office/drawing/2014/main" xmlns="" id="{405CA63F-0666-447A-8EF3-6EC60818D1C4}"/>
              </a:ext>
            </a:extLst>
          </p:cNvPr>
          <p:cNvSpPr>
            <a:spLocks noGrp="1"/>
          </p:cNvSpPr>
          <p:nvPr/>
        </p:nvSpPr>
        <p:spPr>
          <a:xfrm>
            <a:off x="571500" y="3295650"/>
            <a:ext cx="2857500" cy="552450"/>
          </a:xfrm>
          <a:prstGeom prst="rect">
            <a:avLst/>
          </a:prstGeom>
          <a:noFill/>
          <a:ln w="0">
            <a:noFill/>
            <a:prstDash val="solid"/>
          </a:ln>
        </p:spPr>
        <p:txBody>
          <a:bodyPr wrap="square" lIns="0" tIns="0" rIns="0" bIns="0" anchor="ctr">
            <a:normAutofit/>
          </a:bodyPr>
          <a:lstStyle>
            <a:defPPr algn="l">
              <a:defRPr sz="1500" b="0">
                <a:solidFill>
                  <a:srgbClr val="647781"/>
                </a:solidFill>
                <a:latin typeface="Calibri"/>
                <a:ea typeface="Calibri"/>
                <a:cs typeface="Calibri"/>
              </a:defRPr>
            </a:defPPr>
            <a:lvl1pPr algn="l">
              <a:buNone/>
              <a:defRPr sz="1500" b="0">
                <a:solidFill>
                  <a:srgbClr val="647781"/>
                </a:solidFill>
                <a:latin typeface="Calibri"/>
                <a:ea typeface="Calibri"/>
                <a:cs typeface="Calibri"/>
              </a:defRPr>
            </a:lvl1pPr>
            <a:lvl2pPr algn="l">
              <a:buNone/>
              <a:defRPr sz="1500" b="0">
                <a:solidFill>
                  <a:srgbClr val="647781"/>
                </a:solidFill>
                <a:latin typeface="Calibri"/>
                <a:ea typeface="Calibri"/>
                <a:cs typeface="Calibri"/>
              </a:defRPr>
            </a:lvl2pPr>
            <a:lvl3pPr algn="l">
              <a:buNone/>
              <a:defRPr sz="1500" b="0">
                <a:solidFill>
                  <a:srgbClr val="647781"/>
                </a:solidFill>
                <a:latin typeface="Calibri"/>
                <a:ea typeface="Calibri"/>
                <a:cs typeface="Calibri"/>
              </a:defRPr>
            </a:lvl3pPr>
            <a:lvl4pPr algn="l">
              <a:buNone/>
              <a:defRPr sz="1500" b="0">
                <a:solidFill>
                  <a:srgbClr val="647781"/>
                </a:solidFill>
                <a:latin typeface="Calibri"/>
                <a:ea typeface="Calibri"/>
                <a:cs typeface="Calibri"/>
              </a:defRPr>
            </a:lvl4pPr>
            <a:lvl5pPr algn="l">
              <a:buNone/>
              <a:defRPr sz="1500" b="0">
                <a:solidFill>
                  <a:srgbClr val="647781"/>
                </a:solidFill>
                <a:latin typeface="Calibri"/>
                <a:ea typeface="Calibri"/>
                <a:cs typeface="Calibri"/>
              </a:defRPr>
            </a:lvl5pPr>
            <a:lvl6pPr algn="l">
              <a:buNone/>
              <a:defRPr sz="1500" b="0">
                <a:solidFill>
                  <a:srgbClr val="647781"/>
                </a:solidFill>
                <a:latin typeface="Calibri"/>
                <a:ea typeface="Calibri"/>
                <a:cs typeface="Calibri"/>
              </a:defRPr>
            </a:lvl6pPr>
            <a:lvl7pPr algn="l">
              <a:buNone/>
              <a:defRPr sz="1500" b="0">
                <a:solidFill>
                  <a:srgbClr val="647781"/>
                </a:solidFill>
                <a:latin typeface="Calibri"/>
                <a:ea typeface="Calibri"/>
                <a:cs typeface="Calibri"/>
              </a:defRPr>
            </a:lvl7pPr>
            <a:lvl8pPr algn="l">
              <a:buNone/>
              <a:defRPr sz="1500" b="0">
                <a:solidFill>
                  <a:srgbClr val="647781"/>
                </a:solidFill>
                <a:latin typeface="Calibri"/>
                <a:ea typeface="Calibri"/>
                <a:cs typeface="Calibri"/>
              </a:defRPr>
            </a:lvl8pPr>
            <a:lvl9pPr algn="l">
              <a:buNone/>
              <a:defRPr sz="1500" b="0">
                <a:solidFill>
                  <a:srgbClr val="647781"/>
                </a:solidFill>
                <a:latin typeface="Calibri"/>
                <a:ea typeface="Calibri"/>
                <a:cs typeface="Calibri"/>
              </a:defRPr>
            </a:lvl9pPr>
          </a:lstStyle>
          <a:p>
            <a:pPr algn="l">
              <a:buNone/>
              <a:defRPr sz="1500" b="0">
                <a:solidFill>
                  <a:srgbClr val="647781"/>
                </a:solidFill>
                <a:latin typeface="Calibri"/>
                <a:ea typeface="Calibri"/>
                <a:cs typeface="Calibri"/>
              </a:defRPr>
            </a:pPr>
            <a:r>
              <a:rPr sz="1500" b="0">
                <a:solidFill>
                  <a:srgbClr val="647781"/>
                </a:solidFill>
                <a:latin typeface="Calibri"/>
                <a:ea typeface="Calibri"/>
                <a:cs typeface="Calibri"/>
              </a:rPr>
              <a:t>Thank you for exploring CardioTwin.</a:t>
            </a:r>
          </a:p>
        </p:txBody>
      </p:sp>
      <p:sp>
        <p:nvSpPr>
          <p:cNvPr id="6" name="Rectangle 5">
            <a:extLst>
              <a:ext uri="{FF2B5EF4-FFF2-40B4-BE49-F238E27FC236}">
                <a16:creationId xmlns:a16="http://schemas.microsoft.com/office/drawing/2014/main" xmlns="" id="{FE460E5D-B568-4844-BB5E-438E419BD905}"/>
              </a:ext>
            </a:extLst>
          </p:cNvPr>
          <p:cNvSpPr>
            <a:spLocks noGrp="1"/>
          </p:cNvSpPr>
          <p:nvPr/>
        </p:nvSpPr>
        <p:spPr>
          <a:xfrm>
            <a:off x="571500" y="3914775"/>
            <a:ext cx="3000375" cy="257175"/>
          </a:xfrm>
          <a:prstGeom prst="rect">
            <a:avLst/>
          </a:prstGeom>
          <a:noFill/>
          <a:ln w="0">
            <a:noFill/>
            <a:prstDash val="solid"/>
          </a:ln>
        </p:spPr>
        <p:txBody>
          <a:bodyPr wrap="square" lIns="0" tIns="0" rIns="0" bIns="0" anchor="ctr">
            <a:normAutofit/>
          </a:bodyPr>
          <a:lstStyle>
            <a:defPPr algn="l">
              <a:defRPr sz="1050" b="0">
                <a:solidFill>
                  <a:srgbClr val="647781"/>
                </a:solidFill>
                <a:latin typeface="Calibri"/>
                <a:ea typeface="Calibri"/>
                <a:cs typeface="Calibri"/>
              </a:defRPr>
            </a:defPPr>
            <a:lvl1pPr algn="l">
              <a:buNone/>
              <a:defRPr sz="1050" b="0">
                <a:solidFill>
                  <a:srgbClr val="647781"/>
                </a:solidFill>
                <a:latin typeface="Calibri"/>
                <a:ea typeface="Calibri"/>
                <a:cs typeface="Calibri"/>
              </a:defRPr>
            </a:lvl1pPr>
            <a:lvl2pPr algn="l">
              <a:buNone/>
              <a:defRPr sz="1050" b="0">
                <a:solidFill>
                  <a:srgbClr val="647781"/>
                </a:solidFill>
                <a:latin typeface="Calibri"/>
                <a:ea typeface="Calibri"/>
                <a:cs typeface="Calibri"/>
              </a:defRPr>
            </a:lvl2pPr>
            <a:lvl3pPr algn="l">
              <a:buNone/>
              <a:defRPr sz="1050" b="0">
                <a:solidFill>
                  <a:srgbClr val="647781"/>
                </a:solidFill>
                <a:latin typeface="Calibri"/>
                <a:ea typeface="Calibri"/>
                <a:cs typeface="Calibri"/>
              </a:defRPr>
            </a:lvl3pPr>
            <a:lvl4pPr algn="l">
              <a:buNone/>
              <a:defRPr sz="1050" b="0">
                <a:solidFill>
                  <a:srgbClr val="647781"/>
                </a:solidFill>
                <a:latin typeface="Calibri"/>
                <a:ea typeface="Calibri"/>
                <a:cs typeface="Calibri"/>
              </a:defRPr>
            </a:lvl4pPr>
            <a:lvl5pPr algn="l">
              <a:buNone/>
              <a:defRPr sz="1050" b="0">
                <a:solidFill>
                  <a:srgbClr val="647781"/>
                </a:solidFill>
                <a:latin typeface="Calibri"/>
                <a:ea typeface="Calibri"/>
                <a:cs typeface="Calibri"/>
              </a:defRPr>
            </a:lvl5pPr>
            <a:lvl6pPr algn="l">
              <a:buNone/>
              <a:defRPr sz="1050" b="0">
                <a:solidFill>
                  <a:srgbClr val="647781"/>
                </a:solidFill>
                <a:latin typeface="Calibri"/>
                <a:ea typeface="Calibri"/>
                <a:cs typeface="Calibri"/>
              </a:defRPr>
            </a:lvl6pPr>
            <a:lvl7pPr algn="l">
              <a:buNone/>
              <a:defRPr sz="1050" b="0">
                <a:solidFill>
                  <a:srgbClr val="647781"/>
                </a:solidFill>
                <a:latin typeface="Calibri"/>
                <a:ea typeface="Calibri"/>
                <a:cs typeface="Calibri"/>
              </a:defRPr>
            </a:lvl7pPr>
            <a:lvl8pPr algn="l">
              <a:buNone/>
              <a:defRPr sz="1050" b="0">
                <a:solidFill>
                  <a:srgbClr val="647781"/>
                </a:solidFill>
                <a:latin typeface="Calibri"/>
                <a:ea typeface="Calibri"/>
                <a:cs typeface="Calibri"/>
              </a:defRPr>
            </a:lvl8pPr>
            <a:lvl9pPr algn="l">
              <a:buNone/>
              <a:defRPr sz="1050" b="0">
                <a:solidFill>
                  <a:srgbClr val="647781"/>
                </a:solidFill>
                <a:latin typeface="Calibri"/>
                <a:ea typeface="Calibri"/>
                <a:cs typeface="Calibri"/>
              </a:defRPr>
            </a:lvl9pPr>
          </a:lstStyle>
          <a:p>
            <a:pPr algn="l">
              <a:buNone/>
              <a:defRPr sz="1050" b="0">
                <a:solidFill>
                  <a:srgbClr val="647781"/>
                </a:solidFill>
                <a:latin typeface="Calibri"/>
                <a:ea typeface="Calibri"/>
                <a:cs typeface="Calibri"/>
              </a:defRPr>
            </a:pPr>
            <a:r>
              <a:rPr sz="1050" b="0">
                <a:solidFill>
                  <a:srgbClr val="647781"/>
                </a:solidFill>
                <a:latin typeface="Calibri"/>
                <a:ea typeface="Calibri"/>
                <a:cs typeface="Calibri"/>
              </a:rPr>
              <a:t>A baseline-aware monitoring prototype</a:t>
            </a:r>
          </a:p>
        </p:txBody>
      </p:sp>
      <p:sp>
        <p:nvSpPr>
          <p:cNvPr id="7" name="Straight Connector 6">
            <a:extLst>
              <a:ext uri="{FF2B5EF4-FFF2-40B4-BE49-F238E27FC236}">
                <a16:creationId xmlns:a16="http://schemas.microsoft.com/office/drawing/2014/main" xmlns="" id="{6381BF6B-1958-4DC1-B413-CD6E65E34333}"/>
              </a:ext>
            </a:extLst>
          </p:cNvPr>
          <p:cNvSpPr>
            <a:spLocks noGrp="1"/>
          </p:cNvSpPr>
          <p:nvPr/>
        </p:nvSpPr>
        <p:spPr>
          <a:xfrm>
            <a:off x="457200" y="5029200"/>
            <a:ext cx="6562725" cy="0"/>
          </a:xfrm>
          <a:prstGeom prst="line">
            <a:avLst/>
          </a:prstGeom>
          <a:noFill/>
          <a:ln w="9525">
            <a:solidFill>
              <a:srgbClr val="D6E3E2"/>
            </a:solidFill>
            <a:prstDash val="solid"/>
          </a:ln>
        </p:spPr>
      </p:sp>
      <p:sp>
        <p:nvSpPr>
          <p:cNvPr id="8" name="Rectangle 7">
            <a:extLst>
              <a:ext uri="{FF2B5EF4-FFF2-40B4-BE49-F238E27FC236}">
                <a16:creationId xmlns:a16="http://schemas.microsoft.com/office/drawing/2014/main" xmlns="" id="{D186E3D9-3EA5-4965-9048-0D750FFC1AF4}"/>
              </a:ext>
            </a:extLst>
          </p:cNvPr>
          <p:cNvSpPr>
            <a:spLocks noGrp="1"/>
          </p:cNvSpPr>
          <p:nvPr/>
        </p:nvSpPr>
        <p:spPr>
          <a:xfrm>
            <a:off x="457200" y="5105400"/>
            <a:ext cx="2476500" cy="161925"/>
          </a:xfrm>
          <a:prstGeom prst="rect">
            <a:avLst/>
          </a:prstGeom>
          <a:noFill/>
          <a:ln w="0">
            <a:noFill/>
            <a:prstDash val="solid"/>
          </a:ln>
        </p:spPr>
        <p:txBody>
          <a:bodyPr wrap="square" lIns="0" tIns="0" rIns="0" bIns="0" anchor="ctr">
            <a:normAutofit/>
          </a:bodyPr>
          <a:lstStyle>
            <a:defPPr algn="l">
              <a:defRPr sz="788" b="1">
                <a:solidFill>
                  <a:srgbClr val="647781"/>
                </a:solidFill>
                <a:latin typeface="Calibri"/>
                <a:ea typeface="Calibri"/>
                <a:cs typeface="Calibri"/>
              </a:defRPr>
            </a:defPPr>
            <a:lvl1pPr algn="l">
              <a:buNone/>
              <a:defRPr sz="788" b="1">
                <a:solidFill>
                  <a:srgbClr val="647781"/>
                </a:solidFill>
                <a:latin typeface="Calibri"/>
                <a:ea typeface="Calibri"/>
                <a:cs typeface="Calibri"/>
              </a:defRPr>
            </a:lvl1pPr>
            <a:lvl2pPr algn="l">
              <a:buNone/>
              <a:defRPr sz="788" b="1">
                <a:solidFill>
                  <a:srgbClr val="647781"/>
                </a:solidFill>
                <a:latin typeface="Calibri"/>
                <a:ea typeface="Calibri"/>
                <a:cs typeface="Calibri"/>
              </a:defRPr>
            </a:lvl2pPr>
            <a:lvl3pPr algn="l">
              <a:buNone/>
              <a:defRPr sz="788" b="1">
                <a:solidFill>
                  <a:srgbClr val="647781"/>
                </a:solidFill>
                <a:latin typeface="Calibri"/>
                <a:ea typeface="Calibri"/>
                <a:cs typeface="Calibri"/>
              </a:defRPr>
            </a:lvl3pPr>
            <a:lvl4pPr algn="l">
              <a:buNone/>
              <a:defRPr sz="788" b="1">
                <a:solidFill>
                  <a:srgbClr val="647781"/>
                </a:solidFill>
                <a:latin typeface="Calibri"/>
                <a:ea typeface="Calibri"/>
                <a:cs typeface="Calibri"/>
              </a:defRPr>
            </a:lvl4pPr>
            <a:lvl5pPr algn="l">
              <a:buNone/>
              <a:defRPr sz="788" b="1">
                <a:solidFill>
                  <a:srgbClr val="647781"/>
                </a:solidFill>
                <a:latin typeface="Calibri"/>
                <a:ea typeface="Calibri"/>
                <a:cs typeface="Calibri"/>
              </a:defRPr>
            </a:lvl5pPr>
            <a:lvl6pPr algn="l">
              <a:buNone/>
              <a:defRPr sz="788" b="1">
                <a:solidFill>
                  <a:srgbClr val="647781"/>
                </a:solidFill>
                <a:latin typeface="Calibri"/>
                <a:ea typeface="Calibri"/>
                <a:cs typeface="Calibri"/>
              </a:defRPr>
            </a:lvl6pPr>
            <a:lvl7pPr algn="l">
              <a:buNone/>
              <a:defRPr sz="788" b="1">
                <a:solidFill>
                  <a:srgbClr val="647781"/>
                </a:solidFill>
                <a:latin typeface="Calibri"/>
                <a:ea typeface="Calibri"/>
                <a:cs typeface="Calibri"/>
              </a:defRPr>
            </a:lvl7pPr>
            <a:lvl8pPr algn="l">
              <a:buNone/>
              <a:defRPr sz="788" b="1">
                <a:solidFill>
                  <a:srgbClr val="647781"/>
                </a:solidFill>
                <a:latin typeface="Calibri"/>
                <a:ea typeface="Calibri"/>
                <a:cs typeface="Calibri"/>
              </a:defRPr>
            </a:lvl8pPr>
            <a:lvl9pPr algn="l">
              <a:buNone/>
              <a:defRPr sz="788" b="1">
                <a:solidFill>
                  <a:srgbClr val="647781"/>
                </a:solidFill>
                <a:latin typeface="Calibri"/>
                <a:ea typeface="Calibri"/>
                <a:cs typeface="Calibri"/>
              </a:defRPr>
            </a:lvl9pPr>
          </a:lstStyle>
          <a:p>
            <a:pPr algn="l">
              <a:buNone/>
              <a:defRPr sz="788" b="1">
                <a:solidFill>
                  <a:srgbClr val="647781"/>
                </a:solidFill>
                <a:latin typeface="Calibri"/>
                <a:ea typeface="Calibri"/>
                <a:cs typeface="Calibri"/>
              </a:defRPr>
            </a:pPr>
            <a:r>
              <a:rPr sz="788" b="1">
                <a:solidFill>
                  <a:srgbClr val="647781"/>
                </a:solidFill>
                <a:latin typeface="Calibri"/>
                <a:ea typeface="Calibri"/>
                <a:cs typeface="Calibri"/>
              </a:rPr>
              <a:t>SADHYA  ·  CARDIOTWIN</a:t>
            </a:r>
          </a:p>
        </p:txBody>
      </p:sp>
      <p:sp>
        <p:nvSpPr>
          <p:cNvPr id="9" name="Rectangle 8">
            <a:extLst>
              <a:ext uri="{FF2B5EF4-FFF2-40B4-BE49-F238E27FC236}">
                <a16:creationId xmlns:a16="http://schemas.microsoft.com/office/drawing/2014/main" xmlns="" id="{1081534C-77B6-4170-8811-91EC36F6AFA2}"/>
              </a:ext>
            </a:extLst>
          </p:cNvPr>
          <p:cNvSpPr>
            <a:spLocks noGrp="1"/>
          </p:cNvSpPr>
          <p:nvPr/>
        </p:nvSpPr>
        <p:spPr>
          <a:xfrm>
            <a:off x="6724650" y="5105400"/>
            <a:ext cx="295275" cy="161925"/>
          </a:xfrm>
          <a:prstGeom prst="rect">
            <a:avLst/>
          </a:prstGeom>
          <a:noFill/>
          <a:ln w="0">
            <a:noFill/>
            <a:prstDash val="solid"/>
          </a:ln>
        </p:spPr>
        <p:txBody>
          <a:bodyPr wrap="square" lIns="0" tIns="0" rIns="0" bIns="0" anchor="ctr">
            <a:normAutofit/>
          </a:bodyPr>
          <a:lstStyle>
            <a:defPPr algn="r">
              <a:defRPr sz="788" b="0">
                <a:solidFill>
                  <a:srgbClr val="647781"/>
                </a:solidFill>
                <a:latin typeface="Calibri"/>
                <a:ea typeface="Calibri"/>
                <a:cs typeface="Calibri"/>
              </a:defRPr>
            </a:defPPr>
            <a:lvl1pPr algn="r">
              <a:buNone/>
              <a:defRPr sz="788" b="0">
                <a:solidFill>
                  <a:srgbClr val="647781"/>
                </a:solidFill>
                <a:latin typeface="Calibri"/>
                <a:ea typeface="Calibri"/>
                <a:cs typeface="Calibri"/>
              </a:defRPr>
            </a:lvl1pPr>
            <a:lvl2pPr algn="r">
              <a:buNone/>
              <a:defRPr sz="788" b="0">
                <a:solidFill>
                  <a:srgbClr val="647781"/>
                </a:solidFill>
                <a:latin typeface="Calibri"/>
                <a:ea typeface="Calibri"/>
                <a:cs typeface="Calibri"/>
              </a:defRPr>
            </a:lvl2pPr>
            <a:lvl3pPr algn="r">
              <a:buNone/>
              <a:defRPr sz="788" b="0">
                <a:solidFill>
                  <a:srgbClr val="647781"/>
                </a:solidFill>
                <a:latin typeface="Calibri"/>
                <a:ea typeface="Calibri"/>
                <a:cs typeface="Calibri"/>
              </a:defRPr>
            </a:lvl3pPr>
            <a:lvl4pPr algn="r">
              <a:buNone/>
              <a:defRPr sz="788" b="0">
                <a:solidFill>
                  <a:srgbClr val="647781"/>
                </a:solidFill>
                <a:latin typeface="Calibri"/>
                <a:ea typeface="Calibri"/>
                <a:cs typeface="Calibri"/>
              </a:defRPr>
            </a:lvl4pPr>
            <a:lvl5pPr algn="r">
              <a:buNone/>
              <a:defRPr sz="788" b="0">
                <a:solidFill>
                  <a:srgbClr val="647781"/>
                </a:solidFill>
                <a:latin typeface="Calibri"/>
                <a:ea typeface="Calibri"/>
                <a:cs typeface="Calibri"/>
              </a:defRPr>
            </a:lvl5pPr>
            <a:lvl6pPr algn="r">
              <a:buNone/>
              <a:defRPr sz="788" b="0">
                <a:solidFill>
                  <a:srgbClr val="647781"/>
                </a:solidFill>
                <a:latin typeface="Calibri"/>
                <a:ea typeface="Calibri"/>
                <a:cs typeface="Calibri"/>
              </a:defRPr>
            </a:lvl6pPr>
            <a:lvl7pPr algn="r">
              <a:buNone/>
              <a:defRPr sz="788" b="0">
                <a:solidFill>
                  <a:srgbClr val="647781"/>
                </a:solidFill>
                <a:latin typeface="Calibri"/>
                <a:ea typeface="Calibri"/>
                <a:cs typeface="Calibri"/>
              </a:defRPr>
            </a:lvl7pPr>
            <a:lvl8pPr algn="r">
              <a:buNone/>
              <a:defRPr sz="788" b="0">
                <a:solidFill>
                  <a:srgbClr val="647781"/>
                </a:solidFill>
                <a:latin typeface="Calibri"/>
                <a:ea typeface="Calibri"/>
                <a:cs typeface="Calibri"/>
              </a:defRPr>
            </a:lvl8pPr>
            <a:lvl9pPr algn="r">
              <a:buNone/>
              <a:defRPr sz="788" b="0">
                <a:solidFill>
                  <a:srgbClr val="647781"/>
                </a:solidFill>
                <a:latin typeface="Calibri"/>
                <a:ea typeface="Calibri"/>
                <a:cs typeface="Calibri"/>
              </a:defRPr>
            </a:lvl9pPr>
          </a:lstStyle>
          <a:p>
            <a:pPr algn="r">
              <a:buNone/>
              <a:defRPr sz="788" b="0">
                <a:solidFill>
                  <a:srgbClr val="647781"/>
                </a:solidFill>
                <a:latin typeface="Calibri"/>
                <a:ea typeface="Calibri"/>
                <a:cs typeface="Calibri"/>
              </a:defRPr>
            </a:pPr>
            <a:r>
              <a:rPr sz="788" b="0">
                <a:solidFill>
                  <a:srgbClr val="647781"/>
                </a:solidFill>
                <a:latin typeface="Calibri"/>
                <a:ea typeface="Calibri"/>
                <a:cs typeface="Calibri"/>
              </a:rPr>
              <a:t>17</a:t>
            </a:r>
          </a:p>
        </p:txBody>
      </p:sp>
    </p:spTree>
    <p:extLst>
      <p:ext uri="{BB962C8B-B14F-4D97-AF65-F5344CB8AC3E}">
        <p14:creationId xmlns:p14="http://schemas.microsoft.com/office/powerpoint/2010/main" val="75240033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1989</Words>
  <Application>Microsoft Office PowerPoint</Application>
  <DocSecurity>0</DocSecurity>
  <PresentationFormat>Custom</PresentationFormat>
  <Paragraphs>361</Paragraphs>
  <Slides>17</Slides>
  <Notes>17</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Sai</cp:lastModifiedBy>
  <cp:revision>1</cp:revision>
  <dcterms:created xsi:type="dcterms:W3CDTF">2026-10-22T13:33:15Z</dcterms:created>
  <dcterms:modified xsi:type="dcterms:W3CDTF">2026-10-22T14:05:31Z</dcterms:modified>
</cp:coreProperties>
</file>